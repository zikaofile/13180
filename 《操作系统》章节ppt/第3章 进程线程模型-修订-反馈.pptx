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theme/theme2.xml" ContentType="application/vnd.openxmlformats-officedocument.theme+xml"/>
  <Override PartName="/ppt/slideLayouts/slideLayout42.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theme/themeOverride1.xml" ContentType="application/vnd.openxmlformats-officedocument.themeOverr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55" r:id="rId1"/>
    <p:sldMasterId id="2147483707" r:id="rId2"/>
    <p:sldMasterId id="2147483731" r:id="rId3"/>
  </p:sldMasterIdLst>
  <p:notesMasterIdLst>
    <p:notesMasterId r:id="rId59"/>
  </p:notesMasterIdLst>
  <p:sldIdLst>
    <p:sldId id="635" r:id="rId4"/>
    <p:sldId id="640" r:id="rId5"/>
    <p:sldId id="657" r:id="rId6"/>
    <p:sldId id="645" r:id="rId7"/>
    <p:sldId id="644" r:id="rId8"/>
    <p:sldId id="658" r:id="rId9"/>
    <p:sldId id="714" r:id="rId10"/>
    <p:sldId id="659" r:id="rId11"/>
    <p:sldId id="660" r:id="rId12"/>
    <p:sldId id="661" r:id="rId13"/>
    <p:sldId id="664" r:id="rId14"/>
    <p:sldId id="665" r:id="rId15"/>
    <p:sldId id="667" r:id="rId16"/>
    <p:sldId id="668" r:id="rId17"/>
    <p:sldId id="715" r:id="rId18"/>
    <p:sldId id="670" r:id="rId19"/>
    <p:sldId id="724" r:id="rId20"/>
    <p:sldId id="671" r:id="rId21"/>
    <p:sldId id="672" r:id="rId22"/>
    <p:sldId id="673" r:id="rId23"/>
    <p:sldId id="674" r:id="rId24"/>
    <p:sldId id="675" r:id="rId25"/>
    <p:sldId id="676" r:id="rId26"/>
    <p:sldId id="678" r:id="rId27"/>
    <p:sldId id="652" r:id="rId28"/>
    <p:sldId id="639" r:id="rId29"/>
    <p:sldId id="681" r:id="rId30"/>
    <p:sldId id="721" r:id="rId31"/>
    <p:sldId id="684" r:id="rId32"/>
    <p:sldId id="718" r:id="rId33"/>
    <p:sldId id="685" r:id="rId34"/>
    <p:sldId id="719" r:id="rId35"/>
    <p:sldId id="653" r:id="rId36"/>
    <p:sldId id="688" r:id="rId37"/>
    <p:sldId id="689" r:id="rId38"/>
    <p:sldId id="690" r:id="rId39"/>
    <p:sldId id="691" r:id="rId40"/>
    <p:sldId id="692" r:id="rId41"/>
    <p:sldId id="693" r:id="rId42"/>
    <p:sldId id="694" r:id="rId43"/>
    <p:sldId id="696" r:id="rId44"/>
    <p:sldId id="698" r:id="rId45"/>
    <p:sldId id="722" r:id="rId46"/>
    <p:sldId id="654" r:id="rId47"/>
    <p:sldId id="261" r:id="rId48"/>
    <p:sldId id="699" r:id="rId49"/>
    <p:sldId id="716" r:id="rId50"/>
    <p:sldId id="717" r:id="rId51"/>
    <p:sldId id="701" r:id="rId52"/>
    <p:sldId id="703" r:id="rId53"/>
    <p:sldId id="704" r:id="rId54"/>
    <p:sldId id="706" r:id="rId55"/>
    <p:sldId id="708" r:id="rId56"/>
    <p:sldId id="720" r:id="rId57"/>
    <p:sldId id="709" r:id="rId58"/>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素材" id="{548E6020-DE2C-4A43-8C4A-E92BE1952416}">
          <p14:sldIdLst>
            <p14:sldId id="635"/>
            <p14:sldId id="640"/>
            <p14:sldId id="657"/>
            <p14:sldId id="645"/>
            <p14:sldId id="644"/>
            <p14:sldId id="658"/>
            <p14:sldId id="714"/>
            <p14:sldId id="659"/>
            <p14:sldId id="660"/>
            <p14:sldId id="661"/>
            <p14:sldId id="664"/>
            <p14:sldId id="665"/>
            <p14:sldId id="667"/>
            <p14:sldId id="668"/>
            <p14:sldId id="715"/>
            <p14:sldId id="670"/>
            <p14:sldId id="724"/>
            <p14:sldId id="671"/>
            <p14:sldId id="672"/>
            <p14:sldId id="673"/>
            <p14:sldId id="674"/>
            <p14:sldId id="675"/>
            <p14:sldId id="676"/>
            <p14:sldId id="678"/>
            <p14:sldId id="652"/>
            <p14:sldId id="639"/>
            <p14:sldId id="681"/>
            <p14:sldId id="721"/>
            <p14:sldId id="684"/>
            <p14:sldId id="718"/>
            <p14:sldId id="685"/>
            <p14:sldId id="719"/>
            <p14:sldId id="653"/>
            <p14:sldId id="688"/>
            <p14:sldId id="689"/>
            <p14:sldId id="690"/>
            <p14:sldId id="691"/>
            <p14:sldId id="692"/>
            <p14:sldId id="693"/>
            <p14:sldId id="694"/>
            <p14:sldId id="696"/>
            <p14:sldId id="698"/>
            <p14:sldId id="722"/>
            <p14:sldId id="654"/>
            <p14:sldId id="261"/>
            <p14:sldId id="699"/>
            <p14:sldId id="716"/>
            <p14:sldId id="717"/>
            <p14:sldId id="701"/>
            <p14:sldId id="703"/>
            <p14:sldId id="704"/>
            <p14:sldId id="706"/>
            <p14:sldId id="708"/>
            <p14:sldId id="720"/>
            <p14:sldId id="709"/>
          </p14:sldIdLst>
        </p14:section>
      </p14:sectionLst>
    </p:ex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杨 伟洲" initials="杨" lastIdx="1" clrIdx="0">
    <p:extLst>
      <p:ext uri="{19B8F6BF-5375-455C-9EA6-DF929625EA0E}">
        <p15:presenceInfo xmlns:p15="http://schemas.microsoft.com/office/powerpoint/2012/main" userId="42218d51efea374b" providerId="Windows Live"/>
      </p:ext>
    </p:extLst>
  </p:cmAuthor>
  <p:cmAuthor id="2" name="Fish Zheng" initials="FZ" lastIdx="1" clrIdx="1">
    <p:extLst>
      <p:ext uri="{19B8F6BF-5375-455C-9EA6-DF929625EA0E}">
        <p15:presenceInfo xmlns:p15="http://schemas.microsoft.com/office/powerpoint/2012/main" userId="784d355a392b2c52"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A23341"/>
    <a:srgbClr val="063771"/>
    <a:srgbClr val="CEAB6E"/>
    <a:srgbClr val="9A0001"/>
    <a:srgbClr val="BFBFBF"/>
    <a:srgbClr val="A6A6A6"/>
    <a:srgbClr val="B1B1B1"/>
    <a:srgbClr val="222A35"/>
    <a:srgbClr val="DCDCDC"/>
    <a:srgbClr val="40404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ABFCF23-3B69-468F-B69F-88F6DE6A72F2}" styleName="中度样式 1 - 强调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396" autoAdjust="0"/>
    <p:restoredTop sz="89298" autoAdjust="0"/>
  </p:normalViewPr>
  <p:slideViewPr>
    <p:cSldViewPr snapToGrid="0">
      <p:cViewPr varScale="1">
        <p:scale>
          <a:sx n="100" d="100"/>
          <a:sy n="100" d="100"/>
        </p:scale>
        <p:origin x="912" y="96"/>
      </p:cViewPr>
      <p:guideLst/>
    </p:cSldViewPr>
  </p:slideViewPr>
  <p:outlineViewPr>
    <p:cViewPr>
      <p:scale>
        <a:sx n="33" d="100"/>
        <a:sy n="33" d="100"/>
      </p:scale>
      <p:origin x="0" y="0"/>
    </p:cViewPr>
  </p:outlineViewPr>
  <p:notesTextViewPr>
    <p:cViewPr>
      <p:scale>
        <a:sx n="75" d="100"/>
        <a:sy n="75" d="100"/>
      </p:scale>
      <p:origin x="0" y="0"/>
    </p:cViewPr>
  </p:notesTextViewPr>
  <p:sorterViewPr>
    <p:cViewPr>
      <p:scale>
        <a:sx n="66" d="100"/>
        <a:sy n="66" d="100"/>
      </p:scale>
      <p:origin x="0" y="-4118"/>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slide" Target="slides/slide44.xml"/><Relationship Id="rId50" Type="http://schemas.openxmlformats.org/officeDocument/2006/relationships/slide" Target="slides/slide47.xml"/><Relationship Id="rId55" Type="http://schemas.openxmlformats.org/officeDocument/2006/relationships/slide" Target="slides/slide52.xml"/><Relationship Id="rId63" Type="http://schemas.openxmlformats.org/officeDocument/2006/relationships/theme" Target="theme/theme1.xml"/><Relationship Id="rId7" Type="http://schemas.openxmlformats.org/officeDocument/2006/relationships/slide" Target="slides/slide4.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5" Type="http://schemas.openxmlformats.org/officeDocument/2006/relationships/slide" Target="slides/slide2.xml"/><Relationship Id="rId61" Type="http://schemas.openxmlformats.org/officeDocument/2006/relationships/presProps" Target="presProps.xml"/><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tableStyles" Target="tableStyles.xml"/><Relationship Id="rId8" Type="http://schemas.openxmlformats.org/officeDocument/2006/relationships/slide" Target="slides/slide5.xml"/><Relationship Id="rId51" Type="http://schemas.openxmlformats.org/officeDocument/2006/relationships/slide" Target="slides/slide48.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notesMaster" Target="notesMasters/notesMaster1.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commentAuthors" Target="commentAuthors.xml"/><Relationship Id="rId4" Type="http://schemas.openxmlformats.org/officeDocument/2006/relationships/slide" Target="slides/slide1.xml"/><Relationship Id="rId9" Type="http://schemas.openxmlformats.org/officeDocument/2006/relationships/slide" Target="slides/slide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A399999-22BB-4EB1-820B-6F546983B52B}" type="datetimeFigureOut">
              <a:rPr lang="zh-CN" altLang="en-US" smtClean="0"/>
              <a:t>2023/9/10</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2A75D99-2AE7-49F1-BB03-59E2BF5579C1}" type="slidenum">
              <a:rPr lang="zh-CN" altLang="en-US" smtClean="0"/>
              <a:t>‹#›</a:t>
            </a:fld>
            <a:endParaRPr lang="zh-CN" altLang="en-US"/>
          </a:p>
        </p:txBody>
      </p:sp>
    </p:spTree>
    <p:extLst>
      <p:ext uri="{BB962C8B-B14F-4D97-AF65-F5344CB8AC3E}">
        <p14:creationId xmlns:p14="http://schemas.microsoft.com/office/powerpoint/2010/main" val="227186907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a:t>
            </a:fld>
            <a:endParaRPr lang="zh-CN" altLang="en-US"/>
          </a:p>
        </p:txBody>
      </p:sp>
    </p:spTree>
    <p:extLst>
      <p:ext uri="{BB962C8B-B14F-4D97-AF65-F5344CB8AC3E}">
        <p14:creationId xmlns:p14="http://schemas.microsoft.com/office/powerpoint/2010/main" val="116125495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a:t>
            </a:fld>
            <a:endParaRPr lang="zh-CN" altLang="en-US"/>
          </a:p>
        </p:txBody>
      </p:sp>
    </p:spTree>
    <p:extLst>
      <p:ext uri="{BB962C8B-B14F-4D97-AF65-F5344CB8AC3E}">
        <p14:creationId xmlns:p14="http://schemas.microsoft.com/office/powerpoint/2010/main" val="128768522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a:t>
            </a:fld>
            <a:endParaRPr lang="zh-CN" altLang="en-US"/>
          </a:p>
        </p:txBody>
      </p:sp>
    </p:spTree>
    <p:extLst>
      <p:ext uri="{BB962C8B-B14F-4D97-AF65-F5344CB8AC3E}">
        <p14:creationId xmlns:p14="http://schemas.microsoft.com/office/powerpoint/2010/main" val="21511232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a:t>
            </a:fld>
            <a:endParaRPr lang="zh-CN" altLang="en-US"/>
          </a:p>
        </p:txBody>
      </p:sp>
    </p:spTree>
    <p:extLst>
      <p:ext uri="{BB962C8B-B14F-4D97-AF65-F5344CB8AC3E}">
        <p14:creationId xmlns:p14="http://schemas.microsoft.com/office/powerpoint/2010/main" val="356994885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6</a:t>
            </a:fld>
            <a:endParaRPr lang="zh-CN" altLang="en-US"/>
          </a:p>
        </p:txBody>
      </p:sp>
    </p:spTree>
    <p:extLst>
      <p:ext uri="{BB962C8B-B14F-4D97-AF65-F5344CB8AC3E}">
        <p14:creationId xmlns:p14="http://schemas.microsoft.com/office/powerpoint/2010/main" val="157457456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7</a:t>
            </a:fld>
            <a:endParaRPr lang="zh-CN" altLang="en-US"/>
          </a:p>
        </p:txBody>
      </p:sp>
    </p:spTree>
    <p:extLst>
      <p:ext uri="{BB962C8B-B14F-4D97-AF65-F5344CB8AC3E}">
        <p14:creationId xmlns:p14="http://schemas.microsoft.com/office/powerpoint/2010/main" val="98710135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8</a:t>
            </a:fld>
            <a:endParaRPr lang="zh-CN" altLang="en-US"/>
          </a:p>
        </p:txBody>
      </p:sp>
    </p:spTree>
    <p:extLst>
      <p:ext uri="{BB962C8B-B14F-4D97-AF65-F5344CB8AC3E}">
        <p14:creationId xmlns:p14="http://schemas.microsoft.com/office/powerpoint/2010/main" val="340265748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indent="304800" algn="just"/>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9</a:t>
            </a:fld>
            <a:endParaRPr lang="zh-CN" altLang="en-US"/>
          </a:p>
        </p:txBody>
      </p:sp>
    </p:spTree>
    <p:extLst>
      <p:ext uri="{BB962C8B-B14F-4D97-AF65-F5344CB8AC3E}">
        <p14:creationId xmlns:p14="http://schemas.microsoft.com/office/powerpoint/2010/main" val="302885291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10</a:t>
            </a:fld>
            <a:endParaRPr lang="zh-CN" altLang="en-US"/>
          </a:p>
        </p:txBody>
      </p:sp>
    </p:spTree>
    <p:extLst>
      <p:ext uri="{BB962C8B-B14F-4D97-AF65-F5344CB8AC3E}">
        <p14:creationId xmlns:p14="http://schemas.microsoft.com/office/powerpoint/2010/main" val="148005544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11</a:t>
            </a:fld>
            <a:endParaRPr lang="zh-CN" altLang="en-US"/>
          </a:p>
        </p:txBody>
      </p:sp>
    </p:spTree>
    <p:extLst>
      <p:ext uri="{BB962C8B-B14F-4D97-AF65-F5344CB8AC3E}">
        <p14:creationId xmlns:p14="http://schemas.microsoft.com/office/powerpoint/2010/main" val="239207384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12</a:t>
            </a:fld>
            <a:endParaRPr lang="zh-CN" altLang="en-US"/>
          </a:p>
        </p:txBody>
      </p:sp>
    </p:spTree>
    <p:extLst>
      <p:ext uri="{BB962C8B-B14F-4D97-AF65-F5344CB8AC3E}">
        <p14:creationId xmlns:p14="http://schemas.microsoft.com/office/powerpoint/2010/main" val="130265172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13</a:t>
            </a:fld>
            <a:endParaRPr lang="zh-CN" altLang="en-US"/>
          </a:p>
        </p:txBody>
      </p:sp>
    </p:spTree>
    <p:extLst>
      <p:ext uri="{BB962C8B-B14F-4D97-AF65-F5344CB8AC3E}">
        <p14:creationId xmlns:p14="http://schemas.microsoft.com/office/powerpoint/2010/main" val="355091598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25</a:t>
            </a:fld>
            <a:endParaRPr lang="zh-CN" altLang="en-US"/>
          </a:p>
        </p:txBody>
      </p:sp>
    </p:spTree>
    <p:extLst>
      <p:ext uri="{BB962C8B-B14F-4D97-AF65-F5344CB8AC3E}">
        <p14:creationId xmlns:p14="http://schemas.microsoft.com/office/powerpoint/2010/main" val="299869790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26</a:t>
            </a:fld>
            <a:endParaRPr lang="zh-CN" altLang="en-US"/>
          </a:p>
        </p:txBody>
      </p:sp>
    </p:spTree>
    <p:extLst>
      <p:ext uri="{BB962C8B-B14F-4D97-AF65-F5344CB8AC3E}">
        <p14:creationId xmlns:p14="http://schemas.microsoft.com/office/powerpoint/2010/main" val="155623120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27</a:t>
            </a:fld>
            <a:endParaRPr lang="zh-CN" altLang="en-US"/>
          </a:p>
        </p:txBody>
      </p:sp>
    </p:spTree>
    <p:extLst>
      <p:ext uri="{BB962C8B-B14F-4D97-AF65-F5344CB8AC3E}">
        <p14:creationId xmlns:p14="http://schemas.microsoft.com/office/powerpoint/2010/main" val="18551923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28</a:t>
            </a:fld>
            <a:endParaRPr lang="zh-CN" altLang="en-US"/>
          </a:p>
        </p:txBody>
      </p:sp>
    </p:spTree>
    <p:extLst>
      <p:ext uri="{BB962C8B-B14F-4D97-AF65-F5344CB8AC3E}">
        <p14:creationId xmlns:p14="http://schemas.microsoft.com/office/powerpoint/2010/main" val="328973273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29</a:t>
            </a:fld>
            <a:endParaRPr lang="zh-CN" altLang="en-US"/>
          </a:p>
        </p:txBody>
      </p:sp>
    </p:spTree>
    <p:extLst>
      <p:ext uri="{BB962C8B-B14F-4D97-AF65-F5344CB8AC3E}">
        <p14:creationId xmlns:p14="http://schemas.microsoft.com/office/powerpoint/2010/main" val="48518945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30</a:t>
            </a:fld>
            <a:endParaRPr lang="zh-CN" altLang="en-US"/>
          </a:p>
        </p:txBody>
      </p:sp>
    </p:spTree>
    <p:extLst>
      <p:ext uri="{BB962C8B-B14F-4D97-AF65-F5344CB8AC3E}">
        <p14:creationId xmlns:p14="http://schemas.microsoft.com/office/powerpoint/2010/main" val="188925995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31</a:t>
            </a:fld>
            <a:endParaRPr lang="zh-CN" altLang="en-US"/>
          </a:p>
        </p:txBody>
      </p:sp>
    </p:spTree>
    <p:extLst>
      <p:ext uri="{BB962C8B-B14F-4D97-AF65-F5344CB8AC3E}">
        <p14:creationId xmlns:p14="http://schemas.microsoft.com/office/powerpoint/2010/main" val="197500527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32</a:t>
            </a:fld>
            <a:endParaRPr lang="zh-CN" altLang="en-US"/>
          </a:p>
        </p:txBody>
      </p:sp>
    </p:spTree>
    <p:extLst>
      <p:ext uri="{BB962C8B-B14F-4D97-AF65-F5344CB8AC3E}">
        <p14:creationId xmlns:p14="http://schemas.microsoft.com/office/powerpoint/2010/main" val="245313835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33</a:t>
            </a:fld>
            <a:endParaRPr lang="zh-CN" altLang="en-US"/>
          </a:p>
        </p:txBody>
      </p:sp>
    </p:spTree>
    <p:extLst>
      <p:ext uri="{BB962C8B-B14F-4D97-AF65-F5344CB8AC3E}">
        <p14:creationId xmlns:p14="http://schemas.microsoft.com/office/powerpoint/2010/main" val="394929916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34</a:t>
            </a:fld>
            <a:endParaRPr lang="zh-CN" altLang="en-US"/>
          </a:p>
        </p:txBody>
      </p:sp>
    </p:spTree>
    <p:extLst>
      <p:ext uri="{BB962C8B-B14F-4D97-AF65-F5344CB8AC3E}">
        <p14:creationId xmlns:p14="http://schemas.microsoft.com/office/powerpoint/2010/main" val="356887514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35</a:t>
            </a:fld>
            <a:endParaRPr lang="zh-CN" altLang="en-US"/>
          </a:p>
        </p:txBody>
      </p:sp>
    </p:spTree>
    <p:extLst>
      <p:ext uri="{BB962C8B-B14F-4D97-AF65-F5344CB8AC3E}">
        <p14:creationId xmlns:p14="http://schemas.microsoft.com/office/powerpoint/2010/main" val="124376945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36</a:t>
            </a:fld>
            <a:endParaRPr lang="zh-CN" altLang="en-US"/>
          </a:p>
        </p:txBody>
      </p:sp>
    </p:spTree>
    <p:extLst>
      <p:ext uri="{BB962C8B-B14F-4D97-AF65-F5344CB8AC3E}">
        <p14:creationId xmlns:p14="http://schemas.microsoft.com/office/powerpoint/2010/main" val="395358539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37</a:t>
            </a:fld>
            <a:endParaRPr lang="zh-CN" altLang="en-US"/>
          </a:p>
        </p:txBody>
      </p:sp>
    </p:spTree>
    <p:extLst>
      <p:ext uri="{BB962C8B-B14F-4D97-AF65-F5344CB8AC3E}">
        <p14:creationId xmlns:p14="http://schemas.microsoft.com/office/powerpoint/2010/main" val="370358619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38</a:t>
            </a:fld>
            <a:endParaRPr lang="zh-CN" altLang="en-US"/>
          </a:p>
        </p:txBody>
      </p:sp>
    </p:spTree>
    <p:extLst>
      <p:ext uri="{BB962C8B-B14F-4D97-AF65-F5344CB8AC3E}">
        <p14:creationId xmlns:p14="http://schemas.microsoft.com/office/powerpoint/2010/main" val="2250703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39</a:t>
            </a:fld>
            <a:endParaRPr lang="zh-CN" altLang="en-US"/>
          </a:p>
        </p:txBody>
      </p:sp>
    </p:spTree>
    <p:extLst>
      <p:ext uri="{BB962C8B-B14F-4D97-AF65-F5344CB8AC3E}">
        <p14:creationId xmlns:p14="http://schemas.microsoft.com/office/powerpoint/2010/main" val="324458323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40</a:t>
            </a:fld>
            <a:endParaRPr lang="zh-CN" altLang="en-US"/>
          </a:p>
        </p:txBody>
      </p:sp>
    </p:spTree>
    <p:extLst>
      <p:ext uri="{BB962C8B-B14F-4D97-AF65-F5344CB8AC3E}">
        <p14:creationId xmlns:p14="http://schemas.microsoft.com/office/powerpoint/2010/main" val="87718003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41</a:t>
            </a:fld>
            <a:endParaRPr lang="zh-CN" altLang="en-US"/>
          </a:p>
        </p:txBody>
      </p:sp>
    </p:spTree>
    <p:extLst>
      <p:ext uri="{BB962C8B-B14F-4D97-AF65-F5344CB8AC3E}">
        <p14:creationId xmlns:p14="http://schemas.microsoft.com/office/powerpoint/2010/main" val="394713167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42</a:t>
            </a:fld>
            <a:endParaRPr lang="zh-CN" altLang="en-US"/>
          </a:p>
        </p:txBody>
      </p:sp>
    </p:spTree>
    <p:extLst>
      <p:ext uri="{BB962C8B-B14F-4D97-AF65-F5344CB8AC3E}">
        <p14:creationId xmlns:p14="http://schemas.microsoft.com/office/powerpoint/2010/main" val="30691874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43</a:t>
            </a:fld>
            <a:endParaRPr lang="zh-CN" altLang="en-US"/>
          </a:p>
        </p:txBody>
      </p:sp>
    </p:spTree>
    <p:extLst>
      <p:ext uri="{BB962C8B-B14F-4D97-AF65-F5344CB8AC3E}">
        <p14:creationId xmlns:p14="http://schemas.microsoft.com/office/powerpoint/2010/main" val="395369506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44</a:t>
            </a:fld>
            <a:endParaRPr lang="zh-CN" altLang="en-US"/>
          </a:p>
        </p:txBody>
      </p:sp>
    </p:spTree>
    <p:extLst>
      <p:ext uri="{BB962C8B-B14F-4D97-AF65-F5344CB8AC3E}">
        <p14:creationId xmlns:p14="http://schemas.microsoft.com/office/powerpoint/2010/main" val="93261781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45</a:t>
            </a:fld>
            <a:endParaRPr lang="zh-CN" altLang="en-US"/>
          </a:p>
        </p:txBody>
      </p:sp>
    </p:spTree>
    <p:extLst>
      <p:ext uri="{BB962C8B-B14F-4D97-AF65-F5344CB8AC3E}">
        <p14:creationId xmlns:p14="http://schemas.microsoft.com/office/powerpoint/2010/main" val="357200117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46</a:t>
            </a:fld>
            <a:endParaRPr lang="zh-CN" altLang="en-US"/>
          </a:p>
        </p:txBody>
      </p:sp>
    </p:spTree>
    <p:extLst>
      <p:ext uri="{BB962C8B-B14F-4D97-AF65-F5344CB8AC3E}">
        <p14:creationId xmlns:p14="http://schemas.microsoft.com/office/powerpoint/2010/main" val="191025858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47</a:t>
            </a:fld>
            <a:endParaRPr lang="zh-CN" altLang="en-US"/>
          </a:p>
        </p:txBody>
      </p:sp>
    </p:spTree>
    <p:extLst>
      <p:ext uri="{BB962C8B-B14F-4D97-AF65-F5344CB8AC3E}">
        <p14:creationId xmlns:p14="http://schemas.microsoft.com/office/powerpoint/2010/main" val="274462617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48</a:t>
            </a:fld>
            <a:endParaRPr lang="zh-CN" altLang="en-US"/>
          </a:p>
        </p:txBody>
      </p:sp>
    </p:spTree>
    <p:extLst>
      <p:ext uri="{BB962C8B-B14F-4D97-AF65-F5344CB8AC3E}">
        <p14:creationId xmlns:p14="http://schemas.microsoft.com/office/powerpoint/2010/main" val="363833408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49</a:t>
            </a:fld>
            <a:endParaRPr lang="zh-CN" altLang="en-US"/>
          </a:p>
        </p:txBody>
      </p:sp>
    </p:spTree>
    <p:extLst>
      <p:ext uri="{BB962C8B-B14F-4D97-AF65-F5344CB8AC3E}">
        <p14:creationId xmlns:p14="http://schemas.microsoft.com/office/powerpoint/2010/main" val="393176572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50</a:t>
            </a:fld>
            <a:endParaRPr lang="zh-CN" altLang="en-US"/>
          </a:p>
        </p:txBody>
      </p:sp>
    </p:spTree>
    <p:extLst>
      <p:ext uri="{BB962C8B-B14F-4D97-AF65-F5344CB8AC3E}">
        <p14:creationId xmlns:p14="http://schemas.microsoft.com/office/powerpoint/2010/main" val="238333197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51</a:t>
            </a:fld>
            <a:endParaRPr lang="zh-CN" altLang="en-US"/>
          </a:p>
        </p:txBody>
      </p:sp>
    </p:spTree>
    <p:extLst>
      <p:ext uri="{BB962C8B-B14F-4D97-AF65-F5344CB8AC3E}">
        <p14:creationId xmlns:p14="http://schemas.microsoft.com/office/powerpoint/2010/main" val="1384162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52</a:t>
            </a:fld>
            <a:endParaRPr lang="zh-CN" altLang="en-US"/>
          </a:p>
        </p:txBody>
      </p:sp>
    </p:spTree>
    <p:extLst>
      <p:ext uri="{BB962C8B-B14F-4D97-AF65-F5344CB8AC3E}">
        <p14:creationId xmlns:p14="http://schemas.microsoft.com/office/powerpoint/2010/main" val="326722083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53</a:t>
            </a:fld>
            <a:endParaRPr lang="zh-CN" altLang="en-US"/>
          </a:p>
        </p:txBody>
      </p:sp>
    </p:spTree>
    <p:extLst>
      <p:ext uri="{BB962C8B-B14F-4D97-AF65-F5344CB8AC3E}">
        <p14:creationId xmlns:p14="http://schemas.microsoft.com/office/powerpoint/2010/main" val="398243636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54</a:t>
            </a:fld>
            <a:endParaRPr lang="zh-CN" altLang="en-US"/>
          </a:p>
        </p:txBody>
      </p:sp>
    </p:spTree>
    <p:extLst>
      <p:ext uri="{BB962C8B-B14F-4D97-AF65-F5344CB8AC3E}">
        <p14:creationId xmlns:p14="http://schemas.microsoft.com/office/powerpoint/2010/main" val="297524763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55</a:t>
            </a:fld>
            <a:endParaRPr lang="zh-CN" altLang="en-US"/>
          </a:p>
        </p:txBody>
      </p:sp>
    </p:spTree>
    <p:extLst>
      <p:ext uri="{BB962C8B-B14F-4D97-AF65-F5344CB8AC3E}">
        <p14:creationId xmlns:p14="http://schemas.microsoft.com/office/powerpoint/2010/main" val="274096741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val="71734296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56553076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303866553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val="11846706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id="{B6E5D4A0-9D5F-45D9-899A-F03F9DFF710F}"/>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val="14906782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val="339824442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805475184"/>
      </p:ext>
    </p:extLst>
  </p:cSld>
  <p:clrMapOvr>
    <a:masterClrMapping/>
  </p:clrMapOvr>
  <p:extLst>
    <p:ext uri="{DCECCB84-F9BA-43D5-87BE-67443E8EF086}">
      <p15:sldGuideLst xmlns:p15="http://schemas.microsoft.com/office/powerpoint/2012/main"/>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764787002"/>
      </p:ext>
    </p:extLst>
  </p:cSld>
  <p:clrMapOvr>
    <a:masterClrMapping/>
  </p:clrMapOvr>
  <p:extLst>
    <p:ext uri="{DCECCB84-F9BA-43D5-87BE-67443E8EF086}">
      <p15:sldGuideLst xmlns:p15="http://schemas.microsoft.com/office/powerpoint/2012/main"/>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a:extLst>
              <a:ext uri="{FF2B5EF4-FFF2-40B4-BE49-F238E27FC236}">
                <a16:creationId xmlns:a16="http://schemas.microsoft.com/office/drawing/2014/main"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a:extLst>
              <a:ext uri="{FF2B5EF4-FFF2-40B4-BE49-F238E27FC236}">
                <a16:creationId xmlns:a16="http://schemas.microsoft.com/office/drawing/2014/main" id="{6D968944-E188-47DB-80CF-1FD6A7CF4922}"/>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250273013"/>
      </p:ext>
    </p:extLst>
  </p:cSld>
  <p:clrMapOvr>
    <a:masterClrMapping/>
  </p:clrMapOvr>
  <p:extLst>
    <p:ext uri="{DCECCB84-F9BA-43D5-87BE-67443E8EF086}">
      <p15:sldGuideLst xmlns:p15="http://schemas.microsoft.com/office/powerpoint/2012/main">
        <p15:guide id="4" pos="3840">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a:extLst>
              <a:ext uri="{FF2B5EF4-FFF2-40B4-BE49-F238E27FC236}">
                <a16:creationId xmlns:a16="http://schemas.microsoft.com/office/drawing/2014/main"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a:extLst>
              <a:ext uri="{FF2B5EF4-FFF2-40B4-BE49-F238E27FC236}">
                <a16:creationId xmlns:a16="http://schemas.microsoft.com/office/drawing/2014/main" id="{A21D5F5E-4FB0-402A-AEA9-76C1EEB139D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343342305"/>
      </p:ext>
    </p:extLst>
  </p:cSld>
  <p:clrMapOvr>
    <a:masterClrMapping/>
  </p:clrMapOvr>
  <p:extLst>
    <p:ext uri="{DCECCB84-F9BA-43D5-87BE-67443E8EF086}">
      <p15:sldGuideLst xmlns:p15="http://schemas.microsoft.com/office/powerpoint/2012/main">
        <p15:guide id="2" orient="horz" userDrawn="1">
          <p15:clr>
            <a:srgbClr val="FBAE40"/>
          </p15:clr>
        </p15:guide>
        <p15:guide id="4"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57" name="灯片编号占位符 8">
            <a:extLst>
              <a:ext uri="{FF2B5EF4-FFF2-40B4-BE49-F238E27FC236}">
                <a16:creationId xmlns:a16="http://schemas.microsoft.com/office/drawing/2014/main" id="{EA30CFCD-47F5-4BDB-9235-4899110ACBB2}"/>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val="656950449"/>
      </p:ext>
    </p:extLst>
  </p:cSld>
  <p:clrMapOvr>
    <a:masterClrMapping/>
  </p:clrMapOvr>
  <p:extLst>
    <p:ext uri="{DCECCB84-F9BA-43D5-87BE-67443E8EF086}">
      <p15:sldGuideLst xmlns:p15="http://schemas.microsoft.com/office/powerpoint/2012/main"/>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366770035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320391281"/>
      </p:ext>
    </p:extLst>
  </p:cSld>
  <p:clrMapOvr>
    <a:masterClrMapping/>
  </p:clrMapOvr>
  <p:extLst>
    <p:ext uri="{DCECCB84-F9BA-43D5-87BE-67443E8EF086}">
      <p15:sldGuideLst xmlns:p15="http://schemas.microsoft.com/office/powerpoint/2012/main"/>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val="2297414712"/>
      </p:ext>
    </p:extLst>
  </p:cSld>
  <p:clrMapOvr>
    <a:masterClrMapping/>
  </p:clrMapOvr>
  <p:extLst>
    <p:ext uri="{DCECCB84-F9BA-43D5-87BE-67443E8EF086}">
      <p15:sldGuideLst xmlns:p15="http://schemas.microsoft.com/office/powerpoint/2012/main"/>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a:extLst>
              <a:ext uri="{FF2B5EF4-FFF2-40B4-BE49-F238E27FC236}">
                <a16:creationId xmlns:a16="http://schemas.microsoft.com/office/drawing/2014/main"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val="4077410927"/>
      </p:ext>
    </p:extLst>
  </p:cSld>
  <p:clrMapOvr>
    <a:masterClrMapping/>
  </p:clrMapOvr>
  <p:extLst>
    <p:ext uri="{DCECCB84-F9BA-43D5-87BE-67443E8EF086}">
      <p15:sldGuideLst xmlns:p15="http://schemas.microsoft.com/office/powerpoint/2012/main"/>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val="1271073170"/>
      </p:ext>
    </p:extLst>
  </p:cSld>
  <p:clrMapOvr>
    <a:masterClrMapping/>
  </p:clrMapOvr>
  <p:extLst>
    <p:ext uri="{DCECCB84-F9BA-43D5-87BE-67443E8EF086}">
      <p15:sldGuideLst xmlns:p15="http://schemas.microsoft.com/office/powerpoint/2012/main"/>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val="168377699"/>
      </p:ext>
    </p:extLst>
  </p:cSld>
  <p:clrMapOvr>
    <a:masterClrMapping/>
  </p:clrMapOvr>
  <p:extLst>
    <p:ext uri="{DCECCB84-F9BA-43D5-87BE-67443E8EF086}">
      <p15:sldGuideLst xmlns:p15="http://schemas.microsoft.com/office/powerpoint/2012/main"/>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2176353344"/>
      </p:ext>
    </p:extLst>
  </p:cSld>
  <p:clrMapOvr>
    <a:masterClrMapping/>
  </p:clrMapOvr>
  <p:extLst>
    <p:ext uri="{DCECCB84-F9BA-43D5-87BE-67443E8EF086}">
      <p15:sldGuideLst xmlns:p15="http://schemas.microsoft.com/office/powerpoint/2012/main"/>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val="1056957791"/>
      </p:ext>
    </p:extLst>
  </p:cSld>
  <p:clrMapOvr>
    <a:masterClrMapping/>
  </p:clrMapOvr>
  <p:extLst>
    <p:ext uri="{DCECCB84-F9BA-43D5-87BE-67443E8EF086}">
      <p15:sldGuideLst xmlns:p15="http://schemas.microsoft.com/office/powerpoint/2012/main"/>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val="2896438906"/>
      </p:ext>
    </p:extLst>
  </p:cSld>
  <p:clrMapOvr>
    <a:masterClrMapping/>
  </p:clrMapOvr>
  <p:extLst>
    <p:ext uri="{DCECCB84-F9BA-43D5-87BE-67443E8EF086}">
      <p15:sldGuideLst xmlns:p15="http://schemas.microsoft.com/office/powerpoint/2012/main"/>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A84C708-101E-4C5C-BA5A-76F215C58681}"/>
              </a:ext>
            </a:extLst>
          </p:cNvPr>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157145277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val="107872719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325565738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76123087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val="288389108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id="{B6E5D4A0-9D5F-45D9-899A-F03F9DFF710F}"/>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val="60989897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val="172611258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030030053"/>
      </p:ext>
    </p:extLst>
  </p:cSld>
  <p:clrMapOvr>
    <a:masterClrMapping/>
  </p:clrMapOvr>
  <p:extLst>
    <p:ext uri="{DCECCB84-F9BA-43D5-87BE-67443E8EF086}">
      <p15:sldGuideLst xmlns:p15="http://schemas.microsoft.com/office/powerpoint/2012/main"/>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925915339"/>
      </p:ext>
    </p:extLst>
  </p:cSld>
  <p:clrMapOvr>
    <a:masterClrMapping/>
  </p:clrMapOvr>
  <p:extLst>
    <p:ext uri="{DCECCB84-F9BA-43D5-87BE-67443E8EF086}">
      <p15:sldGuideLst xmlns:p15="http://schemas.microsoft.com/office/powerpoint/2012/main"/>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a:extLst>
              <a:ext uri="{FF2B5EF4-FFF2-40B4-BE49-F238E27FC236}">
                <a16:creationId xmlns:a16="http://schemas.microsoft.com/office/drawing/2014/main"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a:extLst>
              <a:ext uri="{FF2B5EF4-FFF2-40B4-BE49-F238E27FC236}">
                <a16:creationId xmlns:a16="http://schemas.microsoft.com/office/drawing/2014/main" id="{6D968944-E188-47DB-80CF-1FD6A7CF4922}"/>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421409504"/>
      </p:ext>
    </p:extLst>
  </p:cSld>
  <p:clrMapOvr>
    <a:masterClrMapping/>
  </p:clrMapOvr>
  <p:extLst>
    <p:ext uri="{DCECCB84-F9BA-43D5-87BE-67443E8EF086}">
      <p15:sldGuideLst xmlns:p15="http://schemas.microsoft.com/office/powerpoint/2012/main">
        <p15:guide id="4" pos="384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a:extLst>
              <a:ext uri="{FF2B5EF4-FFF2-40B4-BE49-F238E27FC236}">
                <a16:creationId xmlns:a16="http://schemas.microsoft.com/office/drawing/2014/main"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a:extLst>
              <a:ext uri="{FF2B5EF4-FFF2-40B4-BE49-F238E27FC236}">
                <a16:creationId xmlns:a16="http://schemas.microsoft.com/office/drawing/2014/main" id="{A21D5F5E-4FB0-402A-AEA9-76C1EEB139D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530403812"/>
      </p:ext>
    </p:extLst>
  </p:cSld>
  <p:clrMapOvr>
    <a:masterClrMapping/>
  </p:clrMapOvr>
  <p:extLst>
    <p:ext uri="{DCECCB84-F9BA-43D5-87BE-67443E8EF086}">
      <p15:sldGuideLst xmlns:p15="http://schemas.microsoft.com/office/powerpoint/2012/main">
        <p15:guide id="2" orient="horz">
          <p15:clr>
            <a:srgbClr val="FBAE40"/>
          </p15:clr>
        </p15:guide>
        <p15:guide id="4" pos="3840">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57" name="灯片编号占位符 8">
            <a:extLst>
              <a:ext uri="{FF2B5EF4-FFF2-40B4-BE49-F238E27FC236}">
                <a16:creationId xmlns:a16="http://schemas.microsoft.com/office/drawing/2014/main" id="{EA30CFCD-47F5-4BDB-9235-4899110ACBB2}"/>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val="1131119114"/>
      </p:ext>
    </p:extLst>
  </p:cSld>
  <p:clrMapOvr>
    <a:masterClrMapping/>
  </p:clrMapOvr>
  <p:extLst>
    <p:ext uri="{DCECCB84-F9BA-43D5-87BE-67443E8EF086}">
      <p15:sldGuideLst xmlns:p15="http://schemas.microsoft.com/office/powerpoint/2012/main"/>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63801072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256674624"/>
      </p:ext>
    </p:extLst>
  </p:cSld>
  <p:clrMapOvr>
    <a:masterClrMapping/>
  </p:clrMapOvr>
  <p:extLst>
    <p:ext uri="{DCECCB84-F9BA-43D5-87BE-67443E8EF086}">
      <p15:sldGuideLst xmlns:p15="http://schemas.microsoft.com/office/powerpoint/2012/main"/>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val="4267871380"/>
      </p:ext>
    </p:extLst>
  </p:cSld>
  <p:clrMapOvr>
    <a:masterClrMapping/>
  </p:clrMapOvr>
  <p:extLst>
    <p:ext uri="{DCECCB84-F9BA-43D5-87BE-67443E8EF086}">
      <p15:sldGuideLst xmlns:p15="http://schemas.microsoft.com/office/powerpoint/2012/main"/>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a:extLst>
              <a:ext uri="{FF2B5EF4-FFF2-40B4-BE49-F238E27FC236}">
                <a16:creationId xmlns:a16="http://schemas.microsoft.com/office/drawing/2014/main"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val="4061629306"/>
      </p:ext>
    </p:extLst>
  </p:cSld>
  <p:clrMapOvr>
    <a:masterClrMapping/>
  </p:clrMapOvr>
  <p:extLst>
    <p:ext uri="{DCECCB84-F9BA-43D5-87BE-67443E8EF086}">
      <p15:sldGuideLst xmlns:p15="http://schemas.microsoft.com/office/powerpoint/2012/main"/>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val="1160747885"/>
      </p:ext>
    </p:extLst>
  </p:cSld>
  <p:clrMapOvr>
    <a:masterClrMapping/>
  </p:clrMapOvr>
  <p:extLst>
    <p:ext uri="{DCECCB84-F9BA-43D5-87BE-67443E8EF086}">
      <p15:sldGuideLst xmlns:p15="http://schemas.microsoft.com/office/powerpoint/2012/main"/>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val="310454351"/>
      </p:ext>
    </p:extLst>
  </p:cSld>
  <p:clrMapOvr>
    <a:masterClrMapping/>
  </p:clrMapOvr>
  <p:extLst>
    <p:ext uri="{DCECCB84-F9BA-43D5-87BE-67443E8EF086}">
      <p15:sldGuideLst xmlns:p15="http://schemas.microsoft.com/office/powerpoint/2012/main"/>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4212954581"/>
      </p:ext>
    </p:extLst>
  </p:cSld>
  <p:clrMapOvr>
    <a:masterClrMapping/>
  </p:clrMapOvr>
  <p:extLst>
    <p:ext uri="{DCECCB84-F9BA-43D5-87BE-67443E8EF086}">
      <p15:sldGuideLst xmlns:p15="http://schemas.microsoft.com/office/powerpoint/2012/main"/>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val="3757660173"/>
      </p:ext>
    </p:extLst>
  </p:cSld>
  <p:clrMapOvr>
    <a:masterClrMapping/>
  </p:clrMapOvr>
  <p:extLst>
    <p:ext uri="{DCECCB84-F9BA-43D5-87BE-67443E8EF086}">
      <p15:sldGuideLst xmlns:p15="http://schemas.microsoft.com/office/powerpoint/2012/main"/>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val="2144750920"/>
      </p:ext>
    </p:extLst>
  </p:cSld>
  <p:clrMapOvr>
    <a:masterClrMapping/>
  </p:clrMapOvr>
  <p:extLst>
    <p:ext uri="{DCECCB84-F9BA-43D5-87BE-67443E8EF086}">
      <p15:sldGuideLst xmlns:p15="http://schemas.microsoft.com/office/powerpoint/2012/main"/>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Tree>
    <p:extLst>
      <p:ext uri="{BB962C8B-B14F-4D97-AF65-F5344CB8AC3E}">
        <p14:creationId xmlns:p14="http://schemas.microsoft.com/office/powerpoint/2010/main" val="106171686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9.xml"/><Relationship Id="rId13" Type="http://schemas.openxmlformats.org/officeDocument/2006/relationships/slideLayout" Target="../slideLayouts/slideLayout34.xml"/><Relationship Id="rId18" Type="http://schemas.openxmlformats.org/officeDocument/2006/relationships/slideLayout" Target="../slideLayouts/slideLayout39.xml"/><Relationship Id="rId3" Type="http://schemas.openxmlformats.org/officeDocument/2006/relationships/slideLayout" Target="../slideLayouts/slideLayout24.xml"/><Relationship Id="rId21" Type="http://schemas.openxmlformats.org/officeDocument/2006/relationships/theme" Target="../theme/theme2.xml"/><Relationship Id="rId7" Type="http://schemas.openxmlformats.org/officeDocument/2006/relationships/slideLayout" Target="../slideLayouts/slideLayout28.xml"/><Relationship Id="rId12" Type="http://schemas.openxmlformats.org/officeDocument/2006/relationships/slideLayout" Target="../slideLayouts/slideLayout33.xml"/><Relationship Id="rId17" Type="http://schemas.openxmlformats.org/officeDocument/2006/relationships/slideLayout" Target="../slideLayouts/slideLayout38.xml"/><Relationship Id="rId2" Type="http://schemas.openxmlformats.org/officeDocument/2006/relationships/slideLayout" Target="../slideLayouts/slideLayout23.xml"/><Relationship Id="rId16" Type="http://schemas.openxmlformats.org/officeDocument/2006/relationships/slideLayout" Target="../slideLayouts/slideLayout37.xml"/><Relationship Id="rId20" Type="http://schemas.openxmlformats.org/officeDocument/2006/relationships/slideLayout" Target="../slideLayouts/slideLayout41.xml"/><Relationship Id="rId1" Type="http://schemas.openxmlformats.org/officeDocument/2006/relationships/slideLayout" Target="../slideLayouts/slideLayout22.xml"/><Relationship Id="rId6" Type="http://schemas.openxmlformats.org/officeDocument/2006/relationships/slideLayout" Target="../slideLayouts/slideLayout27.xml"/><Relationship Id="rId11" Type="http://schemas.openxmlformats.org/officeDocument/2006/relationships/slideLayout" Target="../slideLayouts/slideLayout32.xml"/><Relationship Id="rId5" Type="http://schemas.openxmlformats.org/officeDocument/2006/relationships/slideLayout" Target="../slideLayouts/slideLayout26.xml"/><Relationship Id="rId15" Type="http://schemas.openxmlformats.org/officeDocument/2006/relationships/slideLayout" Target="../slideLayouts/slideLayout36.xml"/><Relationship Id="rId10" Type="http://schemas.openxmlformats.org/officeDocument/2006/relationships/slideLayout" Target="../slideLayouts/slideLayout31.xml"/><Relationship Id="rId19" Type="http://schemas.openxmlformats.org/officeDocument/2006/relationships/slideLayout" Target="../slideLayouts/slideLayout40.xml"/><Relationship Id="rId4" Type="http://schemas.openxmlformats.org/officeDocument/2006/relationships/slideLayout" Target="../slideLayouts/slideLayout25.xml"/><Relationship Id="rId9" Type="http://schemas.openxmlformats.org/officeDocument/2006/relationships/slideLayout" Target="../slideLayouts/slideLayout30.xml"/><Relationship Id="rId14" Type="http://schemas.openxmlformats.org/officeDocument/2006/relationships/slideLayout" Target="../slideLayouts/slideLayout35.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4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318152792"/>
      </p:ext>
    </p:extLst>
  </p:cSld>
  <p:clrMap bg1="lt1" tx1="dk1" bg2="lt2" tx2="dk2" accent1="accent1" accent2="accent2" accent3="accent3" accent4="accent4" accent5="accent5" accent6="accent6" hlink="hlink" folHlink="folHlink"/>
  <p:sldLayoutIdLst>
    <p:sldLayoutId id="2147483694" r:id="rId1"/>
    <p:sldLayoutId id="2147483684" r:id="rId2"/>
    <p:sldLayoutId id="2147483685" r:id="rId3"/>
    <p:sldLayoutId id="2147483686" r:id="rId4"/>
    <p:sldLayoutId id="2147483680" r:id="rId5"/>
    <p:sldLayoutId id="2147483681" r:id="rId6"/>
    <p:sldLayoutId id="2147483691" r:id="rId7"/>
    <p:sldLayoutId id="2147483689" r:id="rId8"/>
    <p:sldLayoutId id="2147483688" r:id="rId9"/>
    <p:sldLayoutId id="2147483657" r:id="rId10"/>
    <p:sldLayoutId id="2147483690" r:id="rId11"/>
    <p:sldLayoutId id="2147483692" r:id="rId12"/>
    <p:sldLayoutId id="2147483704" r:id="rId13"/>
    <p:sldLayoutId id="2147483695" r:id="rId14"/>
    <p:sldLayoutId id="2147483700" r:id="rId15"/>
    <p:sldLayoutId id="2147483701" r:id="rId16"/>
    <p:sldLayoutId id="2147483703" r:id="rId17"/>
    <p:sldLayoutId id="2147483702" r:id="rId18"/>
    <p:sldLayoutId id="2147483705" r:id="rId19"/>
    <p:sldLayoutId id="2147483706" r:id="rId20"/>
    <p:sldLayoutId id="2147483733"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83485235"/>
      </p:ext>
    </p:extLst>
  </p:cSld>
  <p:clrMap bg1="lt1" tx1="dk1" bg2="lt2" tx2="dk2" accent1="accent1" accent2="accent2" accent3="accent3" accent4="accent4" accent5="accent5" accent6="accent6" hlink="hlink" folHlink="folHlink"/>
  <p:sldLayoutIdLst>
    <p:sldLayoutId id="2147483708" r:id="rId1"/>
    <p:sldLayoutId id="2147483709" r:id="rId2"/>
    <p:sldLayoutId id="2147483710" r:id="rId3"/>
    <p:sldLayoutId id="2147483711" r:id="rId4"/>
    <p:sldLayoutId id="2147483712" r:id="rId5"/>
    <p:sldLayoutId id="2147483713" r:id="rId6"/>
    <p:sldLayoutId id="2147483714" r:id="rId7"/>
    <p:sldLayoutId id="2147483715" r:id="rId8"/>
    <p:sldLayoutId id="2147483716" r:id="rId9"/>
    <p:sldLayoutId id="2147483717" r:id="rId10"/>
    <p:sldLayoutId id="2147483718" r:id="rId11"/>
    <p:sldLayoutId id="2147483719" r:id="rId12"/>
    <p:sldLayoutId id="2147483720" r:id="rId13"/>
    <p:sldLayoutId id="2147483721" r:id="rId14"/>
    <p:sldLayoutId id="2147483722" r:id="rId15"/>
    <p:sldLayoutId id="2147483723" r:id="rId16"/>
    <p:sldLayoutId id="2147483724" r:id="rId17"/>
    <p:sldLayoutId id="2147483725" r:id="rId18"/>
    <p:sldLayoutId id="2147483726" r:id="rId19"/>
    <p:sldLayoutId id="2147483727"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43156088"/>
      </p:ext>
    </p:extLst>
  </p:cSld>
  <p:clrMap bg1="lt1" tx1="dk1" bg2="lt2" tx2="dk2" accent1="accent1" accent2="accent2" accent3="accent3" accent4="accent4" accent5="accent5" accent6="accent6" hlink="hlink" folHlink="folHlink"/>
  <p:sldLayoutIdLst>
    <p:sldLayoutId id="2147483732"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264">
          <p15:clr>
            <a:srgbClr val="F26B43"/>
          </p15:clr>
        </p15:guide>
        <p15:guide id="2" pos="3840">
          <p15:clr>
            <a:srgbClr val="F26B43"/>
          </p15:clr>
        </p15:guide>
        <p15:guide id="3" pos="192">
          <p15:clr>
            <a:srgbClr val="F26B43"/>
          </p15:clr>
        </p15:guide>
        <p15:guide id="4" pos="7488">
          <p15:clr>
            <a:srgbClr val="F26B43"/>
          </p15:clr>
        </p15:guide>
        <p15:guide id="5" orient="horz" pos="432">
          <p15:clr>
            <a:srgbClr val="F26B43"/>
          </p15:clr>
        </p15:guide>
        <p15:guide id="6" orient="horz" pos="472">
          <p15:clr>
            <a:srgbClr val="F26B43"/>
          </p15:clr>
        </p15:guide>
        <p15:guide id="7" orient="horz" pos="4104">
          <p15:clr>
            <a:srgbClr val="F26B43"/>
          </p15:clr>
        </p15:guide>
        <p15:guide id="8" orient="horz" pos="4056">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7.xml"/><Relationship Id="rId1" Type="http://schemas.openxmlformats.org/officeDocument/2006/relationships/themeOverride" Target="../theme/themeOverride1.xml"/></Relationships>
</file>

<file path=ppt/slides/_rels/slide1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3.xml"/><Relationship Id="rId1" Type="http://schemas.openxmlformats.org/officeDocument/2006/relationships/slideLayout" Target="../slideLayouts/slideLayout1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8.xml"/></Relationships>
</file>

<file path=ppt/slides/_rels/slide3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1.xml"/><Relationship Id="rId1" Type="http://schemas.openxmlformats.org/officeDocument/2006/relationships/slideLayout" Target="../slideLayouts/slideLayout1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8.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8.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8.xml"/></Relationships>
</file>

<file path=ppt/slides/_rels/slide3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26.xml"/><Relationship Id="rId1" Type="http://schemas.openxmlformats.org/officeDocument/2006/relationships/slideLayout" Target="../slideLayouts/slideLayout8.xml"/></Relationships>
</file>

<file path=ppt/slides/_rels/slide3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7.xml"/><Relationship Id="rId1" Type="http://schemas.openxmlformats.org/officeDocument/2006/relationships/slideLayout" Target="../slideLayouts/slideLayout8.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8.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8.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8.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8.xml"/></Relationships>
</file>

<file path=ppt/slides/_rels/slide4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2.xml"/><Relationship Id="rId1" Type="http://schemas.openxmlformats.org/officeDocument/2006/relationships/slideLayout" Target="../slideLayouts/slideLayout1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8.xml"/></Relationships>
</file>

<file path=ppt/slides/_rels/slide46.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34.xml"/><Relationship Id="rId1" Type="http://schemas.openxmlformats.org/officeDocument/2006/relationships/slideLayout" Target="../slideLayouts/slideLayout8.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8.xml"/></Relationships>
</file>

<file path=ppt/slides/_rels/slide48.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36.xml"/><Relationship Id="rId1" Type="http://schemas.openxmlformats.org/officeDocument/2006/relationships/slideLayout" Target="../slideLayouts/slideLayout8.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8.xml"/></Relationships>
</file>

<file path=ppt/slides/_rels/slide5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38.xml"/><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8.xml"/></Relationships>
</file>

<file path=ppt/slides/_rels/slide52.xml.rels><?xml version="1.0" encoding="UTF-8" standalone="yes"?>
<Relationships xmlns="http://schemas.openxmlformats.org/package/2006/relationships"><Relationship Id="rId3" Type="http://schemas.openxmlformats.org/officeDocument/2006/relationships/hyperlink" Target="http://www.google.com/url?q=http%3A%2F%2Fpubs.opengroup.org%2Fonlinepubs%2F009695399%2Ffunctions%2Fpthread_create.html&amp;sa=D&amp;sntz=1&amp;usg=AOvVaw0HoceAS7-rRK3EYAIMaVHg" TargetMode="External"/><Relationship Id="rId7" Type="http://schemas.openxmlformats.org/officeDocument/2006/relationships/hyperlink" Target="http://www.google.com/url?q=http%3A%2F%2Fpubs.opengroup.org%2Fonlinepubs%2F009695399%2Ffunctions%2Fpthread_attr_destroy.html&amp;sa=D&amp;sntz=1&amp;usg=AOvVaw0iS7czTDOtK7619OSywXg3" TargetMode="External"/><Relationship Id="rId2" Type="http://schemas.openxmlformats.org/officeDocument/2006/relationships/notesSlide" Target="../notesSlides/notesSlide40.xml"/><Relationship Id="rId1" Type="http://schemas.openxmlformats.org/officeDocument/2006/relationships/slideLayout" Target="../slideLayouts/slideLayout8.xml"/><Relationship Id="rId6" Type="http://schemas.openxmlformats.org/officeDocument/2006/relationships/hyperlink" Target="http://www.google.com/url?q=http%3A%2F%2Fpubs.opengroup.org%2Fonlinepubs%2F009695399%2Ffunctions%2Fpthread_attr_init.html&amp;sa=D&amp;sntz=1&amp;usg=AOvVaw3-Lopm46t4EavTF9Yl3iKW" TargetMode="External"/><Relationship Id="rId5" Type="http://schemas.openxmlformats.org/officeDocument/2006/relationships/hyperlink" Target="http://www.google.com/url?q=http%3A%2F%2Fpubs.opengroup.org%2Fonlinepubs%2F009695399%2Ffunctions%2Fpthread_exit.html&amp;sa=D&amp;sntz=1&amp;usg=AOvVaw0jD_gHoEAgXeRRC0eRaKR6" TargetMode="External"/><Relationship Id="rId4" Type="http://schemas.openxmlformats.org/officeDocument/2006/relationships/hyperlink" Target="http://www.google.com/url?q=http%3A%2F%2Fpubs.opengroup.org%2Fonlinepubs%2F009695399%2Ffunctions%2Fpthread_join.html&amp;sa=D&amp;sntz=1&amp;usg=AOvVaw2DWWbGh0FirATRwhiSY3tp" TargetMode="Externa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8.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8.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4925910E-46F9-4666-9744-B5C1B666AF6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048000" y="0"/>
            <a:ext cx="9144000" cy="6858000"/>
          </a:xfrm>
          <a:prstGeom prst="rect">
            <a:avLst/>
          </a:prstGeom>
        </p:spPr>
      </p:pic>
      <p:sp>
        <p:nvSpPr>
          <p:cNvPr id="4" name="矩形 3">
            <a:extLst>
              <a:ext uri="{FF2B5EF4-FFF2-40B4-BE49-F238E27FC236}">
                <a16:creationId xmlns:a16="http://schemas.microsoft.com/office/drawing/2014/main" id="{D0ECADE0-136B-4331-AFDB-39AF67408217}"/>
              </a:ext>
            </a:extLst>
          </p:cNvPr>
          <p:cNvSpPr/>
          <p:nvPr/>
        </p:nvSpPr>
        <p:spPr>
          <a:xfrm>
            <a:off x="0" y="0"/>
            <a:ext cx="12192000" cy="6858000"/>
          </a:xfrm>
          <a:prstGeom prst="rect">
            <a:avLst/>
          </a:prstGeom>
          <a:gradFill flip="none" rotWithShape="1">
            <a:gsLst>
              <a:gs pos="31000">
                <a:schemeClr val="bg1"/>
              </a:gs>
              <a:gs pos="100000">
                <a:schemeClr val="bg1">
                  <a:alpha val="50000"/>
                </a:schemeClr>
              </a:gs>
            </a:gsLst>
            <a:lin ang="0" scaled="1"/>
            <a:tileRect/>
          </a:gra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2" name="组合 1">
            <a:extLst>
              <a:ext uri="{FF2B5EF4-FFF2-40B4-BE49-F238E27FC236}">
                <a16:creationId xmlns:a16="http://schemas.microsoft.com/office/drawing/2014/main" id="{CE49D345-750C-D5B7-524C-751A7BA843C6}"/>
              </a:ext>
            </a:extLst>
          </p:cNvPr>
          <p:cNvGrpSpPr/>
          <p:nvPr/>
        </p:nvGrpSpPr>
        <p:grpSpPr>
          <a:xfrm>
            <a:off x="4725954" y="5800885"/>
            <a:ext cx="2670502" cy="772222"/>
            <a:chOff x="402390" y="1112544"/>
            <a:chExt cx="3373279" cy="975442"/>
          </a:xfrm>
        </p:grpSpPr>
        <p:grpSp>
          <p:nvGrpSpPr>
            <p:cNvPr id="10" name="组合 9">
              <a:extLst>
                <a:ext uri="{FF2B5EF4-FFF2-40B4-BE49-F238E27FC236}">
                  <a16:creationId xmlns:a16="http://schemas.microsoft.com/office/drawing/2014/main" id="{624A3512-72B3-4251-A3C8-3A280ACA83FF}"/>
                </a:ext>
              </a:extLst>
            </p:cNvPr>
            <p:cNvGrpSpPr/>
            <p:nvPr/>
          </p:nvGrpSpPr>
          <p:grpSpPr>
            <a:xfrm>
              <a:off x="1577355" y="1930744"/>
              <a:ext cx="2136277" cy="157242"/>
              <a:chOff x="4616246" y="3878362"/>
              <a:chExt cx="5571416" cy="410087"/>
            </a:xfrm>
            <a:solidFill>
              <a:schemeClr val="tx1">
                <a:alpha val="80000"/>
              </a:schemeClr>
            </a:solidFill>
          </p:grpSpPr>
          <p:sp>
            <p:nvSpPr>
              <p:cNvPr id="52" name="Freeform 17">
                <a:extLst>
                  <a:ext uri="{FF2B5EF4-FFF2-40B4-BE49-F238E27FC236}">
                    <a16:creationId xmlns:a16="http://schemas.microsoft.com/office/drawing/2014/main" id="{DAE52073-4524-4A8B-A464-E035A3C83E34}"/>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18">
                <a:extLst>
                  <a:ext uri="{FF2B5EF4-FFF2-40B4-BE49-F238E27FC236}">
                    <a16:creationId xmlns:a16="http://schemas.microsoft.com/office/drawing/2014/main" id="{29B30B23-4451-4DEB-8333-41AA2086EFE8}"/>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19">
                <a:extLst>
                  <a:ext uri="{FF2B5EF4-FFF2-40B4-BE49-F238E27FC236}">
                    <a16:creationId xmlns:a16="http://schemas.microsoft.com/office/drawing/2014/main" id="{EE9CF431-F2BD-4C74-BF84-206831EF1B3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0">
                <a:extLst>
                  <a:ext uri="{FF2B5EF4-FFF2-40B4-BE49-F238E27FC236}">
                    <a16:creationId xmlns:a16="http://schemas.microsoft.com/office/drawing/2014/main" id="{B038737B-D725-476E-AB8D-46A20D69D3BC}"/>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1">
                <a:extLst>
                  <a:ext uri="{FF2B5EF4-FFF2-40B4-BE49-F238E27FC236}">
                    <a16:creationId xmlns:a16="http://schemas.microsoft.com/office/drawing/2014/main" id="{59D43693-0CB2-4CEE-A28F-463412B0BA1F}"/>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2">
                <a:extLst>
                  <a:ext uri="{FF2B5EF4-FFF2-40B4-BE49-F238E27FC236}">
                    <a16:creationId xmlns:a16="http://schemas.microsoft.com/office/drawing/2014/main" id="{12EBA933-6319-48AB-AF5B-A0AF5A0A0B09}"/>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3">
                <a:extLst>
                  <a:ext uri="{FF2B5EF4-FFF2-40B4-BE49-F238E27FC236}">
                    <a16:creationId xmlns:a16="http://schemas.microsoft.com/office/drawing/2014/main" id="{A787C284-7A79-4135-AF6F-C9D2C1B9F56B}"/>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25">
                <a:extLst>
                  <a:ext uri="{FF2B5EF4-FFF2-40B4-BE49-F238E27FC236}">
                    <a16:creationId xmlns:a16="http://schemas.microsoft.com/office/drawing/2014/main" id="{247D306D-FCC1-44BB-B0BD-CC291A8356B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7">
                <a:extLst>
                  <a:ext uri="{FF2B5EF4-FFF2-40B4-BE49-F238E27FC236}">
                    <a16:creationId xmlns:a16="http://schemas.microsoft.com/office/drawing/2014/main" id="{78DDE031-2B60-433F-AC8A-A23352BEB113}"/>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9">
                <a:extLst>
                  <a:ext uri="{FF2B5EF4-FFF2-40B4-BE49-F238E27FC236}">
                    <a16:creationId xmlns:a16="http://schemas.microsoft.com/office/drawing/2014/main" id="{840C2A14-CF9F-4A71-9528-B88913053A6C}"/>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0">
                <a:extLst>
                  <a:ext uri="{FF2B5EF4-FFF2-40B4-BE49-F238E27FC236}">
                    <a16:creationId xmlns:a16="http://schemas.microsoft.com/office/drawing/2014/main" id="{F74615A6-67FE-4049-9E95-6865472B2FA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1">
                <a:extLst>
                  <a:ext uri="{FF2B5EF4-FFF2-40B4-BE49-F238E27FC236}">
                    <a16:creationId xmlns:a16="http://schemas.microsoft.com/office/drawing/2014/main" id="{2496D022-5723-41CD-A8F4-F3B85467A5A8}"/>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2">
                <a:extLst>
                  <a:ext uri="{FF2B5EF4-FFF2-40B4-BE49-F238E27FC236}">
                    <a16:creationId xmlns:a16="http://schemas.microsoft.com/office/drawing/2014/main" id="{6ED1CA87-E8C4-4AC0-87D6-274BE102A8E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33">
                <a:extLst>
                  <a:ext uri="{FF2B5EF4-FFF2-40B4-BE49-F238E27FC236}">
                    <a16:creationId xmlns:a16="http://schemas.microsoft.com/office/drawing/2014/main" id="{8AF2007B-F804-4B7C-8C23-2DCB5C77B90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34">
                <a:extLst>
                  <a:ext uri="{FF2B5EF4-FFF2-40B4-BE49-F238E27FC236}">
                    <a16:creationId xmlns:a16="http://schemas.microsoft.com/office/drawing/2014/main" id="{CC6844D1-946D-4BD6-8E4D-EB03ED59D079}"/>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5">
                <a:extLst>
                  <a:ext uri="{FF2B5EF4-FFF2-40B4-BE49-F238E27FC236}">
                    <a16:creationId xmlns:a16="http://schemas.microsoft.com/office/drawing/2014/main" id="{730043B8-DE20-4525-AE0C-A8E50F80B48B}"/>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5" name="组合 14">
              <a:extLst>
                <a:ext uri="{FF2B5EF4-FFF2-40B4-BE49-F238E27FC236}">
                  <a16:creationId xmlns:a16="http://schemas.microsoft.com/office/drawing/2014/main" id="{A19D5EA6-14B0-4D45-B23D-1085BD84EE19}"/>
                </a:ext>
              </a:extLst>
            </p:cNvPr>
            <p:cNvGrpSpPr/>
            <p:nvPr/>
          </p:nvGrpSpPr>
          <p:grpSpPr>
            <a:xfrm>
              <a:off x="1630792" y="1180217"/>
              <a:ext cx="2144877" cy="612998"/>
              <a:chOff x="4606634" y="2048989"/>
              <a:chExt cx="5593843" cy="1598699"/>
            </a:xfrm>
            <a:solidFill>
              <a:schemeClr val="accent1">
                <a:alpha val="80000"/>
              </a:schemeClr>
            </a:solidFill>
          </p:grpSpPr>
          <p:sp>
            <p:nvSpPr>
              <p:cNvPr id="40" name="Freeform 9">
                <a:extLst>
                  <a:ext uri="{FF2B5EF4-FFF2-40B4-BE49-F238E27FC236}">
                    <a16:creationId xmlns:a16="http://schemas.microsoft.com/office/drawing/2014/main" id="{875B2159-A8E3-413A-8622-E86708C373A7}"/>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0">
                <a:extLst>
                  <a:ext uri="{FF2B5EF4-FFF2-40B4-BE49-F238E27FC236}">
                    <a16:creationId xmlns:a16="http://schemas.microsoft.com/office/drawing/2014/main" id="{3CE23A0A-0FB8-407F-8833-2E5FFD3293ED}"/>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1">
                <a:extLst>
                  <a:ext uri="{FF2B5EF4-FFF2-40B4-BE49-F238E27FC236}">
                    <a16:creationId xmlns:a16="http://schemas.microsoft.com/office/drawing/2014/main" id="{E125307E-4C2A-420A-9964-CAEE852C302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2">
                <a:extLst>
                  <a:ext uri="{FF2B5EF4-FFF2-40B4-BE49-F238E27FC236}">
                    <a16:creationId xmlns:a16="http://schemas.microsoft.com/office/drawing/2014/main" id="{42AA24C9-7F3A-4AEE-9DA4-31C9F38A54F7}"/>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3">
                <a:extLst>
                  <a:ext uri="{FF2B5EF4-FFF2-40B4-BE49-F238E27FC236}">
                    <a16:creationId xmlns:a16="http://schemas.microsoft.com/office/drawing/2014/main" id="{9CB8174D-1173-4E2A-BE59-232D174ECD54}"/>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4">
                <a:extLst>
                  <a:ext uri="{FF2B5EF4-FFF2-40B4-BE49-F238E27FC236}">
                    <a16:creationId xmlns:a16="http://schemas.microsoft.com/office/drawing/2014/main" id="{4720CA78-8018-480D-B3C6-AA429C00B178}"/>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5">
                <a:extLst>
                  <a:ext uri="{FF2B5EF4-FFF2-40B4-BE49-F238E27FC236}">
                    <a16:creationId xmlns:a16="http://schemas.microsoft.com/office/drawing/2014/main" id="{7E8C1630-854C-41AB-BF47-FCBD67F65F11}"/>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6">
                <a:extLst>
                  <a:ext uri="{FF2B5EF4-FFF2-40B4-BE49-F238E27FC236}">
                    <a16:creationId xmlns:a16="http://schemas.microsoft.com/office/drawing/2014/main" id="{BB46278C-87D7-48B9-8CFE-B99963AF3708}"/>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24">
                <a:extLst>
                  <a:ext uri="{FF2B5EF4-FFF2-40B4-BE49-F238E27FC236}">
                    <a16:creationId xmlns:a16="http://schemas.microsoft.com/office/drawing/2014/main" id="{1465E496-AA95-4FA0-816E-85C3C43B811A}"/>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26">
                <a:extLst>
                  <a:ext uri="{FF2B5EF4-FFF2-40B4-BE49-F238E27FC236}">
                    <a16:creationId xmlns:a16="http://schemas.microsoft.com/office/drawing/2014/main" id="{E527BFC8-9702-482C-AFED-BAAAB9337A19}"/>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8">
                <a:extLst>
                  <a:ext uri="{FF2B5EF4-FFF2-40B4-BE49-F238E27FC236}">
                    <a16:creationId xmlns:a16="http://schemas.microsoft.com/office/drawing/2014/main" id="{1AF4B7CE-EDBD-44F8-BB6E-A49749BDFDD4}"/>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36">
                <a:extLst>
                  <a:ext uri="{FF2B5EF4-FFF2-40B4-BE49-F238E27FC236}">
                    <a16:creationId xmlns:a16="http://schemas.microsoft.com/office/drawing/2014/main" id="{9A2A1D48-D356-4118-89AC-7D391184795C}"/>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6" name="组合 15">
              <a:extLst>
                <a:ext uri="{FF2B5EF4-FFF2-40B4-BE49-F238E27FC236}">
                  <a16:creationId xmlns:a16="http://schemas.microsoft.com/office/drawing/2014/main" id="{699C80E8-62C0-48BD-B434-DCD74F77C058}"/>
                </a:ext>
              </a:extLst>
            </p:cNvPr>
            <p:cNvGrpSpPr/>
            <p:nvPr/>
          </p:nvGrpSpPr>
          <p:grpSpPr>
            <a:xfrm>
              <a:off x="402390" y="1112544"/>
              <a:ext cx="960649" cy="958410"/>
              <a:chOff x="2105799" y="20055838"/>
              <a:chExt cx="6748090" cy="6732363"/>
            </a:xfrm>
            <a:solidFill>
              <a:schemeClr val="accent1">
                <a:alpha val="80000"/>
              </a:schemeClr>
            </a:solidFill>
          </p:grpSpPr>
          <p:sp>
            <p:nvSpPr>
              <p:cNvPr id="17" name="Freeform 8">
                <a:extLst>
                  <a:ext uri="{FF2B5EF4-FFF2-40B4-BE49-F238E27FC236}">
                    <a16:creationId xmlns:a16="http://schemas.microsoft.com/office/drawing/2014/main" id="{8A0B2331-B894-4E61-8B62-88868F9F593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2">
                <a:extLst>
                  <a:ext uri="{FF2B5EF4-FFF2-40B4-BE49-F238E27FC236}">
                    <a16:creationId xmlns:a16="http://schemas.microsoft.com/office/drawing/2014/main" id="{31691092-2A59-4223-8433-076BD21CF24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3">
                <a:extLst>
                  <a:ext uri="{FF2B5EF4-FFF2-40B4-BE49-F238E27FC236}">
                    <a16:creationId xmlns:a16="http://schemas.microsoft.com/office/drawing/2014/main" id="{99A87205-5C20-4A7A-85D3-0D7AD4BD12F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4">
                <a:extLst>
                  <a:ext uri="{FF2B5EF4-FFF2-40B4-BE49-F238E27FC236}">
                    <a16:creationId xmlns:a16="http://schemas.microsoft.com/office/drawing/2014/main" id="{7DD988B2-0D51-4890-B241-010F31583449}"/>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5">
                <a:extLst>
                  <a:ext uri="{FF2B5EF4-FFF2-40B4-BE49-F238E27FC236}">
                    <a16:creationId xmlns:a16="http://schemas.microsoft.com/office/drawing/2014/main" id="{B1FB4247-BBB2-4097-8AE7-2831D11A81AB}"/>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6">
                <a:extLst>
                  <a:ext uri="{FF2B5EF4-FFF2-40B4-BE49-F238E27FC236}">
                    <a16:creationId xmlns:a16="http://schemas.microsoft.com/office/drawing/2014/main" id="{1AE097AA-CC9B-40C7-ADF2-F43DDE5761C7}"/>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47">
                <a:extLst>
                  <a:ext uri="{FF2B5EF4-FFF2-40B4-BE49-F238E27FC236}">
                    <a16:creationId xmlns:a16="http://schemas.microsoft.com/office/drawing/2014/main" id="{1159C2D6-5EA4-4F84-B2F1-241CE2D3DE2E}"/>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48">
                <a:extLst>
                  <a:ext uri="{FF2B5EF4-FFF2-40B4-BE49-F238E27FC236}">
                    <a16:creationId xmlns:a16="http://schemas.microsoft.com/office/drawing/2014/main" id="{604D2764-FB55-4E92-A499-BBAB56EE56FD}"/>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49">
                <a:extLst>
                  <a:ext uri="{FF2B5EF4-FFF2-40B4-BE49-F238E27FC236}">
                    <a16:creationId xmlns:a16="http://schemas.microsoft.com/office/drawing/2014/main" id="{479CD6CF-3B3D-4D8A-B69F-BC590B04A8CD}"/>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0">
                <a:extLst>
                  <a:ext uri="{FF2B5EF4-FFF2-40B4-BE49-F238E27FC236}">
                    <a16:creationId xmlns:a16="http://schemas.microsoft.com/office/drawing/2014/main" id="{8209BE02-17C3-483F-B590-3E6DF5BDB547}"/>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1">
                <a:extLst>
                  <a:ext uri="{FF2B5EF4-FFF2-40B4-BE49-F238E27FC236}">
                    <a16:creationId xmlns:a16="http://schemas.microsoft.com/office/drawing/2014/main" id="{CD717262-BBF6-482A-9C87-40BB54ED11F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2">
                <a:extLst>
                  <a:ext uri="{FF2B5EF4-FFF2-40B4-BE49-F238E27FC236}">
                    <a16:creationId xmlns:a16="http://schemas.microsoft.com/office/drawing/2014/main" id="{BDE41B04-E950-48FB-A7A5-17FDEA1A1451}"/>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3">
                <a:extLst>
                  <a:ext uri="{FF2B5EF4-FFF2-40B4-BE49-F238E27FC236}">
                    <a16:creationId xmlns:a16="http://schemas.microsoft.com/office/drawing/2014/main" id="{FE0A7D75-4788-4AE0-BC4E-4BC6D7723572}"/>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4">
                <a:extLst>
                  <a:ext uri="{FF2B5EF4-FFF2-40B4-BE49-F238E27FC236}">
                    <a16:creationId xmlns:a16="http://schemas.microsoft.com/office/drawing/2014/main" id="{7915283C-8D47-40E1-8506-D851C93071D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5">
                <a:extLst>
                  <a:ext uri="{FF2B5EF4-FFF2-40B4-BE49-F238E27FC236}">
                    <a16:creationId xmlns:a16="http://schemas.microsoft.com/office/drawing/2014/main" id="{98994CA6-3857-4616-B74C-C0783C838A43}"/>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6">
                <a:extLst>
                  <a:ext uri="{FF2B5EF4-FFF2-40B4-BE49-F238E27FC236}">
                    <a16:creationId xmlns:a16="http://schemas.microsoft.com/office/drawing/2014/main" id="{CE514B7E-77D9-4120-8AD8-B736E658D105}"/>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7">
                <a:extLst>
                  <a:ext uri="{FF2B5EF4-FFF2-40B4-BE49-F238E27FC236}">
                    <a16:creationId xmlns:a16="http://schemas.microsoft.com/office/drawing/2014/main" id="{4263E67D-C070-4D9F-A2B8-8C51FABB435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8">
                <a:extLst>
                  <a:ext uri="{FF2B5EF4-FFF2-40B4-BE49-F238E27FC236}">
                    <a16:creationId xmlns:a16="http://schemas.microsoft.com/office/drawing/2014/main" id="{C9D49BD9-B4CA-4875-95CC-63D5C659C0E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59">
                <a:extLst>
                  <a:ext uri="{FF2B5EF4-FFF2-40B4-BE49-F238E27FC236}">
                    <a16:creationId xmlns:a16="http://schemas.microsoft.com/office/drawing/2014/main" id="{252C6FCC-397A-4014-81AB-830F7CECC9E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60">
                <a:extLst>
                  <a:ext uri="{FF2B5EF4-FFF2-40B4-BE49-F238E27FC236}">
                    <a16:creationId xmlns:a16="http://schemas.microsoft.com/office/drawing/2014/main" id="{BFCECE11-D055-4B8D-A4B3-33FDDF84688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61">
                <a:extLst>
                  <a:ext uri="{FF2B5EF4-FFF2-40B4-BE49-F238E27FC236}">
                    <a16:creationId xmlns:a16="http://schemas.microsoft.com/office/drawing/2014/main" id="{4162D747-ED4A-4BB0-A6DA-53D3E94BC8C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62">
                <a:extLst>
                  <a:ext uri="{FF2B5EF4-FFF2-40B4-BE49-F238E27FC236}">
                    <a16:creationId xmlns:a16="http://schemas.microsoft.com/office/drawing/2014/main" id="{76974D8B-D8B3-4C59-BD63-90049E186DCB}"/>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71">
                <a:extLst>
                  <a:ext uri="{FF2B5EF4-FFF2-40B4-BE49-F238E27FC236}">
                    <a16:creationId xmlns:a16="http://schemas.microsoft.com/office/drawing/2014/main" id="{6C1C7949-68AF-4F82-AC9C-AFA92764922D}"/>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12" name="文本框 11">
            <a:extLst>
              <a:ext uri="{FF2B5EF4-FFF2-40B4-BE49-F238E27FC236}">
                <a16:creationId xmlns:a16="http://schemas.microsoft.com/office/drawing/2014/main" id="{714446B3-E2BE-4CA1-AD4C-F2519F4376A8}"/>
              </a:ext>
            </a:extLst>
          </p:cNvPr>
          <p:cNvSpPr txBox="1"/>
          <p:nvPr/>
        </p:nvSpPr>
        <p:spPr>
          <a:xfrm>
            <a:off x="992821" y="2300278"/>
            <a:ext cx="10136768" cy="1200329"/>
          </a:xfrm>
          <a:prstGeom prst="rect">
            <a:avLst/>
          </a:prstGeom>
          <a:noFill/>
          <a:effectLst>
            <a:outerShdw blurRad="50800" dist="38100" dir="2700000" algn="tl" rotWithShape="0">
              <a:prstClr val="black">
                <a:alpha val="40000"/>
              </a:prstClr>
            </a:outerShdw>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第</a:t>
            </a:r>
            <a:r>
              <a:rPr kumimoji="0" lang="en-US" altLang="zh-CN"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3</a:t>
            </a:r>
            <a:r>
              <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章  进程线程模型</a:t>
            </a:r>
          </a:p>
        </p:txBody>
      </p:sp>
      <p:cxnSp>
        <p:nvCxnSpPr>
          <p:cNvPr id="6" name="直接连接符 5">
            <a:extLst>
              <a:ext uri="{FF2B5EF4-FFF2-40B4-BE49-F238E27FC236}">
                <a16:creationId xmlns:a16="http://schemas.microsoft.com/office/drawing/2014/main" id="{D3AF40A7-25CB-1896-8369-AE29EE10B273}"/>
              </a:ext>
            </a:extLst>
          </p:cNvPr>
          <p:cNvCxnSpPr/>
          <p:nvPr/>
        </p:nvCxnSpPr>
        <p:spPr>
          <a:xfrm>
            <a:off x="974690" y="2250832"/>
            <a:ext cx="10168932" cy="0"/>
          </a:xfrm>
          <a:prstGeom prst="line">
            <a:avLst/>
          </a:prstGeom>
        </p:spPr>
        <p:style>
          <a:lnRef idx="3">
            <a:schemeClr val="accent1"/>
          </a:lnRef>
          <a:fillRef idx="0">
            <a:schemeClr val="accent1"/>
          </a:fillRef>
          <a:effectRef idx="2">
            <a:schemeClr val="accent1"/>
          </a:effectRef>
          <a:fontRef idx="minor">
            <a:schemeClr val="tx1"/>
          </a:fontRef>
        </p:style>
      </p:cxnSp>
      <p:cxnSp>
        <p:nvCxnSpPr>
          <p:cNvPr id="7" name="直接连接符 6">
            <a:extLst>
              <a:ext uri="{FF2B5EF4-FFF2-40B4-BE49-F238E27FC236}">
                <a16:creationId xmlns:a16="http://schemas.microsoft.com/office/drawing/2014/main" id="{481504B9-B439-9E6B-B837-52B14F15F154}"/>
              </a:ext>
            </a:extLst>
          </p:cNvPr>
          <p:cNvCxnSpPr>
            <a:cxnSpLocks/>
          </p:cNvCxnSpPr>
          <p:nvPr/>
        </p:nvCxnSpPr>
        <p:spPr>
          <a:xfrm>
            <a:off x="974690" y="3609033"/>
            <a:ext cx="10168932" cy="0"/>
          </a:xfrm>
          <a:prstGeom prst="line">
            <a:avLst/>
          </a:prstGeom>
        </p:spPr>
        <p:style>
          <a:lnRef idx="3">
            <a:schemeClr val="accent1"/>
          </a:lnRef>
          <a:fillRef idx="0">
            <a:schemeClr val="accent1"/>
          </a:fillRef>
          <a:effectRef idx="2">
            <a:schemeClr val="accent1"/>
          </a:effectRef>
          <a:fontRef idx="minor">
            <a:schemeClr val="tx1"/>
          </a:fontRef>
        </p:style>
      </p:cxnSp>
    </p:spTree>
    <p:extLst>
      <p:ext uri="{BB962C8B-B14F-4D97-AF65-F5344CB8AC3E}">
        <p14:creationId xmlns:p14="http://schemas.microsoft.com/office/powerpoint/2010/main" val="196058752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zh-CN" altLang="en-US" dirty="0">
                <a:sym typeface="Arial" panose="020B0604020202020204" pitchFamily="34" charset="0"/>
              </a:rPr>
              <a:t>学习目标</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E39FB666-2762-04F1-9C13-6811C610B0F2}"/>
              </a:ext>
            </a:extLst>
          </p:cNvPr>
          <p:cNvSpPr txBox="1"/>
          <p:nvPr/>
        </p:nvSpPr>
        <p:spPr>
          <a:xfrm>
            <a:off x="2228377" y="864924"/>
            <a:ext cx="7735246" cy="5618654"/>
          </a:xfrm>
          <a:prstGeom prst="rect">
            <a:avLst/>
          </a:prstGeom>
          <a:noFill/>
        </p:spPr>
        <p:txBody>
          <a:bodyPr wrap="square">
            <a:spAutoFit/>
          </a:bodyPr>
          <a:lstStyle/>
          <a:p>
            <a:pPr marL="342900" lvl="0" indent="-342900" algn="l">
              <a:lnSpc>
                <a:spcPct val="150000"/>
              </a:lnSpc>
              <a:buFont typeface="+mj-lt"/>
              <a:buAutoNum type="arabicPeriod"/>
            </a:pPr>
            <a:r>
              <a:rPr lang="zh-CN" altLang="zh-CN" sz="2200" kern="0" dirty="0">
                <a:effectLst/>
                <a:latin typeface="+mn-ea"/>
                <a:cs typeface="Times New Roman" panose="02020603050405020304" pitchFamily="18" charset="0"/>
              </a:rPr>
              <a:t>掌握进程的定义和组成要素</a:t>
            </a:r>
            <a:endParaRPr lang="zh-CN" altLang="zh-CN" sz="2200" kern="100" dirty="0">
              <a:effectLst/>
              <a:latin typeface="+mn-ea"/>
              <a:cs typeface="Times New Roman" panose="02020603050405020304" pitchFamily="18" charset="0"/>
            </a:endParaRPr>
          </a:p>
          <a:p>
            <a:pPr marL="342900" lvl="0" indent="-342900" algn="l">
              <a:lnSpc>
                <a:spcPct val="150000"/>
              </a:lnSpc>
              <a:buFont typeface="+mj-lt"/>
              <a:buAutoNum type="arabicPeriod"/>
            </a:pPr>
            <a:r>
              <a:rPr lang="zh-CN" altLang="zh-CN" sz="2200" kern="0" dirty="0">
                <a:effectLst/>
                <a:latin typeface="+mn-ea"/>
                <a:cs typeface="Times New Roman" panose="02020603050405020304" pitchFamily="18" charset="0"/>
              </a:rPr>
              <a:t>掌握应用进程状态转换关系 </a:t>
            </a:r>
            <a:endParaRPr lang="zh-CN" altLang="zh-CN" sz="2200" kern="100" dirty="0">
              <a:effectLst/>
              <a:latin typeface="+mn-ea"/>
              <a:cs typeface="Times New Roman" panose="02020603050405020304" pitchFamily="18" charset="0"/>
            </a:endParaRPr>
          </a:p>
          <a:p>
            <a:pPr marL="342900" lvl="0" indent="-342900" algn="l">
              <a:lnSpc>
                <a:spcPct val="150000"/>
              </a:lnSpc>
              <a:buFont typeface="+mj-lt"/>
              <a:buAutoNum type="arabicPeriod"/>
            </a:pPr>
            <a:r>
              <a:rPr lang="zh-CN" altLang="zh-CN" sz="2200" kern="0" dirty="0">
                <a:effectLst/>
                <a:latin typeface="+mn-ea"/>
                <a:cs typeface="Times New Roman" panose="02020603050405020304" pitchFamily="18" charset="0"/>
              </a:rPr>
              <a:t>了解进程地址空间</a:t>
            </a:r>
            <a:endParaRPr lang="zh-CN" altLang="zh-CN" sz="2200" kern="100" dirty="0">
              <a:effectLst/>
              <a:latin typeface="+mn-ea"/>
              <a:cs typeface="Times New Roman" panose="02020603050405020304" pitchFamily="18" charset="0"/>
            </a:endParaRPr>
          </a:p>
          <a:p>
            <a:pPr marL="342900" lvl="0" indent="-342900" algn="l">
              <a:lnSpc>
                <a:spcPct val="150000"/>
              </a:lnSpc>
              <a:buFont typeface="+mj-lt"/>
              <a:buAutoNum type="arabicPeriod"/>
            </a:pPr>
            <a:r>
              <a:rPr lang="zh-CN" altLang="zh-CN" sz="2200" kern="0" dirty="0">
                <a:effectLst/>
                <a:latin typeface="+mn-ea"/>
                <a:cs typeface="Times New Roman" panose="02020603050405020304" pitchFamily="18" charset="0"/>
              </a:rPr>
              <a:t>掌握进程创建、撤销、阻塞和唤醒的机制</a:t>
            </a:r>
            <a:endParaRPr lang="zh-CN" altLang="zh-CN" sz="2200" kern="100" dirty="0">
              <a:effectLst/>
              <a:latin typeface="+mn-ea"/>
              <a:cs typeface="Times New Roman" panose="02020603050405020304" pitchFamily="18" charset="0"/>
            </a:endParaRPr>
          </a:p>
          <a:p>
            <a:pPr marL="342900" lvl="0" indent="-342900" algn="l">
              <a:lnSpc>
                <a:spcPct val="150000"/>
              </a:lnSpc>
              <a:buFont typeface="+mj-lt"/>
              <a:buAutoNum type="arabicPeriod"/>
            </a:pPr>
            <a:r>
              <a:rPr lang="zh-CN" altLang="zh-CN" sz="2200" kern="0" dirty="0">
                <a:effectLst/>
                <a:latin typeface="+mn-ea"/>
                <a:cs typeface="Times New Roman" panose="02020603050405020304" pitchFamily="18" charset="0"/>
              </a:rPr>
              <a:t>理解进程控制的原语与相关系统调用</a:t>
            </a:r>
            <a:endParaRPr lang="zh-CN" altLang="zh-CN" sz="2200" kern="100" dirty="0">
              <a:effectLst/>
              <a:latin typeface="+mn-ea"/>
              <a:cs typeface="Times New Roman" panose="02020603050405020304" pitchFamily="18" charset="0"/>
            </a:endParaRPr>
          </a:p>
          <a:p>
            <a:pPr marL="342900" lvl="0" indent="-342900" algn="l">
              <a:lnSpc>
                <a:spcPct val="150000"/>
              </a:lnSpc>
              <a:buFont typeface="+mj-lt"/>
              <a:buAutoNum type="arabicPeriod"/>
            </a:pPr>
            <a:r>
              <a:rPr lang="zh-CN" altLang="zh-CN" sz="2200" kern="0" dirty="0">
                <a:effectLst/>
                <a:latin typeface="+mn-ea"/>
                <a:cs typeface="Times New Roman" panose="02020603050405020304" pitchFamily="18" charset="0"/>
              </a:rPr>
              <a:t>理解资源分配单位和调度执行单位的区别</a:t>
            </a:r>
            <a:endParaRPr lang="zh-CN" altLang="zh-CN" sz="2200" kern="100" dirty="0">
              <a:effectLst/>
              <a:latin typeface="+mn-ea"/>
              <a:cs typeface="Times New Roman" panose="02020603050405020304" pitchFamily="18" charset="0"/>
            </a:endParaRPr>
          </a:p>
          <a:p>
            <a:pPr marL="342900" lvl="0" indent="-342900" algn="l">
              <a:lnSpc>
                <a:spcPct val="150000"/>
              </a:lnSpc>
              <a:buFont typeface="+mj-lt"/>
              <a:buAutoNum type="arabicPeriod"/>
            </a:pPr>
            <a:r>
              <a:rPr lang="zh-CN" altLang="zh-CN" sz="2200" kern="0" dirty="0">
                <a:effectLst/>
                <a:latin typeface="+mn-ea"/>
                <a:cs typeface="Times New Roman" panose="02020603050405020304" pitchFamily="18" charset="0"/>
              </a:rPr>
              <a:t>掌握线程的组成要素</a:t>
            </a:r>
            <a:endParaRPr lang="zh-CN" altLang="zh-CN" sz="2200" kern="100" dirty="0">
              <a:effectLst/>
              <a:latin typeface="+mn-ea"/>
              <a:cs typeface="Times New Roman" panose="02020603050405020304" pitchFamily="18" charset="0"/>
            </a:endParaRPr>
          </a:p>
          <a:p>
            <a:pPr marL="342900" lvl="0" indent="-342900" algn="l">
              <a:lnSpc>
                <a:spcPct val="150000"/>
              </a:lnSpc>
              <a:buFont typeface="+mj-lt"/>
              <a:buAutoNum type="arabicPeriod"/>
            </a:pPr>
            <a:r>
              <a:rPr lang="zh-CN" altLang="zh-CN" sz="2200" kern="0" dirty="0">
                <a:effectLst/>
                <a:latin typeface="+mn-ea"/>
                <a:cs typeface="Times New Roman" panose="02020603050405020304" pitchFamily="18" charset="0"/>
              </a:rPr>
              <a:t>理解线程和进程的关系</a:t>
            </a:r>
            <a:endParaRPr lang="zh-CN" altLang="zh-CN" sz="2200" kern="100" dirty="0">
              <a:effectLst/>
              <a:latin typeface="+mn-ea"/>
              <a:cs typeface="Times New Roman" panose="02020603050405020304" pitchFamily="18" charset="0"/>
            </a:endParaRPr>
          </a:p>
          <a:p>
            <a:pPr marL="342900" lvl="0" indent="-342900" algn="l">
              <a:lnSpc>
                <a:spcPct val="150000"/>
              </a:lnSpc>
              <a:buFont typeface="+mj-lt"/>
              <a:buAutoNum type="arabicPeriod"/>
            </a:pPr>
            <a:r>
              <a:rPr lang="zh-CN" altLang="zh-CN" sz="2200" kern="0" dirty="0">
                <a:effectLst/>
                <a:latin typeface="+mn-ea"/>
                <a:cs typeface="Times New Roman" panose="02020603050405020304" pitchFamily="18" charset="0"/>
              </a:rPr>
              <a:t>理解线程的不同实现方式</a:t>
            </a:r>
            <a:endParaRPr lang="zh-CN" altLang="zh-CN" sz="2200" kern="100" dirty="0">
              <a:effectLst/>
              <a:latin typeface="+mn-ea"/>
              <a:cs typeface="Times New Roman" panose="02020603050405020304" pitchFamily="18" charset="0"/>
            </a:endParaRPr>
          </a:p>
          <a:p>
            <a:pPr marL="342900" lvl="0" indent="-342900" algn="l">
              <a:lnSpc>
                <a:spcPct val="150000"/>
              </a:lnSpc>
              <a:buFont typeface="+mj-lt"/>
              <a:buAutoNum type="arabicPeriod"/>
            </a:pPr>
            <a:r>
              <a:rPr lang="zh-CN" altLang="zh-CN" sz="2200" kern="0" dirty="0">
                <a:effectLst/>
                <a:latin typeface="+mn-ea"/>
                <a:cs typeface="Times New Roman" panose="02020603050405020304" pitchFamily="18" charset="0"/>
              </a:rPr>
              <a:t>了解</a:t>
            </a:r>
            <a:r>
              <a:rPr lang="en-US" altLang="zh-CN" sz="2200" kern="0" dirty="0">
                <a:effectLst/>
                <a:latin typeface="+mn-ea"/>
                <a:cs typeface="Times New Roman" panose="02020603050405020304" pitchFamily="18" charset="0"/>
              </a:rPr>
              <a:t> </a:t>
            </a:r>
            <a:r>
              <a:rPr lang="en-US" altLang="zh-CN" sz="2200" kern="0" dirty="0" err="1">
                <a:effectLst/>
                <a:latin typeface="+mn-ea"/>
                <a:cs typeface="Times New Roman" panose="02020603050405020304" pitchFamily="18" charset="0"/>
              </a:rPr>
              <a:t>Pthread</a:t>
            </a:r>
            <a:r>
              <a:rPr lang="en-US" altLang="zh-CN" sz="2200" kern="0" dirty="0">
                <a:effectLst/>
                <a:latin typeface="+mn-ea"/>
                <a:cs typeface="Times New Roman" panose="02020603050405020304" pitchFamily="18" charset="0"/>
              </a:rPr>
              <a:t> API</a:t>
            </a:r>
            <a:r>
              <a:rPr lang="zh-CN" altLang="zh-CN" sz="2200" kern="0" dirty="0">
                <a:effectLst/>
                <a:latin typeface="+mn-ea"/>
                <a:cs typeface="Times New Roman" panose="02020603050405020304" pitchFamily="18" charset="0"/>
              </a:rPr>
              <a:t>，并能运用其开发多线程应用</a:t>
            </a:r>
            <a:endParaRPr lang="zh-CN" altLang="zh-CN" sz="2200" kern="100" dirty="0">
              <a:effectLst/>
              <a:latin typeface="+mn-ea"/>
              <a:cs typeface="Times New Roman" panose="02020603050405020304" pitchFamily="18" charset="0"/>
            </a:endParaRPr>
          </a:p>
          <a:p>
            <a:pPr marL="342900" lvl="0" indent="-342900" algn="l">
              <a:lnSpc>
                <a:spcPct val="150000"/>
              </a:lnSpc>
              <a:buFont typeface="+mj-lt"/>
              <a:buAutoNum type="arabicPeriod"/>
            </a:pPr>
            <a:r>
              <a:rPr lang="zh-CN" altLang="zh-CN" sz="2200" kern="0" dirty="0">
                <a:effectLst/>
                <a:latin typeface="+mn-ea"/>
                <a:cs typeface="Times New Roman" panose="02020603050405020304" pitchFamily="18" charset="0"/>
              </a:rPr>
              <a:t>了解协程的概念</a:t>
            </a:r>
            <a:endParaRPr lang="zh-CN" altLang="zh-CN" sz="2200" kern="100" dirty="0">
              <a:effectLst/>
              <a:latin typeface="+mn-ea"/>
              <a:cs typeface="Times New Roman" panose="02020603050405020304" pitchFamily="18" charset="0"/>
            </a:endParaRPr>
          </a:p>
        </p:txBody>
      </p:sp>
    </p:spTree>
    <p:extLst>
      <p:ext uri="{BB962C8B-B14F-4D97-AF65-F5344CB8AC3E}">
        <p14:creationId xmlns:p14="http://schemas.microsoft.com/office/powerpoint/2010/main" val="335471428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462159A-EB47-88A4-06F1-7B26BAAFB406}"/>
              </a:ext>
            </a:extLst>
          </p:cNvPr>
          <p:cNvSpPr>
            <a:spLocks noGrp="1"/>
          </p:cNvSpPr>
          <p:nvPr>
            <p:ph type="title"/>
          </p:nvPr>
        </p:nvSpPr>
        <p:spPr/>
        <p:txBody>
          <a:bodyPr>
            <a:normAutofit/>
          </a:bodyPr>
          <a:lstStyle/>
          <a:p>
            <a:r>
              <a:rPr lang="zh-CN" altLang="zh-CN" sz="2400" kern="0" dirty="0">
                <a:effectLst/>
                <a:latin typeface="Times New Roman" panose="02020603050405020304" pitchFamily="18" charset="0"/>
                <a:ea typeface="黑体" panose="02010609060101010101" pitchFamily="49" charset="-122"/>
                <a:cs typeface="Times New Roman" panose="02020603050405020304" pitchFamily="18" charset="0"/>
              </a:rPr>
              <a:t>教师导读</a:t>
            </a:r>
            <a:endParaRPr kumimoji="1" lang="zh-CN" altLang="en-US" dirty="0"/>
          </a:p>
        </p:txBody>
      </p:sp>
      <p:sp>
        <p:nvSpPr>
          <p:cNvPr id="3" name="灯片编号占位符 2">
            <a:extLst>
              <a:ext uri="{FF2B5EF4-FFF2-40B4-BE49-F238E27FC236}">
                <a16:creationId xmlns:a16="http://schemas.microsoft.com/office/drawing/2014/main" id="{9AA8DEC4-1F27-C866-2641-7440C5FC295D}"/>
              </a:ext>
            </a:extLst>
          </p:cNvPr>
          <p:cNvSpPr>
            <a:spLocks noGrp="1"/>
          </p:cNvSpPr>
          <p:nvPr>
            <p:ph type="sldNum" sz="quarter" idx="4"/>
          </p:nvPr>
        </p:nvSpPr>
        <p:spPr/>
        <p:txBody>
          <a:bodyPr/>
          <a:lstStyle/>
          <a:p>
            <a:r>
              <a:rPr lang="en-US" altLang="zh-CN"/>
              <a:t>&lt; </a:t>
            </a:r>
            <a:fld id="{A548B57D-AE10-4CF7-A9DF-59FEFA91B28E}" type="slidenum">
              <a:rPr lang="zh-CN" altLang="en-US" smtClean="0"/>
              <a:pPr/>
              <a:t>3</a:t>
            </a:fld>
            <a:r>
              <a:rPr lang="zh-CN" altLang="en-US"/>
              <a:t> </a:t>
            </a:r>
            <a:r>
              <a:rPr lang="en-US" altLang="zh-CN"/>
              <a:t>&gt;</a:t>
            </a:r>
            <a:endParaRPr lang="zh-CN" altLang="en-US" dirty="0"/>
          </a:p>
        </p:txBody>
      </p:sp>
      <p:sp>
        <p:nvSpPr>
          <p:cNvPr id="5" name="文本框 4">
            <a:extLst>
              <a:ext uri="{FF2B5EF4-FFF2-40B4-BE49-F238E27FC236}">
                <a16:creationId xmlns:a16="http://schemas.microsoft.com/office/drawing/2014/main" id="{0202D39C-D7EB-DA86-E862-279F7F11E6BC}"/>
              </a:ext>
            </a:extLst>
          </p:cNvPr>
          <p:cNvSpPr txBox="1"/>
          <p:nvPr/>
        </p:nvSpPr>
        <p:spPr>
          <a:xfrm>
            <a:off x="1938337" y="1326224"/>
            <a:ext cx="8315325" cy="4602991"/>
          </a:xfrm>
          <a:prstGeom prst="rect">
            <a:avLst/>
          </a:prstGeom>
          <a:noFill/>
        </p:spPr>
        <p:txBody>
          <a:bodyPr wrap="square">
            <a:spAutoFit/>
          </a:bodyPr>
          <a:lstStyle/>
          <a:p>
            <a:pPr marL="342900" lvl="0" indent="-342900" algn="l">
              <a:lnSpc>
                <a:spcPct val="150000"/>
              </a:lnSpc>
              <a:buFont typeface="+mj-lt"/>
              <a:buAutoNum type="arabicPeriod"/>
            </a:pPr>
            <a:r>
              <a:rPr lang="zh-CN" altLang="zh-CN" sz="2200" kern="0" dirty="0">
                <a:effectLst/>
                <a:latin typeface="+mn-ea"/>
                <a:cs typeface="Times New Roman" panose="02020603050405020304" pitchFamily="18" charset="0"/>
              </a:rPr>
              <a:t>进程是操作系统进行资源分配和调度的独立单位</a:t>
            </a:r>
            <a:r>
              <a:rPr lang="zh-CN" altLang="en-US" sz="2200" kern="0" dirty="0">
                <a:latin typeface="+mn-ea"/>
                <a:cs typeface="Times New Roman" panose="02020603050405020304" pitchFamily="18" charset="0"/>
              </a:rPr>
              <a:t>，</a:t>
            </a:r>
            <a:r>
              <a:rPr lang="zh-CN" altLang="zh-CN" sz="2200" kern="0" dirty="0">
                <a:effectLst/>
                <a:latin typeface="+mn-ea"/>
                <a:cs typeface="Times New Roman" panose="02020603050405020304" pitchFamily="18" charset="0"/>
              </a:rPr>
              <a:t>本章内容是理解如何创建并管理进程的重要知识单元</a:t>
            </a:r>
            <a:endParaRPr lang="zh-CN" altLang="zh-CN" sz="2200" kern="100" dirty="0">
              <a:effectLst/>
              <a:latin typeface="+mn-ea"/>
              <a:cs typeface="Times New Roman" panose="02020603050405020304" pitchFamily="18" charset="0"/>
            </a:endParaRPr>
          </a:p>
          <a:p>
            <a:pPr marL="342900" lvl="0" indent="-342900" algn="l">
              <a:lnSpc>
                <a:spcPct val="150000"/>
              </a:lnSpc>
              <a:buFont typeface="+mj-lt"/>
              <a:buAutoNum type="arabicPeriod"/>
            </a:pPr>
            <a:r>
              <a:rPr lang="zh-CN" altLang="zh-CN" sz="2200" kern="0" dirty="0">
                <a:effectLst/>
                <a:latin typeface="+mn-ea"/>
                <a:cs typeface="Times New Roman" panose="02020603050405020304" pitchFamily="18" charset="0"/>
              </a:rPr>
              <a:t>进程的定义与构成</a:t>
            </a:r>
            <a:endParaRPr lang="zh-CN" altLang="zh-CN" sz="2200" kern="100" dirty="0">
              <a:effectLst/>
              <a:latin typeface="+mn-ea"/>
              <a:cs typeface="Times New Roman" panose="02020603050405020304" pitchFamily="18" charset="0"/>
            </a:endParaRPr>
          </a:p>
          <a:p>
            <a:pPr marL="342900" lvl="0" indent="-342900" algn="l">
              <a:lnSpc>
                <a:spcPct val="150000"/>
              </a:lnSpc>
              <a:buFont typeface="+mj-lt"/>
              <a:buAutoNum type="arabicPeriod"/>
            </a:pPr>
            <a:r>
              <a:rPr lang="zh-CN" altLang="zh-CN" sz="2200" kern="0" dirty="0">
                <a:effectLst/>
                <a:latin typeface="+mn-ea"/>
                <a:cs typeface="Times New Roman" panose="02020603050405020304" pitchFamily="18" charset="0"/>
              </a:rPr>
              <a:t>进程的状态模型与进程队列</a:t>
            </a:r>
            <a:endParaRPr lang="zh-CN" altLang="zh-CN" sz="2200" kern="100" dirty="0">
              <a:effectLst/>
              <a:latin typeface="+mn-ea"/>
              <a:cs typeface="Times New Roman" panose="02020603050405020304" pitchFamily="18" charset="0"/>
            </a:endParaRPr>
          </a:p>
          <a:p>
            <a:pPr marL="342900" lvl="0" indent="-342900" algn="l">
              <a:lnSpc>
                <a:spcPct val="150000"/>
              </a:lnSpc>
              <a:buFont typeface="+mj-lt"/>
              <a:buAutoNum type="arabicPeriod"/>
            </a:pPr>
            <a:r>
              <a:rPr lang="zh-CN" altLang="zh-CN" sz="2200" kern="0" dirty="0">
                <a:effectLst/>
                <a:latin typeface="+mn-ea"/>
                <a:cs typeface="Times New Roman" panose="02020603050405020304" pitchFamily="18" charset="0"/>
              </a:rPr>
              <a:t>父子进程的工作模式：</a:t>
            </a:r>
            <a:r>
              <a:rPr lang="en-US" altLang="zh-CN" sz="2200" kern="0" dirty="0">
                <a:effectLst/>
                <a:latin typeface="+mn-ea"/>
                <a:cs typeface="Times New Roman" panose="02020603050405020304" pitchFamily="18" charset="0"/>
              </a:rPr>
              <a:t>fork/exec</a:t>
            </a:r>
            <a:r>
              <a:rPr lang="zh-CN" altLang="zh-CN" sz="2200" kern="0" dirty="0">
                <a:effectLst/>
                <a:latin typeface="+mn-ea"/>
                <a:cs typeface="Times New Roman" panose="02020603050405020304" pitchFamily="18" charset="0"/>
              </a:rPr>
              <a:t>、</a:t>
            </a:r>
            <a:r>
              <a:rPr lang="en-US" altLang="zh-CN" sz="2200" kern="0" dirty="0">
                <a:effectLst/>
                <a:latin typeface="+mn-ea"/>
                <a:cs typeface="Times New Roman" panose="02020603050405020304" pitchFamily="18" charset="0"/>
              </a:rPr>
              <a:t>wait</a:t>
            </a:r>
            <a:endParaRPr lang="zh-CN" altLang="zh-CN" sz="2200" kern="100" dirty="0">
              <a:effectLst/>
              <a:latin typeface="+mn-ea"/>
              <a:cs typeface="Times New Roman" panose="02020603050405020304" pitchFamily="18" charset="0"/>
            </a:endParaRPr>
          </a:p>
          <a:p>
            <a:pPr marL="342900" lvl="0" indent="-342900" algn="just">
              <a:lnSpc>
                <a:spcPct val="150000"/>
              </a:lnSpc>
              <a:buFont typeface="+mj-lt"/>
              <a:buAutoNum type="arabicPeriod"/>
            </a:pPr>
            <a:r>
              <a:rPr lang="zh-CN" altLang="zh-CN" sz="2200" kern="0" dirty="0">
                <a:effectLst/>
                <a:latin typeface="+mn-ea"/>
                <a:cs typeface="Times New Roman" panose="02020603050405020304" pitchFamily="18" charset="0"/>
              </a:rPr>
              <a:t>线程的引入原因</a:t>
            </a:r>
            <a:endParaRPr lang="zh-CN" altLang="zh-CN" sz="2200" kern="100" dirty="0">
              <a:effectLst/>
              <a:latin typeface="+mn-ea"/>
              <a:cs typeface="Times New Roman" panose="02020603050405020304" pitchFamily="18" charset="0"/>
            </a:endParaRPr>
          </a:p>
          <a:p>
            <a:pPr marL="342900" lvl="0" indent="-342900" algn="just">
              <a:lnSpc>
                <a:spcPct val="150000"/>
              </a:lnSpc>
              <a:buFont typeface="+mj-lt"/>
              <a:buAutoNum type="arabicPeriod"/>
            </a:pPr>
            <a:r>
              <a:rPr lang="zh-CN" altLang="zh-CN" sz="2200" kern="0" dirty="0">
                <a:effectLst/>
                <a:latin typeface="+mn-ea"/>
                <a:cs typeface="Times New Roman" panose="02020603050405020304" pitchFamily="18" charset="0"/>
              </a:rPr>
              <a:t>线程的组成及其与进程的关系</a:t>
            </a:r>
            <a:endParaRPr lang="zh-CN" altLang="zh-CN" sz="2200" kern="100" dirty="0">
              <a:effectLst/>
              <a:latin typeface="+mn-ea"/>
              <a:cs typeface="Times New Roman" panose="02020603050405020304" pitchFamily="18" charset="0"/>
            </a:endParaRPr>
          </a:p>
          <a:p>
            <a:pPr marL="342900" lvl="0" indent="-342900" algn="just">
              <a:lnSpc>
                <a:spcPct val="150000"/>
              </a:lnSpc>
              <a:buFont typeface="+mj-lt"/>
              <a:buAutoNum type="arabicPeriod"/>
            </a:pPr>
            <a:r>
              <a:rPr lang="zh-CN" altLang="zh-CN" sz="2200" kern="0" dirty="0">
                <a:effectLst/>
                <a:latin typeface="+mn-ea"/>
                <a:cs typeface="Times New Roman" panose="02020603050405020304" pitchFamily="18" charset="0"/>
              </a:rPr>
              <a:t>线程的三种实现方式及每种方式的优缺点</a:t>
            </a:r>
            <a:endParaRPr lang="zh-CN" altLang="zh-CN" sz="2200" kern="100" dirty="0">
              <a:effectLst/>
              <a:latin typeface="+mn-ea"/>
              <a:cs typeface="Times New Roman" panose="02020603050405020304" pitchFamily="18" charset="0"/>
            </a:endParaRPr>
          </a:p>
          <a:p>
            <a:pPr marL="342900" lvl="0" indent="-342900" algn="just">
              <a:lnSpc>
                <a:spcPct val="150000"/>
              </a:lnSpc>
              <a:buFont typeface="+mj-lt"/>
              <a:buAutoNum type="arabicPeriod"/>
            </a:pPr>
            <a:r>
              <a:rPr lang="en-US" altLang="zh-CN" sz="2200" kern="0" dirty="0" err="1">
                <a:effectLst/>
                <a:latin typeface="+mn-ea"/>
                <a:cs typeface="Times New Roman" panose="02020603050405020304" pitchFamily="18" charset="0"/>
              </a:rPr>
              <a:t>Pthread</a:t>
            </a:r>
            <a:r>
              <a:rPr lang="en-US" altLang="zh-CN" sz="2200" kern="0" dirty="0">
                <a:effectLst/>
                <a:latin typeface="+mn-ea"/>
                <a:cs typeface="Times New Roman" panose="02020603050405020304" pitchFamily="18" charset="0"/>
              </a:rPr>
              <a:t> </a:t>
            </a:r>
            <a:r>
              <a:rPr lang="zh-CN" altLang="zh-CN" sz="2200" kern="0" dirty="0">
                <a:effectLst/>
                <a:latin typeface="+mn-ea"/>
                <a:cs typeface="Times New Roman" panose="02020603050405020304" pitchFamily="18" charset="0"/>
              </a:rPr>
              <a:t>线程包的主要函数与使用方式</a:t>
            </a:r>
            <a:endParaRPr lang="zh-CN" altLang="zh-CN" sz="2200" kern="100" dirty="0">
              <a:effectLst/>
              <a:latin typeface="+mn-ea"/>
              <a:cs typeface="Times New Roman" panose="02020603050405020304" pitchFamily="18" charset="0"/>
            </a:endParaRPr>
          </a:p>
        </p:txBody>
      </p:sp>
    </p:spTree>
    <p:extLst>
      <p:ext uri="{BB962C8B-B14F-4D97-AF65-F5344CB8AC3E}">
        <p14:creationId xmlns:p14="http://schemas.microsoft.com/office/powerpoint/2010/main" val="49033905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3A715E66-DE2D-4E7D-B310-D413F7EE06C3}"/>
              </a:ext>
            </a:extLst>
          </p:cNvPr>
          <p:cNvPicPr>
            <a:picLocks noChangeAspect="1"/>
          </p:cNvPicPr>
          <p:nvPr/>
        </p:nvPicPr>
        <p:blipFill>
          <a:blip r:embed="rId3"/>
          <a:stretch>
            <a:fillRect/>
          </a:stretch>
        </p:blipFill>
        <p:spPr>
          <a:xfrm>
            <a:off x="0" y="0"/>
            <a:ext cx="12192000" cy="6858000"/>
          </a:xfrm>
          <a:prstGeom prst="rect">
            <a:avLst/>
          </a:prstGeom>
        </p:spPr>
      </p:pic>
      <p:grpSp>
        <p:nvGrpSpPr>
          <p:cNvPr id="12" name="组合 11">
            <a:extLst>
              <a:ext uri="{FF2B5EF4-FFF2-40B4-BE49-F238E27FC236}">
                <a16:creationId xmlns:a16="http://schemas.microsoft.com/office/drawing/2014/main" id="{FD9ED1C8-AE3C-4AD8-9445-B19C26BB0A97}"/>
              </a:ext>
            </a:extLst>
          </p:cNvPr>
          <p:cNvGrpSpPr/>
          <p:nvPr/>
        </p:nvGrpSpPr>
        <p:grpSpPr>
          <a:xfrm>
            <a:off x="10177780" y="329882"/>
            <a:ext cx="1512002" cy="444892"/>
            <a:chOff x="9556201" y="498129"/>
            <a:chExt cx="1993881" cy="586680"/>
          </a:xfrm>
        </p:grpSpPr>
        <p:grpSp>
          <p:nvGrpSpPr>
            <p:cNvPr id="13" name="组合 12">
              <a:extLst>
                <a:ext uri="{FF2B5EF4-FFF2-40B4-BE49-F238E27FC236}">
                  <a16:creationId xmlns:a16="http://schemas.microsoft.com/office/drawing/2014/main" id="{8BFF2670-279A-4FD0-AD74-3E7D1D0BF98A}"/>
                </a:ext>
              </a:extLst>
            </p:cNvPr>
            <p:cNvGrpSpPr/>
            <p:nvPr userDrawn="1"/>
          </p:nvGrpSpPr>
          <p:grpSpPr>
            <a:xfrm>
              <a:off x="10239376" y="968937"/>
              <a:ext cx="1307697" cy="96254"/>
              <a:chOff x="4616246" y="3878362"/>
              <a:chExt cx="5571416" cy="410087"/>
            </a:xfrm>
            <a:solidFill>
              <a:schemeClr val="tx1">
                <a:alpha val="80000"/>
              </a:schemeClr>
            </a:solidFill>
          </p:grpSpPr>
          <p:sp>
            <p:nvSpPr>
              <p:cNvPr id="57" name="Freeform 17">
                <a:extLst>
                  <a:ext uri="{FF2B5EF4-FFF2-40B4-BE49-F238E27FC236}">
                    <a16:creationId xmlns:a16="http://schemas.microsoft.com/office/drawing/2014/main" id="{B3ECBF4E-B6E3-44CC-B429-CC6E28231F9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18">
                <a:extLst>
                  <a:ext uri="{FF2B5EF4-FFF2-40B4-BE49-F238E27FC236}">
                    <a16:creationId xmlns:a16="http://schemas.microsoft.com/office/drawing/2014/main" id="{394F0733-C3F3-4805-B7CE-98F65D674198}"/>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19">
                <a:extLst>
                  <a:ext uri="{FF2B5EF4-FFF2-40B4-BE49-F238E27FC236}">
                    <a16:creationId xmlns:a16="http://schemas.microsoft.com/office/drawing/2014/main" id="{EF2BA133-0D43-4075-852C-665B533484B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0">
                <a:extLst>
                  <a:ext uri="{FF2B5EF4-FFF2-40B4-BE49-F238E27FC236}">
                    <a16:creationId xmlns:a16="http://schemas.microsoft.com/office/drawing/2014/main" id="{FC5CD496-01CD-4051-9D04-6C01B8C094DA}"/>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1">
                <a:extLst>
                  <a:ext uri="{FF2B5EF4-FFF2-40B4-BE49-F238E27FC236}">
                    <a16:creationId xmlns:a16="http://schemas.microsoft.com/office/drawing/2014/main" id="{2F696519-4994-445A-8A6B-8DA3470F07A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22">
                <a:extLst>
                  <a:ext uri="{FF2B5EF4-FFF2-40B4-BE49-F238E27FC236}">
                    <a16:creationId xmlns:a16="http://schemas.microsoft.com/office/drawing/2014/main" id="{465EDB72-9D35-4889-8D14-107FF0F8CA10}"/>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23">
                <a:extLst>
                  <a:ext uri="{FF2B5EF4-FFF2-40B4-BE49-F238E27FC236}">
                    <a16:creationId xmlns:a16="http://schemas.microsoft.com/office/drawing/2014/main" id="{D05AB7FB-0C04-46B5-93BD-CCBDF2CF4694}"/>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25">
                <a:extLst>
                  <a:ext uri="{FF2B5EF4-FFF2-40B4-BE49-F238E27FC236}">
                    <a16:creationId xmlns:a16="http://schemas.microsoft.com/office/drawing/2014/main" id="{43D93E00-0A4C-49C9-A3CD-9E20506CC56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27">
                <a:extLst>
                  <a:ext uri="{FF2B5EF4-FFF2-40B4-BE49-F238E27FC236}">
                    <a16:creationId xmlns:a16="http://schemas.microsoft.com/office/drawing/2014/main" id="{89DE3ED2-C173-4B0A-90E6-338777189B09}"/>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29">
                <a:extLst>
                  <a:ext uri="{FF2B5EF4-FFF2-40B4-BE49-F238E27FC236}">
                    <a16:creationId xmlns:a16="http://schemas.microsoft.com/office/drawing/2014/main" id="{950C819C-D35F-4752-B343-0182CCA7C29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0">
                <a:extLst>
                  <a:ext uri="{FF2B5EF4-FFF2-40B4-BE49-F238E27FC236}">
                    <a16:creationId xmlns:a16="http://schemas.microsoft.com/office/drawing/2014/main" id="{FF1C1D3A-E5E2-4A53-ADB5-9B88895123A0}"/>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31">
                <a:extLst>
                  <a:ext uri="{FF2B5EF4-FFF2-40B4-BE49-F238E27FC236}">
                    <a16:creationId xmlns:a16="http://schemas.microsoft.com/office/drawing/2014/main" id="{6BF87141-5A4C-40F0-9040-6FD343037B9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9" name="Freeform 32">
                <a:extLst>
                  <a:ext uri="{FF2B5EF4-FFF2-40B4-BE49-F238E27FC236}">
                    <a16:creationId xmlns:a16="http://schemas.microsoft.com/office/drawing/2014/main" id="{D4F3AA0C-3F43-462B-AB1E-75493083B7F6}"/>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0" name="Freeform 33">
                <a:extLst>
                  <a:ext uri="{FF2B5EF4-FFF2-40B4-BE49-F238E27FC236}">
                    <a16:creationId xmlns:a16="http://schemas.microsoft.com/office/drawing/2014/main" id="{8B101F6D-C392-4133-A3DA-55D3924EDDFE}"/>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1" name="Freeform 34">
                <a:extLst>
                  <a:ext uri="{FF2B5EF4-FFF2-40B4-BE49-F238E27FC236}">
                    <a16:creationId xmlns:a16="http://schemas.microsoft.com/office/drawing/2014/main" id="{78A63C6C-76AE-4B58-AFD4-EB072597BC95}"/>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2" name="Freeform 35">
                <a:extLst>
                  <a:ext uri="{FF2B5EF4-FFF2-40B4-BE49-F238E27FC236}">
                    <a16:creationId xmlns:a16="http://schemas.microsoft.com/office/drawing/2014/main" id="{E0451659-AA49-4666-8C8E-F2472B14F0E9}"/>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DF7D3C40-06BE-4A1A-8909-56F7E94407C5}"/>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45" name="Freeform 9">
                <a:extLst>
                  <a:ext uri="{FF2B5EF4-FFF2-40B4-BE49-F238E27FC236}">
                    <a16:creationId xmlns:a16="http://schemas.microsoft.com/office/drawing/2014/main" id="{57E9A2BA-77D9-4E27-93C8-67873F0DEA8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0">
                <a:extLst>
                  <a:ext uri="{FF2B5EF4-FFF2-40B4-BE49-F238E27FC236}">
                    <a16:creationId xmlns:a16="http://schemas.microsoft.com/office/drawing/2014/main" id="{5BBB29F8-D790-4178-9A03-AD4D95F98D6E}"/>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1">
                <a:extLst>
                  <a:ext uri="{FF2B5EF4-FFF2-40B4-BE49-F238E27FC236}">
                    <a16:creationId xmlns:a16="http://schemas.microsoft.com/office/drawing/2014/main" id="{A2207E00-9E11-4F96-8022-C8220A86E924}"/>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2">
                <a:extLst>
                  <a:ext uri="{FF2B5EF4-FFF2-40B4-BE49-F238E27FC236}">
                    <a16:creationId xmlns:a16="http://schemas.microsoft.com/office/drawing/2014/main" id="{F4EC3F52-F081-444E-8A24-425345515815}"/>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13">
                <a:extLst>
                  <a:ext uri="{FF2B5EF4-FFF2-40B4-BE49-F238E27FC236}">
                    <a16:creationId xmlns:a16="http://schemas.microsoft.com/office/drawing/2014/main" id="{1515FED9-74F2-4E51-B1E3-937E5C23D9D3}"/>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14">
                <a:extLst>
                  <a:ext uri="{FF2B5EF4-FFF2-40B4-BE49-F238E27FC236}">
                    <a16:creationId xmlns:a16="http://schemas.microsoft.com/office/drawing/2014/main" id="{9351B99A-3D8F-487A-88B0-A4BCBA3FB9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15">
                <a:extLst>
                  <a:ext uri="{FF2B5EF4-FFF2-40B4-BE49-F238E27FC236}">
                    <a16:creationId xmlns:a16="http://schemas.microsoft.com/office/drawing/2014/main" id="{743F2F75-5444-46B4-9FA8-63F1157057D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16">
                <a:extLst>
                  <a:ext uri="{FF2B5EF4-FFF2-40B4-BE49-F238E27FC236}">
                    <a16:creationId xmlns:a16="http://schemas.microsoft.com/office/drawing/2014/main" id="{07B979A4-48FC-4FA4-B017-6F935928C626}"/>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4">
                <a:extLst>
                  <a:ext uri="{FF2B5EF4-FFF2-40B4-BE49-F238E27FC236}">
                    <a16:creationId xmlns:a16="http://schemas.microsoft.com/office/drawing/2014/main" id="{21A30EC6-F4BA-4116-B93B-D4AB48307780}"/>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6">
                <a:extLst>
                  <a:ext uri="{FF2B5EF4-FFF2-40B4-BE49-F238E27FC236}">
                    <a16:creationId xmlns:a16="http://schemas.microsoft.com/office/drawing/2014/main" id="{D8B2209D-8B3E-4E27-BBC7-D865567511FE}"/>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8">
                <a:extLst>
                  <a:ext uri="{FF2B5EF4-FFF2-40B4-BE49-F238E27FC236}">
                    <a16:creationId xmlns:a16="http://schemas.microsoft.com/office/drawing/2014/main" id="{315C5FF9-7C1E-4796-8FE0-F4A81B1E3FC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36">
                <a:extLst>
                  <a:ext uri="{FF2B5EF4-FFF2-40B4-BE49-F238E27FC236}">
                    <a16:creationId xmlns:a16="http://schemas.microsoft.com/office/drawing/2014/main" id="{453473E2-D138-48AF-89B3-1D10FABF5E0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5" name="组合 14">
              <a:extLst>
                <a:ext uri="{FF2B5EF4-FFF2-40B4-BE49-F238E27FC236}">
                  <a16:creationId xmlns:a16="http://schemas.microsoft.com/office/drawing/2014/main" id="{AE3020C3-1ED1-44EB-B56A-44057B575DD8}"/>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6" name="Freeform 8">
                <a:extLst>
                  <a:ext uri="{FF2B5EF4-FFF2-40B4-BE49-F238E27FC236}">
                    <a16:creationId xmlns:a16="http://schemas.microsoft.com/office/drawing/2014/main" id="{2EF11731-2EEF-4180-8797-AB2215A0B32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2">
                <a:extLst>
                  <a:ext uri="{FF2B5EF4-FFF2-40B4-BE49-F238E27FC236}">
                    <a16:creationId xmlns:a16="http://schemas.microsoft.com/office/drawing/2014/main" id="{51A5769B-72F5-4532-8978-538BA11BEDD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3">
                <a:extLst>
                  <a:ext uri="{FF2B5EF4-FFF2-40B4-BE49-F238E27FC236}">
                    <a16:creationId xmlns:a16="http://schemas.microsoft.com/office/drawing/2014/main" id="{781D8D80-2A6E-45FD-BD05-865E0123AA3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4">
                <a:extLst>
                  <a:ext uri="{FF2B5EF4-FFF2-40B4-BE49-F238E27FC236}">
                    <a16:creationId xmlns:a16="http://schemas.microsoft.com/office/drawing/2014/main" id="{4D2E2B9F-C9EE-4B00-89E6-F3DFE6C9001F}"/>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5">
                <a:extLst>
                  <a:ext uri="{FF2B5EF4-FFF2-40B4-BE49-F238E27FC236}">
                    <a16:creationId xmlns:a16="http://schemas.microsoft.com/office/drawing/2014/main" id="{52C4EF30-7F6C-44CC-9542-4D92A019F052}"/>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6">
                <a:extLst>
                  <a:ext uri="{FF2B5EF4-FFF2-40B4-BE49-F238E27FC236}">
                    <a16:creationId xmlns:a16="http://schemas.microsoft.com/office/drawing/2014/main" id="{1FD344AB-14FA-4BFF-B2DF-6B5BAFD64776}"/>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7">
                <a:extLst>
                  <a:ext uri="{FF2B5EF4-FFF2-40B4-BE49-F238E27FC236}">
                    <a16:creationId xmlns:a16="http://schemas.microsoft.com/office/drawing/2014/main" id="{E9202264-B217-49BD-B4A7-F2CEF0FC90A4}"/>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48">
                <a:extLst>
                  <a:ext uri="{FF2B5EF4-FFF2-40B4-BE49-F238E27FC236}">
                    <a16:creationId xmlns:a16="http://schemas.microsoft.com/office/drawing/2014/main" id="{4E5FBE5C-0DD1-488F-8C43-4C54A09CB040}"/>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49">
                <a:extLst>
                  <a:ext uri="{FF2B5EF4-FFF2-40B4-BE49-F238E27FC236}">
                    <a16:creationId xmlns:a16="http://schemas.microsoft.com/office/drawing/2014/main" id="{0B04A3C5-8F46-4904-A231-8015493E9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0">
                <a:extLst>
                  <a:ext uri="{FF2B5EF4-FFF2-40B4-BE49-F238E27FC236}">
                    <a16:creationId xmlns:a16="http://schemas.microsoft.com/office/drawing/2014/main" id="{09F4AB42-416D-4B02-B734-9195A7687CD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1">
                <a:extLst>
                  <a:ext uri="{FF2B5EF4-FFF2-40B4-BE49-F238E27FC236}">
                    <a16:creationId xmlns:a16="http://schemas.microsoft.com/office/drawing/2014/main" id="{34D77FEA-CEE7-40F8-8ADF-6E0D570949C9}"/>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2">
                <a:extLst>
                  <a:ext uri="{FF2B5EF4-FFF2-40B4-BE49-F238E27FC236}">
                    <a16:creationId xmlns:a16="http://schemas.microsoft.com/office/drawing/2014/main" id="{397199F9-6D41-4C39-9315-7AA5887A5A1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3">
                <a:extLst>
                  <a:ext uri="{FF2B5EF4-FFF2-40B4-BE49-F238E27FC236}">
                    <a16:creationId xmlns:a16="http://schemas.microsoft.com/office/drawing/2014/main" id="{81E0E5AE-33F4-4B86-B81B-D5060C5366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4">
                <a:extLst>
                  <a:ext uri="{FF2B5EF4-FFF2-40B4-BE49-F238E27FC236}">
                    <a16:creationId xmlns:a16="http://schemas.microsoft.com/office/drawing/2014/main" id="{5098A6B6-C44E-4E3F-A4F0-208BA1EFB71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5">
                <a:extLst>
                  <a:ext uri="{FF2B5EF4-FFF2-40B4-BE49-F238E27FC236}">
                    <a16:creationId xmlns:a16="http://schemas.microsoft.com/office/drawing/2014/main" id="{6CE0AFF7-A497-46CC-881D-0B6BAAFC5B8A}"/>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6">
                <a:extLst>
                  <a:ext uri="{FF2B5EF4-FFF2-40B4-BE49-F238E27FC236}">
                    <a16:creationId xmlns:a16="http://schemas.microsoft.com/office/drawing/2014/main" id="{9CEFC95A-813D-445F-9F2B-1134225D09A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7">
                <a:extLst>
                  <a:ext uri="{FF2B5EF4-FFF2-40B4-BE49-F238E27FC236}">
                    <a16:creationId xmlns:a16="http://schemas.microsoft.com/office/drawing/2014/main" id="{742C246E-EEB3-4D2E-8072-A80CBB805A2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8">
                <a:extLst>
                  <a:ext uri="{FF2B5EF4-FFF2-40B4-BE49-F238E27FC236}">
                    <a16:creationId xmlns:a16="http://schemas.microsoft.com/office/drawing/2014/main" id="{E05C8C7D-A424-4682-AB58-0BE392763BD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9">
                <a:extLst>
                  <a:ext uri="{FF2B5EF4-FFF2-40B4-BE49-F238E27FC236}">
                    <a16:creationId xmlns:a16="http://schemas.microsoft.com/office/drawing/2014/main" id="{8784F5B1-3150-48C0-827B-F433BBD5668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0">
                <a:extLst>
                  <a:ext uri="{FF2B5EF4-FFF2-40B4-BE49-F238E27FC236}">
                    <a16:creationId xmlns:a16="http://schemas.microsoft.com/office/drawing/2014/main" id="{6DFA1904-D499-452A-9BF3-9C9169BDC4A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61">
                <a:extLst>
                  <a:ext uri="{FF2B5EF4-FFF2-40B4-BE49-F238E27FC236}">
                    <a16:creationId xmlns:a16="http://schemas.microsoft.com/office/drawing/2014/main" id="{ADFEE61B-DF3D-413A-A4DA-31E70027CCE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62">
                <a:extLst>
                  <a:ext uri="{FF2B5EF4-FFF2-40B4-BE49-F238E27FC236}">
                    <a16:creationId xmlns:a16="http://schemas.microsoft.com/office/drawing/2014/main" id="{52ECA886-3D47-41BA-9C83-B640F7D201D5}"/>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71">
                <a:extLst>
                  <a:ext uri="{FF2B5EF4-FFF2-40B4-BE49-F238E27FC236}">
                    <a16:creationId xmlns:a16="http://schemas.microsoft.com/office/drawing/2014/main" id="{53443A05-DC7A-4AB4-BB5A-CC53992B9769}"/>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4" name="文本框 3">
            <a:extLst>
              <a:ext uri="{FF2B5EF4-FFF2-40B4-BE49-F238E27FC236}">
                <a16:creationId xmlns:a16="http://schemas.microsoft.com/office/drawing/2014/main" id="{B8C3E409-7C26-BFC3-8EAC-9C07E2378109}"/>
              </a:ext>
            </a:extLst>
          </p:cNvPr>
          <p:cNvSpPr txBox="1"/>
          <p:nvPr/>
        </p:nvSpPr>
        <p:spPr>
          <a:xfrm>
            <a:off x="6117708" y="2038744"/>
            <a:ext cx="7295104" cy="2934906"/>
          </a:xfrm>
          <a:prstGeom prst="rect">
            <a:avLst/>
          </a:prstGeom>
          <a:noFill/>
        </p:spPr>
        <p:txBody>
          <a:bodyPr wrap="square" rtlCol="0">
            <a:spAutoFit/>
          </a:bodyPr>
          <a:lstStyle/>
          <a:p>
            <a:pPr>
              <a:lnSpc>
                <a:spcPct val="200000"/>
              </a:lnSpc>
            </a:pPr>
            <a:r>
              <a:rPr lang="en-US" altLang="zh-CN" sz="2400" dirty="0">
                <a:latin typeface="+mn-ea"/>
                <a:cs typeface="+mn-ea"/>
                <a:sym typeface="Arial" panose="020B0604020202020204" pitchFamily="34" charset="0"/>
              </a:rPr>
              <a:t>3.1  </a:t>
            </a:r>
            <a:r>
              <a:rPr lang="zh-CN" altLang="en-US" sz="2400" dirty="0">
                <a:latin typeface="+mn-ea"/>
                <a:cs typeface="+mn-ea"/>
                <a:sym typeface="Arial" panose="020B0604020202020204" pitchFamily="34" charset="0"/>
              </a:rPr>
              <a:t>进程基本概念</a:t>
            </a:r>
            <a:endParaRPr lang="en-US" altLang="zh-CN" sz="2400" dirty="0">
              <a:latin typeface="+mn-ea"/>
              <a:cs typeface="+mn-ea"/>
              <a:sym typeface="Arial" panose="020B0604020202020204" pitchFamily="34" charset="0"/>
            </a:endParaRPr>
          </a:p>
          <a:p>
            <a:pPr>
              <a:lnSpc>
                <a:spcPct val="200000"/>
              </a:lnSpc>
            </a:pPr>
            <a:r>
              <a:rPr lang="en-US" altLang="zh-CN" sz="2400" dirty="0">
                <a:latin typeface="+mn-ea"/>
                <a:cs typeface="+mn-ea"/>
                <a:sym typeface="Arial" panose="020B0604020202020204" pitchFamily="34" charset="0"/>
              </a:rPr>
              <a:t>3.2  </a:t>
            </a:r>
            <a:r>
              <a:rPr lang="zh-CN" altLang="en-US" sz="2400" dirty="0">
                <a:latin typeface="+mn-ea"/>
                <a:cs typeface="+mn-ea"/>
                <a:sym typeface="Arial" panose="020B0604020202020204" pitchFamily="34" charset="0"/>
              </a:rPr>
              <a:t>进程控制</a:t>
            </a:r>
            <a:endParaRPr lang="en-US" altLang="zh-CN" sz="2400" dirty="0">
              <a:latin typeface="+mn-ea"/>
              <a:cs typeface="+mn-ea"/>
              <a:sym typeface="Arial" panose="020B0604020202020204" pitchFamily="34" charset="0"/>
            </a:endParaRPr>
          </a:p>
          <a:p>
            <a:pPr>
              <a:lnSpc>
                <a:spcPct val="200000"/>
              </a:lnSpc>
            </a:pPr>
            <a:r>
              <a:rPr lang="en-US" altLang="zh-CN" sz="2400" dirty="0">
                <a:latin typeface="+mn-ea"/>
                <a:cs typeface="+mn-ea"/>
                <a:sym typeface="Arial" panose="020B0604020202020204" pitchFamily="34" charset="0"/>
              </a:rPr>
              <a:t>3.3  </a:t>
            </a:r>
            <a:r>
              <a:rPr lang="zh-CN" altLang="en-US" sz="2400" dirty="0">
                <a:latin typeface="+mn-ea"/>
                <a:cs typeface="+mn-ea"/>
                <a:sym typeface="Arial" panose="020B0604020202020204" pitchFamily="34" charset="0"/>
              </a:rPr>
              <a:t>线程引入及基本概念</a:t>
            </a:r>
            <a:endParaRPr lang="en-US" altLang="zh-CN" sz="2400" dirty="0">
              <a:latin typeface="+mn-ea"/>
              <a:cs typeface="+mn-ea"/>
              <a:sym typeface="Arial" panose="020B0604020202020204" pitchFamily="34" charset="0"/>
            </a:endParaRPr>
          </a:p>
          <a:p>
            <a:pPr>
              <a:lnSpc>
                <a:spcPct val="200000"/>
              </a:lnSpc>
            </a:pPr>
            <a:r>
              <a:rPr lang="en-US" altLang="zh-CN" sz="2400" dirty="0">
                <a:latin typeface="+mn-ea"/>
                <a:cs typeface="+mn-ea"/>
                <a:sym typeface="Arial" panose="020B0604020202020204" pitchFamily="34" charset="0"/>
              </a:rPr>
              <a:t>3.4</a:t>
            </a:r>
            <a:r>
              <a:rPr lang="zh-CN" altLang="en-US" sz="2400" dirty="0">
                <a:latin typeface="+mn-ea"/>
                <a:cs typeface="+mn-ea"/>
                <a:sym typeface="Arial" panose="020B0604020202020204" pitchFamily="34" charset="0"/>
              </a:rPr>
              <a:t>  </a:t>
            </a:r>
            <a:r>
              <a:rPr lang="zh-CN" altLang="zh-CN" sz="2400" dirty="0">
                <a:latin typeface="+mn-ea"/>
                <a:cs typeface="+mn-ea"/>
              </a:rPr>
              <a:t>线程的实现和实例 </a:t>
            </a:r>
            <a:endParaRPr lang="en-US" altLang="zh-CN" sz="2400" dirty="0">
              <a:latin typeface="+mn-ea"/>
              <a:cs typeface="+mn-ea"/>
            </a:endParaRPr>
          </a:p>
        </p:txBody>
      </p:sp>
      <p:grpSp>
        <p:nvGrpSpPr>
          <p:cNvPr id="113" name="组合 112">
            <a:extLst>
              <a:ext uri="{FF2B5EF4-FFF2-40B4-BE49-F238E27FC236}">
                <a16:creationId xmlns:a16="http://schemas.microsoft.com/office/drawing/2014/main" id="{295E96C7-CEF5-0056-8540-06F67AF5EB96}"/>
              </a:ext>
            </a:extLst>
          </p:cNvPr>
          <p:cNvGrpSpPr/>
          <p:nvPr/>
        </p:nvGrpSpPr>
        <p:grpSpPr>
          <a:xfrm>
            <a:off x="5650374" y="1311328"/>
            <a:ext cx="6155369" cy="4499679"/>
            <a:chOff x="5650374" y="1507952"/>
            <a:chExt cx="6155369" cy="4499679"/>
          </a:xfrm>
        </p:grpSpPr>
        <p:sp>
          <p:nvSpPr>
            <p:cNvPr id="160" name="矩形 159">
              <a:extLst>
                <a:ext uri="{FF2B5EF4-FFF2-40B4-BE49-F238E27FC236}">
                  <a16:creationId xmlns:a16="http://schemas.microsoft.com/office/drawing/2014/main" id="{9CEA244F-BB90-AF14-E1B8-E3BAC9A967E2}"/>
                </a:ext>
              </a:extLst>
            </p:cNvPr>
            <p:cNvSpPr/>
            <p:nvPr/>
          </p:nvSpPr>
          <p:spPr>
            <a:xfrm>
              <a:off x="5667458" y="1776072"/>
              <a:ext cx="1920053"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7" name="矩形 156">
              <a:extLst>
                <a:ext uri="{FF2B5EF4-FFF2-40B4-BE49-F238E27FC236}">
                  <a16:creationId xmlns:a16="http://schemas.microsoft.com/office/drawing/2014/main" id="{9228D1DF-8B87-BA6F-39DA-3E822E79517D}"/>
                </a:ext>
              </a:extLst>
            </p:cNvPr>
            <p:cNvSpPr/>
            <p:nvPr/>
          </p:nvSpPr>
          <p:spPr>
            <a:xfrm>
              <a:off x="5650374" y="2746504"/>
              <a:ext cx="1820943" cy="276999"/>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endParaRPr kumimoji="0" lang="en-US" altLang="zh-CN"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2" name="矩形 151">
              <a:extLst>
                <a:ext uri="{FF2B5EF4-FFF2-40B4-BE49-F238E27FC236}">
                  <a16:creationId xmlns:a16="http://schemas.microsoft.com/office/drawing/2014/main" id="{32F2DB9B-ED2E-6D5C-C63F-75409E64613E}"/>
                </a:ext>
              </a:extLst>
            </p:cNvPr>
            <p:cNvSpPr/>
            <p:nvPr/>
          </p:nvSpPr>
          <p:spPr>
            <a:xfrm>
              <a:off x="5657641" y="3745865"/>
              <a:ext cx="1779387" cy="276999"/>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8" name="矩形 147">
              <a:extLst>
                <a:ext uri="{FF2B5EF4-FFF2-40B4-BE49-F238E27FC236}">
                  <a16:creationId xmlns:a16="http://schemas.microsoft.com/office/drawing/2014/main" id="{A79D64E7-0879-E910-380E-991F06899B31}"/>
                </a:ext>
              </a:extLst>
            </p:cNvPr>
            <p:cNvSpPr/>
            <p:nvPr/>
          </p:nvSpPr>
          <p:spPr>
            <a:xfrm>
              <a:off x="5676771" y="4748465"/>
              <a:ext cx="1788287" cy="281594"/>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119" name="组合 118">
              <a:extLst>
                <a:ext uri="{FF2B5EF4-FFF2-40B4-BE49-F238E27FC236}">
                  <a16:creationId xmlns:a16="http://schemas.microsoft.com/office/drawing/2014/main" id="{E9EE5BE9-8F2D-2D12-BF63-C7DDD6864C25}"/>
                </a:ext>
              </a:extLst>
            </p:cNvPr>
            <p:cNvGrpSpPr/>
            <p:nvPr/>
          </p:nvGrpSpPr>
          <p:grpSpPr>
            <a:xfrm>
              <a:off x="7954667" y="1507952"/>
              <a:ext cx="3851076" cy="3842096"/>
              <a:chOff x="2105799" y="20055838"/>
              <a:chExt cx="6748090" cy="6732363"/>
            </a:xfrm>
            <a:solidFill>
              <a:schemeClr val="bg1">
                <a:alpha val="20000"/>
              </a:schemeClr>
            </a:solidFill>
          </p:grpSpPr>
          <p:sp>
            <p:nvSpPr>
              <p:cNvPr id="125" name="Freeform 8">
                <a:extLst>
                  <a:ext uri="{FF2B5EF4-FFF2-40B4-BE49-F238E27FC236}">
                    <a16:creationId xmlns:a16="http://schemas.microsoft.com/office/drawing/2014/main" id="{D73AB84B-0C41-3760-DE63-2BD2A4A5DCA3}"/>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6" name="Freeform 42">
                <a:extLst>
                  <a:ext uri="{FF2B5EF4-FFF2-40B4-BE49-F238E27FC236}">
                    <a16:creationId xmlns:a16="http://schemas.microsoft.com/office/drawing/2014/main" id="{C208A96D-52F6-AF45-D53F-83A6DCBD7A58}"/>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7" name="Freeform 43">
                <a:extLst>
                  <a:ext uri="{FF2B5EF4-FFF2-40B4-BE49-F238E27FC236}">
                    <a16:creationId xmlns:a16="http://schemas.microsoft.com/office/drawing/2014/main" id="{5A978352-B067-672B-5D13-66583BDBBE7C}"/>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8" name="Freeform 44">
                <a:extLst>
                  <a:ext uri="{FF2B5EF4-FFF2-40B4-BE49-F238E27FC236}">
                    <a16:creationId xmlns:a16="http://schemas.microsoft.com/office/drawing/2014/main" id="{98C2C5B2-CB1B-72C1-4473-9C49BF13E180}"/>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9" name="Freeform 45">
                <a:extLst>
                  <a:ext uri="{FF2B5EF4-FFF2-40B4-BE49-F238E27FC236}">
                    <a16:creationId xmlns:a16="http://schemas.microsoft.com/office/drawing/2014/main" id="{92DA60B3-AA19-6F8A-9340-8F0EA3E94F27}"/>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0" name="Freeform 46">
                <a:extLst>
                  <a:ext uri="{FF2B5EF4-FFF2-40B4-BE49-F238E27FC236}">
                    <a16:creationId xmlns:a16="http://schemas.microsoft.com/office/drawing/2014/main" id="{5A989A6D-2B0A-B1B5-D45D-68686625FAB2}"/>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1" name="Freeform 47">
                <a:extLst>
                  <a:ext uri="{FF2B5EF4-FFF2-40B4-BE49-F238E27FC236}">
                    <a16:creationId xmlns:a16="http://schemas.microsoft.com/office/drawing/2014/main" id="{3337B08B-EAE2-DD94-EC28-8109A3DADF63}"/>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2" name="Freeform 48">
                <a:extLst>
                  <a:ext uri="{FF2B5EF4-FFF2-40B4-BE49-F238E27FC236}">
                    <a16:creationId xmlns:a16="http://schemas.microsoft.com/office/drawing/2014/main" id="{D3AB5F20-9BCD-3D0A-90EC-11B83C130F0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3" name="Freeform 49">
                <a:extLst>
                  <a:ext uri="{FF2B5EF4-FFF2-40B4-BE49-F238E27FC236}">
                    <a16:creationId xmlns:a16="http://schemas.microsoft.com/office/drawing/2014/main" id="{DE6FC29A-543E-4A2F-8BD8-785FC33B0B8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4" name="Freeform 50">
                <a:extLst>
                  <a:ext uri="{FF2B5EF4-FFF2-40B4-BE49-F238E27FC236}">
                    <a16:creationId xmlns:a16="http://schemas.microsoft.com/office/drawing/2014/main" id="{080A65A5-057C-A3E7-7BA3-83641F693DC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5" name="Freeform 51">
                <a:extLst>
                  <a:ext uri="{FF2B5EF4-FFF2-40B4-BE49-F238E27FC236}">
                    <a16:creationId xmlns:a16="http://schemas.microsoft.com/office/drawing/2014/main" id="{01AB7DE5-866F-29E1-F89A-DCFF597807F9}"/>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6" name="Freeform 52">
                <a:extLst>
                  <a:ext uri="{FF2B5EF4-FFF2-40B4-BE49-F238E27FC236}">
                    <a16:creationId xmlns:a16="http://schemas.microsoft.com/office/drawing/2014/main" id="{34DCE9A7-BB5E-BF0F-BE3F-F01C3FADB2EA}"/>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7" name="Freeform 53">
                <a:extLst>
                  <a:ext uri="{FF2B5EF4-FFF2-40B4-BE49-F238E27FC236}">
                    <a16:creationId xmlns:a16="http://schemas.microsoft.com/office/drawing/2014/main" id="{87AD9468-B78E-8741-60F8-61EC2ED64DB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8" name="Freeform 54">
                <a:extLst>
                  <a:ext uri="{FF2B5EF4-FFF2-40B4-BE49-F238E27FC236}">
                    <a16:creationId xmlns:a16="http://schemas.microsoft.com/office/drawing/2014/main" id="{9DA94EDE-92E9-D2E6-AB84-06950617EFB6}"/>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9" name="Freeform 55">
                <a:extLst>
                  <a:ext uri="{FF2B5EF4-FFF2-40B4-BE49-F238E27FC236}">
                    <a16:creationId xmlns:a16="http://schemas.microsoft.com/office/drawing/2014/main" id="{E64F30E7-FC45-73D1-450F-76B8BCA3D7B0}"/>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0" name="Freeform 56">
                <a:extLst>
                  <a:ext uri="{FF2B5EF4-FFF2-40B4-BE49-F238E27FC236}">
                    <a16:creationId xmlns:a16="http://schemas.microsoft.com/office/drawing/2014/main" id="{25839EB4-0B7E-EE21-E2AE-56D925D3E50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1" name="Freeform 57">
                <a:extLst>
                  <a:ext uri="{FF2B5EF4-FFF2-40B4-BE49-F238E27FC236}">
                    <a16:creationId xmlns:a16="http://schemas.microsoft.com/office/drawing/2014/main" id="{FFB65960-19EA-2D57-9EC7-6B6619AD2F43}"/>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2" name="Freeform 58">
                <a:extLst>
                  <a:ext uri="{FF2B5EF4-FFF2-40B4-BE49-F238E27FC236}">
                    <a16:creationId xmlns:a16="http://schemas.microsoft.com/office/drawing/2014/main" id="{6D7D058D-30C7-A78E-D81E-BA1BF6C76ED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3" name="Freeform 59">
                <a:extLst>
                  <a:ext uri="{FF2B5EF4-FFF2-40B4-BE49-F238E27FC236}">
                    <a16:creationId xmlns:a16="http://schemas.microsoft.com/office/drawing/2014/main" id="{76755970-4692-A787-9FB3-568708F8E2F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4" name="Freeform 60">
                <a:extLst>
                  <a:ext uri="{FF2B5EF4-FFF2-40B4-BE49-F238E27FC236}">
                    <a16:creationId xmlns:a16="http://schemas.microsoft.com/office/drawing/2014/main" id="{7DA47C2D-EA15-4EED-257D-D5608EDFEAE1}"/>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5" name="Freeform 61">
                <a:extLst>
                  <a:ext uri="{FF2B5EF4-FFF2-40B4-BE49-F238E27FC236}">
                    <a16:creationId xmlns:a16="http://schemas.microsoft.com/office/drawing/2014/main" id="{2526E59E-27BD-A497-EAA9-2F331275046F}"/>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6" name="Freeform 62">
                <a:extLst>
                  <a:ext uri="{FF2B5EF4-FFF2-40B4-BE49-F238E27FC236}">
                    <a16:creationId xmlns:a16="http://schemas.microsoft.com/office/drawing/2014/main" id="{230DC3F9-6DE4-1380-3A29-48916C9FDAF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7" name="Freeform 71">
                <a:extLst>
                  <a:ext uri="{FF2B5EF4-FFF2-40B4-BE49-F238E27FC236}">
                    <a16:creationId xmlns:a16="http://schemas.microsoft.com/office/drawing/2014/main" id="{B24B521C-6D7E-6A12-FFBB-A7A8B58E6EF6}"/>
                  </a:ext>
                </a:extLst>
              </p:cNvPr>
              <p:cNvSpPr>
                <a:spLocks noEditPoints="1"/>
              </p:cNvSpPr>
              <p:nvPr/>
            </p:nvSpPr>
            <p:spPr bwMode="auto">
              <a:xfrm>
                <a:off x="3199022" y="21141195"/>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121" name="矩形 120">
              <a:extLst>
                <a:ext uri="{FF2B5EF4-FFF2-40B4-BE49-F238E27FC236}">
                  <a16:creationId xmlns:a16="http://schemas.microsoft.com/office/drawing/2014/main" id="{EEDCF481-000E-2278-3E0E-1B0E4EC5832D}"/>
                </a:ext>
              </a:extLst>
            </p:cNvPr>
            <p:cNvSpPr/>
            <p:nvPr/>
          </p:nvSpPr>
          <p:spPr>
            <a:xfrm>
              <a:off x="5691741" y="5726037"/>
              <a:ext cx="1788287" cy="28159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cxnSp>
        <p:nvCxnSpPr>
          <p:cNvPr id="166" name="直接连接符 165">
            <a:extLst>
              <a:ext uri="{FF2B5EF4-FFF2-40B4-BE49-F238E27FC236}">
                <a16:creationId xmlns:a16="http://schemas.microsoft.com/office/drawing/2014/main" id="{2FDC94B7-2328-CBA7-B08B-C48D4B03423E}"/>
              </a:ext>
            </a:extLst>
          </p:cNvPr>
          <p:cNvCxnSpPr>
            <a:cxnSpLocks/>
          </p:cNvCxnSpPr>
          <p:nvPr/>
        </p:nvCxnSpPr>
        <p:spPr>
          <a:xfrm flipV="1">
            <a:off x="4564416" y="2252324"/>
            <a:ext cx="0" cy="2493341"/>
          </a:xfrm>
          <a:prstGeom prst="line">
            <a:avLst/>
          </a:prstGeom>
        </p:spPr>
        <p:style>
          <a:lnRef idx="1">
            <a:schemeClr val="accent1"/>
          </a:lnRef>
          <a:fillRef idx="0">
            <a:schemeClr val="accent1"/>
          </a:fillRef>
          <a:effectRef idx="0">
            <a:schemeClr val="accent1"/>
          </a:effectRef>
          <a:fontRef idx="minor">
            <a:schemeClr val="tx1"/>
          </a:fontRef>
        </p:style>
      </p:cxnSp>
      <p:grpSp>
        <p:nvGrpSpPr>
          <p:cNvPr id="167" name="组合 166">
            <a:extLst>
              <a:ext uri="{FF2B5EF4-FFF2-40B4-BE49-F238E27FC236}">
                <a16:creationId xmlns:a16="http://schemas.microsoft.com/office/drawing/2014/main" id="{046FD8CE-8F7C-9B8E-4D39-A42AE3F55373}"/>
              </a:ext>
            </a:extLst>
          </p:cNvPr>
          <p:cNvGrpSpPr/>
          <p:nvPr/>
        </p:nvGrpSpPr>
        <p:grpSpPr>
          <a:xfrm>
            <a:off x="1910563" y="2728434"/>
            <a:ext cx="3222172" cy="1564449"/>
            <a:chOff x="1042609" y="2403083"/>
            <a:chExt cx="3222172" cy="1564449"/>
          </a:xfrm>
        </p:grpSpPr>
        <p:sp>
          <p:nvSpPr>
            <p:cNvPr id="168" name="文本框 167">
              <a:extLst>
                <a:ext uri="{FF2B5EF4-FFF2-40B4-BE49-F238E27FC236}">
                  <a16:creationId xmlns:a16="http://schemas.microsoft.com/office/drawing/2014/main" id="{5E971F25-DC73-434B-28F1-3941D8425745}"/>
                </a:ext>
              </a:extLst>
            </p:cNvPr>
            <p:cNvSpPr txBox="1"/>
            <p:nvPr/>
          </p:nvSpPr>
          <p:spPr>
            <a:xfrm>
              <a:off x="1042609" y="2403083"/>
              <a:ext cx="3222172"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7200" b="0" i="0" u="none" strike="noStrike" kern="1200" cap="none" spc="16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目录</a:t>
              </a:r>
            </a:p>
          </p:txBody>
        </p:sp>
        <p:sp>
          <p:nvSpPr>
            <p:cNvPr id="169" name="文本框 168">
              <a:extLst>
                <a:ext uri="{FF2B5EF4-FFF2-40B4-BE49-F238E27FC236}">
                  <a16:creationId xmlns:a16="http://schemas.microsoft.com/office/drawing/2014/main" id="{1CC5F2DE-04AF-FD70-C244-3F24876F43D0}"/>
                </a:ext>
              </a:extLst>
            </p:cNvPr>
            <p:cNvSpPr txBox="1"/>
            <p:nvPr/>
          </p:nvSpPr>
          <p:spPr>
            <a:xfrm>
              <a:off x="1149203" y="3505867"/>
              <a:ext cx="2071332" cy="46166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1200" cap="none" spc="-4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CONTENTS</a:t>
              </a:r>
              <a:endParaRPr kumimoji="0" lang="zh-CN" altLang="en-US" sz="2400" b="0" i="0" u="none" strike="noStrike" kern="1200" cap="none" spc="-4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339517159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 name="图片 91">
            <a:extLst>
              <a:ext uri="{FF2B5EF4-FFF2-40B4-BE49-F238E27FC236}">
                <a16:creationId xmlns:a16="http://schemas.microsoft.com/office/drawing/2014/main" id="{5E5FAF05-B629-4414-BCD1-A75CE1744B15}"/>
              </a:ext>
            </a:extLst>
          </p:cNvPr>
          <p:cNvPicPr>
            <a:picLocks noChangeAspect="1"/>
          </p:cNvPicPr>
          <p:nvPr/>
        </p:nvPicPr>
        <p:blipFill>
          <a:blip r:embed="rId3"/>
          <a:stretch>
            <a:fillRect/>
          </a:stretch>
        </p:blipFill>
        <p:spPr>
          <a:xfrm>
            <a:off x="0" y="0"/>
            <a:ext cx="12192000" cy="6858000"/>
          </a:xfrm>
          <a:prstGeom prst="rect">
            <a:avLst/>
          </a:prstGeom>
        </p:spPr>
      </p:pic>
      <p:sp>
        <p:nvSpPr>
          <p:cNvPr id="2" name="矩形 1">
            <a:extLst>
              <a:ext uri="{FF2B5EF4-FFF2-40B4-BE49-F238E27FC236}">
                <a16:creationId xmlns:a16="http://schemas.microsoft.com/office/drawing/2014/main" id="{31E88DA5-6EB1-4B49-AA86-69796AD82596}"/>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3" name="组合 2">
            <a:extLst>
              <a:ext uri="{FF2B5EF4-FFF2-40B4-BE49-F238E27FC236}">
                <a16:creationId xmlns:a16="http://schemas.microsoft.com/office/drawing/2014/main" id="{CA502997-39E2-49B8-AFAE-986400773D03}"/>
              </a:ext>
            </a:extLst>
          </p:cNvPr>
          <p:cNvGrpSpPr/>
          <p:nvPr/>
        </p:nvGrpSpPr>
        <p:grpSpPr>
          <a:xfrm>
            <a:off x="796575" y="2751038"/>
            <a:ext cx="3458058" cy="923330"/>
            <a:chOff x="872775" y="2487402"/>
            <a:chExt cx="3458058" cy="923330"/>
          </a:xfrm>
        </p:grpSpPr>
        <p:sp>
          <p:nvSpPr>
            <p:cNvPr id="4" name="文本框 3">
              <a:extLst>
                <a:ext uri="{FF2B5EF4-FFF2-40B4-BE49-F238E27FC236}">
                  <a16:creationId xmlns:a16="http://schemas.microsoft.com/office/drawing/2014/main" id="{3D3CD500-B72D-4FB2-B185-BB8574EFA7C0}"/>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3.1</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 name="等腰三角形 6">
              <a:extLst>
                <a:ext uri="{FF2B5EF4-FFF2-40B4-BE49-F238E27FC236}">
                  <a16:creationId xmlns:a16="http://schemas.microsoft.com/office/drawing/2014/main" id="{4EDA52F4-23EF-4A15-889D-647C071DC94F}"/>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91" name="组合 90">
            <a:extLst>
              <a:ext uri="{FF2B5EF4-FFF2-40B4-BE49-F238E27FC236}">
                <a16:creationId xmlns:a16="http://schemas.microsoft.com/office/drawing/2014/main" id="{357A7CAF-A65B-42E2-9F91-1C9D64596181}"/>
              </a:ext>
            </a:extLst>
          </p:cNvPr>
          <p:cNvGrpSpPr/>
          <p:nvPr/>
        </p:nvGrpSpPr>
        <p:grpSpPr>
          <a:xfrm>
            <a:off x="5684259" y="2843404"/>
            <a:ext cx="5977611" cy="1107921"/>
            <a:chOff x="6566813" y="2528855"/>
            <a:chExt cx="3526265" cy="1107921"/>
          </a:xfrm>
        </p:grpSpPr>
        <p:sp>
          <p:nvSpPr>
            <p:cNvPr id="8" name="文本框 7">
              <a:extLst>
                <a:ext uri="{FF2B5EF4-FFF2-40B4-BE49-F238E27FC236}">
                  <a16:creationId xmlns:a16="http://schemas.microsoft.com/office/drawing/2014/main" id="{27DEBCF5-BFB8-4FAD-B0B9-B4780086BDBD}"/>
                </a:ext>
              </a:extLst>
            </p:cNvPr>
            <p:cNvSpPr txBox="1"/>
            <p:nvPr/>
          </p:nvSpPr>
          <p:spPr>
            <a:xfrm>
              <a:off x="6566813" y="2528855"/>
              <a:ext cx="3526265" cy="830997"/>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lang="zh-CN" altLang="en-US" sz="4800" b="1" dirty="0">
                  <a:solidFill>
                    <a:schemeClr val="accent1"/>
                  </a:solidFill>
                  <a:latin typeface="Arial" panose="020B0604020202020204" pitchFamily="34" charset="0"/>
                  <a:ea typeface="Microsoft YaHei" panose="020B0503020204020204" pitchFamily="34" charset="-122"/>
                  <a:cs typeface="+mn-ea"/>
                  <a:sym typeface="Arial" panose="020B0604020202020204" pitchFamily="34" charset="0"/>
                </a:rPr>
                <a:t>进程基本概念</a:t>
              </a:r>
            </a:p>
          </p:txBody>
        </p:sp>
        <p:sp>
          <p:nvSpPr>
            <p:cNvPr id="9" name="文本框 8">
              <a:extLst>
                <a:ext uri="{FF2B5EF4-FFF2-40B4-BE49-F238E27FC236}">
                  <a16:creationId xmlns:a16="http://schemas.microsoft.com/office/drawing/2014/main" id="{D0D9C5FE-9ED4-4451-B407-5AB9B58667BB}"/>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6" name="组合 35">
            <a:extLst>
              <a:ext uri="{FF2B5EF4-FFF2-40B4-BE49-F238E27FC236}">
                <a16:creationId xmlns:a16="http://schemas.microsoft.com/office/drawing/2014/main" id="{89F5A5CE-2702-4843-AD98-1A8ACB468021}"/>
              </a:ext>
            </a:extLst>
          </p:cNvPr>
          <p:cNvGrpSpPr/>
          <p:nvPr/>
        </p:nvGrpSpPr>
        <p:grpSpPr>
          <a:xfrm>
            <a:off x="10093078" y="291782"/>
            <a:ext cx="1512002" cy="444892"/>
            <a:chOff x="9556201" y="498129"/>
            <a:chExt cx="1993881" cy="586680"/>
          </a:xfrm>
        </p:grpSpPr>
        <p:grpSp>
          <p:nvGrpSpPr>
            <p:cNvPr id="37" name="组合 36">
              <a:extLst>
                <a:ext uri="{FF2B5EF4-FFF2-40B4-BE49-F238E27FC236}">
                  <a16:creationId xmlns:a16="http://schemas.microsoft.com/office/drawing/2014/main" id="{3EE8DEA2-A283-4B0D-82AE-B287FC3E1D9D}"/>
                </a:ext>
              </a:extLst>
            </p:cNvPr>
            <p:cNvGrpSpPr/>
            <p:nvPr userDrawn="1"/>
          </p:nvGrpSpPr>
          <p:grpSpPr>
            <a:xfrm>
              <a:off x="10239376" y="968937"/>
              <a:ext cx="1307697" cy="96254"/>
              <a:chOff x="4616246" y="3878362"/>
              <a:chExt cx="5571416" cy="410087"/>
            </a:xfrm>
            <a:solidFill>
              <a:schemeClr val="tx1">
                <a:alpha val="80000"/>
              </a:schemeClr>
            </a:solidFill>
          </p:grpSpPr>
          <p:sp>
            <p:nvSpPr>
              <p:cNvPr id="75" name="Freeform 17">
                <a:extLst>
                  <a:ext uri="{FF2B5EF4-FFF2-40B4-BE49-F238E27FC236}">
                    <a16:creationId xmlns:a16="http://schemas.microsoft.com/office/drawing/2014/main" id="{44AD8719-A6C9-4AD4-8CDD-477C15899CBA}"/>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6" name="Freeform 18">
                <a:extLst>
                  <a:ext uri="{FF2B5EF4-FFF2-40B4-BE49-F238E27FC236}">
                    <a16:creationId xmlns:a16="http://schemas.microsoft.com/office/drawing/2014/main" id="{9133BF2C-02B4-465C-809F-F9B5C016DD0D}"/>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7" name="Freeform 19">
                <a:extLst>
                  <a:ext uri="{FF2B5EF4-FFF2-40B4-BE49-F238E27FC236}">
                    <a16:creationId xmlns:a16="http://schemas.microsoft.com/office/drawing/2014/main" id="{A0841CA1-65D3-4675-AA91-C11B58E1B613}"/>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8" name="Freeform 20">
                <a:extLst>
                  <a:ext uri="{FF2B5EF4-FFF2-40B4-BE49-F238E27FC236}">
                    <a16:creationId xmlns:a16="http://schemas.microsoft.com/office/drawing/2014/main" id="{C91AACB3-D6FC-4402-B777-8149CE12181B}"/>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9" name="Freeform 21">
                <a:extLst>
                  <a:ext uri="{FF2B5EF4-FFF2-40B4-BE49-F238E27FC236}">
                    <a16:creationId xmlns:a16="http://schemas.microsoft.com/office/drawing/2014/main" id="{3F398875-96C8-49E6-9A0F-8BB7DDA4E6BF}"/>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0" name="Freeform 22">
                <a:extLst>
                  <a:ext uri="{FF2B5EF4-FFF2-40B4-BE49-F238E27FC236}">
                    <a16:creationId xmlns:a16="http://schemas.microsoft.com/office/drawing/2014/main" id="{59DAB49B-761C-419D-8554-02791996798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1" name="Freeform 23">
                <a:extLst>
                  <a:ext uri="{FF2B5EF4-FFF2-40B4-BE49-F238E27FC236}">
                    <a16:creationId xmlns:a16="http://schemas.microsoft.com/office/drawing/2014/main" id="{CC83CD3A-4F33-4130-92E1-15AF00D344A9}"/>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2" name="Freeform 25">
                <a:extLst>
                  <a:ext uri="{FF2B5EF4-FFF2-40B4-BE49-F238E27FC236}">
                    <a16:creationId xmlns:a16="http://schemas.microsoft.com/office/drawing/2014/main" id="{30C906F2-7F46-46B1-99E6-2A8D5E77C58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3" name="Freeform 27">
                <a:extLst>
                  <a:ext uri="{FF2B5EF4-FFF2-40B4-BE49-F238E27FC236}">
                    <a16:creationId xmlns:a16="http://schemas.microsoft.com/office/drawing/2014/main" id="{2A819B80-CD04-4550-AAC9-16BF82C47154}"/>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4" name="Freeform 29">
                <a:extLst>
                  <a:ext uri="{FF2B5EF4-FFF2-40B4-BE49-F238E27FC236}">
                    <a16:creationId xmlns:a16="http://schemas.microsoft.com/office/drawing/2014/main" id="{6ED0280C-985B-485D-AB5F-3B680C89174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5" name="Freeform 30">
                <a:extLst>
                  <a:ext uri="{FF2B5EF4-FFF2-40B4-BE49-F238E27FC236}">
                    <a16:creationId xmlns:a16="http://schemas.microsoft.com/office/drawing/2014/main" id="{7807AE7F-7241-41B3-848A-CB9FB7C68FCD}"/>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6" name="Freeform 31">
                <a:extLst>
                  <a:ext uri="{FF2B5EF4-FFF2-40B4-BE49-F238E27FC236}">
                    <a16:creationId xmlns:a16="http://schemas.microsoft.com/office/drawing/2014/main" id="{7E09A341-28AD-4DBC-9DF6-E76B47627200}"/>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7" name="Freeform 32">
                <a:extLst>
                  <a:ext uri="{FF2B5EF4-FFF2-40B4-BE49-F238E27FC236}">
                    <a16:creationId xmlns:a16="http://schemas.microsoft.com/office/drawing/2014/main" id="{E2CDB4AD-2696-4E4D-BFF8-B0270651E2C5}"/>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8" name="Freeform 33">
                <a:extLst>
                  <a:ext uri="{FF2B5EF4-FFF2-40B4-BE49-F238E27FC236}">
                    <a16:creationId xmlns:a16="http://schemas.microsoft.com/office/drawing/2014/main" id="{CAE8FA9B-65A8-44B8-B218-221FBBD8CE2B}"/>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9" name="Freeform 34">
                <a:extLst>
                  <a:ext uri="{FF2B5EF4-FFF2-40B4-BE49-F238E27FC236}">
                    <a16:creationId xmlns:a16="http://schemas.microsoft.com/office/drawing/2014/main" id="{172C18BF-8C3E-4F1C-A612-F3D2ED015B6C}"/>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90" name="Freeform 35">
                <a:extLst>
                  <a:ext uri="{FF2B5EF4-FFF2-40B4-BE49-F238E27FC236}">
                    <a16:creationId xmlns:a16="http://schemas.microsoft.com/office/drawing/2014/main" id="{C6454724-840E-4F50-AAEE-D58DE613A0F5}"/>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8" name="组合 37">
              <a:extLst>
                <a:ext uri="{FF2B5EF4-FFF2-40B4-BE49-F238E27FC236}">
                  <a16:creationId xmlns:a16="http://schemas.microsoft.com/office/drawing/2014/main" id="{BF98026A-D24A-4466-89B8-27A337DA00F7}"/>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63" name="Freeform 9">
                <a:extLst>
                  <a:ext uri="{FF2B5EF4-FFF2-40B4-BE49-F238E27FC236}">
                    <a16:creationId xmlns:a16="http://schemas.microsoft.com/office/drawing/2014/main" id="{9B2E4542-884E-4798-8D56-BD93A37E7C2A}"/>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10">
                <a:extLst>
                  <a:ext uri="{FF2B5EF4-FFF2-40B4-BE49-F238E27FC236}">
                    <a16:creationId xmlns:a16="http://schemas.microsoft.com/office/drawing/2014/main" id="{DBC71290-B4B4-4954-9268-B24937352AAE}"/>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11">
                <a:extLst>
                  <a:ext uri="{FF2B5EF4-FFF2-40B4-BE49-F238E27FC236}">
                    <a16:creationId xmlns:a16="http://schemas.microsoft.com/office/drawing/2014/main" id="{0BCA249D-2F14-44A9-9D61-0C858FDB001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12">
                <a:extLst>
                  <a:ext uri="{FF2B5EF4-FFF2-40B4-BE49-F238E27FC236}">
                    <a16:creationId xmlns:a16="http://schemas.microsoft.com/office/drawing/2014/main" id="{3609396F-CBD4-45F6-A30A-44E84473556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13">
                <a:extLst>
                  <a:ext uri="{FF2B5EF4-FFF2-40B4-BE49-F238E27FC236}">
                    <a16:creationId xmlns:a16="http://schemas.microsoft.com/office/drawing/2014/main" id="{1990FC48-EFE7-46BB-BA2A-0994DE84A1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14">
                <a:extLst>
                  <a:ext uri="{FF2B5EF4-FFF2-40B4-BE49-F238E27FC236}">
                    <a16:creationId xmlns:a16="http://schemas.microsoft.com/office/drawing/2014/main" id="{E399D549-2995-4C91-9766-FC87D79F45DD}"/>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9" name="Freeform 15">
                <a:extLst>
                  <a:ext uri="{FF2B5EF4-FFF2-40B4-BE49-F238E27FC236}">
                    <a16:creationId xmlns:a16="http://schemas.microsoft.com/office/drawing/2014/main" id="{C7E6DF3D-732B-4F18-8C8A-CF5551EE7DD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0" name="Freeform 16">
                <a:extLst>
                  <a:ext uri="{FF2B5EF4-FFF2-40B4-BE49-F238E27FC236}">
                    <a16:creationId xmlns:a16="http://schemas.microsoft.com/office/drawing/2014/main" id="{DD330645-D3BC-4BB1-9290-A6A4CC87B1C0}"/>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1" name="Freeform 24">
                <a:extLst>
                  <a:ext uri="{FF2B5EF4-FFF2-40B4-BE49-F238E27FC236}">
                    <a16:creationId xmlns:a16="http://schemas.microsoft.com/office/drawing/2014/main" id="{968CCA45-DD3A-4A7D-BC48-A28C69DFC59A}"/>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2" name="Freeform 26">
                <a:extLst>
                  <a:ext uri="{FF2B5EF4-FFF2-40B4-BE49-F238E27FC236}">
                    <a16:creationId xmlns:a16="http://schemas.microsoft.com/office/drawing/2014/main" id="{D2E86048-5AFE-4077-9EFC-F8B160041128}"/>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3" name="Freeform 28">
                <a:extLst>
                  <a:ext uri="{FF2B5EF4-FFF2-40B4-BE49-F238E27FC236}">
                    <a16:creationId xmlns:a16="http://schemas.microsoft.com/office/drawing/2014/main" id="{2282FA05-67FD-4A1C-999B-388A821E4A0D}"/>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4" name="Freeform 36">
                <a:extLst>
                  <a:ext uri="{FF2B5EF4-FFF2-40B4-BE49-F238E27FC236}">
                    <a16:creationId xmlns:a16="http://schemas.microsoft.com/office/drawing/2014/main" id="{9ECE6299-E675-4AC7-8F49-EA7822FE7B38}"/>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9" name="组合 38">
              <a:extLst>
                <a:ext uri="{FF2B5EF4-FFF2-40B4-BE49-F238E27FC236}">
                  <a16:creationId xmlns:a16="http://schemas.microsoft.com/office/drawing/2014/main" id="{50A175ED-F190-4B7B-9344-071E868CA208}"/>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40" name="Freeform 8">
                <a:extLst>
                  <a:ext uri="{FF2B5EF4-FFF2-40B4-BE49-F238E27FC236}">
                    <a16:creationId xmlns:a16="http://schemas.microsoft.com/office/drawing/2014/main" id="{C74E670C-47A6-45BE-93BE-82AA83997AC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42">
                <a:extLst>
                  <a:ext uri="{FF2B5EF4-FFF2-40B4-BE49-F238E27FC236}">
                    <a16:creationId xmlns:a16="http://schemas.microsoft.com/office/drawing/2014/main" id="{FCE454AD-1FF4-48D8-9DBA-1FF088A7EF41}"/>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43">
                <a:extLst>
                  <a:ext uri="{FF2B5EF4-FFF2-40B4-BE49-F238E27FC236}">
                    <a16:creationId xmlns:a16="http://schemas.microsoft.com/office/drawing/2014/main" id="{939A0963-499A-4C24-9C3A-3095F83D1B5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44">
                <a:extLst>
                  <a:ext uri="{FF2B5EF4-FFF2-40B4-BE49-F238E27FC236}">
                    <a16:creationId xmlns:a16="http://schemas.microsoft.com/office/drawing/2014/main" id="{B3512EF5-8F8A-444C-A477-B798936A4EF7}"/>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45">
                <a:extLst>
                  <a:ext uri="{FF2B5EF4-FFF2-40B4-BE49-F238E27FC236}">
                    <a16:creationId xmlns:a16="http://schemas.microsoft.com/office/drawing/2014/main" id="{1469A33E-B7C7-4A29-9E17-597135B3C850}"/>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46">
                <a:extLst>
                  <a:ext uri="{FF2B5EF4-FFF2-40B4-BE49-F238E27FC236}">
                    <a16:creationId xmlns:a16="http://schemas.microsoft.com/office/drawing/2014/main" id="{318FB07B-B579-493E-BBFC-9A63CFB5F3D9}"/>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47">
                <a:extLst>
                  <a:ext uri="{FF2B5EF4-FFF2-40B4-BE49-F238E27FC236}">
                    <a16:creationId xmlns:a16="http://schemas.microsoft.com/office/drawing/2014/main" id="{49AE1D4D-6B1E-4FE0-B7FE-781B6688F7A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48">
                <a:extLst>
                  <a:ext uri="{FF2B5EF4-FFF2-40B4-BE49-F238E27FC236}">
                    <a16:creationId xmlns:a16="http://schemas.microsoft.com/office/drawing/2014/main" id="{71A18012-AD4A-4F63-A23C-1692DC63119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49">
                <a:extLst>
                  <a:ext uri="{FF2B5EF4-FFF2-40B4-BE49-F238E27FC236}">
                    <a16:creationId xmlns:a16="http://schemas.microsoft.com/office/drawing/2014/main" id="{164E4CE6-1A5B-47E5-A4ED-07CD1BB8D4B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50">
                <a:extLst>
                  <a:ext uri="{FF2B5EF4-FFF2-40B4-BE49-F238E27FC236}">
                    <a16:creationId xmlns:a16="http://schemas.microsoft.com/office/drawing/2014/main" id="{31E778DB-AFCD-413D-A460-8FB4AFAFA807}"/>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51">
                <a:extLst>
                  <a:ext uri="{FF2B5EF4-FFF2-40B4-BE49-F238E27FC236}">
                    <a16:creationId xmlns:a16="http://schemas.microsoft.com/office/drawing/2014/main" id="{FA0B79B5-B8DF-49C5-A2A5-E3221575825D}"/>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52">
                <a:extLst>
                  <a:ext uri="{FF2B5EF4-FFF2-40B4-BE49-F238E27FC236}">
                    <a16:creationId xmlns:a16="http://schemas.microsoft.com/office/drawing/2014/main" id="{3EA0E13D-CE72-4639-A5F0-88FBD9AC79F1}"/>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53">
                <a:extLst>
                  <a:ext uri="{FF2B5EF4-FFF2-40B4-BE49-F238E27FC236}">
                    <a16:creationId xmlns:a16="http://schemas.microsoft.com/office/drawing/2014/main" id="{670D9C48-3B9B-4543-B023-C17306EFAC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54">
                <a:extLst>
                  <a:ext uri="{FF2B5EF4-FFF2-40B4-BE49-F238E27FC236}">
                    <a16:creationId xmlns:a16="http://schemas.microsoft.com/office/drawing/2014/main" id="{A09D294A-3F5D-4963-A9A3-4EC8D1D48679}"/>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55">
                <a:extLst>
                  <a:ext uri="{FF2B5EF4-FFF2-40B4-BE49-F238E27FC236}">
                    <a16:creationId xmlns:a16="http://schemas.microsoft.com/office/drawing/2014/main" id="{2D50D7AF-FDCC-4B40-BBE7-7A42EBF6C816}"/>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56">
                <a:extLst>
                  <a:ext uri="{FF2B5EF4-FFF2-40B4-BE49-F238E27FC236}">
                    <a16:creationId xmlns:a16="http://schemas.microsoft.com/office/drawing/2014/main" id="{3B981CD3-2CE5-4286-84BB-E518E7C69B4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57">
                <a:extLst>
                  <a:ext uri="{FF2B5EF4-FFF2-40B4-BE49-F238E27FC236}">
                    <a16:creationId xmlns:a16="http://schemas.microsoft.com/office/drawing/2014/main" id="{4EEE4F57-8B62-4809-BCD1-6A65AA8FC2B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58">
                <a:extLst>
                  <a:ext uri="{FF2B5EF4-FFF2-40B4-BE49-F238E27FC236}">
                    <a16:creationId xmlns:a16="http://schemas.microsoft.com/office/drawing/2014/main" id="{C373E4F1-52B8-48AE-BA57-AED20164534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59">
                <a:extLst>
                  <a:ext uri="{FF2B5EF4-FFF2-40B4-BE49-F238E27FC236}">
                    <a16:creationId xmlns:a16="http://schemas.microsoft.com/office/drawing/2014/main" id="{7074632F-A6E9-4684-8629-FDB21E71FBDE}"/>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60">
                <a:extLst>
                  <a:ext uri="{FF2B5EF4-FFF2-40B4-BE49-F238E27FC236}">
                    <a16:creationId xmlns:a16="http://schemas.microsoft.com/office/drawing/2014/main" id="{3AE5FF3B-11F2-4E50-859C-B0D76EA74D5E}"/>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61">
                <a:extLst>
                  <a:ext uri="{FF2B5EF4-FFF2-40B4-BE49-F238E27FC236}">
                    <a16:creationId xmlns:a16="http://schemas.microsoft.com/office/drawing/2014/main" id="{20150246-C396-4837-AB0F-A3A53ECE9DC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62">
                <a:extLst>
                  <a:ext uri="{FF2B5EF4-FFF2-40B4-BE49-F238E27FC236}">
                    <a16:creationId xmlns:a16="http://schemas.microsoft.com/office/drawing/2014/main" id="{7F7DE853-0053-4AFF-A1E6-6025F8ADC8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71">
                <a:extLst>
                  <a:ext uri="{FF2B5EF4-FFF2-40B4-BE49-F238E27FC236}">
                    <a16:creationId xmlns:a16="http://schemas.microsoft.com/office/drawing/2014/main" id="{BAFDC9B8-35ED-4EBD-B342-10591FE912BB}"/>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Tree>
    <p:extLst>
      <p:ext uri="{BB962C8B-B14F-4D97-AF65-F5344CB8AC3E}">
        <p14:creationId xmlns:p14="http://schemas.microsoft.com/office/powerpoint/2010/main" val="45287915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B289F6E-C6BC-97BD-FDAF-B32F73FD725B}"/>
              </a:ext>
            </a:extLst>
          </p:cNvPr>
          <p:cNvSpPr>
            <a:spLocks noGrp="1"/>
          </p:cNvSpPr>
          <p:nvPr>
            <p:ph type="title"/>
          </p:nvPr>
        </p:nvSpPr>
        <p:spPr/>
        <p:txBody>
          <a:bodyPr/>
          <a:lstStyle/>
          <a:p>
            <a:r>
              <a:rPr kumimoji="1" lang="en-US" altLang="zh-CN" dirty="0"/>
              <a:t>3.1.1</a:t>
            </a:r>
            <a:r>
              <a:rPr kumimoji="1" lang="zh-CN" altLang="en-US" dirty="0"/>
              <a:t>   进程定义</a:t>
            </a:r>
          </a:p>
        </p:txBody>
      </p:sp>
      <p:sp>
        <p:nvSpPr>
          <p:cNvPr id="3" name="灯片编号占位符 2">
            <a:extLst>
              <a:ext uri="{FF2B5EF4-FFF2-40B4-BE49-F238E27FC236}">
                <a16:creationId xmlns:a16="http://schemas.microsoft.com/office/drawing/2014/main" id="{545F8FAE-35F2-9A95-18DD-E57AF32A4DD4}"/>
              </a:ext>
            </a:extLst>
          </p:cNvPr>
          <p:cNvSpPr>
            <a:spLocks noGrp="1"/>
          </p:cNvSpPr>
          <p:nvPr>
            <p:ph type="sldNum" sz="quarter" idx="4"/>
          </p:nvPr>
        </p:nvSpPr>
        <p:spPr/>
        <p:txBody>
          <a:bodyPr/>
          <a:lstStyle/>
          <a:p>
            <a:r>
              <a:rPr lang="en-US" altLang="zh-CN"/>
              <a:t>&lt; </a:t>
            </a:r>
            <a:fld id="{A548B57D-AE10-4CF7-A9DF-59FEFA91B28E}" type="slidenum">
              <a:rPr lang="zh-CN" altLang="en-US" smtClean="0"/>
              <a:pPr/>
              <a:t>6</a:t>
            </a:fld>
            <a:r>
              <a:rPr lang="zh-CN" altLang="en-US"/>
              <a:t> </a:t>
            </a:r>
            <a:r>
              <a:rPr lang="en-US" altLang="zh-CN"/>
              <a:t>&gt;</a:t>
            </a:r>
            <a:endParaRPr lang="zh-CN" altLang="en-US" dirty="0"/>
          </a:p>
        </p:txBody>
      </p:sp>
      <p:sp>
        <p:nvSpPr>
          <p:cNvPr id="5" name="文本框 4">
            <a:extLst>
              <a:ext uri="{FF2B5EF4-FFF2-40B4-BE49-F238E27FC236}">
                <a16:creationId xmlns:a16="http://schemas.microsoft.com/office/drawing/2014/main" id="{7C35A796-F28E-6C5D-6ECB-622A8DE22592}"/>
              </a:ext>
            </a:extLst>
          </p:cNvPr>
          <p:cNvSpPr txBox="1"/>
          <p:nvPr/>
        </p:nvSpPr>
        <p:spPr>
          <a:xfrm>
            <a:off x="733794" y="2090172"/>
            <a:ext cx="10724412" cy="3416320"/>
          </a:xfrm>
          <a:prstGeom prst="rect">
            <a:avLst/>
          </a:prstGeom>
          <a:noFill/>
        </p:spPr>
        <p:txBody>
          <a:bodyPr wrap="square">
            <a:spAutoFit/>
          </a:bodyPr>
          <a:lstStyle/>
          <a:p>
            <a:pPr indent="304800" algn="just"/>
            <a:r>
              <a:rPr lang="zh-CN" altLang="en-US" sz="2400" b="1" kern="100" dirty="0">
                <a:solidFill>
                  <a:srgbClr val="9A0001"/>
                </a:solidFill>
                <a:effectLst/>
                <a:latin typeface="+mn-ea"/>
                <a:cs typeface="Times New Roman" panose="02020603050405020304" pitchFamily="18" charset="0"/>
              </a:rPr>
              <a:t>定义：</a:t>
            </a:r>
            <a:r>
              <a:rPr lang="zh-CN" altLang="zh-CN" sz="2400" b="1" kern="100" dirty="0">
                <a:effectLst/>
                <a:latin typeface="+mn-ea"/>
                <a:cs typeface="Times New Roman" panose="02020603050405020304" pitchFamily="18" charset="0"/>
              </a:rPr>
              <a:t>进程是具有一定独立功能的程序在某个数据集合上的一次运行活动，</a:t>
            </a:r>
            <a:r>
              <a:rPr lang="en-US" altLang="zh-CN" sz="2400" b="1" kern="100" dirty="0">
                <a:effectLst/>
                <a:latin typeface="+mn-ea"/>
                <a:cs typeface="Times New Roman" panose="02020603050405020304" pitchFamily="18" charset="0"/>
              </a:rPr>
              <a:t>	    </a:t>
            </a:r>
            <a:r>
              <a:rPr lang="zh-CN" altLang="zh-CN" sz="2400" b="1" kern="100" dirty="0">
                <a:effectLst/>
                <a:latin typeface="+mn-ea"/>
                <a:cs typeface="Times New Roman" panose="02020603050405020304" pitchFamily="18" charset="0"/>
              </a:rPr>
              <a:t>是系统进行资源分配和调度的一个独立单位</a:t>
            </a:r>
          </a:p>
          <a:p>
            <a:pPr indent="304800" algn="just"/>
            <a:endParaRPr lang="en-US" altLang="zh-CN" sz="2400" kern="100" dirty="0">
              <a:effectLst/>
              <a:latin typeface="+mn-ea"/>
              <a:cs typeface="Times New Roman" panose="02020603050405020304" pitchFamily="18" charset="0"/>
            </a:endParaRPr>
          </a:p>
          <a:p>
            <a:pPr indent="304800" algn="just"/>
            <a:r>
              <a:rPr lang="zh-CN" altLang="zh-CN" sz="2400" kern="100" dirty="0">
                <a:effectLst/>
                <a:latin typeface="+mn-ea"/>
                <a:cs typeface="Times New Roman" panose="02020603050405020304" pitchFamily="18" charset="0"/>
              </a:rPr>
              <a:t>进程分为</a:t>
            </a:r>
            <a:r>
              <a:rPr lang="zh-CN" altLang="zh-CN" sz="2400" kern="100" dirty="0">
                <a:solidFill>
                  <a:srgbClr val="A23341"/>
                </a:solidFill>
                <a:effectLst/>
                <a:latin typeface="+mn-ea"/>
                <a:cs typeface="Times New Roman" panose="02020603050405020304" pitchFamily="18" charset="0"/>
              </a:rPr>
              <a:t>系统进程</a:t>
            </a:r>
            <a:r>
              <a:rPr lang="zh-CN" altLang="zh-CN" sz="2400" kern="100" dirty="0">
                <a:effectLst/>
                <a:latin typeface="+mn-ea"/>
                <a:cs typeface="Times New Roman" panose="02020603050405020304" pitchFamily="18" charset="0"/>
              </a:rPr>
              <a:t>和</a:t>
            </a:r>
            <a:r>
              <a:rPr lang="zh-CN" altLang="zh-CN" sz="2400" kern="100" dirty="0">
                <a:solidFill>
                  <a:srgbClr val="A23341"/>
                </a:solidFill>
                <a:effectLst/>
                <a:latin typeface="+mn-ea"/>
                <a:cs typeface="Times New Roman" panose="02020603050405020304" pitchFamily="18" charset="0"/>
              </a:rPr>
              <a:t>用户进程</a:t>
            </a:r>
            <a:r>
              <a:rPr lang="zh-CN" altLang="zh-CN" sz="2400" kern="100" dirty="0">
                <a:effectLst/>
                <a:latin typeface="+mn-ea"/>
                <a:cs typeface="Times New Roman" panose="02020603050405020304" pitchFamily="18" charset="0"/>
              </a:rPr>
              <a:t>两类</a:t>
            </a:r>
            <a:endParaRPr lang="en-US" altLang="zh-CN" sz="2400" kern="100" dirty="0">
              <a:effectLst/>
              <a:latin typeface="+mn-ea"/>
              <a:cs typeface="Times New Roman" panose="02020603050405020304" pitchFamily="18" charset="0"/>
            </a:endParaRPr>
          </a:p>
          <a:p>
            <a:pPr indent="304800" algn="just"/>
            <a:endParaRPr lang="en-US" altLang="zh-CN" sz="2400" kern="100" dirty="0">
              <a:effectLst/>
              <a:latin typeface="+mn-ea"/>
              <a:cs typeface="Times New Roman" panose="02020603050405020304" pitchFamily="18" charset="0"/>
            </a:endParaRPr>
          </a:p>
          <a:p>
            <a:pPr indent="304800" algn="just"/>
            <a:r>
              <a:rPr lang="zh-CN" altLang="zh-CN" sz="2400" kern="100" dirty="0">
                <a:effectLst/>
                <a:latin typeface="+mn-ea"/>
                <a:cs typeface="Times New Roman" panose="02020603050405020304" pitchFamily="18" charset="0"/>
              </a:rPr>
              <a:t>系统进程执行操作系统程序</a:t>
            </a:r>
            <a:endParaRPr lang="en-US" altLang="zh-CN" sz="2400" kern="100" dirty="0">
              <a:latin typeface="+mn-ea"/>
              <a:cs typeface="Times New Roman" panose="02020603050405020304" pitchFamily="18" charset="0"/>
            </a:endParaRPr>
          </a:p>
          <a:p>
            <a:pPr indent="304800" algn="just"/>
            <a:r>
              <a:rPr lang="zh-CN" altLang="zh-CN" sz="2400" kern="100" dirty="0">
                <a:effectLst/>
                <a:latin typeface="+mn-ea"/>
                <a:cs typeface="Times New Roman" panose="02020603050405020304" pitchFamily="18" charset="0"/>
              </a:rPr>
              <a:t>用户进程运行用户程序</a:t>
            </a:r>
            <a:endParaRPr lang="en-US" altLang="zh-CN" sz="2400" kern="100" dirty="0">
              <a:effectLst/>
              <a:latin typeface="+mn-ea"/>
              <a:cs typeface="Times New Roman" panose="02020603050405020304" pitchFamily="18" charset="0"/>
            </a:endParaRPr>
          </a:p>
          <a:p>
            <a:pPr indent="304800" algn="just"/>
            <a:endParaRPr lang="en-US" altLang="zh-CN" sz="2400" kern="100" dirty="0">
              <a:effectLst/>
              <a:latin typeface="+mn-ea"/>
              <a:cs typeface="Times New Roman" panose="02020603050405020304" pitchFamily="18" charset="0"/>
            </a:endParaRPr>
          </a:p>
          <a:p>
            <a:pPr indent="304800" algn="just"/>
            <a:r>
              <a:rPr lang="zh-CN" altLang="zh-CN" sz="2400" kern="100" dirty="0">
                <a:effectLst/>
                <a:latin typeface="+mn-ea"/>
                <a:cs typeface="Times New Roman" panose="02020603050405020304" pitchFamily="18" charset="0"/>
              </a:rPr>
              <a:t>系统进程的优先级通常高于一般用户进程的优先级</a:t>
            </a:r>
            <a:endParaRPr lang="en-US" altLang="zh-CN" sz="2400" kern="100" dirty="0">
              <a:effectLst/>
              <a:latin typeface="+mn-ea"/>
              <a:cs typeface="Times New Roman" panose="02020603050405020304" pitchFamily="18" charset="0"/>
            </a:endParaRPr>
          </a:p>
        </p:txBody>
      </p:sp>
      <p:sp>
        <p:nvSpPr>
          <p:cNvPr id="6" name="标题 1">
            <a:extLst>
              <a:ext uri="{FF2B5EF4-FFF2-40B4-BE49-F238E27FC236}">
                <a16:creationId xmlns:a16="http://schemas.microsoft.com/office/drawing/2014/main" id="{6B0754E4-48AE-2823-1C3F-6E9A5520ECCE}"/>
              </a:ext>
            </a:extLst>
          </p:cNvPr>
          <p:cNvSpPr txBox="1">
            <a:spLocks/>
          </p:cNvSpPr>
          <p:nvPr/>
        </p:nvSpPr>
        <p:spPr>
          <a:xfrm>
            <a:off x="442912" y="869827"/>
            <a:ext cx="9056851" cy="617518"/>
          </a:xfrm>
          <a:prstGeom prst="rect">
            <a:avLst/>
          </a:prstGeom>
        </p:spPr>
        <p:txBody>
          <a:bodyPr vert="horz" lIns="91440" tIns="45720" rIns="91440" bIns="45720" rtlCol="0" anchor="ctr">
            <a:normAutofit/>
          </a:bodyPr>
          <a:lstStyle>
            <a:lvl1pPr>
              <a:lnSpc>
                <a:spcPct val="90000"/>
              </a:lnSpc>
              <a:spcBef>
                <a:spcPct val="0"/>
              </a:spcBef>
              <a:buNone/>
              <a:defRPr lang="zh-CN" altLang="en-US" sz="2400" b="1" kern="100" baseline="0" dirty="0">
                <a:solidFill>
                  <a:schemeClr val="accent1"/>
                </a:solidFill>
                <a:effectLst/>
                <a:latin typeface="Times New Roman" panose="02020603050405020304" pitchFamily="18" charset="0"/>
                <a:ea typeface="宋体" panose="02010600030101010101" pitchFamily="2" charset="-122"/>
                <a:cs typeface="Times New Roman" panose="02020603050405020304" pitchFamily="18" charset="0"/>
              </a:defRPr>
            </a:lvl1pPr>
          </a:lstStyle>
          <a:p>
            <a:r>
              <a:rPr lang="zh-CN" altLang="en-US" dirty="0">
                <a:latin typeface="微软雅黑" panose="020B0503020204020204" pitchFamily="34" charset="-122"/>
                <a:ea typeface="微软雅黑" panose="020B0503020204020204" pitchFamily="34" charset="-122"/>
              </a:rPr>
              <a:t>进程定义</a:t>
            </a:r>
          </a:p>
        </p:txBody>
      </p:sp>
    </p:spTree>
    <p:extLst>
      <p:ext uri="{BB962C8B-B14F-4D97-AF65-F5344CB8AC3E}">
        <p14:creationId xmlns:p14="http://schemas.microsoft.com/office/powerpoint/2010/main" val="96176667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B289F6E-C6BC-97BD-FDAF-B32F73FD725B}"/>
              </a:ext>
            </a:extLst>
          </p:cNvPr>
          <p:cNvSpPr>
            <a:spLocks noGrp="1"/>
          </p:cNvSpPr>
          <p:nvPr>
            <p:ph type="title"/>
          </p:nvPr>
        </p:nvSpPr>
        <p:spPr/>
        <p:txBody>
          <a:bodyPr/>
          <a:lstStyle/>
          <a:p>
            <a:r>
              <a:rPr kumimoji="1" lang="en-US" altLang="zh-CN" dirty="0"/>
              <a:t>3.1.1</a:t>
            </a:r>
            <a:r>
              <a:rPr kumimoji="1" lang="zh-CN" altLang="en-US" dirty="0"/>
              <a:t>   进程定义</a:t>
            </a:r>
          </a:p>
        </p:txBody>
      </p:sp>
      <p:sp>
        <p:nvSpPr>
          <p:cNvPr id="3" name="灯片编号占位符 2">
            <a:extLst>
              <a:ext uri="{FF2B5EF4-FFF2-40B4-BE49-F238E27FC236}">
                <a16:creationId xmlns:a16="http://schemas.microsoft.com/office/drawing/2014/main" id="{545F8FAE-35F2-9A95-18DD-E57AF32A4DD4}"/>
              </a:ext>
            </a:extLst>
          </p:cNvPr>
          <p:cNvSpPr>
            <a:spLocks noGrp="1"/>
          </p:cNvSpPr>
          <p:nvPr>
            <p:ph type="sldNum" sz="quarter" idx="4"/>
          </p:nvPr>
        </p:nvSpPr>
        <p:spPr/>
        <p:txBody>
          <a:bodyPr/>
          <a:lstStyle/>
          <a:p>
            <a:r>
              <a:rPr lang="en-US" altLang="zh-CN"/>
              <a:t>&lt; </a:t>
            </a:r>
            <a:fld id="{A548B57D-AE10-4CF7-A9DF-59FEFA91B28E}" type="slidenum">
              <a:rPr lang="zh-CN" altLang="en-US" smtClean="0"/>
              <a:pPr/>
              <a:t>7</a:t>
            </a:fld>
            <a:r>
              <a:rPr lang="zh-CN" altLang="en-US"/>
              <a:t> </a:t>
            </a:r>
            <a:r>
              <a:rPr lang="en-US" altLang="zh-CN"/>
              <a:t>&gt;</a:t>
            </a:r>
            <a:endParaRPr lang="zh-CN" altLang="en-US" dirty="0"/>
          </a:p>
        </p:txBody>
      </p:sp>
      <p:sp>
        <p:nvSpPr>
          <p:cNvPr id="5" name="文本框 4">
            <a:extLst>
              <a:ext uri="{FF2B5EF4-FFF2-40B4-BE49-F238E27FC236}">
                <a16:creationId xmlns:a16="http://schemas.microsoft.com/office/drawing/2014/main" id="{7C35A796-F28E-6C5D-6ECB-622A8DE22592}"/>
              </a:ext>
            </a:extLst>
          </p:cNvPr>
          <p:cNvSpPr txBox="1"/>
          <p:nvPr/>
        </p:nvSpPr>
        <p:spPr>
          <a:xfrm>
            <a:off x="604322" y="1536174"/>
            <a:ext cx="10724412" cy="3785652"/>
          </a:xfrm>
          <a:prstGeom prst="rect">
            <a:avLst/>
          </a:prstGeom>
          <a:noFill/>
        </p:spPr>
        <p:txBody>
          <a:bodyPr wrap="square">
            <a:spAutoFit/>
          </a:bodyPr>
          <a:lstStyle/>
          <a:p>
            <a:pPr indent="304800" algn="just"/>
            <a:endParaRPr lang="zh-CN" altLang="zh-CN" sz="2400" b="1" kern="100" dirty="0">
              <a:effectLst/>
              <a:latin typeface="+mn-ea"/>
              <a:cs typeface="Times New Roman" panose="02020603050405020304" pitchFamily="18" charset="0"/>
            </a:endParaRPr>
          </a:p>
          <a:p>
            <a:pPr lvl="0" algn="just"/>
            <a:r>
              <a:rPr lang="en-US" altLang="zh-CN" sz="2400" kern="100" dirty="0">
                <a:solidFill>
                  <a:srgbClr val="9A0001"/>
                </a:solidFill>
                <a:latin typeface="+mn-ea"/>
                <a:cs typeface="Times New Roman" panose="02020603050405020304" pitchFamily="18" charset="0"/>
              </a:rPr>
              <a:t>1</a:t>
            </a:r>
            <a:r>
              <a:rPr lang="en-US" altLang="zh-CN" sz="2400" kern="100" dirty="0">
                <a:solidFill>
                  <a:srgbClr val="9A0001"/>
                </a:solidFill>
                <a:effectLst/>
                <a:latin typeface="+mn-ea"/>
                <a:cs typeface="Times New Roman" panose="02020603050405020304" pitchFamily="18" charset="0"/>
              </a:rPr>
              <a:t>.</a:t>
            </a:r>
            <a:r>
              <a:rPr lang="zh-CN" altLang="en-US" sz="2400" kern="100" dirty="0">
                <a:solidFill>
                  <a:srgbClr val="9A0001"/>
                </a:solidFill>
                <a:effectLst/>
                <a:latin typeface="+mn-ea"/>
                <a:cs typeface="Times New Roman" panose="02020603050405020304" pitchFamily="18" charset="0"/>
              </a:rPr>
              <a:t>   </a:t>
            </a:r>
            <a:r>
              <a:rPr lang="zh-CN" altLang="zh-CN" sz="2400" kern="100" dirty="0">
                <a:solidFill>
                  <a:srgbClr val="9A0001"/>
                </a:solidFill>
                <a:effectLst/>
                <a:latin typeface="+mn-ea"/>
                <a:cs typeface="Times New Roman" panose="02020603050405020304" pitchFamily="18" charset="0"/>
              </a:rPr>
              <a:t>进程和程序的联系</a:t>
            </a:r>
          </a:p>
          <a:p>
            <a:pPr indent="304800" algn="just"/>
            <a:r>
              <a:rPr lang="zh-CN" altLang="zh-CN" sz="2400" kern="100" dirty="0">
                <a:effectLst/>
                <a:latin typeface="+mn-ea"/>
                <a:cs typeface="Times New Roman" panose="02020603050405020304" pitchFamily="18" charset="0"/>
              </a:rPr>
              <a:t>程序是构成进程的组成部分之一</a:t>
            </a:r>
            <a:endParaRPr lang="en-US" altLang="zh-CN" sz="2400" kern="100" dirty="0">
              <a:effectLst/>
              <a:latin typeface="+mn-ea"/>
              <a:cs typeface="Times New Roman" panose="02020603050405020304" pitchFamily="18" charset="0"/>
            </a:endParaRPr>
          </a:p>
          <a:p>
            <a:pPr indent="304800" algn="just"/>
            <a:r>
              <a:rPr lang="zh-CN" altLang="zh-CN" sz="2400" kern="100" dirty="0">
                <a:effectLst/>
                <a:latin typeface="+mn-ea"/>
                <a:cs typeface="Times New Roman" panose="02020603050405020304" pitchFamily="18" charset="0"/>
              </a:rPr>
              <a:t>进程是由程序、数据和进程控制块（</a:t>
            </a:r>
            <a:r>
              <a:rPr lang="en-US" altLang="zh-CN" sz="2400" kern="100" dirty="0">
                <a:effectLst/>
                <a:latin typeface="+mn-ea"/>
                <a:cs typeface="Times New Roman" panose="02020603050405020304" pitchFamily="18" charset="0"/>
              </a:rPr>
              <a:t>PCB</a:t>
            </a:r>
            <a:r>
              <a:rPr lang="zh-CN" altLang="zh-CN" sz="2400" kern="100" dirty="0">
                <a:effectLst/>
                <a:latin typeface="+mn-ea"/>
                <a:cs typeface="Times New Roman" panose="02020603050405020304" pitchFamily="18" charset="0"/>
              </a:rPr>
              <a:t>）三部分组成的</a:t>
            </a:r>
          </a:p>
          <a:p>
            <a:pPr indent="304800" algn="just"/>
            <a:r>
              <a:rPr lang="zh-CN" altLang="zh-CN" sz="2400" kern="100" dirty="0">
                <a:effectLst/>
                <a:latin typeface="+mn-ea"/>
                <a:cs typeface="Times New Roman" panose="02020603050405020304" pitchFamily="18" charset="0"/>
              </a:rPr>
              <a:t>一个进程的运行目标是执行它所对应的程序</a:t>
            </a:r>
            <a:endParaRPr lang="en-US" altLang="zh-CN" sz="2400" kern="100" dirty="0">
              <a:effectLst/>
              <a:latin typeface="+mn-ea"/>
              <a:cs typeface="Times New Roman" panose="02020603050405020304" pitchFamily="18" charset="0"/>
            </a:endParaRPr>
          </a:p>
          <a:p>
            <a:pPr lvl="0" algn="just"/>
            <a:endParaRPr lang="en-US" altLang="zh-CN" sz="2400" kern="100" dirty="0">
              <a:solidFill>
                <a:srgbClr val="9A0001"/>
              </a:solidFill>
              <a:latin typeface="+mn-ea"/>
              <a:cs typeface="Times New Roman" panose="02020603050405020304" pitchFamily="18" charset="0"/>
            </a:endParaRPr>
          </a:p>
          <a:p>
            <a:pPr lvl="0" algn="just"/>
            <a:r>
              <a:rPr lang="en-US" altLang="zh-CN" sz="2400" kern="100" dirty="0">
                <a:solidFill>
                  <a:srgbClr val="9A0001"/>
                </a:solidFill>
                <a:latin typeface="+mn-ea"/>
                <a:cs typeface="Times New Roman" panose="02020603050405020304" pitchFamily="18" charset="0"/>
              </a:rPr>
              <a:t>2</a:t>
            </a:r>
            <a:r>
              <a:rPr lang="en-US" altLang="zh-CN" sz="2400" kern="100" dirty="0">
                <a:solidFill>
                  <a:srgbClr val="9A0001"/>
                </a:solidFill>
                <a:effectLst/>
                <a:latin typeface="+mn-ea"/>
                <a:cs typeface="Times New Roman" panose="02020603050405020304" pitchFamily="18" charset="0"/>
              </a:rPr>
              <a:t>.</a:t>
            </a:r>
            <a:r>
              <a:rPr lang="zh-CN" altLang="en-US" sz="2400" kern="100" dirty="0">
                <a:solidFill>
                  <a:srgbClr val="9A0001"/>
                </a:solidFill>
                <a:effectLst/>
                <a:latin typeface="+mn-ea"/>
                <a:cs typeface="Times New Roman" panose="02020603050405020304" pitchFamily="18" charset="0"/>
              </a:rPr>
              <a:t>   </a:t>
            </a:r>
            <a:r>
              <a:rPr lang="zh-CN" altLang="zh-CN" sz="2400" kern="100" dirty="0">
                <a:solidFill>
                  <a:srgbClr val="9A0001"/>
                </a:solidFill>
                <a:effectLst/>
                <a:latin typeface="+mn-ea"/>
                <a:cs typeface="Times New Roman" panose="02020603050405020304" pitchFamily="18" charset="0"/>
              </a:rPr>
              <a:t>进程和程序的区别</a:t>
            </a:r>
          </a:p>
          <a:p>
            <a:pPr indent="304800" algn="just"/>
            <a:r>
              <a:rPr lang="zh-CN" altLang="zh-CN" sz="2400" kern="100" dirty="0">
                <a:effectLst/>
                <a:latin typeface="+mn-ea"/>
                <a:cs typeface="Times New Roman" panose="02020603050405020304" pitchFamily="18" charset="0"/>
              </a:rPr>
              <a:t>程序是静态的，而进程是动态的</a:t>
            </a:r>
            <a:endParaRPr lang="en-US" altLang="zh-CN" sz="2400" kern="100" dirty="0">
              <a:effectLst/>
              <a:latin typeface="+mn-ea"/>
              <a:cs typeface="Times New Roman" panose="02020603050405020304" pitchFamily="18" charset="0"/>
            </a:endParaRPr>
          </a:p>
          <a:p>
            <a:pPr indent="304800" algn="just"/>
            <a:r>
              <a:rPr lang="zh-CN" altLang="zh-CN" sz="2400" kern="100" dirty="0">
                <a:effectLst/>
                <a:latin typeface="+mn-ea"/>
                <a:cs typeface="Times New Roman" panose="02020603050405020304" pitchFamily="18" charset="0"/>
              </a:rPr>
              <a:t>进程是程序的一个执行过程</a:t>
            </a:r>
            <a:endParaRPr lang="en-US" altLang="zh-CN" sz="2400" kern="100" dirty="0">
              <a:effectLst/>
              <a:latin typeface="+mn-ea"/>
              <a:cs typeface="Times New Roman" panose="02020603050405020304" pitchFamily="18" charset="0"/>
            </a:endParaRPr>
          </a:p>
          <a:p>
            <a:pPr indent="304800" algn="just"/>
            <a:r>
              <a:rPr lang="zh-CN" altLang="zh-CN" sz="2400" kern="100" dirty="0">
                <a:effectLst/>
                <a:latin typeface="+mn-ea"/>
                <a:cs typeface="Times New Roman" panose="02020603050405020304" pitchFamily="18" charset="0"/>
              </a:rPr>
              <a:t>程序的存在是永久的</a:t>
            </a:r>
            <a:r>
              <a:rPr lang="zh-CN" altLang="en-US" sz="2400" kern="100" dirty="0">
                <a:latin typeface="+mn-ea"/>
                <a:cs typeface="Times New Roman" panose="02020603050405020304" pitchFamily="18" charset="0"/>
              </a:rPr>
              <a:t>，</a:t>
            </a:r>
            <a:r>
              <a:rPr lang="zh-CN" altLang="zh-CN" sz="2400" kern="100" dirty="0">
                <a:effectLst/>
                <a:latin typeface="+mn-ea"/>
                <a:cs typeface="Times New Roman" panose="02020603050405020304" pitchFamily="18" charset="0"/>
              </a:rPr>
              <a:t>进程</a:t>
            </a:r>
            <a:r>
              <a:rPr lang="zh-CN" altLang="en-US" sz="2400" kern="100" dirty="0">
                <a:latin typeface="+mn-ea"/>
                <a:cs typeface="Times New Roman" panose="02020603050405020304" pitchFamily="18" charset="0"/>
              </a:rPr>
              <a:t>存在</a:t>
            </a:r>
            <a:r>
              <a:rPr lang="zh-CN" altLang="zh-CN" sz="2400" kern="100" dirty="0">
                <a:effectLst/>
                <a:latin typeface="+mn-ea"/>
                <a:cs typeface="Times New Roman" panose="02020603050405020304" pitchFamily="18" charset="0"/>
              </a:rPr>
              <a:t>生命周期</a:t>
            </a:r>
            <a:r>
              <a:rPr lang="zh-CN" altLang="en-US" sz="2400" kern="100" dirty="0">
                <a:effectLst/>
                <a:latin typeface="+mn-ea"/>
                <a:cs typeface="Times New Roman" panose="02020603050405020304" pitchFamily="18" charset="0"/>
              </a:rPr>
              <a:t>，</a:t>
            </a:r>
            <a:r>
              <a:rPr lang="zh-CN" altLang="zh-CN" sz="2400" kern="100" dirty="0">
                <a:effectLst/>
                <a:latin typeface="+mn-ea"/>
                <a:cs typeface="Times New Roman" panose="02020603050405020304" pitchFamily="18" charset="0"/>
              </a:rPr>
              <a:t>一个程序可以产生多个进程</a:t>
            </a:r>
          </a:p>
        </p:txBody>
      </p:sp>
      <p:sp>
        <p:nvSpPr>
          <p:cNvPr id="6" name="标题 1">
            <a:extLst>
              <a:ext uri="{FF2B5EF4-FFF2-40B4-BE49-F238E27FC236}">
                <a16:creationId xmlns:a16="http://schemas.microsoft.com/office/drawing/2014/main" id="{6B0754E4-48AE-2823-1C3F-6E9A5520ECCE}"/>
              </a:ext>
            </a:extLst>
          </p:cNvPr>
          <p:cNvSpPr txBox="1">
            <a:spLocks/>
          </p:cNvSpPr>
          <p:nvPr/>
        </p:nvSpPr>
        <p:spPr>
          <a:xfrm>
            <a:off x="442913" y="1088591"/>
            <a:ext cx="9056851" cy="617518"/>
          </a:xfrm>
          <a:prstGeom prst="rect">
            <a:avLst/>
          </a:prstGeom>
        </p:spPr>
        <p:txBody>
          <a:bodyPr vert="horz" lIns="91440" tIns="45720" rIns="91440" bIns="45720" rtlCol="0" anchor="ctr">
            <a:normAutofit/>
          </a:bodyPr>
          <a:lstStyle>
            <a:lvl1pPr>
              <a:lnSpc>
                <a:spcPct val="90000"/>
              </a:lnSpc>
              <a:spcBef>
                <a:spcPct val="0"/>
              </a:spcBef>
              <a:buNone/>
              <a:defRPr lang="zh-CN" altLang="en-US" sz="2400" b="1" kern="100" baseline="0" dirty="0">
                <a:solidFill>
                  <a:schemeClr val="accent1"/>
                </a:solidFill>
                <a:effectLst/>
                <a:latin typeface="Times New Roman" panose="02020603050405020304" pitchFamily="18" charset="0"/>
                <a:ea typeface="宋体" panose="02010600030101010101" pitchFamily="2" charset="-122"/>
                <a:cs typeface="Times New Roman" panose="02020603050405020304" pitchFamily="18" charset="0"/>
              </a:defRPr>
            </a:lvl1pPr>
          </a:lstStyle>
          <a:p>
            <a:r>
              <a:rPr lang="zh-CN" altLang="en-US" dirty="0">
                <a:latin typeface="微软雅黑" panose="020B0503020204020204" pitchFamily="34" charset="-122"/>
                <a:ea typeface="微软雅黑" panose="020B0503020204020204" pitchFamily="34" charset="-122"/>
              </a:rPr>
              <a:t>进程与程序的联系和区别</a:t>
            </a:r>
          </a:p>
        </p:txBody>
      </p:sp>
    </p:spTree>
    <p:extLst>
      <p:ext uri="{BB962C8B-B14F-4D97-AF65-F5344CB8AC3E}">
        <p14:creationId xmlns:p14="http://schemas.microsoft.com/office/powerpoint/2010/main" val="129335798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9A105ED-D6C9-F9D3-7195-F2970E550AE7}"/>
              </a:ext>
            </a:extLst>
          </p:cNvPr>
          <p:cNvSpPr>
            <a:spLocks noGrp="1"/>
          </p:cNvSpPr>
          <p:nvPr>
            <p:ph type="title"/>
          </p:nvPr>
        </p:nvSpPr>
        <p:spPr>
          <a:xfrm>
            <a:off x="511829" y="1514130"/>
            <a:ext cx="9056851" cy="617518"/>
          </a:xfrm>
        </p:spPr>
        <p:txBody>
          <a:bodyPr>
            <a:normAutofit/>
          </a:bodyPr>
          <a:lstStyle/>
          <a:p>
            <a:r>
              <a:rPr lang="zh-CN" altLang="zh-CN" sz="2400" kern="100" dirty="0">
                <a:effectLst/>
                <a:latin typeface="微软雅黑" panose="020B0503020204020204" pitchFamily="34" charset="-122"/>
                <a:cs typeface="Times New Roman" panose="02020603050405020304" pitchFamily="18" charset="0"/>
              </a:rPr>
              <a:t>可再入程序</a:t>
            </a:r>
            <a:endParaRPr kumimoji="1" lang="zh-CN" altLang="en-US" dirty="0">
              <a:latin typeface="微软雅黑" panose="020B0503020204020204" pitchFamily="34" charset="-122"/>
            </a:endParaRPr>
          </a:p>
        </p:txBody>
      </p:sp>
      <p:sp>
        <p:nvSpPr>
          <p:cNvPr id="3" name="灯片编号占位符 2">
            <a:extLst>
              <a:ext uri="{FF2B5EF4-FFF2-40B4-BE49-F238E27FC236}">
                <a16:creationId xmlns:a16="http://schemas.microsoft.com/office/drawing/2014/main" id="{03B7072C-C594-585C-3DBA-26277D24CA98}"/>
              </a:ext>
            </a:extLst>
          </p:cNvPr>
          <p:cNvSpPr>
            <a:spLocks noGrp="1"/>
          </p:cNvSpPr>
          <p:nvPr>
            <p:ph type="sldNum" sz="quarter" idx="4"/>
          </p:nvPr>
        </p:nvSpPr>
        <p:spPr/>
        <p:txBody>
          <a:bodyPr/>
          <a:lstStyle/>
          <a:p>
            <a:r>
              <a:rPr lang="en-US" altLang="zh-CN"/>
              <a:t>&lt; </a:t>
            </a:r>
            <a:fld id="{A548B57D-AE10-4CF7-A9DF-59FEFA91B28E}" type="slidenum">
              <a:rPr lang="zh-CN" altLang="en-US" smtClean="0"/>
              <a:pPr/>
              <a:t>8</a:t>
            </a:fld>
            <a:r>
              <a:rPr lang="zh-CN" altLang="en-US"/>
              <a:t> </a:t>
            </a:r>
            <a:r>
              <a:rPr lang="en-US" altLang="zh-CN"/>
              <a:t>&gt;</a:t>
            </a:r>
            <a:endParaRPr lang="zh-CN" altLang="en-US" dirty="0"/>
          </a:p>
        </p:txBody>
      </p:sp>
      <p:sp>
        <p:nvSpPr>
          <p:cNvPr id="6" name="文本框 5">
            <a:extLst>
              <a:ext uri="{FF2B5EF4-FFF2-40B4-BE49-F238E27FC236}">
                <a16:creationId xmlns:a16="http://schemas.microsoft.com/office/drawing/2014/main" id="{F1A74A87-EAFC-182A-A045-892821CFA100}"/>
              </a:ext>
            </a:extLst>
          </p:cNvPr>
          <p:cNvSpPr txBox="1"/>
          <p:nvPr/>
        </p:nvSpPr>
        <p:spPr>
          <a:xfrm>
            <a:off x="925606" y="2784692"/>
            <a:ext cx="10340788" cy="1938992"/>
          </a:xfrm>
          <a:prstGeom prst="rect">
            <a:avLst/>
          </a:prstGeom>
          <a:noFill/>
        </p:spPr>
        <p:txBody>
          <a:bodyPr wrap="square">
            <a:spAutoFit/>
          </a:bodyPr>
          <a:lstStyle/>
          <a:p>
            <a:pPr indent="304800" algn="just"/>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一个能够被多个用户同时调用的程序称作是“可再入”的程序</a:t>
            </a:r>
            <a:endParaRPr lang="en-US"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可再入程序在执行中不会修改自身的代码</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一个程序不是任何条件下都可以产生多个进程的</a:t>
            </a:r>
            <a:endPar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一个能被多个用户同时调用的程序，在执行中自身不能改变</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8" name="标题 1">
            <a:extLst>
              <a:ext uri="{FF2B5EF4-FFF2-40B4-BE49-F238E27FC236}">
                <a16:creationId xmlns:a16="http://schemas.microsoft.com/office/drawing/2014/main" id="{382DB666-BC0D-5CB6-61DE-615ED36EDF2F}"/>
              </a:ext>
            </a:extLst>
          </p:cNvPr>
          <p:cNvSpPr txBox="1">
            <a:spLocks/>
          </p:cNvSpPr>
          <p:nvPr/>
        </p:nvSpPr>
        <p:spPr>
          <a:xfrm>
            <a:off x="442913" y="243569"/>
            <a:ext cx="9056851" cy="617518"/>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kumimoji="1" lang="en-US" altLang="zh-CN" dirty="0"/>
              <a:t>3.1.1</a:t>
            </a:r>
            <a:r>
              <a:rPr kumimoji="1" lang="zh-CN" altLang="en-US" dirty="0"/>
              <a:t>   进程定义</a:t>
            </a:r>
          </a:p>
        </p:txBody>
      </p:sp>
    </p:spTree>
    <p:extLst>
      <p:ext uri="{BB962C8B-B14F-4D97-AF65-F5344CB8AC3E}">
        <p14:creationId xmlns:p14="http://schemas.microsoft.com/office/powerpoint/2010/main" val="216545942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FF418DC-1B7B-86F0-CF13-ABFAF869D507}"/>
              </a:ext>
            </a:extLst>
          </p:cNvPr>
          <p:cNvSpPr>
            <a:spLocks noGrp="1"/>
          </p:cNvSpPr>
          <p:nvPr>
            <p:ph type="title"/>
          </p:nvPr>
        </p:nvSpPr>
        <p:spPr>
          <a:xfrm>
            <a:off x="510709" y="1142290"/>
            <a:ext cx="9056851" cy="617518"/>
          </a:xfrm>
        </p:spPr>
        <p:txBody>
          <a:bodyPr>
            <a:normAutofit/>
          </a:bodyPr>
          <a:lstStyle/>
          <a:p>
            <a:r>
              <a:rPr lang="zh-CN" altLang="zh-CN" sz="2400" kern="100" dirty="0">
                <a:effectLst/>
                <a:latin typeface="微软雅黑" panose="020B0503020204020204" pitchFamily="34" charset="-122"/>
                <a:cs typeface="Times New Roman" panose="02020603050405020304" pitchFamily="18" charset="0"/>
              </a:rPr>
              <a:t>进程的特征</a:t>
            </a:r>
            <a:endParaRPr kumimoji="1" lang="zh-CN" altLang="en-US" dirty="0">
              <a:latin typeface="微软雅黑" panose="020B0503020204020204" pitchFamily="34" charset="-122"/>
            </a:endParaRPr>
          </a:p>
        </p:txBody>
      </p:sp>
      <p:sp>
        <p:nvSpPr>
          <p:cNvPr id="3" name="灯片编号占位符 2">
            <a:extLst>
              <a:ext uri="{FF2B5EF4-FFF2-40B4-BE49-F238E27FC236}">
                <a16:creationId xmlns:a16="http://schemas.microsoft.com/office/drawing/2014/main" id="{554DAE23-910D-0914-70BF-FEBAA5819212}"/>
              </a:ext>
            </a:extLst>
          </p:cNvPr>
          <p:cNvSpPr>
            <a:spLocks noGrp="1"/>
          </p:cNvSpPr>
          <p:nvPr>
            <p:ph type="sldNum" sz="quarter" idx="4"/>
          </p:nvPr>
        </p:nvSpPr>
        <p:spPr/>
        <p:txBody>
          <a:bodyPr/>
          <a:lstStyle/>
          <a:p>
            <a:r>
              <a:rPr lang="en-US" altLang="zh-CN"/>
              <a:t>&lt; </a:t>
            </a:r>
            <a:fld id="{A548B57D-AE10-4CF7-A9DF-59FEFA91B28E}" type="slidenum">
              <a:rPr lang="zh-CN" altLang="en-US" smtClean="0"/>
              <a:pPr/>
              <a:t>9</a:t>
            </a:fld>
            <a:r>
              <a:rPr lang="zh-CN" altLang="en-US"/>
              <a:t> </a:t>
            </a:r>
            <a:r>
              <a:rPr lang="en-US" altLang="zh-CN"/>
              <a:t>&gt;</a:t>
            </a:r>
            <a:endParaRPr lang="zh-CN" altLang="en-US" dirty="0"/>
          </a:p>
        </p:txBody>
      </p:sp>
      <p:sp>
        <p:nvSpPr>
          <p:cNvPr id="6" name="文本框 5">
            <a:extLst>
              <a:ext uri="{FF2B5EF4-FFF2-40B4-BE49-F238E27FC236}">
                <a16:creationId xmlns:a16="http://schemas.microsoft.com/office/drawing/2014/main" id="{404CE953-19F3-C512-EEF1-C0DC4F8CB62F}"/>
              </a:ext>
            </a:extLst>
          </p:cNvPr>
          <p:cNvSpPr txBox="1"/>
          <p:nvPr/>
        </p:nvSpPr>
        <p:spPr>
          <a:xfrm>
            <a:off x="442913" y="1987746"/>
            <a:ext cx="11425141" cy="4154984"/>
          </a:xfrm>
          <a:prstGeom prst="rect">
            <a:avLst/>
          </a:prstGeom>
          <a:noFill/>
        </p:spPr>
        <p:txBody>
          <a:bodyPr wrap="square">
            <a:spAutoFit/>
          </a:bodyPr>
          <a:lstStyle/>
          <a:p>
            <a:pPr indent="304800" algn="just"/>
            <a:r>
              <a:rPr lang="zh-CN" altLang="zh-CN" sz="2400" kern="100" dirty="0">
                <a:effectLst/>
                <a:latin typeface="+mn-ea"/>
                <a:cs typeface="Times New Roman" panose="02020603050405020304" pitchFamily="18" charset="0"/>
              </a:rPr>
              <a:t>进程</a:t>
            </a:r>
            <a:r>
              <a:rPr lang="zh-CN" altLang="en-US" sz="2400" kern="100" dirty="0">
                <a:latin typeface="+mn-ea"/>
                <a:cs typeface="Times New Roman" panose="02020603050405020304" pitchFamily="18" charset="0"/>
              </a:rPr>
              <a:t>的</a:t>
            </a:r>
            <a:r>
              <a:rPr lang="zh-CN" altLang="zh-CN" sz="2400" kern="100" dirty="0">
                <a:effectLst/>
                <a:latin typeface="+mn-ea"/>
                <a:cs typeface="Times New Roman" panose="02020603050405020304" pitchFamily="18" charset="0"/>
              </a:rPr>
              <a:t>两个基本属性</a:t>
            </a:r>
            <a:r>
              <a:rPr lang="zh-CN" altLang="en-US" sz="2400" kern="100" dirty="0">
                <a:effectLst/>
                <a:latin typeface="+mn-ea"/>
                <a:cs typeface="Times New Roman" panose="02020603050405020304" pitchFamily="18" charset="0"/>
              </a:rPr>
              <a:t>：</a:t>
            </a:r>
            <a:endParaRPr lang="en-US" altLang="zh-CN" sz="2400" kern="100" dirty="0">
              <a:effectLst/>
              <a:latin typeface="+mn-ea"/>
              <a:cs typeface="Times New Roman" panose="02020603050405020304" pitchFamily="18" charset="0"/>
            </a:endParaRPr>
          </a:p>
          <a:p>
            <a:pPr indent="304800" algn="just"/>
            <a:r>
              <a:rPr lang="zh-CN" altLang="zh-CN" sz="2400" kern="100" dirty="0">
                <a:effectLst/>
                <a:latin typeface="+mn-ea"/>
                <a:cs typeface="Times New Roman" panose="02020603050405020304" pitchFamily="18" charset="0"/>
              </a:rPr>
              <a:t>进程是一个可</a:t>
            </a:r>
            <a:r>
              <a:rPr lang="zh-CN" altLang="zh-CN" sz="2400" kern="100" dirty="0">
                <a:solidFill>
                  <a:srgbClr val="9A0001"/>
                </a:solidFill>
                <a:effectLst/>
                <a:latin typeface="+mn-ea"/>
                <a:cs typeface="Times New Roman" panose="02020603050405020304" pitchFamily="18" charset="0"/>
              </a:rPr>
              <a:t>拥有资源</a:t>
            </a:r>
            <a:r>
              <a:rPr lang="zh-CN" altLang="zh-CN" sz="2400" kern="100" dirty="0">
                <a:effectLst/>
                <a:latin typeface="+mn-ea"/>
                <a:cs typeface="Times New Roman" panose="02020603050405020304" pitchFamily="18" charset="0"/>
              </a:rPr>
              <a:t>的独立单位</a:t>
            </a:r>
            <a:endParaRPr lang="en-US" altLang="zh-CN" sz="2400" kern="100" dirty="0">
              <a:latin typeface="+mn-ea"/>
              <a:cs typeface="Times New Roman" panose="02020603050405020304" pitchFamily="18" charset="0"/>
            </a:endParaRPr>
          </a:p>
          <a:p>
            <a:pPr indent="304800" algn="just"/>
            <a:r>
              <a:rPr lang="zh-CN" altLang="zh-CN" sz="2400" kern="100" dirty="0">
                <a:effectLst/>
                <a:latin typeface="+mn-ea"/>
                <a:cs typeface="Times New Roman" panose="02020603050405020304" pitchFamily="18" charset="0"/>
              </a:rPr>
              <a:t>进程同时又是一个可以</a:t>
            </a:r>
            <a:r>
              <a:rPr lang="zh-CN" altLang="zh-CN" sz="2400" kern="100" dirty="0">
                <a:solidFill>
                  <a:srgbClr val="9A0001"/>
                </a:solidFill>
                <a:effectLst/>
                <a:latin typeface="+mn-ea"/>
                <a:cs typeface="Times New Roman" panose="02020603050405020304" pitchFamily="18" charset="0"/>
              </a:rPr>
              <a:t>独立调度和分派</a:t>
            </a:r>
            <a:r>
              <a:rPr lang="zh-CN" altLang="zh-CN" sz="2400" kern="100" dirty="0">
                <a:effectLst/>
                <a:latin typeface="+mn-ea"/>
                <a:cs typeface="Times New Roman" panose="02020603050405020304" pitchFamily="18" charset="0"/>
              </a:rPr>
              <a:t>的基本单位</a:t>
            </a:r>
          </a:p>
          <a:p>
            <a:pPr indent="304800" algn="just"/>
            <a:endParaRPr lang="en-US" altLang="zh-CN" sz="2400" kern="100" dirty="0">
              <a:solidFill>
                <a:srgbClr val="9A0001"/>
              </a:solidFill>
              <a:effectLst/>
              <a:latin typeface="+mn-ea"/>
              <a:cs typeface="Times New Roman" panose="02020603050405020304" pitchFamily="18" charset="0"/>
            </a:endParaRPr>
          </a:p>
          <a:p>
            <a:pPr indent="304800" algn="just"/>
            <a:r>
              <a:rPr lang="zh-CN" altLang="zh-CN" sz="2400" kern="100" dirty="0">
                <a:solidFill>
                  <a:srgbClr val="9A0001"/>
                </a:solidFill>
                <a:effectLst/>
                <a:latin typeface="+mn-ea"/>
                <a:cs typeface="Times New Roman" panose="02020603050405020304" pitchFamily="18" charset="0"/>
              </a:rPr>
              <a:t>进程具有以下特性：</a:t>
            </a:r>
          </a:p>
          <a:p>
            <a:pPr marL="342900" lvl="0" indent="-342900" algn="just">
              <a:buFont typeface="Times New Roman" panose="02020603050405020304" pitchFamily="18" charset="0"/>
              <a:buAutoNum type="arabicPeriod"/>
            </a:pPr>
            <a:r>
              <a:rPr lang="en-US" altLang="zh-CN" sz="2400" kern="100" dirty="0">
                <a:effectLst/>
                <a:latin typeface="+mn-ea"/>
                <a:cs typeface="Times New Roman" panose="02020603050405020304" pitchFamily="18" charset="0"/>
              </a:rPr>
              <a:t> </a:t>
            </a:r>
            <a:r>
              <a:rPr lang="zh-CN" altLang="zh-CN" sz="2400" kern="100" dirty="0">
                <a:effectLst/>
                <a:latin typeface="+mn-ea"/>
                <a:cs typeface="Times New Roman" panose="02020603050405020304" pitchFamily="18" charset="0"/>
              </a:rPr>
              <a:t>并发性</a:t>
            </a:r>
            <a:r>
              <a:rPr lang="zh-CN" altLang="en-US" sz="2400" kern="100" dirty="0">
                <a:effectLst/>
                <a:latin typeface="+mn-ea"/>
                <a:cs typeface="Times New Roman" panose="02020603050405020304" pitchFamily="18" charset="0"/>
              </a:rPr>
              <a:t>：</a:t>
            </a:r>
            <a:r>
              <a:rPr lang="zh-CN" altLang="zh-CN" sz="2400" kern="100" dirty="0">
                <a:effectLst/>
                <a:latin typeface="+mn-ea"/>
                <a:cs typeface="Times New Roman" panose="02020603050405020304" pitchFamily="18" charset="0"/>
              </a:rPr>
              <a:t>一个进程可以同其他进程一道向前推进</a:t>
            </a:r>
          </a:p>
          <a:p>
            <a:pPr lvl="0" algn="just"/>
            <a:r>
              <a:rPr lang="en-US" altLang="zh-CN" sz="2400" kern="100" dirty="0">
                <a:effectLst/>
                <a:latin typeface="+mn-ea"/>
                <a:cs typeface="Times New Roman" panose="02020603050405020304" pitchFamily="18" charset="0"/>
              </a:rPr>
              <a:t>2.  </a:t>
            </a:r>
            <a:r>
              <a:rPr lang="zh-CN" altLang="zh-CN" sz="2400" kern="100" dirty="0">
                <a:effectLst/>
                <a:latin typeface="+mn-ea"/>
                <a:cs typeface="Times New Roman" panose="02020603050405020304" pitchFamily="18" charset="0"/>
              </a:rPr>
              <a:t>动态性</a:t>
            </a:r>
            <a:r>
              <a:rPr lang="zh-CN" altLang="en-US" sz="2400" kern="100" dirty="0">
                <a:effectLst/>
                <a:latin typeface="+mn-ea"/>
                <a:cs typeface="Times New Roman" panose="02020603050405020304" pitchFamily="18" charset="0"/>
              </a:rPr>
              <a:t>：</a:t>
            </a:r>
            <a:r>
              <a:rPr lang="zh-CN" altLang="zh-CN" sz="2400" kern="100" dirty="0">
                <a:effectLst/>
                <a:latin typeface="+mn-ea"/>
                <a:cs typeface="Times New Roman" panose="02020603050405020304" pitchFamily="18" charset="0"/>
              </a:rPr>
              <a:t>进程有其生命周期</a:t>
            </a:r>
            <a:r>
              <a:rPr lang="zh-CN" altLang="en-US" sz="2400" kern="100" dirty="0">
                <a:effectLst/>
                <a:latin typeface="+mn-ea"/>
                <a:cs typeface="Times New Roman" panose="02020603050405020304" pitchFamily="18" charset="0"/>
              </a:rPr>
              <a:t>，且</a:t>
            </a:r>
            <a:r>
              <a:rPr lang="zh-CN" altLang="zh-CN" sz="2400" kern="100" dirty="0">
                <a:effectLst/>
                <a:latin typeface="+mn-ea"/>
                <a:cs typeface="Times New Roman" panose="02020603050405020304" pitchFamily="18" charset="0"/>
              </a:rPr>
              <a:t>进程的状态是不断变化的</a:t>
            </a:r>
          </a:p>
          <a:p>
            <a:pPr lvl="0" algn="just"/>
            <a:r>
              <a:rPr lang="en-US" altLang="zh-CN" sz="2400" kern="100" dirty="0">
                <a:effectLst/>
                <a:latin typeface="+mn-ea"/>
                <a:cs typeface="Times New Roman" panose="02020603050405020304" pitchFamily="18" charset="0"/>
              </a:rPr>
              <a:t>3.  </a:t>
            </a:r>
            <a:r>
              <a:rPr lang="zh-CN" altLang="zh-CN" sz="2400" kern="100" dirty="0">
                <a:effectLst/>
                <a:latin typeface="+mn-ea"/>
                <a:cs typeface="Times New Roman" panose="02020603050405020304" pitchFamily="18" charset="0"/>
              </a:rPr>
              <a:t>独立性</a:t>
            </a:r>
            <a:r>
              <a:rPr lang="zh-CN" altLang="en-US" sz="2400" kern="100" dirty="0">
                <a:effectLst/>
                <a:latin typeface="+mn-ea"/>
                <a:cs typeface="Times New Roman" panose="02020603050405020304" pitchFamily="18" charset="0"/>
              </a:rPr>
              <a:t>：</a:t>
            </a:r>
            <a:r>
              <a:rPr lang="zh-CN" altLang="zh-CN" sz="2400" kern="100" dirty="0">
                <a:effectLst/>
                <a:latin typeface="+mn-ea"/>
                <a:cs typeface="Times New Roman" panose="02020603050405020304" pitchFamily="18" charset="0"/>
              </a:rPr>
              <a:t>一个进程是一个相对完整的资源分配单位</a:t>
            </a:r>
            <a:endParaRPr lang="en-US" altLang="zh-CN" sz="2400" kern="100" dirty="0">
              <a:effectLst/>
              <a:latin typeface="+mn-ea"/>
              <a:cs typeface="Times New Roman" panose="02020603050405020304" pitchFamily="18" charset="0"/>
            </a:endParaRPr>
          </a:p>
          <a:p>
            <a:pPr lvl="0" algn="just"/>
            <a:r>
              <a:rPr lang="en-US" altLang="zh-CN" sz="2400" kern="100" dirty="0">
                <a:latin typeface="+mn-ea"/>
                <a:cs typeface="Times New Roman" panose="02020603050405020304" pitchFamily="18" charset="0"/>
              </a:rPr>
              <a:t>4.  </a:t>
            </a:r>
            <a:r>
              <a:rPr lang="zh-CN" altLang="zh-CN" sz="2400" kern="100" dirty="0">
                <a:effectLst/>
                <a:latin typeface="+mn-ea"/>
                <a:cs typeface="Times New Roman" panose="02020603050405020304" pitchFamily="18" charset="0"/>
              </a:rPr>
              <a:t>交往性</a:t>
            </a:r>
            <a:r>
              <a:rPr lang="zh-CN" altLang="en-US" sz="2400" kern="100" dirty="0">
                <a:latin typeface="+mn-ea"/>
                <a:cs typeface="Times New Roman" panose="02020603050405020304" pitchFamily="18" charset="0"/>
              </a:rPr>
              <a:t>：</a:t>
            </a:r>
            <a:r>
              <a:rPr lang="zh-CN" altLang="zh-CN" sz="2400" kern="100" dirty="0">
                <a:effectLst/>
                <a:latin typeface="+mn-ea"/>
                <a:cs typeface="Times New Roman" panose="02020603050405020304" pitchFamily="18" charset="0"/>
              </a:rPr>
              <a:t>一个进程在运行过程中可能会与其他进程发生直接的或间接的相互作用</a:t>
            </a:r>
          </a:p>
          <a:p>
            <a:pPr lvl="0" algn="just"/>
            <a:r>
              <a:rPr lang="en-US" altLang="zh-CN" sz="2400" kern="100" dirty="0">
                <a:effectLst/>
                <a:latin typeface="+mn-ea"/>
                <a:cs typeface="Times New Roman" panose="02020603050405020304" pitchFamily="18" charset="0"/>
              </a:rPr>
              <a:t>5.</a:t>
            </a:r>
            <a:r>
              <a:rPr lang="zh-CN" altLang="en-US" sz="2400" kern="100" dirty="0">
                <a:effectLst/>
                <a:latin typeface="+mn-ea"/>
                <a:cs typeface="Times New Roman" panose="02020603050405020304" pitchFamily="18" charset="0"/>
              </a:rPr>
              <a:t>  </a:t>
            </a:r>
            <a:r>
              <a:rPr lang="zh-CN" altLang="zh-CN" sz="2400" kern="100" dirty="0">
                <a:effectLst/>
                <a:latin typeface="+mn-ea"/>
                <a:cs typeface="Times New Roman" panose="02020603050405020304" pitchFamily="18" charset="0"/>
              </a:rPr>
              <a:t>异步性</a:t>
            </a:r>
            <a:r>
              <a:rPr lang="zh-CN" altLang="en-US" sz="2400" kern="100" dirty="0">
                <a:latin typeface="+mn-ea"/>
                <a:cs typeface="Times New Roman" panose="02020603050405020304" pitchFamily="18" charset="0"/>
              </a:rPr>
              <a:t>：</a:t>
            </a:r>
            <a:r>
              <a:rPr lang="zh-CN" altLang="zh-CN" sz="2400" kern="100" dirty="0">
                <a:effectLst/>
                <a:latin typeface="+mn-ea"/>
                <a:cs typeface="Times New Roman" panose="02020603050405020304" pitchFamily="18" charset="0"/>
              </a:rPr>
              <a:t>每个进程按照各自独立的、不可预知的速度向前推进</a:t>
            </a:r>
          </a:p>
          <a:p>
            <a:pPr lvl="0" algn="just"/>
            <a:r>
              <a:rPr lang="en-US" altLang="zh-CN" sz="2400" kern="100" dirty="0">
                <a:effectLst/>
                <a:latin typeface="+mn-ea"/>
                <a:cs typeface="Times New Roman" panose="02020603050405020304" pitchFamily="18" charset="0"/>
              </a:rPr>
              <a:t>6.</a:t>
            </a:r>
            <a:r>
              <a:rPr lang="zh-CN" altLang="en-US" sz="2400" kern="100" dirty="0">
                <a:effectLst/>
                <a:latin typeface="+mn-ea"/>
                <a:cs typeface="Times New Roman" panose="02020603050405020304" pitchFamily="18" charset="0"/>
              </a:rPr>
              <a:t>  </a:t>
            </a:r>
            <a:r>
              <a:rPr lang="zh-CN" altLang="zh-CN" sz="2400" kern="100" dirty="0">
                <a:effectLst/>
                <a:latin typeface="+mn-ea"/>
                <a:cs typeface="Times New Roman" panose="02020603050405020304" pitchFamily="18" charset="0"/>
              </a:rPr>
              <a:t>结构性</a:t>
            </a:r>
            <a:r>
              <a:rPr lang="zh-CN" altLang="en-US" sz="2400" kern="100" dirty="0">
                <a:latin typeface="+mn-ea"/>
                <a:cs typeface="Times New Roman" panose="02020603050405020304" pitchFamily="18" charset="0"/>
              </a:rPr>
              <a:t>：</a:t>
            </a:r>
            <a:r>
              <a:rPr lang="zh-CN" altLang="zh-CN" sz="2400" kern="100" dirty="0">
                <a:effectLst/>
                <a:latin typeface="+mn-ea"/>
                <a:cs typeface="Times New Roman" panose="02020603050405020304" pitchFamily="18" charset="0"/>
              </a:rPr>
              <a:t>一个进程由程序、数据和进程控制块三部分组成</a:t>
            </a:r>
          </a:p>
        </p:txBody>
      </p:sp>
      <p:sp>
        <p:nvSpPr>
          <p:cNvPr id="8" name="标题 1">
            <a:extLst>
              <a:ext uri="{FF2B5EF4-FFF2-40B4-BE49-F238E27FC236}">
                <a16:creationId xmlns:a16="http://schemas.microsoft.com/office/drawing/2014/main" id="{C542F17B-F9AE-0B3E-EC6A-0A644315E3A3}"/>
              </a:ext>
            </a:extLst>
          </p:cNvPr>
          <p:cNvSpPr txBox="1">
            <a:spLocks/>
          </p:cNvSpPr>
          <p:nvPr/>
        </p:nvSpPr>
        <p:spPr>
          <a:xfrm>
            <a:off x="442913" y="243569"/>
            <a:ext cx="9056851" cy="617518"/>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kumimoji="1" lang="en-US" altLang="zh-CN" dirty="0"/>
              <a:t>3.1.1</a:t>
            </a:r>
            <a:r>
              <a:rPr kumimoji="1" lang="zh-CN" altLang="en-US" dirty="0"/>
              <a:t>   进程定义</a:t>
            </a:r>
          </a:p>
        </p:txBody>
      </p:sp>
    </p:spTree>
    <p:extLst>
      <p:ext uri="{BB962C8B-B14F-4D97-AF65-F5344CB8AC3E}">
        <p14:creationId xmlns:p14="http://schemas.microsoft.com/office/powerpoint/2010/main" val="365768403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灯片编号占位符 2">
            <a:extLst>
              <a:ext uri="{FF2B5EF4-FFF2-40B4-BE49-F238E27FC236}">
                <a16:creationId xmlns:a16="http://schemas.microsoft.com/office/drawing/2014/main" id="{29192A5E-246E-B080-B928-DB1F26F10307}"/>
              </a:ext>
            </a:extLst>
          </p:cNvPr>
          <p:cNvSpPr>
            <a:spLocks noGrp="1"/>
          </p:cNvSpPr>
          <p:nvPr>
            <p:ph type="sldNum" sz="quarter" idx="4"/>
          </p:nvPr>
        </p:nvSpPr>
        <p:spPr/>
        <p:txBody>
          <a:bodyPr/>
          <a:lstStyle/>
          <a:p>
            <a:r>
              <a:rPr lang="en-US" altLang="zh-CN"/>
              <a:t>&lt; </a:t>
            </a:r>
            <a:fld id="{A548B57D-AE10-4CF7-A9DF-59FEFA91B28E}" type="slidenum">
              <a:rPr lang="zh-CN" altLang="en-US" smtClean="0"/>
              <a:pPr/>
              <a:t>10</a:t>
            </a:fld>
            <a:r>
              <a:rPr lang="zh-CN" altLang="en-US"/>
              <a:t> </a:t>
            </a:r>
            <a:r>
              <a:rPr lang="en-US" altLang="zh-CN"/>
              <a:t>&gt;</a:t>
            </a:r>
            <a:endParaRPr lang="zh-CN" altLang="en-US" dirty="0"/>
          </a:p>
        </p:txBody>
      </p:sp>
      <p:sp>
        <p:nvSpPr>
          <p:cNvPr id="6" name="标题 1">
            <a:extLst>
              <a:ext uri="{FF2B5EF4-FFF2-40B4-BE49-F238E27FC236}">
                <a16:creationId xmlns:a16="http://schemas.microsoft.com/office/drawing/2014/main" id="{57AE42AF-BBE4-0030-B37D-70767164217C}"/>
              </a:ext>
            </a:extLst>
          </p:cNvPr>
          <p:cNvSpPr txBox="1">
            <a:spLocks/>
          </p:cNvSpPr>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3.1.2  </a:t>
            </a:r>
            <a:r>
              <a:rPr lang="zh-CN" altLang="zh-CN" dirty="0"/>
              <a:t>进程状态及状态转换</a:t>
            </a:r>
          </a:p>
        </p:txBody>
      </p:sp>
      <p:sp>
        <p:nvSpPr>
          <p:cNvPr id="8" name="文本框 7">
            <a:extLst>
              <a:ext uri="{FF2B5EF4-FFF2-40B4-BE49-F238E27FC236}">
                <a16:creationId xmlns:a16="http://schemas.microsoft.com/office/drawing/2014/main" id="{DF87D6A2-2BAB-58E9-59B5-24354C22077F}"/>
              </a:ext>
            </a:extLst>
          </p:cNvPr>
          <p:cNvSpPr txBox="1"/>
          <p:nvPr/>
        </p:nvSpPr>
        <p:spPr>
          <a:xfrm>
            <a:off x="278650" y="797510"/>
            <a:ext cx="11298891" cy="5262979"/>
          </a:xfrm>
          <a:prstGeom prst="rect">
            <a:avLst/>
          </a:prstGeom>
          <a:noFill/>
        </p:spPr>
        <p:txBody>
          <a:bodyPr wrap="square">
            <a:spAutoFit/>
          </a:bodyPr>
          <a:lstStyle/>
          <a:p>
            <a:pPr indent="304800" algn="just"/>
            <a:r>
              <a:rPr lang="en-US" altLang="zh-CN" sz="2400" kern="100" dirty="0">
                <a:effectLst/>
                <a:latin typeface="+mn-ea"/>
                <a:cs typeface="Times New Roman" panose="02020603050405020304" pitchFamily="18" charset="0"/>
              </a:rPr>
              <a:t> </a:t>
            </a:r>
            <a:endParaRPr lang="zh-CN" altLang="zh-CN" sz="2400" kern="100" dirty="0">
              <a:effectLst/>
              <a:latin typeface="+mn-ea"/>
              <a:cs typeface="Times New Roman" panose="02020603050405020304" pitchFamily="18" charset="0"/>
            </a:endParaRPr>
          </a:p>
          <a:p>
            <a:pPr indent="304800" algn="just"/>
            <a:r>
              <a:rPr lang="en-US" altLang="zh-CN" sz="2400" kern="100" dirty="0">
                <a:solidFill>
                  <a:srgbClr val="9A0001"/>
                </a:solidFill>
                <a:effectLst/>
                <a:latin typeface="+mn-ea"/>
                <a:cs typeface="Times New Roman" panose="02020603050405020304" pitchFamily="18" charset="0"/>
              </a:rPr>
              <a:t>1</a:t>
            </a:r>
            <a:r>
              <a:rPr lang="zh-CN" altLang="zh-CN" sz="2400" kern="100" dirty="0">
                <a:solidFill>
                  <a:srgbClr val="9A0001"/>
                </a:solidFill>
                <a:effectLst/>
                <a:latin typeface="+mn-ea"/>
                <a:cs typeface="Times New Roman" panose="02020603050405020304" pitchFamily="18" charset="0"/>
              </a:rPr>
              <a:t>．三状态进程模型</a:t>
            </a:r>
          </a:p>
          <a:p>
            <a:pPr indent="304800" algn="just"/>
            <a:r>
              <a:rPr lang="zh-CN" altLang="zh-CN" sz="2400" kern="100" dirty="0">
                <a:effectLst/>
                <a:latin typeface="+mn-ea"/>
                <a:cs typeface="Times New Roman" panose="02020603050405020304" pitchFamily="18" charset="0"/>
              </a:rPr>
              <a:t>运行中的进程可以处于以下三种状态之一：</a:t>
            </a:r>
            <a:r>
              <a:rPr lang="zh-CN" altLang="zh-CN" sz="2400" b="1" kern="100" dirty="0">
                <a:solidFill>
                  <a:srgbClr val="9A0001"/>
                </a:solidFill>
                <a:effectLst/>
                <a:latin typeface="+mn-ea"/>
                <a:cs typeface="Times New Roman" panose="02020603050405020304" pitchFamily="18" charset="0"/>
              </a:rPr>
              <a:t>运行、就绪、等待</a:t>
            </a:r>
            <a:endParaRPr lang="zh-CN" altLang="zh-CN" sz="2400" kern="100" dirty="0">
              <a:solidFill>
                <a:srgbClr val="9A0001"/>
              </a:solidFill>
              <a:effectLst/>
              <a:latin typeface="+mn-ea"/>
              <a:cs typeface="Times New Roman" panose="02020603050405020304" pitchFamily="18" charset="0"/>
            </a:endParaRPr>
          </a:p>
          <a:p>
            <a:pPr indent="304800" algn="just"/>
            <a:endParaRPr lang="en-US" altLang="zh-CN" sz="2400" kern="100" dirty="0">
              <a:effectLst/>
              <a:latin typeface="+mn-ea"/>
              <a:cs typeface="Times New Roman" panose="02020603050405020304" pitchFamily="18" charset="0"/>
            </a:endParaRPr>
          </a:p>
          <a:p>
            <a:pPr indent="304800" algn="just"/>
            <a:r>
              <a:rPr lang="zh-CN" altLang="en-US" sz="2400" b="1" kern="100" dirty="0">
                <a:solidFill>
                  <a:schemeClr val="accent1"/>
                </a:solidFill>
                <a:latin typeface="+mn-ea"/>
                <a:cs typeface="Times New Roman" panose="02020603050405020304" pitchFamily="18" charset="0"/>
              </a:rPr>
              <a:t>三状态模型状态定义：</a:t>
            </a:r>
            <a:endParaRPr lang="en-US" altLang="zh-CN" sz="2400" b="1" kern="100" dirty="0">
              <a:solidFill>
                <a:schemeClr val="accent1"/>
              </a:solidFill>
              <a:latin typeface="+mn-ea"/>
              <a:cs typeface="Times New Roman" panose="02020603050405020304" pitchFamily="18" charset="0"/>
            </a:endParaRPr>
          </a:p>
          <a:p>
            <a:pPr indent="304800" algn="just"/>
            <a:endParaRPr lang="en-US" altLang="zh-CN" sz="2400" b="1" kern="100" dirty="0">
              <a:solidFill>
                <a:schemeClr val="accent1"/>
              </a:solidFill>
              <a:latin typeface="+mn-ea"/>
              <a:cs typeface="Times New Roman" panose="02020603050405020304" pitchFamily="18" charset="0"/>
            </a:endParaRPr>
          </a:p>
          <a:p>
            <a:pPr indent="304800" algn="just"/>
            <a:r>
              <a:rPr lang="zh-CN" altLang="zh-CN" sz="2400" kern="100" dirty="0">
                <a:effectLst/>
                <a:latin typeface="+mn-ea"/>
                <a:cs typeface="Times New Roman" panose="02020603050405020304" pitchFamily="18" charset="0"/>
              </a:rPr>
              <a:t>（</a:t>
            </a:r>
            <a:r>
              <a:rPr lang="en-US" altLang="zh-CN" sz="2400" kern="100" dirty="0">
                <a:effectLst/>
                <a:latin typeface="+mn-ea"/>
                <a:cs typeface="Times New Roman" panose="02020603050405020304" pitchFamily="18" charset="0"/>
              </a:rPr>
              <a:t>1</a:t>
            </a:r>
            <a:r>
              <a:rPr lang="zh-CN" altLang="zh-CN" sz="2400" kern="100" dirty="0">
                <a:effectLst/>
                <a:latin typeface="+mn-ea"/>
                <a:cs typeface="Times New Roman" panose="02020603050405020304" pitchFamily="18" charset="0"/>
              </a:rPr>
              <a:t>）</a:t>
            </a:r>
            <a:r>
              <a:rPr lang="zh-CN" altLang="zh-CN" sz="2400" b="1" kern="100" dirty="0">
                <a:solidFill>
                  <a:srgbClr val="00B050"/>
                </a:solidFill>
                <a:effectLst/>
                <a:latin typeface="+mn-ea"/>
                <a:cs typeface="Times New Roman" panose="02020603050405020304" pitchFamily="18" charset="0"/>
              </a:rPr>
              <a:t>运行状态（</a:t>
            </a:r>
            <a:r>
              <a:rPr lang="en-US" altLang="zh-CN" sz="2400" b="1" kern="100" dirty="0">
                <a:solidFill>
                  <a:srgbClr val="00B050"/>
                </a:solidFill>
                <a:effectLst/>
                <a:latin typeface="+mn-ea"/>
                <a:cs typeface="Times New Roman" panose="02020603050405020304" pitchFamily="18" charset="0"/>
              </a:rPr>
              <a:t>Running</a:t>
            </a:r>
            <a:r>
              <a:rPr lang="zh-CN" altLang="zh-CN" sz="2400" b="1" kern="100" dirty="0">
                <a:solidFill>
                  <a:srgbClr val="00B050"/>
                </a:solidFill>
                <a:effectLst/>
                <a:latin typeface="+mn-ea"/>
                <a:cs typeface="Times New Roman" panose="02020603050405020304" pitchFamily="18" charset="0"/>
              </a:rPr>
              <a:t>）</a:t>
            </a:r>
            <a:endParaRPr lang="en-US" altLang="zh-CN" sz="2400" b="1" kern="100" dirty="0">
              <a:solidFill>
                <a:srgbClr val="00B050"/>
              </a:solidFill>
              <a:effectLst/>
              <a:latin typeface="+mn-ea"/>
              <a:cs typeface="Times New Roman" panose="02020603050405020304" pitchFamily="18" charset="0"/>
            </a:endParaRPr>
          </a:p>
          <a:p>
            <a:pPr indent="304800" algn="just"/>
            <a:r>
              <a:rPr lang="en-US" altLang="zh-CN" sz="2400" kern="100" dirty="0">
                <a:latin typeface="+mn-ea"/>
                <a:cs typeface="Times New Roman" panose="02020603050405020304" pitchFamily="18" charset="0"/>
              </a:rPr>
              <a:t>	  </a:t>
            </a:r>
            <a:r>
              <a:rPr lang="zh-CN" altLang="zh-CN" sz="2400" kern="100" dirty="0">
                <a:effectLst/>
                <a:latin typeface="+mn-ea"/>
                <a:cs typeface="Times New Roman" panose="02020603050405020304" pitchFamily="18" charset="0"/>
              </a:rPr>
              <a:t>进程</a:t>
            </a:r>
            <a:r>
              <a:rPr lang="zh-CN" altLang="zh-CN" sz="2400" b="1" kern="100" dirty="0">
                <a:effectLst/>
                <a:latin typeface="+mn-ea"/>
                <a:cs typeface="Times New Roman" panose="02020603050405020304" pitchFamily="18" charset="0"/>
              </a:rPr>
              <a:t>已获得</a:t>
            </a:r>
            <a:r>
              <a:rPr lang="en-US" altLang="zh-CN" sz="2400" b="1" kern="100" dirty="0">
                <a:effectLst/>
                <a:latin typeface="+mn-ea"/>
                <a:cs typeface="Times New Roman" panose="02020603050405020304" pitchFamily="18" charset="0"/>
              </a:rPr>
              <a:t>CPU</a:t>
            </a:r>
            <a:r>
              <a:rPr lang="zh-CN" altLang="zh-CN" sz="2400" kern="100" dirty="0">
                <a:effectLst/>
                <a:latin typeface="+mn-ea"/>
                <a:cs typeface="Times New Roman" panose="02020603050405020304" pitchFamily="18" charset="0"/>
              </a:rPr>
              <a:t>，并且在</a:t>
            </a:r>
            <a:r>
              <a:rPr lang="en-US" altLang="zh-CN" sz="2400" kern="100" dirty="0">
                <a:effectLst/>
                <a:latin typeface="+mn-ea"/>
                <a:cs typeface="Times New Roman" panose="02020603050405020304" pitchFamily="18" charset="0"/>
              </a:rPr>
              <a:t>CPU</a:t>
            </a:r>
            <a:r>
              <a:rPr lang="zh-CN" altLang="zh-CN" sz="2400" kern="100" dirty="0">
                <a:effectLst/>
                <a:latin typeface="+mn-ea"/>
                <a:cs typeface="Times New Roman" panose="02020603050405020304" pitchFamily="18" charset="0"/>
              </a:rPr>
              <a:t>上执行的状态</a:t>
            </a:r>
            <a:endParaRPr lang="en-US" altLang="zh-CN" sz="2400" kern="100" dirty="0">
              <a:effectLst/>
              <a:latin typeface="+mn-ea"/>
              <a:cs typeface="Times New Roman" panose="02020603050405020304" pitchFamily="18" charset="0"/>
            </a:endParaRPr>
          </a:p>
          <a:p>
            <a:pPr indent="304800" algn="just"/>
            <a:endParaRPr lang="en-US" altLang="zh-CN" sz="2400" kern="100" dirty="0">
              <a:latin typeface="+mn-ea"/>
              <a:cs typeface="Times New Roman" panose="02020603050405020304" pitchFamily="18" charset="0"/>
            </a:endParaRPr>
          </a:p>
          <a:p>
            <a:pPr indent="304800" algn="just"/>
            <a:r>
              <a:rPr lang="zh-CN" altLang="zh-CN" sz="2400" kern="100" dirty="0">
                <a:effectLst/>
                <a:latin typeface="+mn-ea"/>
                <a:cs typeface="Times New Roman" panose="02020603050405020304" pitchFamily="18" charset="0"/>
              </a:rPr>
              <a:t>（</a:t>
            </a:r>
            <a:r>
              <a:rPr lang="en-US" altLang="zh-CN" sz="2400" kern="100" dirty="0">
                <a:effectLst/>
                <a:latin typeface="+mn-ea"/>
                <a:cs typeface="Times New Roman" panose="02020603050405020304" pitchFamily="18" charset="0"/>
              </a:rPr>
              <a:t>2</a:t>
            </a:r>
            <a:r>
              <a:rPr lang="zh-CN" altLang="zh-CN" sz="2400" kern="100" dirty="0">
                <a:effectLst/>
                <a:latin typeface="+mn-ea"/>
                <a:cs typeface="Times New Roman" panose="02020603050405020304" pitchFamily="18" charset="0"/>
              </a:rPr>
              <a:t>）</a:t>
            </a:r>
            <a:r>
              <a:rPr lang="zh-CN" altLang="zh-CN" sz="2400" b="1" kern="100" dirty="0">
                <a:solidFill>
                  <a:srgbClr val="0070C0"/>
                </a:solidFill>
                <a:effectLst/>
                <a:latin typeface="+mn-ea"/>
                <a:cs typeface="Times New Roman" panose="02020603050405020304" pitchFamily="18" charset="0"/>
              </a:rPr>
              <a:t>就绪状态（</a:t>
            </a:r>
            <a:r>
              <a:rPr lang="en-US" altLang="zh-CN" sz="2400" b="1" kern="100" dirty="0">
                <a:solidFill>
                  <a:srgbClr val="0070C0"/>
                </a:solidFill>
                <a:effectLst/>
                <a:latin typeface="+mn-ea"/>
                <a:cs typeface="Times New Roman" panose="02020603050405020304" pitchFamily="18" charset="0"/>
              </a:rPr>
              <a:t>Ready</a:t>
            </a:r>
            <a:r>
              <a:rPr lang="zh-CN" altLang="zh-CN" sz="2400" b="1" kern="100" dirty="0">
                <a:solidFill>
                  <a:srgbClr val="0070C0"/>
                </a:solidFill>
                <a:effectLst/>
                <a:latin typeface="+mn-ea"/>
                <a:cs typeface="Times New Roman" panose="02020603050405020304" pitchFamily="18" charset="0"/>
              </a:rPr>
              <a:t>）</a:t>
            </a:r>
          </a:p>
          <a:p>
            <a:pPr indent="304800" algn="just"/>
            <a:r>
              <a:rPr lang="en-US" altLang="zh-CN" sz="2400" kern="100" dirty="0">
                <a:effectLst/>
                <a:latin typeface="+mn-ea"/>
                <a:cs typeface="Times New Roman" panose="02020603050405020304" pitchFamily="18" charset="0"/>
              </a:rPr>
              <a:t>	  </a:t>
            </a:r>
            <a:r>
              <a:rPr lang="zh-CN" altLang="zh-CN" sz="2400" kern="100" dirty="0">
                <a:effectLst/>
                <a:latin typeface="+mn-ea"/>
                <a:cs typeface="Times New Roman" panose="02020603050405020304" pitchFamily="18" charset="0"/>
              </a:rPr>
              <a:t>进程</a:t>
            </a:r>
            <a:r>
              <a:rPr lang="zh-CN" altLang="zh-CN" sz="2400" b="1" kern="100" dirty="0">
                <a:effectLst/>
                <a:latin typeface="+mn-ea"/>
                <a:cs typeface="Times New Roman" panose="02020603050405020304" pitchFamily="18" charset="0"/>
              </a:rPr>
              <a:t>已经具备运行条件，但没有获得</a:t>
            </a:r>
            <a:r>
              <a:rPr lang="en-US" altLang="zh-CN" sz="2400" b="1" kern="100" dirty="0">
                <a:effectLst/>
                <a:latin typeface="+mn-ea"/>
                <a:cs typeface="Times New Roman" panose="02020603050405020304" pitchFamily="18" charset="0"/>
              </a:rPr>
              <a:t>CPU</a:t>
            </a:r>
            <a:r>
              <a:rPr lang="zh-CN" altLang="zh-CN" sz="2400" kern="100" dirty="0">
                <a:effectLst/>
                <a:latin typeface="+mn-ea"/>
                <a:cs typeface="Times New Roman" panose="02020603050405020304" pitchFamily="18" charset="0"/>
              </a:rPr>
              <a:t>的状态</a:t>
            </a:r>
            <a:endParaRPr lang="en-US" altLang="zh-CN" sz="2400" kern="100" dirty="0">
              <a:effectLst/>
              <a:latin typeface="+mn-ea"/>
              <a:cs typeface="Times New Roman" panose="02020603050405020304" pitchFamily="18" charset="0"/>
            </a:endParaRPr>
          </a:p>
          <a:p>
            <a:pPr indent="304800" algn="just"/>
            <a:endParaRPr lang="en-US" altLang="zh-CN" sz="2400" kern="100" dirty="0">
              <a:effectLst/>
              <a:latin typeface="+mn-ea"/>
              <a:cs typeface="Times New Roman" panose="02020603050405020304" pitchFamily="18" charset="0"/>
            </a:endParaRPr>
          </a:p>
          <a:p>
            <a:pPr indent="304800" algn="just"/>
            <a:r>
              <a:rPr lang="zh-CN" altLang="zh-CN" sz="2400" kern="100" dirty="0">
                <a:effectLst/>
                <a:latin typeface="+mn-ea"/>
                <a:cs typeface="Times New Roman" panose="02020603050405020304" pitchFamily="18" charset="0"/>
              </a:rPr>
              <a:t>（</a:t>
            </a:r>
            <a:r>
              <a:rPr lang="en-US" altLang="zh-CN" sz="2400" kern="100" dirty="0">
                <a:effectLst/>
                <a:latin typeface="+mn-ea"/>
                <a:cs typeface="Times New Roman" panose="02020603050405020304" pitchFamily="18" charset="0"/>
              </a:rPr>
              <a:t>3</a:t>
            </a:r>
            <a:r>
              <a:rPr lang="zh-CN" altLang="zh-CN" sz="2400" kern="100" dirty="0">
                <a:effectLst/>
                <a:latin typeface="+mn-ea"/>
                <a:cs typeface="Times New Roman" panose="02020603050405020304" pitchFamily="18" charset="0"/>
              </a:rPr>
              <a:t>）</a:t>
            </a:r>
            <a:r>
              <a:rPr lang="zh-CN" altLang="en-US" sz="2400" b="1" kern="100" dirty="0">
                <a:solidFill>
                  <a:schemeClr val="accent2">
                    <a:lumMod val="75000"/>
                  </a:schemeClr>
                </a:solidFill>
                <a:latin typeface="+mn-ea"/>
                <a:cs typeface="Times New Roman" panose="02020603050405020304" pitchFamily="18" charset="0"/>
              </a:rPr>
              <a:t>阻塞</a:t>
            </a:r>
            <a:r>
              <a:rPr lang="zh-CN" altLang="zh-CN" sz="2400" b="1" kern="100" dirty="0">
                <a:solidFill>
                  <a:schemeClr val="accent2">
                    <a:lumMod val="75000"/>
                  </a:schemeClr>
                </a:solidFill>
                <a:effectLst/>
                <a:latin typeface="+mn-ea"/>
                <a:cs typeface="Times New Roman" panose="02020603050405020304" pitchFamily="18" charset="0"/>
              </a:rPr>
              <a:t>状态（</a:t>
            </a:r>
            <a:r>
              <a:rPr lang="en-US" altLang="zh-CN" sz="2400" b="1" kern="100" dirty="0">
                <a:solidFill>
                  <a:schemeClr val="accent2">
                    <a:lumMod val="75000"/>
                  </a:schemeClr>
                </a:solidFill>
                <a:latin typeface="+mn-ea"/>
                <a:cs typeface="Times New Roman" panose="02020603050405020304" pitchFamily="18" charset="0"/>
              </a:rPr>
              <a:t>Blocked</a:t>
            </a:r>
            <a:r>
              <a:rPr lang="zh-CN" altLang="zh-CN" sz="2400" b="1" kern="100" dirty="0">
                <a:solidFill>
                  <a:schemeClr val="accent2">
                    <a:lumMod val="75000"/>
                  </a:schemeClr>
                </a:solidFill>
                <a:effectLst/>
                <a:latin typeface="+mn-ea"/>
                <a:cs typeface="Times New Roman" panose="02020603050405020304" pitchFamily="18" charset="0"/>
              </a:rPr>
              <a:t>）</a:t>
            </a:r>
          </a:p>
          <a:p>
            <a:pPr indent="304800" algn="just"/>
            <a:r>
              <a:rPr lang="en-US" altLang="zh-CN" sz="2400" kern="100" dirty="0">
                <a:effectLst/>
                <a:latin typeface="+mn-ea"/>
                <a:cs typeface="Times New Roman" panose="02020603050405020304" pitchFamily="18" charset="0"/>
              </a:rPr>
              <a:t>	  </a:t>
            </a:r>
            <a:r>
              <a:rPr lang="zh-CN" altLang="zh-CN" sz="2400" kern="100" dirty="0">
                <a:effectLst/>
                <a:latin typeface="+mn-ea"/>
                <a:cs typeface="Times New Roman" panose="02020603050405020304" pitchFamily="18" charset="0"/>
              </a:rPr>
              <a:t>进程因</a:t>
            </a:r>
            <a:r>
              <a:rPr lang="zh-CN" altLang="zh-CN" sz="2400" b="1" kern="100" dirty="0">
                <a:effectLst/>
                <a:latin typeface="+mn-ea"/>
                <a:cs typeface="Times New Roman" panose="02020603050405020304" pitchFamily="18" charset="0"/>
              </a:rPr>
              <a:t>等待某种事件发生而暂时不能运行</a:t>
            </a:r>
            <a:r>
              <a:rPr lang="zh-CN" altLang="zh-CN" sz="2400" kern="100" dirty="0">
                <a:effectLst/>
                <a:latin typeface="+mn-ea"/>
                <a:cs typeface="Times New Roman" panose="02020603050405020304" pitchFamily="18" charset="0"/>
              </a:rPr>
              <a:t>的状态</a:t>
            </a:r>
          </a:p>
        </p:txBody>
      </p:sp>
    </p:spTree>
    <p:extLst>
      <p:ext uri="{BB962C8B-B14F-4D97-AF65-F5344CB8AC3E}">
        <p14:creationId xmlns:p14="http://schemas.microsoft.com/office/powerpoint/2010/main" val="2570888236"/>
      </p:ext>
    </p:extLst>
  </p:cSld>
  <p:clrMapOvr>
    <a:overrideClrMapping bg1="lt1" tx1="dk1" bg2="lt2" tx2="dk2" accent1="accent1" accent2="accent2" accent3="accent3" accent4="accent4" accent5="accent5" accent6="accent6" hlink="hlink" folHlink="folHlink"/>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a:extLst>
              <a:ext uri="{FF2B5EF4-FFF2-40B4-BE49-F238E27FC236}">
                <a16:creationId xmlns:a16="http://schemas.microsoft.com/office/drawing/2014/main" id="{29192A5E-246E-B080-B928-DB1F26F10307}"/>
              </a:ext>
            </a:extLst>
          </p:cNvPr>
          <p:cNvSpPr>
            <a:spLocks noGrp="1"/>
          </p:cNvSpPr>
          <p:nvPr>
            <p:ph type="sldNum" sz="quarter" idx="4"/>
          </p:nvPr>
        </p:nvSpPr>
        <p:spPr/>
        <p:txBody>
          <a:bodyPr/>
          <a:lstStyle/>
          <a:p>
            <a:r>
              <a:rPr lang="en-US" altLang="zh-CN"/>
              <a:t>&lt; </a:t>
            </a:r>
            <a:fld id="{A548B57D-AE10-4CF7-A9DF-59FEFA91B28E}" type="slidenum">
              <a:rPr lang="zh-CN" altLang="en-US" smtClean="0"/>
              <a:pPr/>
              <a:t>11</a:t>
            </a:fld>
            <a:r>
              <a:rPr lang="zh-CN" altLang="en-US"/>
              <a:t> </a:t>
            </a:r>
            <a:r>
              <a:rPr lang="en-US" altLang="zh-CN"/>
              <a:t>&gt;</a:t>
            </a:r>
            <a:endParaRPr lang="zh-CN" altLang="en-US" dirty="0"/>
          </a:p>
        </p:txBody>
      </p:sp>
      <p:sp>
        <p:nvSpPr>
          <p:cNvPr id="6" name="标题 1">
            <a:extLst>
              <a:ext uri="{FF2B5EF4-FFF2-40B4-BE49-F238E27FC236}">
                <a16:creationId xmlns:a16="http://schemas.microsoft.com/office/drawing/2014/main" id="{57AE42AF-BBE4-0030-B37D-70767164217C}"/>
              </a:ext>
            </a:extLst>
          </p:cNvPr>
          <p:cNvSpPr txBox="1">
            <a:spLocks/>
          </p:cNvSpPr>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3.1.2  </a:t>
            </a:r>
            <a:r>
              <a:rPr lang="zh-CN" altLang="zh-CN" dirty="0"/>
              <a:t>进程状态及状态转换</a:t>
            </a:r>
          </a:p>
        </p:txBody>
      </p:sp>
      <p:sp>
        <p:nvSpPr>
          <p:cNvPr id="10" name="文本框 9">
            <a:extLst>
              <a:ext uri="{FF2B5EF4-FFF2-40B4-BE49-F238E27FC236}">
                <a16:creationId xmlns:a16="http://schemas.microsoft.com/office/drawing/2014/main" id="{53946412-B290-3083-CE24-85BCE03EBA3B}"/>
              </a:ext>
            </a:extLst>
          </p:cNvPr>
          <p:cNvSpPr txBox="1"/>
          <p:nvPr/>
        </p:nvSpPr>
        <p:spPr>
          <a:xfrm>
            <a:off x="0" y="982176"/>
            <a:ext cx="7664848" cy="5262979"/>
          </a:xfrm>
          <a:prstGeom prst="rect">
            <a:avLst/>
          </a:prstGeom>
          <a:noFill/>
        </p:spPr>
        <p:txBody>
          <a:bodyPr wrap="square">
            <a:spAutoFit/>
          </a:bodyPr>
          <a:lstStyle/>
          <a:p>
            <a:pPr indent="304800" algn="just"/>
            <a:r>
              <a:rPr lang="zh-CN" altLang="en-US" sz="2400" b="1" kern="100" dirty="0">
                <a:solidFill>
                  <a:schemeClr val="accent1"/>
                </a:solidFill>
                <a:latin typeface="+mn-ea"/>
                <a:cs typeface="Times New Roman" panose="02020603050405020304" pitchFamily="18" charset="0"/>
              </a:rPr>
              <a:t>三状态模型的状态转换条件：</a:t>
            </a:r>
            <a:endParaRPr lang="en-US" altLang="zh-CN" sz="2400" b="1" kern="100" dirty="0">
              <a:solidFill>
                <a:schemeClr val="accent1"/>
              </a:solidFill>
              <a:latin typeface="+mn-ea"/>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1</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solidFill>
                  <a:schemeClr val="accent3">
                    <a:lumMod val="60000"/>
                    <a:lumOff val="40000"/>
                  </a:schemeClr>
                </a:solidFill>
                <a:effectLst/>
                <a:latin typeface="微软雅黑" panose="020B0503020204020204" pitchFamily="34" charset="-122"/>
                <a:ea typeface="微软雅黑" panose="020B0503020204020204" pitchFamily="34" charset="-122"/>
                <a:cs typeface="Times New Roman" panose="02020603050405020304" pitchFamily="18" charset="0"/>
              </a:rPr>
              <a:t>就绪</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solidFill>
                  <a:srgbClr val="00B050"/>
                </a:solidFill>
                <a:effectLst/>
                <a:latin typeface="微软雅黑" panose="020B0503020204020204" pitchFamily="34" charset="-122"/>
                <a:ea typeface="微软雅黑" panose="020B0503020204020204" pitchFamily="34" charset="-122"/>
                <a:cs typeface="Times New Roman" panose="02020603050405020304" pitchFamily="18" charset="0"/>
              </a:rPr>
              <a:t>运行</a:t>
            </a:r>
            <a:endParaRPr lang="en-US" altLang="zh-CN" sz="2400" kern="100" dirty="0">
              <a:solidFill>
                <a:srgbClr val="00B050"/>
              </a:solidFill>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进程调度程序把处理机</a:t>
            </a:r>
            <a:endParaRPr lang="en-US"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b="1" kern="1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分配给某个就绪进程</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2</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solidFill>
                  <a:srgbClr val="00B050"/>
                </a:solidFill>
                <a:effectLst/>
                <a:latin typeface="微软雅黑" panose="020B0503020204020204" pitchFamily="34" charset="-122"/>
                <a:ea typeface="微软雅黑" panose="020B0503020204020204" pitchFamily="34" charset="-122"/>
                <a:cs typeface="Times New Roman" panose="02020603050405020304" pitchFamily="18" charset="0"/>
              </a:rPr>
              <a:t>运行</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solidFill>
                  <a:srgbClr val="0070C0"/>
                </a:solidFill>
                <a:effectLst/>
                <a:latin typeface="微软雅黑" panose="020B0503020204020204" pitchFamily="34" charset="-122"/>
                <a:ea typeface="微软雅黑" panose="020B0503020204020204" pitchFamily="34" charset="-122"/>
                <a:cs typeface="Times New Roman" panose="02020603050405020304" pitchFamily="18" charset="0"/>
              </a:rPr>
              <a:t>就绪</a:t>
            </a:r>
            <a:endParaRPr lang="en-US" altLang="zh-CN" sz="2400" kern="100" dirty="0">
              <a:solidFill>
                <a:srgbClr val="0070C0"/>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规定的运行时间片用完</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3</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solidFill>
                  <a:srgbClr val="00B050"/>
                </a:solidFill>
                <a:effectLst/>
                <a:latin typeface="微软雅黑" panose="020B0503020204020204" pitchFamily="34" charset="-122"/>
                <a:ea typeface="微软雅黑" panose="020B0503020204020204" pitchFamily="34" charset="-122"/>
                <a:cs typeface="Times New Roman" panose="02020603050405020304" pitchFamily="18" charset="0"/>
              </a:rPr>
              <a:t>运行</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2400" kern="100" dirty="0">
                <a:solidFill>
                  <a:schemeClr val="accent2">
                    <a:lumMod val="75000"/>
                  </a:schemeClr>
                </a:solidFill>
                <a:latin typeface="微软雅黑" panose="020B0503020204020204" pitchFamily="34" charset="-122"/>
                <a:ea typeface="微软雅黑" panose="020B0503020204020204" pitchFamily="34" charset="-122"/>
                <a:cs typeface="Times New Roman" panose="02020603050405020304" pitchFamily="18" charset="0"/>
              </a:rPr>
              <a:t>阻塞</a:t>
            </a:r>
            <a:endParaRPr lang="en-US" altLang="zh-CN" sz="2400" kern="100" dirty="0">
              <a:solidFill>
                <a:schemeClr val="accent2">
                  <a:lumMod val="75000"/>
                </a:schemeClr>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运行状态的进程</a:t>
            </a:r>
            <a:r>
              <a:rPr lang="zh-CN" altLang="en-US" sz="2400" b="1" kern="100" dirty="0">
                <a:effectLst/>
                <a:latin typeface="微软雅黑" panose="020B0503020204020204" pitchFamily="34" charset="-122"/>
                <a:ea typeface="微软雅黑" panose="020B0503020204020204" pitchFamily="34" charset="-122"/>
                <a:cs typeface="Times New Roman" panose="02020603050405020304" pitchFamily="18" charset="0"/>
              </a:rPr>
              <a:t>等待其他资源</a:t>
            </a:r>
            <a:endParaRPr lang="en-US"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4</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2400" kern="100" dirty="0">
                <a:solidFill>
                  <a:schemeClr val="accent2">
                    <a:lumMod val="75000"/>
                  </a:schemeClr>
                </a:solidFill>
                <a:latin typeface="微软雅黑" panose="020B0503020204020204" pitchFamily="34" charset="-122"/>
                <a:ea typeface="微软雅黑" panose="020B0503020204020204" pitchFamily="34" charset="-122"/>
                <a:cs typeface="Times New Roman" panose="02020603050405020304" pitchFamily="18" charset="0"/>
              </a:rPr>
              <a:t>阻塞</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solidFill>
                  <a:srgbClr val="0070C0"/>
                </a:solidFill>
                <a:effectLst/>
                <a:latin typeface="微软雅黑" panose="020B0503020204020204" pitchFamily="34" charset="-122"/>
                <a:ea typeface="微软雅黑" panose="020B0503020204020204" pitchFamily="34" charset="-122"/>
                <a:cs typeface="Times New Roman" panose="02020603050405020304" pitchFamily="18" charset="0"/>
              </a:rPr>
              <a:t>就绪</a:t>
            </a:r>
            <a:endParaRPr lang="en-US" altLang="zh-CN" sz="2400" kern="100" dirty="0">
              <a:solidFill>
                <a:srgbClr val="0070C0"/>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2400" b="1" kern="100" dirty="0">
                <a:latin typeface="微软雅黑" panose="020B0503020204020204" pitchFamily="34" charset="-122"/>
                <a:ea typeface="微软雅黑" panose="020B0503020204020204" pitchFamily="34" charset="-122"/>
                <a:cs typeface="Times New Roman" panose="02020603050405020304" pitchFamily="18" charset="0"/>
              </a:rPr>
              <a:t>阻塞</a:t>
            </a:r>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进程在其被阻塞的原因获得</a:t>
            </a:r>
            <a:r>
              <a:rPr lang="zh-CN" altLang="en-US" sz="2400" b="1" kern="100" dirty="0">
                <a:effectLst/>
                <a:latin typeface="微软雅黑" panose="020B0503020204020204" pitchFamily="34" charset="-122"/>
                <a:ea typeface="微软雅黑" panose="020B0503020204020204" pitchFamily="34" charset="-122"/>
                <a:cs typeface="Times New Roman" panose="02020603050405020304" pitchFamily="18" charset="0"/>
              </a:rPr>
              <a:t>时</a:t>
            </a:r>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解除</a:t>
            </a:r>
            <a:r>
              <a:rPr lang="zh-CN" altLang="en-US" sz="2400" b="1" kern="100" dirty="0">
                <a:effectLst/>
                <a:latin typeface="微软雅黑" panose="020B0503020204020204" pitchFamily="34" charset="-122"/>
                <a:ea typeface="微软雅黑" panose="020B0503020204020204" pitchFamily="34" charset="-122"/>
                <a:cs typeface="Times New Roman" panose="02020603050405020304" pitchFamily="18" charset="0"/>
              </a:rPr>
              <a:t>阻塞</a:t>
            </a:r>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p:txBody>
      </p:sp>
      <p:pic>
        <p:nvPicPr>
          <p:cNvPr id="4" name="图片 3">
            <a:extLst>
              <a:ext uri="{FF2B5EF4-FFF2-40B4-BE49-F238E27FC236}">
                <a16:creationId xmlns:a16="http://schemas.microsoft.com/office/drawing/2014/main" id="{5502F11C-85B2-4A6D-B537-D3DD66E59CB6}"/>
              </a:ext>
            </a:extLst>
          </p:cNvPr>
          <p:cNvPicPr>
            <a:picLocks noChangeAspect="1"/>
          </p:cNvPicPr>
          <p:nvPr/>
        </p:nvPicPr>
        <p:blipFill>
          <a:blip r:embed="rId3"/>
          <a:stretch>
            <a:fillRect/>
          </a:stretch>
        </p:blipFill>
        <p:spPr>
          <a:xfrm>
            <a:off x="5400675" y="1680090"/>
            <a:ext cx="6534150" cy="3867150"/>
          </a:xfrm>
          <a:prstGeom prst="rect">
            <a:avLst/>
          </a:prstGeom>
        </p:spPr>
      </p:pic>
    </p:spTree>
    <p:extLst>
      <p:ext uri="{BB962C8B-B14F-4D97-AF65-F5344CB8AC3E}">
        <p14:creationId xmlns:p14="http://schemas.microsoft.com/office/powerpoint/2010/main" val="373485103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a:extLst>
              <a:ext uri="{FF2B5EF4-FFF2-40B4-BE49-F238E27FC236}">
                <a16:creationId xmlns:a16="http://schemas.microsoft.com/office/drawing/2014/main" id="{29192A5E-246E-B080-B928-DB1F26F10307}"/>
              </a:ext>
            </a:extLst>
          </p:cNvPr>
          <p:cNvSpPr>
            <a:spLocks noGrp="1"/>
          </p:cNvSpPr>
          <p:nvPr>
            <p:ph type="sldNum" sz="quarter" idx="4"/>
          </p:nvPr>
        </p:nvSpPr>
        <p:spPr/>
        <p:txBody>
          <a:bodyPr/>
          <a:lstStyle/>
          <a:p>
            <a:r>
              <a:rPr lang="en-US" altLang="zh-CN"/>
              <a:t>&lt; </a:t>
            </a:r>
            <a:fld id="{A548B57D-AE10-4CF7-A9DF-59FEFA91B28E}" type="slidenum">
              <a:rPr lang="zh-CN" altLang="en-US" smtClean="0"/>
              <a:pPr/>
              <a:t>12</a:t>
            </a:fld>
            <a:r>
              <a:rPr lang="zh-CN" altLang="en-US"/>
              <a:t> </a:t>
            </a:r>
            <a:r>
              <a:rPr lang="en-US" altLang="zh-CN"/>
              <a:t>&gt;</a:t>
            </a:r>
            <a:endParaRPr lang="zh-CN" altLang="en-US" dirty="0"/>
          </a:p>
        </p:txBody>
      </p:sp>
      <p:sp>
        <p:nvSpPr>
          <p:cNvPr id="6" name="标题 1">
            <a:extLst>
              <a:ext uri="{FF2B5EF4-FFF2-40B4-BE49-F238E27FC236}">
                <a16:creationId xmlns:a16="http://schemas.microsoft.com/office/drawing/2014/main" id="{57AE42AF-BBE4-0030-B37D-70767164217C}"/>
              </a:ext>
            </a:extLst>
          </p:cNvPr>
          <p:cNvSpPr txBox="1">
            <a:spLocks/>
          </p:cNvSpPr>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3.1.2  </a:t>
            </a:r>
            <a:r>
              <a:rPr lang="zh-CN" altLang="zh-CN" dirty="0"/>
              <a:t>进程状态及状态转换</a:t>
            </a:r>
          </a:p>
        </p:txBody>
      </p:sp>
      <p:sp>
        <p:nvSpPr>
          <p:cNvPr id="4" name="文本框 3">
            <a:extLst>
              <a:ext uri="{FF2B5EF4-FFF2-40B4-BE49-F238E27FC236}">
                <a16:creationId xmlns:a16="http://schemas.microsoft.com/office/drawing/2014/main" id="{F9EC4955-580F-2EE5-11FE-2361A18FEAAA}"/>
              </a:ext>
            </a:extLst>
          </p:cNvPr>
          <p:cNvSpPr txBox="1"/>
          <p:nvPr/>
        </p:nvSpPr>
        <p:spPr>
          <a:xfrm>
            <a:off x="809625" y="908140"/>
            <a:ext cx="10262347" cy="5632311"/>
          </a:xfrm>
          <a:prstGeom prst="rect">
            <a:avLst/>
          </a:prstGeom>
          <a:noFill/>
        </p:spPr>
        <p:txBody>
          <a:bodyPr wrap="square">
            <a:spAutoFit/>
          </a:bodyPr>
          <a:lstStyle/>
          <a:p>
            <a:pPr indent="304800" algn="just"/>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2</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．五状态进程模型</a:t>
            </a:r>
            <a:endPar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b="1" kern="100" dirty="0">
              <a:solidFill>
                <a:schemeClr val="accent1"/>
              </a:solidFill>
              <a:latin typeface="+mn-ea"/>
              <a:cs typeface="Times New Roman" panose="02020603050405020304" pitchFamily="18" charset="0"/>
            </a:endParaRPr>
          </a:p>
          <a:p>
            <a:pPr indent="304800" algn="just"/>
            <a:r>
              <a:rPr lang="zh-CN" altLang="en-US" sz="2400" b="1" kern="100" dirty="0">
                <a:solidFill>
                  <a:schemeClr val="accent1"/>
                </a:solidFill>
                <a:latin typeface="+mn-ea"/>
                <a:cs typeface="Times New Roman" panose="02020603050405020304" pitchFamily="18" charset="0"/>
              </a:rPr>
              <a:t>五状态模型状态定义：</a:t>
            </a:r>
            <a:endPar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1</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b="1" kern="100" dirty="0">
                <a:solidFill>
                  <a:srgbClr val="00B050"/>
                </a:solidFill>
                <a:effectLst/>
                <a:latin typeface="微软雅黑" panose="020B0503020204020204" pitchFamily="34" charset="-122"/>
                <a:ea typeface="微软雅黑" panose="020B0503020204020204" pitchFamily="34" charset="-122"/>
                <a:cs typeface="Times New Roman" panose="02020603050405020304" pitchFamily="18" charset="0"/>
              </a:rPr>
              <a:t>运行状态（</a:t>
            </a:r>
            <a:r>
              <a:rPr lang="en-US" altLang="zh-CN" sz="2400" b="1" kern="100" dirty="0">
                <a:solidFill>
                  <a:srgbClr val="00B050"/>
                </a:solidFill>
                <a:effectLst/>
                <a:latin typeface="微软雅黑" panose="020B0503020204020204" pitchFamily="34" charset="-122"/>
                <a:ea typeface="微软雅黑" panose="020B0503020204020204" pitchFamily="34" charset="-122"/>
                <a:cs typeface="Times New Roman" panose="02020603050405020304" pitchFamily="18" charset="0"/>
              </a:rPr>
              <a:t>Running</a:t>
            </a:r>
            <a:r>
              <a:rPr lang="zh-CN" altLang="zh-CN" sz="2400" b="1" kern="100" dirty="0">
                <a:solidFill>
                  <a:srgbClr val="00B050"/>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进程</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正在</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占用</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CPU</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资源</a:t>
            </a: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2</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b="1" kern="100" dirty="0">
                <a:solidFill>
                  <a:srgbClr val="0070C0"/>
                </a:solidFill>
                <a:effectLst/>
                <a:latin typeface="微软雅黑" panose="020B0503020204020204" pitchFamily="34" charset="-122"/>
                <a:ea typeface="微软雅黑" panose="020B0503020204020204" pitchFamily="34" charset="-122"/>
                <a:cs typeface="Times New Roman" panose="02020603050405020304" pitchFamily="18" charset="0"/>
              </a:rPr>
              <a:t>就绪状态（</a:t>
            </a:r>
            <a:r>
              <a:rPr lang="en-US" altLang="zh-CN" sz="2400" b="1" kern="100" dirty="0">
                <a:solidFill>
                  <a:srgbClr val="0070C0"/>
                </a:solidFill>
                <a:effectLst/>
                <a:latin typeface="微软雅黑" panose="020B0503020204020204" pitchFamily="34" charset="-122"/>
                <a:ea typeface="微软雅黑" panose="020B0503020204020204" pitchFamily="34" charset="-122"/>
                <a:cs typeface="Times New Roman" panose="02020603050405020304" pitchFamily="18" charset="0"/>
              </a:rPr>
              <a:t>Ready</a:t>
            </a:r>
            <a:r>
              <a:rPr lang="zh-CN" altLang="zh-CN" sz="2400" b="1" kern="100" dirty="0">
                <a:solidFill>
                  <a:srgbClr val="0070C0"/>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进程等待分配</a:t>
            </a:r>
            <a:r>
              <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rPr>
              <a:t>CPU</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资源</a:t>
            </a: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3</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2400" b="1" kern="100" dirty="0">
                <a:solidFill>
                  <a:schemeClr val="accent2">
                    <a:lumMod val="75000"/>
                  </a:schemeClr>
                </a:solidFill>
                <a:effectLst/>
                <a:latin typeface="微软雅黑" panose="020B0503020204020204" pitchFamily="34" charset="-122"/>
                <a:ea typeface="微软雅黑" panose="020B0503020204020204" pitchFamily="34" charset="-122"/>
                <a:cs typeface="Times New Roman" panose="02020603050405020304" pitchFamily="18" charset="0"/>
              </a:rPr>
              <a:t>阻塞</a:t>
            </a:r>
            <a:r>
              <a:rPr lang="zh-CN" altLang="zh-CN" sz="2400" b="1" kern="100" dirty="0">
                <a:solidFill>
                  <a:schemeClr val="accent2">
                    <a:lumMod val="75000"/>
                  </a:schemeClr>
                </a:solidFill>
                <a:effectLst/>
                <a:latin typeface="微软雅黑" panose="020B0503020204020204" pitchFamily="34" charset="-122"/>
                <a:ea typeface="微软雅黑" panose="020B0503020204020204" pitchFamily="34" charset="-122"/>
                <a:cs typeface="Times New Roman" panose="02020603050405020304" pitchFamily="18" charset="0"/>
              </a:rPr>
              <a:t>状态（</a:t>
            </a:r>
            <a:r>
              <a:rPr lang="en-US" altLang="zh-CN" sz="2400" b="1" kern="100" dirty="0">
                <a:solidFill>
                  <a:schemeClr val="accent2">
                    <a:lumMod val="75000"/>
                  </a:schemeClr>
                </a:solidFill>
                <a:effectLst/>
                <a:latin typeface="微软雅黑" panose="020B0503020204020204" pitchFamily="34" charset="-122"/>
                <a:ea typeface="微软雅黑" panose="020B0503020204020204" pitchFamily="34" charset="-122"/>
                <a:cs typeface="Times New Roman" panose="02020603050405020304" pitchFamily="18" charset="0"/>
              </a:rPr>
              <a:t>Blocked</a:t>
            </a:r>
            <a:r>
              <a:rPr lang="zh-CN" altLang="zh-CN" sz="2400" b="1" kern="100" dirty="0">
                <a:solidFill>
                  <a:schemeClr val="accent2">
                    <a:lumMod val="75000"/>
                  </a:schemeClr>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进程</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因</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等待</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I/O</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操作等条件而暂停运行</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4</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b="1" kern="100" dirty="0">
                <a:solidFill>
                  <a:srgbClr val="7030A0"/>
                </a:solidFill>
                <a:effectLst/>
                <a:latin typeface="微软雅黑" panose="020B0503020204020204" pitchFamily="34" charset="-122"/>
                <a:ea typeface="微软雅黑" panose="020B0503020204020204" pitchFamily="34" charset="-122"/>
                <a:cs typeface="Times New Roman" panose="02020603050405020304" pitchFamily="18" charset="0"/>
              </a:rPr>
              <a:t>创建状态（</a:t>
            </a:r>
            <a:r>
              <a:rPr lang="en-US" altLang="zh-CN" sz="2400" b="1" kern="100" dirty="0">
                <a:solidFill>
                  <a:srgbClr val="7030A0"/>
                </a:solidFill>
                <a:effectLst/>
                <a:latin typeface="微软雅黑" panose="020B0503020204020204" pitchFamily="34" charset="-122"/>
                <a:ea typeface="微软雅黑" panose="020B0503020204020204" pitchFamily="34" charset="-122"/>
                <a:cs typeface="Times New Roman" panose="02020603050405020304" pitchFamily="18" charset="0"/>
              </a:rPr>
              <a:t>New</a:t>
            </a:r>
            <a:r>
              <a:rPr lang="zh-CN" altLang="zh-CN" sz="2400" b="1" kern="100" dirty="0">
                <a:solidFill>
                  <a:srgbClr val="7030A0"/>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进程正在创建过程中，还不能运行</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5</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b="1" kern="100" dirty="0">
                <a:solidFill>
                  <a:srgbClr val="FF0000"/>
                </a:solidFill>
                <a:effectLst/>
                <a:latin typeface="微软雅黑" panose="020B0503020204020204" pitchFamily="34" charset="-122"/>
                <a:ea typeface="微软雅黑" panose="020B0503020204020204" pitchFamily="34" charset="-122"/>
                <a:cs typeface="Times New Roman" panose="02020603050405020304" pitchFamily="18" charset="0"/>
              </a:rPr>
              <a:t>结束状态（</a:t>
            </a:r>
            <a:r>
              <a:rPr lang="en-US" altLang="zh-CN" sz="2400" b="1" kern="100" dirty="0">
                <a:solidFill>
                  <a:srgbClr val="FF0000"/>
                </a:solidFill>
                <a:effectLst/>
                <a:latin typeface="微软雅黑" panose="020B0503020204020204" pitchFamily="34" charset="-122"/>
                <a:ea typeface="微软雅黑" panose="020B0503020204020204" pitchFamily="34" charset="-122"/>
                <a:cs typeface="Times New Roman" panose="02020603050405020304" pitchFamily="18" charset="0"/>
              </a:rPr>
              <a:t>Exit</a:t>
            </a:r>
            <a:r>
              <a:rPr lang="zh-CN" altLang="zh-CN" sz="2400" b="1" kern="100" dirty="0">
                <a:solidFill>
                  <a:srgbClr val="FF0000"/>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进程已结束运行</a:t>
            </a:r>
            <a:r>
              <a:rPr lang="zh-CN" altLang="en-US" sz="2400" kern="1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回收除进程控制块之外的其他资源，</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让其他进程从进程控制块中收集有关信息</a:t>
            </a:r>
          </a:p>
        </p:txBody>
      </p:sp>
    </p:spTree>
    <p:extLst>
      <p:ext uri="{BB962C8B-B14F-4D97-AF65-F5344CB8AC3E}">
        <p14:creationId xmlns:p14="http://schemas.microsoft.com/office/powerpoint/2010/main" val="343028018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a:extLst>
              <a:ext uri="{FF2B5EF4-FFF2-40B4-BE49-F238E27FC236}">
                <a16:creationId xmlns:a16="http://schemas.microsoft.com/office/drawing/2014/main" id="{29192A5E-246E-B080-B928-DB1F26F10307}"/>
              </a:ext>
            </a:extLst>
          </p:cNvPr>
          <p:cNvSpPr>
            <a:spLocks noGrp="1"/>
          </p:cNvSpPr>
          <p:nvPr>
            <p:ph type="sldNum" sz="quarter" idx="4"/>
          </p:nvPr>
        </p:nvSpPr>
        <p:spPr/>
        <p:txBody>
          <a:bodyPr/>
          <a:lstStyle/>
          <a:p>
            <a:r>
              <a:rPr lang="en-US" altLang="zh-CN"/>
              <a:t>&lt; </a:t>
            </a:r>
            <a:fld id="{A548B57D-AE10-4CF7-A9DF-59FEFA91B28E}" type="slidenum">
              <a:rPr lang="zh-CN" altLang="en-US" smtClean="0"/>
              <a:pPr/>
              <a:t>13</a:t>
            </a:fld>
            <a:r>
              <a:rPr lang="zh-CN" altLang="en-US"/>
              <a:t> </a:t>
            </a:r>
            <a:r>
              <a:rPr lang="en-US" altLang="zh-CN"/>
              <a:t>&gt;</a:t>
            </a:r>
            <a:endParaRPr lang="zh-CN" altLang="en-US" dirty="0"/>
          </a:p>
        </p:txBody>
      </p:sp>
      <p:sp>
        <p:nvSpPr>
          <p:cNvPr id="6" name="标题 1">
            <a:extLst>
              <a:ext uri="{FF2B5EF4-FFF2-40B4-BE49-F238E27FC236}">
                <a16:creationId xmlns:a16="http://schemas.microsoft.com/office/drawing/2014/main" id="{57AE42AF-BBE4-0030-B37D-70767164217C}"/>
              </a:ext>
            </a:extLst>
          </p:cNvPr>
          <p:cNvSpPr txBox="1">
            <a:spLocks/>
          </p:cNvSpPr>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3.1.2  </a:t>
            </a:r>
            <a:r>
              <a:rPr lang="zh-CN" altLang="zh-CN" dirty="0"/>
              <a:t>进程状态及状态转换</a:t>
            </a:r>
          </a:p>
        </p:txBody>
      </p:sp>
      <p:sp>
        <p:nvSpPr>
          <p:cNvPr id="4" name="文本框 3">
            <a:extLst>
              <a:ext uri="{FF2B5EF4-FFF2-40B4-BE49-F238E27FC236}">
                <a16:creationId xmlns:a16="http://schemas.microsoft.com/office/drawing/2014/main" id="{4C00DE64-5460-888C-A82F-3BE2F65B37D0}"/>
              </a:ext>
            </a:extLst>
          </p:cNvPr>
          <p:cNvSpPr txBox="1"/>
          <p:nvPr/>
        </p:nvSpPr>
        <p:spPr>
          <a:xfrm>
            <a:off x="400050" y="870404"/>
            <a:ext cx="11391900" cy="2800767"/>
          </a:xfrm>
          <a:prstGeom prst="rect">
            <a:avLst/>
          </a:prstGeom>
          <a:noFill/>
        </p:spPr>
        <p:txBody>
          <a:bodyPr wrap="square">
            <a:spAutoFit/>
          </a:bodyPr>
          <a:lstStyle/>
          <a:p>
            <a:pPr indent="304800" algn="just"/>
            <a:r>
              <a:rPr lang="zh-CN" altLang="en-US" sz="2200" b="1" kern="100" dirty="0">
                <a:solidFill>
                  <a:schemeClr val="accent1"/>
                </a:solidFill>
                <a:latin typeface="+mn-ea"/>
                <a:cs typeface="Times New Roman" panose="02020603050405020304" pitchFamily="18" charset="0"/>
              </a:rPr>
              <a:t>五状态状态转换条件：</a:t>
            </a:r>
            <a:endParaRPr lang="en-US" altLang="zh-CN" sz="2200" b="1" kern="100" dirty="0">
              <a:solidFill>
                <a:schemeClr val="accent1"/>
              </a:solidFill>
              <a:latin typeface="+mn-ea"/>
              <a:cs typeface="Times New Roman" panose="02020603050405020304" pitchFamily="18" charset="0"/>
            </a:endParaRP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1</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）创建新进程：</a:t>
            </a:r>
            <a:r>
              <a:rPr lang="zh-CN" altLang="en-US" sz="2200" kern="100" dirty="0">
                <a:effectLst/>
                <a:latin typeface="微软雅黑" panose="020B0503020204020204" pitchFamily="34" charset="-122"/>
                <a:ea typeface="微软雅黑" panose="020B0503020204020204" pitchFamily="34" charset="-122"/>
                <a:cs typeface="Times New Roman" panose="02020603050405020304" pitchFamily="18" charset="0"/>
              </a:rPr>
              <a:t>进入</a:t>
            </a:r>
            <a:r>
              <a:rPr lang="zh-CN" altLang="en-US" sz="2200" kern="100" dirty="0">
                <a:solidFill>
                  <a:srgbClr val="7030A0"/>
                </a:solidFill>
                <a:effectLst/>
                <a:latin typeface="微软雅黑" panose="020B0503020204020204" pitchFamily="34" charset="-122"/>
                <a:ea typeface="微软雅黑" panose="020B0503020204020204" pitchFamily="34" charset="-122"/>
                <a:cs typeface="Times New Roman" panose="02020603050405020304" pitchFamily="18" charset="0"/>
              </a:rPr>
              <a:t>创建</a:t>
            </a:r>
            <a:r>
              <a:rPr lang="zh-CN" altLang="en-US" sz="2200" kern="100" dirty="0">
                <a:effectLst/>
                <a:latin typeface="微软雅黑" panose="020B0503020204020204" pitchFamily="34" charset="-122"/>
                <a:ea typeface="微软雅黑" panose="020B0503020204020204" pitchFamily="34" charset="-122"/>
                <a:cs typeface="Times New Roman" panose="02020603050405020304" pitchFamily="18" charset="0"/>
              </a:rPr>
              <a:t>状态</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2</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）提交（</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Admit</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）：完成一个新进程的创建过程，进入</a:t>
            </a:r>
            <a:r>
              <a:rPr lang="zh-CN" altLang="zh-CN" sz="2200" kern="100" dirty="0">
                <a:solidFill>
                  <a:srgbClr val="0070C0"/>
                </a:solidFill>
                <a:effectLst/>
                <a:latin typeface="微软雅黑" panose="020B0503020204020204" pitchFamily="34" charset="-122"/>
                <a:ea typeface="微软雅黑" panose="020B0503020204020204" pitchFamily="34" charset="-122"/>
                <a:cs typeface="Times New Roman" panose="02020603050405020304" pitchFamily="18" charset="0"/>
              </a:rPr>
              <a:t>就绪</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状态</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3</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）调度运行（</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Dispatch</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）：进入</a:t>
            </a:r>
            <a:r>
              <a:rPr lang="zh-CN" altLang="zh-CN" sz="2200" kern="100" dirty="0">
                <a:solidFill>
                  <a:srgbClr val="00B050"/>
                </a:solidFill>
                <a:effectLst/>
                <a:latin typeface="微软雅黑" panose="020B0503020204020204" pitchFamily="34" charset="-122"/>
                <a:ea typeface="微软雅黑" panose="020B0503020204020204" pitchFamily="34" charset="-122"/>
                <a:cs typeface="Times New Roman" panose="02020603050405020304" pitchFamily="18" charset="0"/>
              </a:rPr>
              <a:t>运行</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状态</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4</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）释放（</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Release</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）：进程终止运行，进入</a:t>
            </a:r>
            <a:r>
              <a:rPr lang="zh-CN" altLang="en-US" sz="2200" kern="100" dirty="0">
                <a:solidFill>
                  <a:srgbClr val="FF0000"/>
                </a:solidFill>
                <a:effectLst/>
                <a:latin typeface="微软雅黑" panose="020B0503020204020204" pitchFamily="34" charset="-122"/>
                <a:ea typeface="微软雅黑" panose="020B0503020204020204" pitchFamily="34" charset="-122"/>
                <a:cs typeface="Times New Roman" panose="02020603050405020304" pitchFamily="18" charset="0"/>
              </a:rPr>
              <a:t>退出</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状态</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5</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）超时（</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Timeout</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）：用完时间片</a:t>
            </a:r>
            <a:r>
              <a:rPr lang="zh-CN" altLang="en-US" sz="22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进程暂停运行</a:t>
            </a:r>
            <a:r>
              <a:rPr lang="zh-CN" altLang="en-US" sz="2200" kern="100" dirty="0">
                <a:effectLst/>
                <a:latin typeface="微软雅黑" panose="020B0503020204020204" pitchFamily="34" charset="-122"/>
                <a:ea typeface="微软雅黑" panose="020B0503020204020204" pitchFamily="34" charset="-122"/>
                <a:cs typeface="Times New Roman" panose="02020603050405020304" pitchFamily="18" charset="0"/>
              </a:rPr>
              <a:t>，、从</a:t>
            </a:r>
            <a:r>
              <a:rPr lang="zh-CN" altLang="en-US" sz="2200" kern="100" dirty="0">
                <a:solidFill>
                  <a:srgbClr val="00B050"/>
                </a:solidFill>
                <a:effectLst/>
                <a:latin typeface="微软雅黑" panose="020B0503020204020204" pitchFamily="34" charset="-122"/>
                <a:ea typeface="微软雅黑" panose="020B0503020204020204" pitchFamily="34" charset="-122"/>
                <a:cs typeface="Times New Roman" panose="02020603050405020304" pitchFamily="18" charset="0"/>
              </a:rPr>
              <a:t>运行</a:t>
            </a:r>
            <a:r>
              <a:rPr lang="zh-CN" altLang="en-US" sz="2200" kern="100" dirty="0">
                <a:effectLst/>
                <a:latin typeface="微软雅黑" panose="020B0503020204020204" pitchFamily="34" charset="-122"/>
                <a:ea typeface="微软雅黑" panose="020B0503020204020204" pitchFamily="34" charset="-122"/>
                <a:cs typeface="Times New Roman" panose="02020603050405020304" pitchFamily="18" charset="0"/>
              </a:rPr>
              <a:t>状态进入</a:t>
            </a:r>
            <a:r>
              <a:rPr lang="zh-CN" altLang="en-US" sz="2200" kern="100" dirty="0">
                <a:solidFill>
                  <a:srgbClr val="0070C0"/>
                </a:solidFill>
                <a:effectLst/>
                <a:latin typeface="微软雅黑" panose="020B0503020204020204" pitchFamily="34" charset="-122"/>
                <a:ea typeface="微软雅黑" panose="020B0503020204020204" pitchFamily="34" charset="-122"/>
                <a:cs typeface="Times New Roman" panose="02020603050405020304" pitchFamily="18" charset="0"/>
              </a:rPr>
              <a:t>就绪</a:t>
            </a:r>
            <a:r>
              <a:rPr lang="zh-CN" altLang="en-US" sz="2200" kern="100" dirty="0">
                <a:effectLst/>
                <a:latin typeface="微软雅黑" panose="020B0503020204020204" pitchFamily="34" charset="-122"/>
                <a:ea typeface="微软雅黑" panose="020B0503020204020204" pitchFamily="34" charset="-122"/>
                <a:cs typeface="Times New Roman" panose="02020603050405020304" pitchFamily="18" charset="0"/>
              </a:rPr>
              <a:t>状态</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6</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）事件等待（</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Event Wait</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）：进程要求的事件未出现而进入</a:t>
            </a:r>
            <a:r>
              <a:rPr lang="zh-CN" altLang="en-US" sz="2200" kern="100" dirty="0">
                <a:solidFill>
                  <a:schemeClr val="accent2">
                    <a:lumMod val="75000"/>
                  </a:schemeClr>
                </a:solidFill>
                <a:effectLst/>
                <a:latin typeface="微软雅黑" panose="020B0503020204020204" pitchFamily="34" charset="-122"/>
                <a:ea typeface="微软雅黑" panose="020B0503020204020204" pitchFamily="34" charset="-122"/>
                <a:cs typeface="Times New Roman" panose="02020603050405020304" pitchFamily="18" charset="0"/>
              </a:rPr>
              <a:t>阻塞</a:t>
            </a:r>
            <a:r>
              <a:rPr lang="zh-CN" altLang="en-US" sz="2200" kern="100" dirty="0">
                <a:latin typeface="微软雅黑" panose="020B0503020204020204" pitchFamily="34" charset="-122"/>
                <a:ea typeface="微软雅黑" panose="020B0503020204020204" pitchFamily="34" charset="-122"/>
                <a:cs typeface="Times New Roman" panose="02020603050405020304" pitchFamily="18" charset="0"/>
              </a:rPr>
              <a:t>状态</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7</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）事件出现（</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Event Occurs</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）：进程等待的事件出现</a:t>
            </a:r>
            <a:r>
              <a:rPr lang="zh-CN" altLang="en-US" sz="2200" kern="100" dirty="0">
                <a:effectLst/>
                <a:latin typeface="微软雅黑" panose="020B0503020204020204" pitchFamily="34" charset="-122"/>
                <a:ea typeface="微软雅黑" panose="020B0503020204020204" pitchFamily="34" charset="-122"/>
                <a:cs typeface="Times New Roman" panose="02020603050405020304" pitchFamily="18" charset="0"/>
              </a:rPr>
              <a:t>，进程从</a:t>
            </a:r>
            <a:r>
              <a:rPr lang="zh-CN" altLang="en-US" sz="2200" kern="100" dirty="0">
                <a:solidFill>
                  <a:schemeClr val="accent2">
                    <a:lumMod val="75000"/>
                  </a:schemeClr>
                </a:solidFill>
                <a:latin typeface="微软雅黑" panose="020B0503020204020204" pitchFamily="34" charset="-122"/>
                <a:ea typeface="微软雅黑" panose="020B0503020204020204" pitchFamily="34" charset="-122"/>
                <a:cs typeface="Times New Roman" panose="02020603050405020304" pitchFamily="18" charset="0"/>
              </a:rPr>
              <a:t>阻塞</a:t>
            </a:r>
            <a:r>
              <a:rPr lang="zh-CN" altLang="en-US" sz="2200" kern="100" dirty="0">
                <a:effectLst/>
                <a:latin typeface="微软雅黑" panose="020B0503020204020204" pitchFamily="34" charset="-122"/>
                <a:ea typeface="微软雅黑" panose="020B0503020204020204" pitchFamily="34" charset="-122"/>
                <a:cs typeface="Times New Roman" panose="02020603050405020304" pitchFamily="18" charset="0"/>
              </a:rPr>
              <a:t>状态进入</a:t>
            </a:r>
            <a:r>
              <a:rPr lang="zh-CN" altLang="en-US" sz="2200" kern="100" dirty="0">
                <a:solidFill>
                  <a:srgbClr val="0070C0"/>
                </a:solidFill>
                <a:effectLst/>
                <a:latin typeface="微软雅黑" panose="020B0503020204020204" pitchFamily="34" charset="-122"/>
                <a:ea typeface="微软雅黑" panose="020B0503020204020204" pitchFamily="34" charset="-122"/>
                <a:cs typeface="Times New Roman" panose="02020603050405020304" pitchFamily="18" charset="0"/>
              </a:rPr>
              <a:t>就绪</a:t>
            </a:r>
            <a:r>
              <a:rPr lang="zh-CN" altLang="en-US" sz="2200" kern="100" dirty="0">
                <a:effectLst/>
                <a:latin typeface="微软雅黑" panose="020B0503020204020204" pitchFamily="34" charset="-122"/>
                <a:ea typeface="微软雅黑" panose="020B0503020204020204" pitchFamily="34" charset="-122"/>
                <a:cs typeface="Times New Roman" panose="02020603050405020304" pitchFamily="18" charset="0"/>
              </a:rPr>
              <a:t>状态</a:t>
            </a:r>
            <a:endPar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p:txBody>
      </p:sp>
      <p:pic>
        <p:nvPicPr>
          <p:cNvPr id="7" name="图片 6">
            <a:extLst>
              <a:ext uri="{FF2B5EF4-FFF2-40B4-BE49-F238E27FC236}">
                <a16:creationId xmlns:a16="http://schemas.microsoft.com/office/drawing/2014/main" id="{D845BF00-0554-4E31-955E-A1431A033759}"/>
              </a:ext>
            </a:extLst>
          </p:cNvPr>
          <p:cNvPicPr>
            <a:picLocks noChangeAspect="1"/>
          </p:cNvPicPr>
          <p:nvPr/>
        </p:nvPicPr>
        <p:blipFill>
          <a:blip r:embed="rId3"/>
          <a:stretch>
            <a:fillRect/>
          </a:stretch>
        </p:blipFill>
        <p:spPr>
          <a:xfrm>
            <a:off x="1400175" y="3584269"/>
            <a:ext cx="9813485" cy="2800767"/>
          </a:xfrm>
          <a:prstGeom prst="rect">
            <a:avLst/>
          </a:prstGeom>
        </p:spPr>
      </p:pic>
    </p:spTree>
    <p:extLst>
      <p:ext uri="{BB962C8B-B14F-4D97-AF65-F5344CB8AC3E}">
        <p14:creationId xmlns:p14="http://schemas.microsoft.com/office/powerpoint/2010/main" val="49798779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a:extLst>
              <a:ext uri="{FF2B5EF4-FFF2-40B4-BE49-F238E27FC236}">
                <a16:creationId xmlns:a16="http://schemas.microsoft.com/office/drawing/2014/main" id="{29192A5E-246E-B080-B928-DB1F26F10307}"/>
              </a:ext>
            </a:extLst>
          </p:cNvPr>
          <p:cNvSpPr>
            <a:spLocks noGrp="1"/>
          </p:cNvSpPr>
          <p:nvPr>
            <p:ph type="sldNum" sz="quarter" idx="4"/>
          </p:nvPr>
        </p:nvSpPr>
        <p:spPr/>
        <p:txBody>
          <a:bodyPr/>
          <a:lstStyle/>
          <a:p>
            <a:r>
              <a:rPr lang="en-US" altLang="zh-CN"/>
              <a:t>&lt; </a:t>
            </a:r>
            <a:fld id="{A548B57D-AE10-4CF7-A9DF-59FEFA91B28E}" type="slidenum">
              <a:rPr lang="zh-CN" altLang="en-US" smtClean="0"/>
              <a:pPr/>
              <a:t>14</a:t>
            </a:fld>
            <a:r>
              <a:rPr lang="zh-CN" altLang="en-US"/>
              <a:t> </a:t>
            </a:r>
            <a:r>
              <a:rPr lang="en-US" altLang="zh-CN"/>
              <a:t>&gt;</a:t>
            </a:r>
            <a:endParaRPr lang="zh-CN" altLang="en-US" dirty="0"/>
          </a:p>
        </p:txBody>
      </p:sp>
      <p:sp>
        <p:nvSpPr>
          <p:cNvPr id="6" name="标题 1">
            <a:extLst>
              <a:ext uri="{FF2B5EF4-FFF2-40B4-BE49-F238E27FC236}">
                <a16:creationId xmlns:a16="http://schemas.microsoft.com/office/drawing/2014/main" id="{57AE42AF-BBE4-0030-B37D-70767164217C}"/>
              </a:ext>
            </a:extLst>
          </p:cNvPr>
          <p:cNvSpPr txBox="1">
            <a:spLocks/>
          </p:cNvSpPr>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3.1.2  </a:t>
            </a:r>
            <a:r>
              <a:rPr lang="zh-CN" altLang="zh-CN" dirty="0"/>
              <a:t>进程状态及状态转换</a:t>
            </a:r>
          </a:p>
        </p:txBody>
      </p:sp>
      <p:sp>
        <p:nvSpPr>
          <p:cNvPr id="5" name="文本框 4">
            <a:extLst>
              <a:ext uri="{FF2B5EF4-FFF2-40B4-BE49-F238E27FC236}">
                <a16:creationId xmlns:a16="http://schemas.microsoft.com/office/drawing/2014/main" id="{267528B0-5EB8-A6F3-5E2B-8DC5D7BB01A6}"/>
              </a:ext>
            </a:extLst>
          </p:cNvPr>
          <p:cNvSpPr txBox="1"/>
          <p:nvPr/>
        </p:nvSpPr>
        <p:spPr>
          <a:xfrm>
            <a:off x="738899" y="1387465"/>
            <a:ext cx="9056851" cy="3416320"/>
          </a:xfrm>
          <a:prstGeom prst="rect">
            <a:avLst/>
          </a:prstGeom>
          <a:noFill/>
        </p:spPr>
        <p:txBody>
          <a:bodyPr wrap="square">
            <a:spAutoFit/>
          </a:bodyPr>
          <a:lstStyle/>
          <a:p>
            <a:pPr indent="304800" algn="just"/>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3</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．七状态进程模型</a:t>
            </a:r>
          </a:p>
          <a:p>
            <a:pPr indent="304800" algn="just"/>
            <a:endParaRPr lang="en-US" altLang="zh-CN" sz="2400" b="1" kern="100" dirty="0">
              <a:solidFill>
                <a:schemeClr val="accent1"/>
              </a:solidFill>
              <a:latin typeface="+mn-ea"/>
              <a:cs typeface="Times New Roman" panose="02020603050405020304" pitchFamily="18" charset="0"/>
            </a:endParaRPr>
          </a:p>
          <a:p>
            <a:pPr indent="304800" algn="just"/>
            <a:r>
              <a:rPr lang="zh-CN" altLang="en-US" sz="2400" b="1" kern="100" dirty="0">
                <a:solidFill>
                  <a:schemeClr val="accent1"/>
                </a:solidFill>
                <a:latin typeface="+mn-ea"/>
                <a:cs typeface="Times New Roman" panose="02020603050405020304" pitchFamily="18" charset="0"/>
              </a:rPr>
              <a:t>七状态模型引入原因：</a:t>
            </a:r>
            <a:endParaRPr lang="en-US" altLang="zh-CN" sz="2400" b="1" kern="100" dirty="0">
              <a:solidFill>
                <a:schemeClr val="accent1"/>
              </a:solidFill>
              <a:latin typeface="+mn-ea"/>
              <a:cs typeface="Times New Roman" panose="02020603050405020304" pitchFamily="18" charset="0"/>
            </a:endParaRPr>
          </a:p>
          <a:p>
            <a:pPr indent="304800" algn="just"/>
            <a:r>
              <a:rPr lang="zh-CN" altLang="zh-CN" sz="2400" kern="100" dirty="0">
                <a:latin typeface="+mn-ea"/>
                <a:cs typeface="Times New Roman" panose="02020603050405020304" pitchFamily="18" charset="0"/>
              </a:rPr>
              <a:t>五状态进程模型没有区分</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进程地址空间位于内存还是外</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存</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低优先级进程</a:t>
            </a:r>
            <a:r>
              <a:rPr lang="zh-CN"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对换至外存</a:t>
            </a:r>
            <a:r>
              <a:rPr lang="zh-CN" altLang="en-US" sz="2400" kern="1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这种做法可得到的好处：</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1</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）提高处理机效率</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2</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）可为运行进程提供足够内存</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3</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）有利于调试</a:t>
            </a:r>
          </a:p>
        </p:txBody>
      </p:sp>
      <p:sp>
        <p:nvSpPr>
          <p:cNvPr id="7" name="Rectangle 2">
            <a:extLst>
              <a:ext uri="{FF2B5EF4-FFF2-40B4-BE49-F238E27FC236}">
                <a16:creationId xmlns:a16="http://schemas.microsoft.com/office/drawing/2014/main" id="{8F7AEE72-F850-7B27-4D12-8AA1D0979270}"/>
              </a:ext>
            </a:extLst>
          </p:cNvPr>
          <p:cNvSpPr>
            <a:spLocks noChangeArrowheads="1"/>
          </p:cNvSpPr>
          <p:nvPr/>
        </p:nvSpPr>
        <p:spPr bwMode="auto">
          <a:xfrm>
            <a:off x="0" y="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Tree>
    <p:extLst>
      <p:ext uri="{BB962C8B-B14F-4D97-AF65-F5344CB8AC3E}">
        <p14:creationId xmlns:p14="http://schemas.microsoft.com/office/powerpoint/2010/main" val="77241804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a:extLst>
              <a:ext uri="{FF2B5EF4-FFF2-40B4-BE49-F238E27FC236}">
                <a16:creationId xmlns:a16="http://schemas.microsoft.com/office/drawing/2014/main" id="{29192A5E-246E-B080-B928-DB1F26F10307}"/>
              </a:ext>
            </a:extLst>
          </p:cNvPr>
          <p:cNvSpPr>
            <a:spLocks noGrp="1"/>
          </p:cNvSpPr>
          <p:nvPr>
            <p:ph type="sldNum" sz="quarter" idx="4"/>
          </p:nvPr>
        </p:nvSpPr>
        <p:spPr/>
        <p:txBody>
          <a:bodyPr/>
          <a:lstStyle/>
          <a:p>
            <a:r>
              <a:rPr lang="en-US" altLang="zh-CN"/>
              <a:t>&lt; </a:t>
            </a:r>
            <a:fld id="{A548B57D-AE10-4CF7-A9DF-59FEFA91B28E}" type="slidenum">
              <a:rPr lang="zh-CN" altLang="en-US" smtClean="0"/>
              <a:pPr/>
              <a:t>15</a:t>
            </a:fld>
            <a:r>
              <a:rPr lang="zh-CN" altLang="en-US"/>
              <a:t> </a:t>
            </a:r>
            <a:r>
              <a:rPr lang="en-US" altLang="zh-CN"/>
              <a:t>&gt;</a:t>
            </a:r>
            <a:endParaRPr lang="zh-CN" altLang="en-US" dirty="0"/>
          </a:p>
        </p:txBody>
      </p:sp>
      <p:sp>
        <p:nvSpPr>
          <p:cNvPr id="6" name="标题 1">
            <a:extLst>
              <a:ext uri="{FF2B5EF4-FFF2-40B4-BE49-F238E27FC236}">
                <a16:creationId xmlns:a16="http://schemas.microsoft.com/office/drawing/2014/main" id="{57AE42AF-BBE4-0030-B37D-70767164217C}"/>
              </a:ext>
            </a:extLst>
          </p:cNvPr>
          <p:cNvSpPr txBox="1">
            <a:spLocks/>
          </p:cNvSpPr>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3.1.2  </a:t>
            </a:r>
            <a:r>
              <a:rPr lang="zh-CN" altLang="zh-CN" dirty="0"/>
              <a:t>进程状态及状态转换</a:t>
            </a:r>
          </a:p>
        </p:txBody>
      </p:sp>
      <p:sp>
        <p:nvSpPr>
          <p:cNvPr id="7" name="Rectangle 2">
            <a:extLst>
              <a:ext uri="{FF2B5EF4-FFF2-40B4-BE49-F238E27FC236}">
                <a16:creationId xmlns:a16="http://schemas.microsoft.com/office/drawing/2014/main" id="{8F7AEE72-F850-7B27-4D12-8AA1D0979270}"/>
              </a:ext>
            </a:extLst>
          </p:cNvPr>
          <p:cNvSpPr>
            <a:spLocks noChangeArrowheads="1"/>
          </p:cNvSpPr>
          <p:nvPr/>
        </p:nvSpPr>
        <p:spPr bwMode="auto">
          <a:xfrm>
            <a:off x="0" y="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8" name="文本框 7">
            <a:extLst>
              <a:ext uri="{FF2B5EF4-FFF2-40B4-BE49-F238E27FC236}">
                <a16:creationId xmlns:a16="http://schemas.microsoft.com/office/drawing/2014/main" id="{BA7BF154-18F8-4D37-8A97-326E46ABC573}"/>
              </a:ext>
            </a:extLst>
          </p:cNvPr>
          <p:cNvSpPr txBox="1"/>
          <p:nvPr/>
        </p:nvSpPr>
        <p:spPr>
          <a:xfrm>
            <a:off x="1145737" y="1321424"/>
            <a:ext cx="9900526" cy="2677656"/>
          </a:xfrm>
          <a:prstGeom prst="rect">
            <a:avLst/>
          </a:prstGeom>
          <a:noFill/>
        </p:spPr>
        <p:txBody>
          <a:bodyPr wrap="square">
            <a:spAutoFit/>
          </a:bodyPr>
          <a:lstStyle/>
          <a:p>
            <a:pPr indent="304800" algn="just"/>
            <a:r>
              <a:rPr lang="zh-CN" altLang="en-US" sz="2400" b="1" kern="100" dirty="0">
                <a:solidFill>
                  <a:schemeClr val="accent1"/>
                </a:solidFill>
                <a:latin typeface="+mn-ea"/>
                <a:cs typeface="Times New Roman" panose="02020603050405020304" pitchFamily="18" charset="0"/>
              </a:rPr>
              <a:t>七状态模型状态定义：</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与五状态进程模型相比，增加了</a:t>
            </a:r>
            <a:r>
              <a:rPr lang="zh-CN" altLang="zh-CN" sz="2400" kern="100" dirty="0">
                <a:solidFill>
                  <a:srgbClr val="063771"/>
                </a:solidFill>
                <a:effectLst/>
                <a:latin typeface="微软雅黑" panose="020B0503020204020204" pitchFamily="34" charset="-122"/>
                <a:ea typeface="微软雅黑" panose="020B0503020204020204" pitchFamily="34" charset="-122"/>
                <a:cs typeface="Times New Roman" panose="02020603050405020304" pitchFamily="18" charset="0"/>
              </a:rPr>
              <a:t>就绪挂起</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和</a:t>
            </a:r>
            <a:r>
              <a:rPr lang="zh-CN" altLang="zh-CN" sz="2400" kern="100" dirty="0">
                <a:solidFill>
                  <a:schemeClr val="accent2">
                    <a:lumMod val="50000"/>
                  </a:schemeClr>
                </a:solidFill>
                <a:effectLst/>
                <a:latin typeface="微软雅黑" panose="020B0503020204020204" pitchFamily="34" charset="-122"/>
                <a:ea typeface="微软雅黑" panose="020B0503020204020204" pitchFamily="34" charset="-122"/>
                <a:cs typeface="Times New Roman" panose="02020603050405020304" pitchFamily="18" charset="0"/>
              </a:rPr>
              <a:t>阻塞挂起</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两个状态</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rPr>
              <a:t>1</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b="1" kern="100" dirty="0">
                <a:solidFill>
                  <a:schemeClr val="accent2">
                    <a:lumMod val="50000"/>
                  </a:schemeClr>
                </a:solidFill>
                <a:effectLst/>
                <a:latin typeface="微软雅黑" panose="020B0503020204020204" pitchFamily="34" charset="-122"/>
                <a:ea typeface="微软雅黑" panose="020B0503020204020204" pitchFamily="34" charset="-122"/>
                <a:cs typeface="Times New Roman" panose="02020603050405020304" pitchFamily="18" charset="0"/>
              </a:rPr>
              <a:t>阻塞挂起状态（</a:t>
            </a:r>
            <a:r>
              <a:rPr lang="en-US" altLang="zh-CN" sz="2400" b="1" kern="100" dirty="0">
                <a:solidFill>
                  <a:schemeClr val="accent2">
                    <a:lumMod val="50000"/>
                  </a:schemeClr>
                </a:solidFill>
                <a:effectLst/>
                <a:latin typeface="微软雅黑" panose="020B0503020204020204" pitchFamily="34" charset="-122"/>
                <a:ea typeface="微软雅黑" panose="020B0503020204020204" pitchFamily="34" charset="-122"/>
                <a:cs typeface="Times New Roman" panose="02020603050405020304" pitchFamily="18" charset="0"/>
              </a:rPr>
              <a:t>Blocked, suspend</a:t>
            </a:r>
            <a:r>
              <a:rPr lang="zh-CN" altLang="zh-CN" sz="2400" b="1" kern="100" dirty="0">
                <a:solidFill>
                  <a:schemeClr val="accent2">
                    <a:lumMod val="50000"/>
                  </a:schemeClr>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进程在外存并等待某事件的出现</a:t>
            </a: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rPr>
              <a:t>2</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b="1" kern="100" dirty="0">
                <a:solidFill>
                  <a:srgbClr val="063771"/>
                </a:solidFill>
                <a:effectLst/>
                <a:latin typeface="微软雅黑" panose="020B0503020204020204" pitchFamily="34" charset="-122"/>
                <a:ea typeface="微软雅黑" panose="020B0503020204020204" pitchFamily="34" charset="-122"/>
                <a:cs typeface="Times New Roman" panose="02020603050405020304" pitchFamily="18" charset="0"/>
              </a:rPr>
              <a:t>就绪挂起状态（</a:t>
            </a:r>
            <a:r>
              <a:rPr lang="en-US" altLang="zh-CN" sz="2400" b="1" kern="100" dirty="0">
                <a:solidFill>
                  <a:srgbClr val="063771"/>
                </a:solidFill>
                <a:effectLst/>
                <a:latin typeface="微软雅黑" panose="020B0503020204020204" pitchFamily="34" charset="-122"/>
                <a:ea typeface="微软雅黑" panose="020B0503020204020204" pitchFamily="34" charset="-122"/>
                <a:cs typeface="Times New Roman" panose="02020603050405020304" pitchFamily="18" charset="0"/>
              </a:rPr>
              <a:t>Ready, suspend</a:t>
            </a:r>
            <a:r>
              <a:rPr lang="zh-CN" altLang="zh-CN" sz="2400" b="1" kern="100" dirty="0">
                <a:solidFill>
                  <a:srgbClr val="06377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进程在外存，但只要进入内存，即可运行</a:t>
            </a:r>
          </a:p>
        </p:txBody>
      </p:sp>
    </p:spTree>
    <p:extLst>
      <p:ext uri="{BB962C8B-B14F-4D97-AF65-F5344CB8AC3E}">
        <p14:creationId xmlns:p14="http://schemas.microsoft.com/office/powerpoint/2010/main" val="11350377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1">
            <a:extLst>
              <a:ext uri="{FF2B5EF4-FFF2-40B4-BE49-F238E27FC236}">
                <a16:creationId xmlns:a16="http://schemas.microsoft.com/office/drawing/2014/main" id="{57AE42AF-BBE4-0030-B37D-70767164217C}"/>
              </a:ext>
            </a:extLst>
          </p:cNvPr>
          <p:cNvSpPr txBox="1">
            <a:spLocks/>
          </p:cNvSpPr>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3.1.2  </a:t>
            </a:r>
            <a:r>
              <a:rPr lang="zh-CN" altLang="zh-CN" dirty="0"/>
              <a:t>进程状态及状态转换</a:t>
            </a:r>
          </a:p>
        </p:txBody>
      </p:sp>
      <p:sp>
        <p:nvSpPr>
          <p:cNvPr id="7" name="Rectangle 2">
            <a:extLst>
              <a:ext uri="{FF2B5EF4-FFF2-40B4-BE49-F238E27FC236}">
                <a16:creationId xmlns:a16="http://schemas.microsoft.com/office/drawing/2014/main" id="{8F7AEE72-F850-7B27-4D12-8AA1D0979270}"/>
              </a:ext>
            </a:extLst>
          </p:cNvPr>
          <p:cNvSpPr>
            <a:spLocks noChangeArrowheads="1"/>
          </p:cNvSpPr>
          <p:nvPr/>
        </p:nvSpPr>
        <p:spPr bwMode="auto">
          <a:xfrm>
            <a:off x="0" y="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2" name="Rectangle 2">
            <a:extLst>
              <a:ext uri="{FF2B5EF4-FFF2-40B4-BE49-F238E27FC236}">
                <a16:creationId xmlns:a16="http://schemas.microsoft.com/office/drawing/2014/main" id="{98CE8F82-9D2D-7E90-AEB9-F37C8349E9D3}"/>
              </a:ext>
            </a:extLst>
          </p:cNvPr>
          <p:cNvSpPr>
            <a:spLocks noChangeArrowheads="1"/>
          </p:cNvSpPr>
          <p:nvPr/>
        </p:nvSpPr>
        <p:spPr bwMode="auto">
          <a:xfrm>
            <a:off x="3467100" y="1104655"/>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5" name="文本框 4">
            <a:extLst>
              <a:ext uri="{FF2B5EF4-FFF2-40B4-BE49-F238E27FC236}">
                <a16:creationId xmlns:a16="http://schemas.microsoft.com/office/drawing/2014/main" id="{F2D1721F-6D86-84C8-494E-D348F412A72B}"/>
              </a:ext>
            </a:extLst>
          </p:cNvPr>
          <p:cNvSpPr txBox="1"/>
          <p:nvPr/>
        </p:nvSpPr>
        <p:spPr>
          <a:xfrm>
            <a:off x="133350" y="941124"/>
            <a:ext cx="4067175" cy="3477875"/>
          </a:xfrm>
          <a:prstGeom prst="rect">
            <a:avLst/>
          </a:prstGeom>
          <a:noFill/>
        </p:spPr>
        <p:txBody>
          <a:bodyPr wrap="square" rtlCol="0">
            <a:spAutoFit/>
          </a:bodyPr>
          <a:lstStyle/>
          <a:p>
            <a:pPr indent="304800" algn="just"/>
            <a:r>
              <a:rPr lang="zh-CN" altLang="en-US" sz="2200" b="1" kern="100" dirty="0">
                <a:solidFill>
                  <a:schemeClr val="accent1"/>
                </a:solidFill>
                <a:latin typeface="+mn-ea"/>
                <a:cs typeface="Times New Roman" panose="02020603050405020304" pitchFamily="18" charset="0"/>
              </a:rPr>
              <a:t>七状态模型状态转换条件：</a:t>
            </a:r>
            <a:endParaRPr lang="en-US" altLang="zh-CN" sz="2200" b="1" kern="100" dirty="0">
              <a:solidFill>
                <a:schemeClr val="accent1"/>
              </a:solidFill>
              <a:latin typeface="+mn-ea"/>
              <a:cs typeface="Times New Roman" panose="02020603050405020304" pitchFamily="18" charset="0"/>
            </a:endParaRP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1</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）挂起（</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Suspend</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200" kern="1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进程从内存转到外存</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2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kern="100" dirty="0">
                <a:solidFill>
                  <a:schemeClr val="accent2">
                    <a:lumMod val="75000"/>
                  </a:schemeClr>
                </a:solidFill>
                <a:effectLst/>
                <a:latin typeface="微软雅黑" panose="020B0503020204020204" pitchFamily="34" charset="-122"/>
                <a:ea typeface="微软雅黑" panose="020B0503020204020204" pitchFamily="34" charset="-122"/>
                <a:cs typeface="Times New Roman" panose="02020603050405020304" pitchFamily="18" charset="0"/>
              </a:rPr>
              <a:t>阻塞</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到</a:t>
            </a:r>
            <a:r>
              <a:rPr lang="zh-CN" altLang="zh-CN" sz="2200" kern="100" dirty="0">
                <a:solidFill>
                  <a:schemeClr val="accent2">
                    <a:lumMod val="50000"/>
                  </a:schemeClr>
                </a:solidFill>
                <a:effectLst/>
                <a:latin typeface="微软雅黑" panose="020B0503020204020204" pitchFamily="34" charset="-122"/>
                <a:ea typeface="微软雅黑" panose="020B0503020204020204" pitchFamily="34" charset="-122"/>
                <a:cs typeface="Times New Roman" panose="02020603050405020304" pitchFamily="18" charset="0"/>
              </a:rPr>
              <a:t>阻塞挂起</a:t>
            </a:r>
            <a:endParaRPr lang="en-US" altLang="zh-CN" sz="2200" kern="100" dirty="0">
              <a:solidFill>
                <a:schemeClr val="accent2">
                  <a:lumMod val="50000"/>
                </a:schemeClr>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kern="100" dirty="0">
                <a:solidFill>
                  <a:srgbClr val="0070C0"/>
                </a:solidFill>
                <a:effectLst/>
                <a:latin typeface="微软雅黑" panose="020B0503020204020204" pitchFamily="34" charset="-122"/>
                <a:ea typeface="微软雅黑" panose="020B0503020204020204" pitchFamily="34" charset="-122"/>
                <a:cs typeface="Times New Roman" panose="02020603050405020304" pitchFamily="18" charset="0"/>
              </a:rPr>
              <a:t>就绪</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到</a:t>
            </a:r>
            <a:r>
              <a:rPr lang="zh-CN" altLang="zh-CN" sz="2200" kern="100" dirty="0">
                <a:solidFill>
                  <a:srgbClr val="063771"/>
                </a:solidFill>
                <a:effectLst/>
                <a:latin typeface="微软雅黑" panose="020B0503020204020204" pitchFamily="34" charset="-122"/>
                <a:ea typeface="微软雅黑" panose="020B0503020204020204" pitchFamily="34" charset="-122"/>
                <a:cs typeface="Times New Roman" panose="02020603050405020304" pitchFamily="18" charset="0"/>
              </a:rPr>
              <a:t>就绪挂起</a:t>
            </a:r>
            <a:endParaRPr lang="en-US" altLang="zh-CN" sz="2200" kern="100" dirty="0">
              <a:solidFill>
                <a:srgbClr val="06377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kern="100" dirty="0">
                <a:solidFill>
                  <a:srgbClr val="00B050"/>
                </a:solidFill>
                <a:effectLst/>
                <a:latin typeface="微软雅黑" panose="020B0503020204020204" pitchFamily="34" charset="-122"/>
                <a:ea typeface="微软雅黑" panose="020B0503020204020204" pitchFamily="34" charset="-122"/>
                <a:cs typeface="Times New Roman" panose="02020603050405020304" pitchFamily="18" charset="0"/>
              </a:rPr>
              <a:t>运行</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到</a:t>
            </a:r>
            <a:r>
              <a:rPr lang="zh-CN" altLang="zh-CN" sz="2200" kern="100" dirty="0">
                <a:solidFill>
                  <a:srgbClr val="063771"/>
                </a:solidFill>
                <a:effectLst/>
                <a:latin typeface="微软雅黑" panose="020B0503020204020204" pitchFamily="34" charset="-122"/>
                <a:ea typeface="微软雅黑" panose="020B0503020204020204" pitchFamily="34" charset="-122"/>
                <a:cs typeface="Times New Roman" panose="02020603050405020304" pitchFamily="18" charset="0"/>
              </a:rPr>
              <a:t>就绪挂起</a:t>
            </a:r>
            <a:endParaRPr lang="en-US" altLang="zh-CN" sz="2200" kern="100" dirty="0">
              <a:solidFill>
                <a:srgbClr val="06377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2</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）激活（</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Activate</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200" kern="1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进程从外存转到内存</a:t>
            </a:r>
            <a:endParaRPr lang="en-US" altLang="zh-CN" sz="22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200"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kern="100" dirty="0">
                <a:solidFill>
                  <a:srgbClr val="063771"/>
                </a:solidFill>
                <a:effectLst/>
                <a:latin typeface="微软雅黑" panose="020B0503020204020204" pitchFamily="34" charset="-122"/>
                <a:ea typeface="微软雅黑" panose="020B0503020204020204" pitchFamily="34" charset="-122"/>
                <a:cs typeface="Times New Roman" panose="02020603050405020304" pitchFamily="18" charset="0"/>
              </a:rPr>
              <a:t>就绪挂起</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到</a:t>
            </a:r>
            <a:r>
              <a:rPr lang="zh-CN" altLang="zh-CN" sz="2200" kern="100" dirty="0">
                <a:solidFill>
                  <a:srgbClr val="0070C0"/>
                </a:solidFill>
                <a:effectLst/>
                <a:latin typeface="微软雅黑" panose="020B0503020204020204" pitchFamily="34" charset="-122"/>
                <a:ea typeface="微软雅黑" panose="020B0503020204020204" pitchFamily="34" charset="-122"/>
                <a:cs typeface="Times New Roman" panose="02020603050405020304" pitchFamily="18" charset="0"/>
              </a:rPr>
              <a:t>就绪</a:t>
            </a:r>
          </a:p>
          <a:p>
            <a:pPr indent="304800" algn="just"/>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kern="100" dirty="0">
                <a:solidFill>
                  <a:schemeClr val="accent2">
                    <a:lumMod val="50000"/>
                  </a:schemeClr>
                </a:solidFill>
                <a:effectLst/>
                <a:latin typeface="微软雅黑" panose="020B0503020204020204" pitchFamily="34" charset="-122"/>
                <a:ea typeface="微软雅黑" panose="020B0503020204020204" pitchFamily="34" charset="-122"/>
                <a:cs typeface="Times New Roman" panose="02020603050405020304" pitchFamily="18" charset="0"/>
              </a:rPr>
              <a:t>阻塞挂起</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到</a:t>
            </a:r>
            <a:r>
              <a:rPr lang="zh-CN" altLang="zh-CN" sz="2200" kern="100" dirty="0">
                <a:solidFill>
                  <a:schemeClr val="accent2">
                    <a:lumMod val="75000"/>
                  </a:schemeClr>
                </a:solidFill>
                <a:effectLst/>
                <a:latin typeface="微软雅黑" panose="020B0503020204020204" pitchFamily="34" charset="-122"/>
                <a:ea typeface="微软雅黑" panose="020B0503020204020204" pitchFamily="34" charset="-122"/>
                <a:cs typeface="Times New Roman" panose="02020603050405020304" pitchFamily="18" charset="0"/>
              </a:rPr>
              <a:t>阻塞</a:t>
            </a:r>
            <a:endParaRPr lang="en-US" altLang="zh-CN" sz="2200" dirty="0">
              <a:solidFill>
                <a:schemeClr val="accent2">
                  <a:lumMod val="75000"/>
                </a:schemeClr>
              </a:solidFill>
              <a:effectLst/>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8" name="灯片编号占位符 2">
            <a:extLst>
              <a:ext uri="{FF2B5EF4-FFF2-40B4-BE49-F238E27FC236}">
                <a16:creationId xmlns:a16="http://schemas.microsoft.com/office/drawing/2014/main" id="{B82E9F75-F516-4AF5-B665-2CD422B149AD}"/>
              </a:ext>
            </a:extLst>
          </p:cNvPr>
          <p:cNvSpPr>
            <a:spLocks noGrp="1"/>
          </p:cNvSpPr>
          <p:nvPr>
            <p:ph type="sldNum" sz="quarter" idx="4"/>
          </p:nvPr>
        </p:nvSpPr>
        <p:spPr>
          <a:xfrm>
            <a:off x="9005791" y="6394353"/>
            <a:ext cx="2743200" cy="292196"/>
          </a:xfrm>
        </p:spPr>
        <p:txBody>
          <a:bodyPr/>
          <a:lstStyle/>
          <a:p>
            <a:r>
              <a:rPr lang="en-US" altLang="zh-CN"/>
              <a:t>&lt; </a:t>
            </a:r>
            <a:fld id="{A548B57D-AE10-4CF7-A9DF-59FEFA91B28E}" type="slidenum">
              <a:rPr lang="zh-CN" altLang="en-US" smtClean="0"/>
              <a:pPr/>
              <a:t>16</a:t>
            </a:fld>
            <a:r>
              <a:rPr lang="zh-CN" altLang="en-US"/>
              <a:t> </a:t>
            </a:r>
            <a:r>
              <a:rPr lang="en-US" altLang="zh-CN"/>
              <a:t>&gt;</a:t>
            </a:r>
            <a:endParaRPr lang="zh-CN" altLang="en-US" dirty="0"/>
          </a:p>
        </p:txBody>
      </p:sp>
      <p:pic>
        <p:nvPicPr>
          <p:cNvPr id="4" name="图片 3">
            <a:extLst>
              <a:ext uri="{FF2B5EF4-FFF2-40B4-BE49-F238E27FC236}">
                <a16:creationId xmlns:a16="http://schemas.microsoft.com/office/drawing/2014/main" id="{D562EBAA-BD34-48CE-89D9-6117540F1E7A}"/>
              </a:ext>
            </a:extLst>
          </p:cNvPr>
          <p:cNvPicPr>
            <a:picLocks noChangeAspect="1"/>
          </p:cNvPicPr>
          <p:nvPr/>
        </p:nvPicPr>
        <p:blipFill>
          <a:blip r:embed="rId2"/>
          <a:stretch>
            <a:fillRect/>
          </a:stretch>
        </p:blipFill>
        <p:spPr>
          <a:xfrm>
            <a:off x="3743325" y="1558559"/>
            <a:ext cx="8315325" cy="4592225"/>
          </a:xfrm>
          <a:prstGeom prst="rect">
            <a:avLst/>
          </a:prstGeom>
        </p:spPr>
      </p:pic>
    </p:spTree>
    <p:extLst>
      <p:ext uri="{BB962C8B-B14F-4D97-AF65-F5344CB8AC3E}">
        <p14:creationId xmlns:p14="http://schemas.microsoft.com/office/powerpoint/2010/main" val="404335037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1">
            <a:extLst>
              <a:ext uri="{FF2B5EF4-FFF2-40B4-BE49-F238E27FC236}">
                <a16:creationId xmlns:a16="http://schemas.microsoft.com/office/drawing/2014/main" id="{57AE42AF-BBE4-0030-B37D-70767164217C}"/>
              </a:ext>
            </a:extLst>
          </p:cNvPr>
          <p:cNvSpPr txBox="1">
            <a:spLocks/>
          </p:cNvSpPr>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3.1.2  </a:t>
            </a:r>
            <a:r>
              <a:rPr lang="zh-CN" altLang="zh-CN" dirty="0"/>
              <a:t>进程状态及状态转换</a:t>
            </a:r>
          </a:p>
        </p:txBody>
      </p:sp>
      <p:sp>
        <p:nvSpPr>
          <p:cNvPr id="7" name="Rectangle 2">
            <a:extLst>
              <a:ext uri="{FF2B5EF4-FFF2-40B4-BE49-F238E27FC236}">
                <a16:creationId xmlns:a16="http://schemas.microsoft.com/office/drawing/2014/main" id="{8F7AEE72-F850-7B27-4D12-8AA1D0979270}"/>
              </a:ext>
            </a:extLst>
          </p:cNvPr>
          <p:cNvSpPr>
            <a:spLocks noChangeArrowheads="1"/>
          </p:cNvSpPr>
          <p:nvPr/>
        </p:nvSpPr>
        <p:spPr bwMode="auto">
          <a:xfrm>
            <a:off x="0" y="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2" name="Rectangle 2">
            <a:extLst>
              <a:ext uri="{FF2B5EF4-FFF2-40B4-BE49-F238E27FC236}">
                <a16:creationId xmlns:a16="http://schemas.microsoft.com/office/drawing/2014/main" id="{98CE8F82-9D2D-7E90-AEB9-F37C8349E9D3}"/>
              </a:ext>
            </a:extLst>
          </p:cNvPr>
          <p:cNvSpPr>
            <a:spLocks noChangeArrowheads="1"/>
          </p:cNvSpPr>
          <p:nvPr/>
        </p:nvSpPr>
        <p:spPr bwMode="auto">
          <a:xfrm>
            <a:off x="3467100" y="1104655"/>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8" name="灯片编号占位符 2">
            <a:extLst>
              <a:ext uri="{FF2B5EF4-FFF2-40B4-BE49-F238E27FC236}">
                <a16:creationId xmlns:a16="http://schemas.microsoft.com/office/drawing/2014/main" id="{B82E9F75-F516-4AF5-B665-2CD422B149AD}"/>
              </a:ext>
            </a:extLst>
          </p:cNvPr>
          <p:cNvSpPr>
            <a:spLocks noGrp="1"/>
          </p:cNvSpPr>
          <p:nvPr>
            <p:ph type="sldNum" sz="quarter" idx="4"/>
          </p:nvPr>
        </p:nvSpPr>
        <p:spPr>
          <a:xfrm>
            <a:off x="9005791" y="6394353"/>
            <a:ext cx="2743200" cy="292196"/>
          </a:xfrm>
        </p:spPr>
        <p:txBody>
          <a:bodyPr/>
          <a:lstStyle/>
          <a:p>
            <a:r>
              <a:rPr lang="en-US" altLang="zh-CN"/>
              <a:t>&lt; </a:t>
            </a:r>
            <a:fld id="{A548B57D-AE10-4CF7-A9DF-59FEFA91B28E}" type="slidenum">
              <a:rPr lang="zh-CN" altLang="en-US" smtClean="0"/>
              <a:pPr/>
              <a:t>17</a:t>
            </a:fld>
            <a:r>
              <a:rPr lang="zh-CN" altLang="en-US"/>
              <a:t> </a:t>
            </a:r>
            <a:r>
              <a:rPr lang="en-US" altLang="zh-CN"/>
              <a:t>&gt;</a:t>
            </a:r>
            <a:endParaRPr lang="zh-CN" altLang="en-US" dirty="0"/>
          </a:p>
        </p:txBody>
      </p:sp>
      <p:pic>
        <p:nvPicPr>
          <p:cNvPr id="4" name="图片 3">
            <a:extLst>
              <a:ext uri="{FF2B5EF4-FFF2-40B4-BE49-F238E27FC236}">
                <a16:creationId xmlns:a16="http://schemas.microsoft.com/office/drawing/2014/main" id="{D562EBAA-BD34-48CE-89D9-6117540F1E7A}"/>
              </a:ext>
            </a:extLst>
          </p:cNvPr>
          <p:cNvPicPr>
            <a:picLocks noChangeAspect="1"/>
          </p:cNvPicPr>
          <p:nvPr/>
        </p:nvPicPr>
        <p:blipFill>
          <a:blip r:embed="rId2"/>
          <a:stretch>
            <a:fillRect/>
          </a:stretch>
        </p:blipFill>
        <p:spPr>
          <a:xfrm>
            <a:off x="3548064" y="1827873"/>
            <a:ext cx="8315325" cy="4592225"/>
          </a:xfrm>
          <a:prstGeom prst="rect">
            <a:avLst/>
          </a:prstGeom>
        </p:spPr>
      </p:pic>
      <p:sp>
        <p:nvSpPr>
          <p:cNvPr id="9" name="文本框 8">
            <a:extLst>
              <a:ext uri="{FF2B5EF4-FFF2-40B4-BE49-F238E27FC236}">
                <a16:creationId xmlns:a16="http://schemas.microsoft.com/office/drawing/2014/main" id="{A39D8386-5C53-4712-9850-71544E73CB88}"/>
              </a:ext>
            </a:extLst>
          </p:cNvPr>
          <p:cNvSpPr txBox="1"/>
          <p:nvPr/>
        </p:nvSpPr>
        <p:spPr>
          <a:xfrm>
            <a:off x="233363" y="966787"/>
            <a:ext cx="5014911" cy="2800767"/>
          </a:xfrm>
          <a:prstGeom prst="rect">
            <a:avLst/>
          </a:prstGeom>
          <a:noFill/>
        </p:spPr>
        <p:txBody>
          <a:bodyPr wrap="square">
            <a:spAutoFit/>
          </a:bodyPr>
          <a:lstStyle/>
          <a:p>
            <a:pPr indent="304800" algn="just"/>
            <a:r>
              <a:rPr lang="zh-CN" altLang="en-US" sz="2200" b="1" kern="100" dirty="0">
                <a:solidFill>
                  <a:schemeClr val="accent1"/>
                </a:solidFill>
                <a:latin typeface="+mn-ea"/>
                <a:cs typeface="Times New Roman" panose="02020603050405020304" pitchFamily="18" charset="0"/>
              </a:rPr>
              <a:t>七状态模型状态转换条件：</a:t>
            </a:r>
            <a:endParaRPr lang="en-US" altLang="zh-CN" sz="22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2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200" dirty="0">
                <a:effectLst/>
                <a:latin typeface="微软雅黑" panose="020B0503020204020204" pitchFamily="34" charset="-122"/>
                <a:ea typeface="微软雅黑" panose="020B0503020204020204" pitchFamily="34" charset="-122"/>
              </a:rPr>
              <a:t>3</a:t>
            </a:r>
            <a:r>
              <a:rPr lang="zh-CN" altLang="zh-CN" sz="2200" dirty="0">
                <a:effectLst/>
                <a:latin typeface="微软雅黑" panose="020B0503020204020204" pitchFamily="34" charset="-122"/>
                <a:ea typeface="微软雅黑" panose="020B0503020204020204" pitchFamily="34" charset="-122"/>
                <a:cs typeface="Times New Roman" panose="02020603050405020304" pitchFamily="18" charset="0"/>
              </a:rPr>
              <a:t>）事件出现（</a:t>
            </a:r>
            <a:r>
              <a:rPr lang="en-US" altLang="zh-CN" sz="2200" dirty="0">
                <a:effectLst/>
                <a:latin typeface="微软雅黑" panose="020B0503020204020204" pitchFamily="34" charset="-122"/>
                <a:ea typeface="微软雅黑" panose="020B0503020204020204" pitchFamily="34" charset="-122"/>
              </a:rPr>
              <a:t>Event Occurs</a:t>
            </a:r>
            <a:r>
              <a:rPr lang="zh-CN" altLang="zh-CN" sz="22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2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2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dirty="0">
                <a:effectLst/>
                <a:latin typeface="微软雅黑" panose="020B0503020204020204" pitchFamily="34" charset="-122"/>
                <a:ea typeface="微软雅黑" panose="020B0503020204020204" pitchFamily="34" charset="-122"/>
                <a:cs typeface="Times New Roman" panose="02020603050405020304" pitchFamily="18" charset="0"/>
              </a:rPr>
              <a:t>等待的事件出现</a:t>
            </a:r>
            <a:endPar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2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kern="100" dirty="0">
                <a:solidFill>
                  <a:schemeClr val="accent2">
                    <a:lumMod val="75000"/>
                  </a:schemeClr>
                </a:solidFill>
                <a:effectLst/>
                <a:latin typeface="微软雅黑" panose="020B0503020204020204" pitchFamily="34" charset="-122"/>
                <a:ea typeface="微软雅黑" panose="020B0503020204020204" pitchFamily="34" charset="-122"/>
                <a:cs typeface="Times New Roman" panose="02020603050405020304" pitchFamily="18" charset="0"/>
              </a:rPr>
              <a:t>阻塞</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到</a:t>
            </a:r>
            <a:r>
              <a:rPr lang="zh-CN" altLang="zh-CN" sz="2200" kern="100" dirty="0">
                <a:solidFill>
                  <a:srgbClr val="00B050"/>
                </a:solidFill>
                <a:effectLst/>
                <a:latin typeface="微软雅黑" panose="020B0503020204020204" pitchFamily="34" charset="-122"/>
                <a:ea typeface="微软雅黑" panose="020B0503020204020204" pitchFamily="34" charset="-122"/>
                <a:cs typeface="Times New Roman" panose="02020603050405020304" pitchFamily="18" charset="0"/>
              </a:rPr>
              <a:t>就绪</a:t>
            </a:r>
          </a:p>
          <a:p>
            <a:pPr indent="304800" algn="just"/>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kern="100" dirty="0">
                <a:solidFill>
                  <a:schemeClr val="accent2">
                    <a:lumMod val="50000"/>
                  </a:schemeClr>
                </a:solidFill>
                <a:effectLst/>
                <a:latin typeface="微软雅黑" panose="020B0503020204020204" pitchFamily="34" charset="-122"/>
                <a:ea typeface="微软雅黑" panose="020B0503020204020204" pitchFamily="34" charset="-122"/>
                <a:cs typeface="Times New Roman" panose="02020603050405020304" pitchFamily="18" charset="0"/>
              </a:rPr>
              <a:t>阻塞挂起</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到</a:t>
            </a:r>
            <a:r>
              <a:rPr lang="zh-CN" altLang="zh-CN" sz="2200" kern="100" dirty="0">
                <a:solidFill>
                  <a:schemeClr val="accent3">
                    <a:lumMod val="75000"/>
                  </a:schemeClr>
                </a:solidFill>
                <a:effectLst/>
                <a:latin typeface="微软雅黑" panose="020B0503020204020204" pitchFamily="34" charset="-122"/>
                <a:ea typeface="微软雅黑" panose="020B0503020204020204" pitchFamily="34" charset="-122"/>
                <a:cs typeface="Times New Roman" panose="02020603050405020304" pitchFamily="18" charset="0"/>
              </a:rPr>
              <a:t>就绪挂起</a:t>
            </a:r>
            <a:endParaRPr lang="en-US" altLang="zh-CN" sz="2200" dirty="0">
              <a:solidFill>
                <a:schemeClr val="accent3">
                  <a:lumMod val="75000"/>
                </a:schemeClr>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2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200" dirty="0">
                <a:effectLst/>
                <a:latin typeface="微软雅黑" panose="020B0503020204020204" pitchFamily="34" charset="-122"/>
                <a:ea typeface="微软雅黑" panose="020B0503020204020204" pitchFamily="34" charset="-122"/>
              </a:rPr>
              <a:t>4</a:t>
            </a:r>
            <a:r>
              <a:rPr lang="zh-CN" altLang="zh-CN" sz="2200" dirty="0">
                <a:effectLst/>
                <a:latin typeface="微软雅黑" panose="020B0503020204020204" pitchFamily="34" charset="-122"/>
                <a:ea typeface="微软雅黑" panose="020B0503020204020204" pitchFamily="34" charset="-122"/>
                <a:cs typeface="Times New Roman" panose="02020603050405020304" pitchFamily="18" charset="0"/>
              </a:rPr>
              <a:t>）提交（</a:t>
            </a:r>
            <a:r>
              <a:rPr lang="en-US" altLang="zh-CN" sz="2200" dirty="0">
                <a:effectLst/>
                <a:latin typeface="微软雅黑" panose="020B0503020204020204" pitchFamily="34" charset="-122"/>
                <a:ea typeface="微软雅黑" panose="020B0503020204020204" pitchFamily="34" charset="-122"/>
              </a:rPr>
              <a:t>Admit</a:t>
            </a:r>
            <a:r>
              <a:rPr lang="zh-CN" altLang="zh-CN" sz="22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2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2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dirty="0">
                <a:effectLst/>
                <a:latin typeface="微软雅黑" panose="020B0503020204020204" pitchFamily="34" charset="-122"/>
                <a:ea typeface="微软雅黑" panose="020B0503020204020204" pitchFamily="34" charset="-122"/>
                <a:cs typeface="Times New Roman" panose="02020603050405020304" pitchFamily="18" charset="0"/>
              </a:rPr>
              <a:t>完成</a:t>
            </a:r>
            <a:r>
              <a:rPr lang="zh-CN" altLang="zh-CN" sz="2200" dirty="0">
                <a:solidFill>
                  <a:srgbClr val="7030A0"/>
                </a:solidFill>
                <a:effectLst/>
                <a:latin typeface="微软雅黑" panose="020B0503020204020204" pitchFamily="34" charset="-122"/>
                <a:ea typeface="微软雅黑" panose="020B0503020204020204" pitchFamily="34" charset="-122"/>
                <a:cs typeface="Times New Roman" panose="02020603050405020304" pitchFamily="18" charset="0"/>
              </a:rPr>
              <a:t>创建</a:t>
            </a:r>
            <a:r>
              <a:rPr lang="zh-CN" altLang="zh-CN" sz="2200" dirty="0">
                <a:effectLst/>
                <a:latin typeface="微软雅黑" panose="020B0503020204020204" pitchFamily="34" charset="-122"/>
                <a:ea typeface="微软雅黑" panose="020B0503020204020204" pitchFamily="34" charset="-122"/>
                <a:cs typeface="Times New Roman" panose="02020603050405020304" pitchFamily="18" charset="0"/>
              </a:rPr>
              <a:t>过程</a:t>
            </a:r>
            <a:endParaRPr lang="en-US" altLang="zh-CN" sz="22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2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dirty="0">
                <a:effectLst/>
                <a:latin typeface="微软雅黑" panose="020B0503020204020204" pitchFamily="34" charset="-122"/>
                <a:ea typeface="微软雅黑" panose="020B0503020204020204" pitchFamily="34" charset="-122"/>
                <a:cs typeface="Times New Roman" panose="02020603050405020304" pitchFamily="18" charset="0"/>
              </a:rPr>
              <a:t>进入</a:t>
            </a:r>
            <a:r>
              <a:rPr lang="zh-CN" altLang="zh-CN" sz="2200" dirty="0">
                <a:solidFill>
                  <a:srgbClr val="0070C0"/>
                </a:solidFill>
                <a:effectLst/>
                <a:latin typeface="微软雅黑" panose="020B0503020204020204" pitchFamily="34" charset="-122"/>
                <a:ea typeface="微软雅黑" panose="020B0503020204020204" pitchFamily="34" charset="-122"/>
                <a:cs typeface="Times New Roman" panose="02020603050405020304" pitchFamily="18" charset="0"/>
              </a:rPr>
              <a:t>就绪状态</a:t>
            </a:r>
            <a:r>
              <a:rPr lang="zh-CN" altLang="zh-CN" sz="2200" dirty="0">
                <a:effectLst/>
                <a:latin typeface="微软雅黑" panose="020B0503020204020204" pitchFamily="34" charset="-122"/>
                <a:ea typeface="微软雅黑" panose="020B0503020204020204" pitchFamily="34" charset="-122"/>
                <a:cs typeface="Times New Roman" panose="02020603050405020304" pitchFamily="18" charset="0"/>
              </a:rPr>
              <a:t>或</a:t>
            </a:r>
            <a:r>
              <a:rPr lang="zh-CN" altLang="zh-CN" sz="2200" dirty="0">
                <a:solidFill>
                  <a:srgbClr val="063771"/>
                </a:solidFill>
                <a:effectLst/>
                <a:latin typeface="微软雅黑" panose="020B0503020204020204" pitchFamily="34" charset="-122"/>
                <a:ea typeface="微软雅黑" panose="020B0503020204020204" pitchFamily="34" charset="-122"/>
                <a:cs typeface="Times New Roman" panose="02020603050405020304" pitchFamily="18" charset="0"/>
              </a:rPr>
              <a:t>就绪挂起状态</a:t>
            </a:r>
            <a:endParaRPr kumimoji="1" lang="zh-CN" altLang="en-US" sz="2200" dirty="0">
              <a:solidFill>
                <a:srgbClr val="063771"/>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40248323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1">
            <a:extLst>
              <a:ext uri="{FF2B5EF4-FFF2-40B4-BE49-F238E27FC236}">
                <a16:creationId xmlns:a16="http://schemas.microsoft.com/office/drawing/2014/main" id="{57AE42AF-BBE4-0030-B37D-70767164217C}"/>
              </a:ext>
            </a:extLst>
          </p:cNvPr>
          <p:cNvSpPr txBox="1">
            <a:spLocks/>
          </p:cNvSpPr>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3.1.3  </a:t>
            </a:r>
            <a:r>
              <a:rPr lang="zh-CN" altLang="zh-CN" dirty="0"/>
              <a:t>进程</a:t>
            </a:r>
            <a:r>
              <a:rPr lang="zh-CN" altLang="en-US" dirty="0"/>
              <a:t>控制块</a:t>
            </a:r>
            <a:endParaRPr lang="zh-CN" altLang="zh-CN" dirty="0"/>
          </a:p>
        </p:txBody>
      </p:sp>
      <p:sp>
        <p:nvSpPr>
          <p:cNvPr id="7" name="Rectangle 2">
            <a:extLst>
              <a:ext uri="{FF2B5EF4-FFF2-40B4-BE49-F238E27FC236}">
                <a16:creationId xmlns:a16="http://schemas.microsoft.com/office/drawing/2014/main" id="{8F7AEE72-F850-7B27-4D12-8AA1D0979270}"/>
              </a:ext>
            </a:extLst>
          </p:cNvPr>
          <p:cNvSpPr>
            <a:spLocks noChangeArrowheads="1"/>
          </p:cNvSpPr>
          <p:nvPr/>
        </p:nvSpPr>
        <p:spPr bwMode="auto">
          <a:xfrm>
            <a:off x="0" y="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2" name="Rectangle 2">
            <a:extLst>
              <a:ext uri="{FF2B5EF4-FFF2-40B4-BE49-F238E27FC236}">
                <a16:creationId xmlns:a16="http://schemas.microsoft.com/office/drawing/2014/main" id="{98CE8F82-9D2D-7E90-AEB9-F37C8349E9D3}"/>
              </a:ext>
            </a:extLst>
          </p:cNvPr>
          <p:cNvSpPr>
            <a:spLocks noChangeArrowheads="1"/>
          </p:cNvSpPr>
          <p:nvPr/>
        </p:nvSpPr>
        <p:spPr bwMode="auto">
          <a:xfrm>
            <a:off x="3467100" y="1104655"/>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文本框 3">
            <a:extLst>
              <a:ext uri="{FF2B5EF4-FFF2-40B4-BE49-F238E27FC236}">
                <a16:creationId xmlns:a16="http://schemas.microsoft.com/office/drawing/2014/main" id="{6DC0870C-6617-E256-6FCB-6458C5700244}"/>
              </a:ext>
            </a:extLst>
          </p:cNvPr>
          <p:cNvSpPr txBox="1"/>
          <p:nvPr/>
        </p:nvSpPr>
        <p:spPr>
          <a:xfrm>
            <a:off x="335756" y="1770659"/>
            <a:ext cx="11520487" cy="2677656"/>
          </a:xfrm>
          <a:prstGeom prst="rect">
            <a:avLst/>
          </a:prstGeom>
          <a:noFill/>
        </p:spPr>
        <p:txBody>
          <a:bodyPr wrap="square">
            <a:spAutoFit/>
          </a:bodyPr>
          <a:lstStyle/>
          <a:p>
            <a:pPr indent="304800" algn="just"/>
            <a:r>
              <a:rPr lang="zh-CN"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进程控制块（</a:t>
            </a:r>
            <a:r>
              <a:rPr lang="en-US"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Process Control Block</a:t>
            </a:r>
            <a:r>
              <a:rPr lang="zh-CN"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2400" b="1" kern="100" dirty="0">
                <a:solidFill>
                  <a:schemeClr val="accent1"/>
                </a:solidFill>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b="1" kern="100" dirty="0">
              <a:solidFill>
                <a:schemeClr val="accent1"/>
              </a:solidFill>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描述进程的基本情况以及进程的运行变化过程</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是进程存在的惟一标志</a:t>
            </a:r>
            <a:endParaRPr lang="en-US"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当系统创建一个进程时，为进程设置一个</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，再利用</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对进程进行控制和管理</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撤消进程时，系统收回它的</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，进程也随之消亡</a:t>
            </a:r>
          </a:p>
        </p:txBody>
      </p:sp>
      <p:sp>
        <p:nvSpPr>
          <p:cNvPr id="8" name="灯片编号占位符 2">
            <a:extLst>
              <a:ext uri="{FF2B5EF4-FFF2-40B4-BE49-F238E27FC236}">
                <a16:creationId xmlns:a16="http://schemas.microsoft.com/office/drawing/2014/main" id="{C0A250CE-A4F8-4FD8-9DE7-B8DDF6400340}"/>
              </a:ext>
            </a:extLst>
          </p:cNvPr>
          <p:cNvSpPr>
            <a:spLocks noGrp="1"/>
          </p:cNvSpPr>
          <p:nvPr>
            <p:ph type="sldNum" sz="quarter" idx="4"/>
          </p:nvPr>
        </p:nvSpPr>
        <p:spPr>
          <a:xfrm>
            <a:off x="9005791" y="6394353"/>
            <a:ext cx="2743200" cy="292196"/>
          </a:xfrm>
        </p:spPr>
        <p:txBody>
          <a:bodyPr/>
          <a:lstStyle/>
          <a:p>
            <a:r>
              <a:rPr lang="en-US" altLang="zh-CN"/>
              <a:t>&lt; </a:t>
            </a:r>
            <a:fld id="{A548B57D-AE10-4CF7-A9DF-59FEFA91B28E}" type="slidenum">
              <a:rPr lang="zh-CN" altLang="en-US" smtClean="0"/>
              <a:pPr/>
              <a:t>18</a:t>
            </a:fld>
            <a:r>
              <a:rPr lang="zh-CN" altLang="en-US"/>
              <a:t> </a:t>
            </a:r>
            <a:r>
              <a:rPr lang="en-US" altLang="zh-CN"/>
              <a:t>&gt;</a:t>
            </a:r>
            <a:endParaRPr lang="zh-CN" altLang="en-US" dirty="0"/>
          </a:p>
        </p:txBody>
      </p:sp>
    </p:spTree>
    <p:extLst>
      <p:ext uri="{BB962C8B-B14F-4D97-AF65-F5344CB8AC3E}">
        <p14:creationId xmlns:p14="http://schemas.microsoft.com/office/powerpoint/2010/main" val="41732804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1">
            <a:extLst>
              <a:ext uri="{FF2B5EF4-FFF2-40B4-BE49-F238E27FC236}">
                <a16:creationId xmlns:a16="http://schemas.microsoft.com/office/drawing/2014/main" id="{57AE42AF-BBE4-0030-B37D-70767164217C}"/>
              </a:ext>
            </a:extLst>
          </p:cNvPr>
          <p:cNvSpPr txBox="1">
            <a:spLocks/>
          </p:cNvSpPr>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3.1.3  </a:t>
            </a:r>
            <a:r>
              <a:rPr lang="zh-CN" altLang="zh-CN" dirty="0"/>
              <a:t>进程</a:t>
            </a:r>
            <a:r>
              <a:rPr lang="zh-CN" altLang="en-US" dirty="0"/>
              <a:t>控制块</a:t>
            </a:r>
            <a:endParaRPr lang="zh-CN" altLang="zh-CN" dirty="0"/>
          </a:p>
        </p:txBody>
      </p:sp>
      <p:sp>
        <p:nvSpPr>
          <p:cNvPr id="7" name="Rectangle 2">
            <a:extLst>
              <a:ext uri="{FF2B5EF4-FFF2-40B4-BE49-F238E27FC236}">
                <a16:creationId xmlns:a16="http://schemas.microsoft.com/office/drawing/2014/main" id="{8F7AEE72-F850-7B27-4D12-8AA1D0979270}"/>
              </a:ext>
            </a:extLst>
          </p:cNvPr>
          <p:cNvSpPr>
            <a:spLocks noChangeArrowheads="1"/>
          </p:cNvSpPr>
          <p:nvPr/>
        </p:nvSpPr>
        <p:spPr bwMode="auto">
          <a:xfrm>
            <a:off x="0" y="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2" name="Rectangle 2">
            <a:extLst>
              <a:ext uri="{FF2B5EF4-FFF2-40B4-BE49-F238E27FC236}">
                <a16:creationId xmlns:a16="http://schemas.microsoft.com/office/drawing/2014/main" id="{98CE8F82-9D2D-7E90-AEB9-F37C8349E9D3}"/>
              </a:ext>
            </a:extLst>
          </p:cNvPr>
          <p:cNvSpPr>
            <a:spLocks noChangeArrowheads="1"/>
          </p:cNvSpPr>
          <p:nvPr/>
        </p:nvSpPr>
        <p:spPr bwMode="auto">
          <a:xfrm>
            <a:off x="3467100" y="1104655"/>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5" name="文本框 4">
            <a:extLst>
              <a:ext uri="{FF2B5EF4-FFF2-40B4-BE49-F238E27FC236}">
                <a16:creationId xmlns:a16="http://schemas.microsoft.com/office/drawing/2014/main" id="{7F2604DA-A985-B47A-5F31-F18F6DFF2CE1}"/>
              </a:ext>
            </a:extLst>
          </p:cNvPr>
          <p:cNvSpPr txBox="1"/>
          <p:nvPr/>
        </p:nvSpPr>
        <p:spPr>
          <a:xfrm>
            <a:off x="538734" y="1348224"/>
            <a:ext cx="11114532" cy="4524315"/>
          </a:xfrm>
          <a:prstGeom prst="rect">
            <a:avLst/>
          </a:prstGeom>
          <a:noFill/>
        </p:spPr>
        <p:txBody>
          <a:bodyPr wrap="square">
            <a:spAutoFit/>
          </a:bodyPr>
          <a:lstStyle/>
          <a:p>
            <a:pPr marL="342900" lvl="0" indent="-342900" algn="just">
              <a:buFont typeface="Times New Roman" panose="02020603050405020304" pitchFamily="18" charset="0"/>
              <a:buAutoNum type="arabicPeriod"/>
            </a:pPr>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的内容</a:t>
            </a:r>
            <a:endPar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marL="342900" lvl="0" indent="-342900" algn="just">
              <a:buFont typeface="Times New Roman" panose="02020603050405020304" pitchFamily="18" charset="0"/>
              <a:buAutoNum type="arabicPeriod"/>
            </a:pPr>
            <a:endPar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的内容可以分成</a:t>
            </a:r>
            <a:r>
              <a:rPr lang="zh-CN"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调度信息</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和</a:t>
            </a:r>
            <a:r>
              <a:rPr lang="zh-CN"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现场信息</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两大部分</a:t>
            </a: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调度信息</a:t>
            </a:r>
            <a:r>
              <a:rPr lang="zh-CN" altLang="en-US" sz="2400" b="1"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供进程调度时使用，描述进程当前所处的状况</a:t>
            </a:r>
            <a:endParaRPr lang="en-US"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进程名、进程号、存储信息、优先级、当前状态、资源清单、</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“家族”关系、消息队列指针、进程队列指针和当前打开文件等</a:t>
            </a: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现场信息</a:t>
            </a:r>
            <a:r>
              <a:rPr lang="zh-CN" altLang="en-US" sz="2400" b="1"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刻画进程的运行情况</a:t>
            </a:r>
            <a:endParaRPr lang="en-US" altLang="zh-CN" sz="2400" b="1"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程序状态字、时钟、界地址寄存器等</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一旦中断进程的运行，必须把中断时刻的</a:t>
            </a:r>
            <a:r>
              <a:rPr lang="zh-CN" altLang="en-US"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内容</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记入进程控制块的现场信息</a:t>
            </a:r>
          </a:p>
        </p:txBody>
      </p:sp>
      <p:sp>
        <p:nvSpPr>
          <p:cNvPr id="8" name="灯片编号占位符 2">
            <a:extLst>
              <a:ext uri="{FF2B5EF4-FFF2-40B4-BE49-F238E27FC236}">
                <a16:creationId xmlns:a16="http://schemas.microsoft.com/office/drawing/2014/main" id="{B29887F4-E3D4-4254-B9F0-4A55ADBC3C35}"/>
              </a:ext>
            </a:extLst>
          </p:cNvPr>
          <p:cNvSpPr>
            <a:spLocks noGrp="1"/>
          </p:cNvSpPr>
          <p:nvPr>
            <p:ph type="sldNum" sz="quarter" idx="4"/>
          </p:nvPr>
        </p:nvSpPr>
        <p:spPr>
          <a:xfrm>
            <a:off x="9005791" y="6394353"/>
            <a:ext cx="2743200" cy="292196"/>
          </a:xfrm>
        </p:spPr>
        <p:txBody>
          <a:bodyPr/>
          <a:lstStyle/>
          <a:p>
            <a:r>
              <a:rPr lang="en-US" altLang="zh-CN"/>
              <a:t>&lt; </a:t>
            </a:r>
            <a:fld id="{A548B57D-AE10-4CF7-A9DF-59FEFA91B28E}" type="slidenum">
              <a:rPr lang="zh-CN" altLang="en-US" smtClean="0"/>
              <a:pPr/>
              <a:t>19</a:t>
            </a:fld>
            <a:r>
              <a:rPr lang="zh-CN" altLang="en-US"/>
              <a:t> </a:t>
            </a:r>
            <a:r>
              <a:rPr lang="en-US" altLang="zh-CN"/>
              <a:t>&gt;</a:t>
            </a:r>
            <a:endParaRPr lang="zh-CN" altLang="en-US" dirty="0"/>
          </a:p>
        </p:txBody>
      </p:sp>
    </p:spTree>
    <p:extLst>
      <p:ext uri="{BB962C8B-B14F-4D97-AF65-F5344CB8AC3E}">
        <p14:creationId xmlns:p14="http://schemas.microsoft.com/office/powerpoint/2010/main" val="366203171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1">
            <a:extLst>
              <a:ext uri="{FF2B5EF4-FFF2-40B4-BE49-F238E27FC236}">
                <a16:creationId xmlns:a16="http://schemas.microsoft.com/office/drawing/2014/main" id="{57AE42AF-BBE4-0030-B37D-70767164217C}"/>
              </a:ext>
            </a:extLst>
          </p:cNvPr>
          <p:cNvSpPr txBox="1">
            <a:spLocks/>
          </p:cNvSpPr>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3.1.3  </a:t>
            </a:r>
            <a:r>
              <a:rPr lang="zh-CN" altLang="zh-CN" dirty="0"/>
              <a:t>进程</a:t>
            </a:r>
            <a:r>
              <a:rPr lang="zh-CN" altLang="en-US" dirty="0"/>
              <a:t>控制块</a:t>
            </a:r>
            <a:endParaRPr lang="zh-CN" altLang="zh-CN" dirty="0"/>
          </a:p>
        </p:txBody>
      </p:sp>
      <p:sp>
        <p:nvSpPr>
          <p:cNvPr id="7" name="Rectangle 2">
            <a:extLst>
              <a:ext uri="{FF2B5EF4-FFF2-40B4-BE49-F238E27FC236}">
                <a16:creationId xmlns:a16="http://schemas.microsoft.com/office/drawing/2014/main" id="{8F7AEE72-F850-7B27-4D12-8AA1D0979270}"/>
              </a:ext>
            </a:extLst>
          </p:cNvPr>
          <p:cNvSpPr>
            <a:spLocks noChangeArrowheads="1"/>
          </p:cNvSpPr>
          <p:nvPr/>
        </p:nvSpPr>
        <p:spPr bwMode="auto">
          <a:xfrm>
            <a:off x="0" y="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2" name="Rectangle 2">
            <a:extLst>
              <a:ext uri="{FF2B5EF4-FFF2-40B4-BE49-F238E27FC236}">
                <a16:creationId xmlns:a16="http://schemas.microsoft.com/office/drawing/2014/main" id="{98CE8F82-9D2D-7E90-AEB9-F37C8349E9D3}"/>
              </a:ext>
            </a:extLst>
          </p:cNvPr>
          <p:cNvSpPr>
            <a:spLocks noChangeArrowheads="1"/>
          </p:cNvSpPr>
          <p:nvPr/>
        </p:nvSpPr>
        <p:spPr bwMode="auto">
          <a:xfrm>
            <a:off x="3467100" y="1104655"/>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文本框 3">
            <a:extLst>
              <a:ext uri="{FF2B5EF4-FFF2-40B4-BE49-F238E27FC236}">
                <a16:creationId xmlns:a16="http://schemas.microsoft.com/office/drawing/2014/main" id="{8CF9CC44-99B3-7A6F-8CD0-1834C7CB7861}"/>
              </a:ext>
            </a:extLst>
          </p:cNvPr>
          <p:cNvSpPr txBox="1"/>
          <p:nvPr/>
        </p:nvSpPr>
        <p:spPr>
          <a:xfrm>
            <a:off x="592164" y="1750722"/>
            <a:ext cx="6589686" cy="3785652"/>
          </a:xfrm>
          <a:prstGeom prst="rect">
            <a:avLst/>
          </a:prstGeom>
          <a:noFill/>
        </p:spPr>
        <p:txBody>
          <a:bodyPr wrap="square">
            <a:spAutoFit/>
          </a:bodyPr>
          <a:lstStyle/>
          <a:p>
            <a:pPr marL="342900" lvl="0" indent="-342900" algn="just">
              <a:buAutoNum type="arabicPeriod" startAt="2"/>
            </a:pPr>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进程的组成</a:t>
            </a:r>
            <a:endPar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marL="342900" lvl="0" indent="-342900" algn="just">
              <a:buAutoNum type="arabicPeriod" startAt="2"/>
            </a:pPr>
            <a:endPar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进程由</a:t>
            </a:r>
            <a:r>
              <a:rPr lang="zh-CN"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程序、数据</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和</a:t>
            </a:r>
            <a:r>
              <a:rPr lang="zh-CN"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进程控制块</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三部分组成</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存有进程的地址信息</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程序描述了进程要实现的功能</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数据是程序操作的对象</a:t>
            </a:r>
          </a:p>
          <a:p>
            <a:pPr indent="304800"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8" name="灯片编号占位符 2">
            <a:extLst>
              <a:ext uri="{FF2B5EF4-FFF2-40B4-BE49-F238E27FC236}">
                <a16:creationId xmlns:a16="http://schemas.microsoft.com/office/drawing/2014/main" id="{382256D6-7CC6-45CC-8BBB-00567314C5E5}"/>
              </a:ext>
            </a:extLst>
          </p:cNvPr>
          <p:cNvSpPr>
            <a:spLocks noGrp="1"/>
          </p:cNvSpPr>
          <p:nvPr>
            <p:ph type="sldNum" sz="quarter" idx="4"/>
          </p:nvPr>
        </p:nvSpPr>
        <p:spPr>
          <a:xfrm>
            <a:off x="9005791" y="6394353"/>
            <a:ext cx="2743200" cy="292196"/>
          </a:xfrm>
        </p:spPr>
        <p:txBody>
          <a:bodyPr/>
          <a:lstStyle/>
          <a:p>
            <a:r>
              <a:rPr lang="en-US" altLang="zh-CN"/>
              <a:t>&lt; </a:t>
            </a:r>
            <a:fld id="{A548B57D-AE10-4CF7-A9DF-59FEFA91B28E}" type="slidenum">
              <a:rPr lang="zh-CN" altLang="en-US" smtClean="0"/>
              <a:pPr/>
              <a:t>20</a:t>
            </a:fld>
            <a:r>
              <a:rPr lang="zh-CN" altLang="en-US"/>
              <a:t> </a:t>
            </a:r>
            <a:r>
              <a:rPr lang="en-US" altLang="zh-CN"/>
              <a:t>&gt;</a:t>
            </a:r>
            <a:endParaRPr lang="zh-CN" altLang="en-US" dirty="0"/>
          </a:p>
        </p:txBody>
      </p:sp>
    </p:spTree>
    <p:extLst>
      <p:ext uri="{BB962C8B-B14F-4D97-AF65-F5344CB8AC3E}">
        <p14:creationId xmlns:p14="http://schemas.microsoft.com/office/powerpoint/2010/main" val="388971702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1">
            <a:extLst>
              <a:ext uri="{FF2B5EF4-FFF2-40B4-BE49-F238E27FC236}">
                <a16:creationId xmlns:a16="http://schemas.microsoft.com/office/drawing/2014/main" id="{57AE42AF-BBE4-0030-B37D-70767164217C}"/>
              </a:ext>
            </a:extLst>
          </p:cNvPr>
          <p:cNvSpPr txBox="1">
            <a:spLocks/>
          </p:cNvSpPr>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3.1.3  </a:t>
            </a:r>
            <a:r>
              <a:rPr lang="zh-CN" altLang="zh-CN" dirty="0"/>
              <a:t>进程</a:t>
            </a:r>
            <a:r>
              <a:rPr lang="zh-CN" altLang="en-US" dirty="0"/>
              <a:t>控制块</a:t>
            </a:r>
            <a:endParaRPr lang="zh-CN" altLang="zh-CN" dirty="0"/>
          </a:p>
        </p:txBody>
      </p:sp>
      <p:sp>
        <p:nvSpPr>
          <p:cNvPr id="7" name="Rectangle 2">
            <a:extLst>
              <a:ext uri="{FF2B5EF4-FFF2-40B4-BE49-F238E27FC236}">
                <a16:creationId xmlns:a16="http://schemas.microsoft.com/office/drawing/2014/main" id="{8F7AEE72-F850-7B27-4D12-8AA1D0979270}"/>
              </a:ext>
            </a:extLst>
          </p:cNvPr>
          <p:cNvSpPr>
            <a:spLocks noChangeArrowheads="1"/>
          </p:cNvSpPr>
          <p:nvPr/>
        </p:nvSpPr>
        <p:spPr bwMode="auto">
          <a:xfrm>
            <a:off x="0" y="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2" name="Rectangle 2">
            <a:extLst>
              <a:ext uri="{FF2B5EF4-FFF2-40B4-BE49-F238E27FC236}">
                <a16:creationId xmlns:a16="http://schemas.microsoft.com/office/drawing/2014/main" id="{98CE8F82-9D2D-7E90-AEB9-F37C8349E9D3}"/>
              </a:ext>
            </a:extLst>
          </p:cNvPr>
          <p:cNvSpPr>
            <a:spLocks noChangeArrowheads="1"/>
          </p:cNvSpPr>
          <p:nvPr/>
        </p:nvSpPr>
        <p:spPr bwMode="auto">
          <a:xfrm>
            <a:off x="3467100" y="1104655"/>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5" name="文本框 4">
            <a:extLst>
              <a:ext uri="{FF2B5EF4-FFF2-40B4-BE49-F238E27FC236}">
                <a16:creationId xmlns:a16="http://schemas.microsoft.com/office/drawing/2014/main" id="{A6D9A768-205D-FBBA-DC4C-EDAAAC2D73D3}"/>
              </a:ext>
            </a:extLst>
          </p:cNvPr>
          <p:cNvSpPr txBox="1"/>
          <p:nvPr/>
        </p:nvSpPr>
        <p:spPr>
          <a:xfrm>
            <a:off x="0" y="1104655"/>
            <a:ext cx="5776912" cy="4154984"/>
          </a:xfrm>
          <a:prstGeom prst="rect">
            <a:avLst/>
          </a:prstGeom>
          <a:noFill/>
        </p:spPr>
        <p:txBody>
          <a:bodyPr wrap="square">
            <a:spAutoFit/>
          </a:bodyPr>
          <a:lstStyle/>
          <a:p>
            <a:pPr lvl="0" algn="just"/>
            <a:r>
              <a:rPr lang="en-US" altLang="zh-CN" sz="2400"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3.</a:t>
            </a:r>
            <a:r>
              <a:rPr lang="zh-CN" altLang="en-US" sz="2400"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组织</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1</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线性方式</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lvl="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所有</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不分状态</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组织在一个</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线性</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表（称</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表）中</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优点</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简单，且不需要额外的开销</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缺点</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需要扫描整个</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表，</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才能找到需要的</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PCB</a:t>
            </a: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2</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索引方式</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相同状态的进程</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，分别设置</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索引表</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p:txBody>
      </p:sp>
      <p:pic>
        <p:nvPicPr>
          <p:cNvPr id="8" name="图片 7" descr="4-3-A">
            <a:extLst>
              <a:ext uri="{FF2B5EF4-FFF2-40B4-BE49-F238E27FC236}">
                <a16:creationId xmlns:a16="http://schemas.microsoft.com/office/drawing/2014/main" id="{03930801-7F92-41DB-A3C2-43666D92D694}"/>
              </a:ext>
            </a:extLst>
          </p:cNvPr>
          <p:cNvPicPr>
            <a:picLocks noChangeAspect="1"/>
          </p:cNvPicPr>
          <p:nvPr/>
        </p:nvPicPr>
        <p:blipFill>
          <a:blip r:embed="rId2">
            <a:extLst>
              <a:ext uri="{28A0092B-C50C-407E-A947-70E740481C1C}">
                <a14:useLocalDpi xmlns:a14="http://schemas.microsoft.com/office/drawing/2010/main" val="0"/>
              </a:ext>
            </a:extLst>
          </a:blip>
          <a:srcRect l="8681" t="5016" r="6679" b="14740"/>
          <a:stretch>
            <a:fillRect/>
          </a:stretch>
        </p:blipFill>
        <p:spPr bwMode="auto">
          <a:xfrm>
            <a:off x="5753100" y="1348224"/>
            <a:ext cx="6438900" cy="4579279"/>
          </a:xfrm>
          <a:prstGeom prst="rect">
            <a:avLst/>
          </a:prstGeom>
          <a:noFill/>
          <a:ln>
            <a:noFill/>
          </a:ln>
        </p:spPr>
      </p:pic>
      <p:sp>
        <p:nvSpPr>
          <p:cNvPr id="9" name="灯片编号占位符 2">
            <a:extLst>
              <a:ext uri="{FF2B5EF4-FFF2-40B4-BE49-F238E27FC236}">
                <a16:creationId xmlns:a16="http://schemas.microsoft.com/office/drawing/2014/main" id="{673BBD5F-6950-444C-AD96-85B8F436CB72}"/>
              </a:ext>
            </a:extLst>
          </p:cNvPr>
          <p:cNvSpPr>
            <a:spLocks noGrp="1"/>
          </p:cNvSpPr>
          <p:nvPr>
            <p:ph type="sldNum" sz="quarter" idx="4"/>
          </p:nvPr>
        </p:nvSpPr>
        <p:spPr>
          <a:xfrm>
            <a:off x="9005791" y="6394353"/>
            <a:ext cx="2743200" cy="292196"/>
          </a:xfrm>
        </p:spPr>
        <p:txBody>
          <a:bodyPr/>
          <a:lstStyle/>
          <a:p>
            <a:r>
              <a:rPr lang="en-US" altLang="zh-CN"/>
              <a:t>&lt; </a:t>
            </a:r>
            <a:fld id="{A548B57D-AE10-4CF7-A9DF-59FEFA91B28E}" type="slidenum">
              <a:rPr lang="zh-CN" altLang="en-US" smtClean="0"/>
              <a:pPr/>
              <a:t>21</a:t>
            </a:fld>
            <a:r>
              <a:rPr lang="zh-CN" altLang="en-US"/>
              <a:t> </a:t>
            </a:r>
            <a:r>
              <a:rPr lang="en-US" altLang="zh-CN"/>
              <a:t>&gt;</a:t>
            </a:r>
            <a:endParaRPr lang="zh-CN" altLang="en-US" dirty="0"/>
          </a:p>
        </p:txBody>
      </p:sp>
    </p:spTree>
    <p:extLst>
      <p:ext uri="{BB962C8B-B14F-4D97-AF65-F5344CB8AC3E}">
        <p14:creationId xmlns:p14="http://schemas.microsoft.com/office/powerpoint/2010/main" val="256312244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1">
            <a:extLst>
              <a:ext uri="{FF2B5EF4-FFF2-40B4-BE49-F238E27FC236}">
                <a16:creationId xmlns:a16="http://schemas.microsoft.com/office/drawing/2014/main" id="{57AE42AF-BBE4-0030-B37D-70767164217C}"/>
              </a:ext>
            </a:extLst>
          </p:cNvPr>
          <p:cNvSpPr txBox="1">
            <a:spLocks/>
          </p:cNvSpPr>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3.1.3  </a:t>
            </a:r>
            <a:r>
              <a:rPr lang="zh-CN" altLang="zh-CN" dirty="0"/>
              <a:t>进程</a:t>
            </a:r>
            <a:r>
              <a:rPr lang="zh-CN" altLang="en-US" dirty="0"/>
              <a:t>控制块</a:t>
            </a:r>
            <a:endParaRPr lang="zh-CN" altLang="zh-CN" dirty="0"/>
          </a:p>
        </p:txBody>
      </p:sp>
      <p:sp>
        <p:nvSpPr>
          <p:cNvPr id="7" name="Rectangle 2">
            <a:extLst>
              <a:ext uri="{FF2B5EF4-FFF2-40B4-BE49-F238E27FC236}">
                <a16:creationId xmlns:a16="http://schemas.microsoft.com/office/drawing/2014/main" id="{8F7AEE72-F850-7B27-4D12-8AA1D0979270}"/>
              </a:ext>
            </a:extLst>
          </p:cNvPr>
          <p:cNvSpPr>
            <a:spLocks noChangeArrowheads="1"/>
          </p:cNvSpPr>
          <p:nvPr/>
        </p:nvSpPr>
        <p:spPr bwMode="auto">
          <a:xfrm>
            <a:off x="0" y="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2" name="Rectangle 2">
            <a:extLst>
              <a:ext uri="{FF2B5EF4-FFF2-40B4-BE49-F238E27FC236}">
                <a16:creationId xmlns:a16="http://schemas.microsoft.com/office/drawing/2014/main" id="{98CE8F82-9D2D-7E90-AEB9-F37C8349E9D3}"/>
              </a:ext>
            </a:extLst>
          </p:cNvPr>
          <p:cNvSpPr>
            <a:spLocks noChangeArrowheads="1"/>
          </p:cNvSpPr>
          <p:nvPr/>
        </p:nvSpPr>
        <p:spPr bwMode="auto">
          <a:xfrm>
            <a:off x="3467100" y="1104655"/>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pic>
        <p:nvPicPr>
          <p:cNvPr id="13" name="图片 12" descr="4-3-B">
            <a:extLst>
              <a:ext uri="{FF2B5EF4-FFF2-40B4-BE49-F238E27FC236}">
                <a16:creationId xmlns:a16="http://schemas.microsoft.com/office/drawing/2014/main" id="{08185BE2-66CB-C984-0B86-7EF189575678}"/>
              </a:ext>
            </a:extLst>
          </p:cNvPr>
          <p:cNvPicPr>
            <a:picLocks noChangeAspect="1"/>
          </p:cNvPicPr>
          <p:nvPr/>
        </p:nvPicPr>
        <p:blipFill>
          <a:blip r:embed="rId2">
            <a:extLst>
              <a:ext uri="{28A0092B-C50C-407E-A947-70E740481C1C}">
                <a14:useLocalDpi xmlns:a14="http://schemas.microsoft.com/office/drawing/2010/main" val="0"/>
              </a:ext>
            </a:extLst>
          </a:blip>
          <a:srcRect l="13022" t="12538" r="24042" b="12233"/>
          <a:stretch>
            <a:fillRect/>
          </a:stretch>
        </p:blipFill>
        <p:spPr bwMode="auto">
          <a:xfrm>
            <a:off x="6400800" y="1217348"/>
            <a:ext cx="5569093" cy="4993337"/>
          </a:xfrm>
          <a:prstGeom prst="rect">
            <a:avLst/>
          </a:prstGeom>
          <a:noFill/>
          <a:ln>
            <a:noFill/>
          </a:ln>
        </p:spPr>
      </p:pic>
      <p:sp>
        <p:nvSpPr>
          <p:cNvPr id="11" name="文本框 10">
            <a:extLst>
              <a:ext uri="{FF2B5EF4-FFF2-40B4-BE49-F238E27FC236}">
                <a16:creationId xmlns:a16="http://schemas.microsoft.com/office/drawing/2014/main" id="{AB757F10-1C18-4029-9B5F-DF0A56307C02}"/>
              </a:ext>
            </a:extLst>
          </p:cNvPr>
          <p:cNvSpPr txBox="1"/>
          <p:nvPr/>
        </p:nvSpPr>
        <p:spPr>
          <a:xfrm>
            <a:off x="222107" y="1536174"/>
            <a:ext cx="6578743" cy="3785652"/>
          </a:xfrm>
          <a:prstGeom prst="rect">
            <a:avLst/>
          </a:prstGeom>
          <a:noFill/>
        </p:spPr>
        <p:txBody>
          <a:bodyPr wrap="square">
            <a:spAutoFit/>
          </a:bodyPr>
          <a:lstStyle/>
          <a:p>
            <a:pPr indent="304800" algn="just"/>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3</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链接方式</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对于具有相同状态进程的</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通过</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中的</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链接字</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构成一个队列</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链接字指出本队列下一</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在</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表中的编号（或地址）</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编号为</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0</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表示队尾</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队首由内存固定单元中相应的队列指针指示</a:t>
            </a:r>
          </a:p>
        </p:txBody>
      </p:sp>
      <p:sp>
        <p:nvSpPr>
          <p:cNvPr id="8" name="灯片编号占位符 2">
            <a:extLst>
              <a:ext uri="{FF2B5EF4-FFF2-40B4-BE49-F238E27FC236}">
                <a16:creationId xmlns:a16="http://schemas.microsoft.com/office/drawing/2014/main" id="{9A4FB71C-ED25-4910-ABCD-6BEDF4EA0227}"/>
              </a:ext>
            </a:extLst>
          </p:cNvPr>
          <p:cNvSpPr>
            <a:spLocks noGrp="1"/>
          </p:cNvSpPr>
          <p:nvPr>
            <p:ph type="sldNum" sz="quarter" idx="4"/>
          </p:nvPr>
        </p:nvSpPr>
        <p:spPr>
          <a:xfrm>
            <a:off x="9005791" y="6394353"/>
            <a:ext cx="2743200" cy="292196"/>
          </a:xfrm>
        </p:spPr>
        <p:txBody>
          <a:bodyPr/>
          <a:lstStyle/>
          <a:p>
            <a:r>
              <a:rPr lang="en-US" altLang="zh-CN"/>
              <a:t>&lt; </a:t>
            </a:r>
            <a:fld id="{A548B57D-AE10-4CF7-A9DF-59FEFA91B28E}" type="slidenum">
              <a:rPr lang="zh-CN" altLang="en-US" smtClean="0"/>
              <a:pPr/>
              <a:t>22</a:t>
            </a:fld>
            <a:r>
              <a:rPr lang="zh-CN" altLang="en-US"/>
              <a:t> </a:t>
            </a:r>
            <a:r>
              <a:rPr lang="en-US" altLang="zh-CN"/>
              <a:t>&gt;</a:t>
            </a:r>
            <a:endParaRPr lang="zh-CN" altLang="en-US" dirty="0"/>
          </a:p>
        </p:txBody>
      </p:sp>
    </p:spTree>
    <p:extLst>
      <p:ext uri="{BB962C8B-B14F-4D97-AF65-F5344CB8AC3E}">
        <p14:creationId xmlns:p14="http://schemas.microsoft.com/office/powerpoint/2010/main" val="232055309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1">
            <a:extLst>
              <a:ext uri="{FF2B5EF4-FFF2-40B4-BE49-F238E27FC236}">
                <a16:creationId xmlns:a16="http://schemas.microsoft.com/office/drawing/2014/main" id="{57AE42AF-BBE4-0030-B37D-70767164217C}"/>
              </a:ext>
            </a:extLst>
          </p:cNvPr>
          <p:cNvSpPr txBox="1">
            <a:spLocks/>
          </p:cNvSpPr>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3.1.3  </a:t>
            </a:r>
            <a:r>
              <a:rPr lang="zh-CN" altLang="zh-CN" dirty="0"/>
              <a:t>进程</a:t>
            </a:r>
            <a:r>
              <a:rPr lang="zh-CN" altLang="en-US" dirty="0"/>
              <a:t>控制块</a:t>
            </a:r>
            <a:endParaRPr lang="zh-CN" altLang="zh-CN" dirty="0"/>
          </a:p>
        </p:txBody>
      </p:sp>
      <p:sp>
        <p:nvSpPr>
          <p:cNvPr id="7" name="Rectangle 2">
            <a:extLst>
              <a:ext uri="{FF2B5EF4-FFF2-40B4-BE49-F238E27FC236}">
                <a16:creationId xmlns:a16="http://schemas.microsoft.com/office/drawing/2014/main" id="{8F7AEE72-F850-7B27-4D12-8AA1D0979270}"/>
              </a:ext>
            </a:extLst>
          </p:cNvPr>
          <p:cNvSpPr>
            <a:spLocks noChangeArrowheads="1"/>
          </p:cNvSpPr>
          <p:nvPr/>
        </p:nvSpPr>
        <p:spPr bwMode="auto">
          <a:xfrm>
            <a:off x="0" y="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2" name="Rectangle 2">
            <a:extLst>
              <a:ext uri="{FF2B5EF4-FFF2-40B4-BE49-F238E27FC236}">
                <a16:creationId xmlns:a16="http://schemas.microsoft.com/office/drawing/2014/main" id="{98CE8F82-9D2D-7E90-AEB9-F37C8349E9D3}"/>
              </a:ext>
            </a:extLst>
          </p:cNvPr>
          <p:cNvSpPr>
            <a:spLocks noChangeArrowheads="1"/>
          </p:cNvSpPr>
          <p:nvPr/>
        </p:nvSpPr>
        <p:spPr bwMode="auto">
          <a:xfrm>
            <a:off x="3467100" y="1104655"/>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8" name="文本框 7">
            <a:extLst>
              <a:ext uri="{FF2B5EF4-FFF2-40B4-BE49-F238E27FC236}">
                <a16:creationId xmlns:a16="http://schemas.microsoft.com/office/drawing/2014/main" id="{7C5A742B-150B-2897-6D2A-CB3ACFBCC9DF}"/>
              </a:ext>
            </a:extLst>
          </p:cNvPr>
          <p:cNvSpPr txBox="1"/>
          <p:nvPr/>
        </p:nvSpPr>
        <p:spPr>
          <a:xfrm>
            <a:off x="151102" y="1613109"/>
            <a:ext cx="9947996" cy="3785652"/>
          </a:xfrm>
          <a:prstGeom prst="rect">
            <a:avLst/>
          </a:prstGeom>
          <a:noFill/>
        </p:spPr>
        <p:txBody>
          <a:bodyPr wrap="square">
            <a:spAutoFit/>
          </a:bodyPr>
          <a:lstStyle/>
          <a:p>
            <a:pPr algn="just"/>
            <a:r>
              <a:rPr lang="en-US" altLang="zh-CN" sz="2400" kern="100" dirty="0">
                <a:solidFill>
                  <a:srgbClr val="9A0001"/>
                </a:solidFill>
                <a:effectLst/>
                <a:latin typeface="微软雅黑" panose="020B0503020204020204" pitchFamily="34" charset="-122"/>
                <a:ea typeface="微软雅黑" panose="020B0503020204020204" pitchFamily="34" charset="-122"/>
                <a:cs typeface="宋体" panose="02010600030101010101" pitchFamily="2" charset="-122"/>
              </a:rPr>
              <a:t> </a:t>
            </a:r>
            <a:r>
              <a:rPr lang="en-US" altLang="zh-CN" sz="2400"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rPr>
              <a:t>4.  </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进程的队列</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1</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就绪队列</a:t>
            </a: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所有就绪状态的进程排在一个就绪队列中</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2</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等待队列</a:t>
            </a: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对每一种等待事件组织一个队列</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3</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运行队列</a:t>
            </a: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在单</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CPU</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系统中，整个系统有一个运行队列</a:t>
            </a:r>
          </a:p>
        </p:txBody>
      </p:sp>
      <p:pic>
        <p:nvPicPr>
          <p:cNvPr id="9" name="图片 8" descr="插图3-4">
            <a:extLst>
              <a:ext uri="{FF2B5EF4-FFF2-40B4-BE49-F238E27FC236}">
                <a16:creationId xmlns:a16="http://schemas.microsoft.com/office/drawing/2014/main" id="{FE22BEDC-4239-44D0-BE44-44FDAB55CA51}"/>
              </a:ext>
            </a:extLst>
          </p:cNvPr>
          <p:cNvPicPr>
            <a:picLocks noChangeAspect="1"/>
          </p:cNvPicPr>
          <p:nvPr/>
        </p:nvPicPr>
        <p:blipFill>
          <a:blip r:embed="rId2">
            <a:extLst>
              <a:ext uri="{28A0092B-C50C-407E-A947-70E740481C1C}">
                <a14:useLocalDpi xmlns:a14="http://schemas.microsoft.com/office/drawing/2010/main" val="0"/>
              </a:ext>
            </a:extLst>
          </a:blip>
          <a:srcRect t="17349" b="8867"/>
          <a:stretch>
            <a:fillRect/>
          </a:stretch>
        </p:blipFill>
        <p:spPr bwMode="auto">
          <a:xfrm>
            <a:off x="6483555" y="2100248"/>
            <a:ext cx="5557343" cy="3067207"/>
          </a:xfrm>
          <a:prstGeom prst="rect">
            <a:avLst/>
          </a:prstGeom>
          <a:noFill/>
          <a:ln>
            <a:noFill/>
          </a:ln>
        </p:spPr>
      </p:pic>
      <p:sp>
        <p:nvSpPr>
          <p:cNvPr id="10" name="灯片编号占位符 2">
            <a:extLst>
              <a:ext uri="{FF2B5EF4-FFF2-40B4-BE49-F238E27FC236}">
                <a16:creationId xmlns:a16="http://schemas.microsoft.com/office/drawing/2014/main" id="{2090F32D-FCAC-4DDC-8171-1D63E46E0BA1}"/>
              </a:ext>
            </a:extLst>
          </p:cNvPr>
          <p:cNvSpPr>
            <a:spLocks noGrp="1"/>
          </p:cNvSpPr>
          <p:nvPr>
            <p:ph type="sldNum" sz="quarter" idx="4"/>
          </p:nvPr>
        </p:nvSpPr>
        <p:spPr>
          <a:xfrm>
            <a:off x="9005791" y="6394353"/>
            <a:ext cx="2743200" cy="292196"/>
          </a:xfrm>
        </p:spPr>
        <p:txBody>
          <a:bodyPr/>
          <a:lstStyle/>
          <a:p>
            <a:r>
              <a:rPr lang="en-US" altLang="zh-CN"/>
              <a:t>&lt; </a:t>
            </a:r>
            <a:fld id="{A548B57D-AE10-4CF7-A9DF-59FEFA91B28E}" type="slidenum">
              <a:rPr lang="zh-CN" altLang="en-US" smtClean="0"/>
              <a:pPr/>
              <a:t>23</a:t>
            </a:fld>
            <a:r>
              <a:rPr lang="zh-CN" altLang="en-US"/>
              <a:t> </a:t>
            </a:r>
            <a:r>
              <a:rPr lang="en-US" altLang="zh-CN"/>
              <a:t>&gt;</a:t>
            </a:r>
            <a:endParaRPr lang="zh-CN" altLang="en-US" dirty="0"/>
          </a:p>
        </p:txBody>
      </p:sp>
    </p:spTree>
    <p:extLst>
      <p:ext uri="{BB962C8B-B14F-4D97-AF65-F5344CB8AC3E}">
        <p14:creationId xmlns:p14="http://schemas.microsoft.com/office/powerpoint/2010/main" val="315135781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1">
            <a:extLst>
              <a:ext uri="{FF2B5EF4-FFF2-40B4-BE49-F238E27FC236}">
                <a16:creationId xmlns:a16="http://schemas.microsoft.com/office/drawing/2014/main" id="{57AE42AF-BBE4-0030-B37D-70767164217C}"/>
              </a:ext>
            </a:extLst>
          </p:cNvPr>
          <p:cNvSpPr txBox="1">
            <a:spLocks/>
          </p:cNvSpPr>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3.1.3  </a:t>
            </a:r>
            <a:r>
              <a:rPr lang="zh-CN" altLang="zh-CN" dirty="0"/>
              <a:t>进程</a:t>
            </a:r>
            <a:r>
              <a:rPr lang="zh-CN" altLang="en-US" dirty="0"/>
              <a:t>控制块</a:t>
            </a:r>
            <a:endParaRPr lang="zh-CN" altLang="zh-CN" dirty="0"/>
          </a:p>
        </p:txBody>
      </p:sp>
      <p:sp>
        <p:nvSpPr>
          <p:cNvPr id="7" name="Rectangle 2">
            <a:extLst>
              <a:ext uri="{FF2B5EF4-FFF2-40B4-BE49-F238E27FC236}">
                <a16:creationId xmlns:a16="http://schemas.microsoft.com/office/drawing/2014/main" id="{8F7AEE72-F850-7B27-4D12-8AA1D0979270}"/>
              </a:ext>
            </a:extLst>
          </p:cNvPr>
          <p:cNvSpPr>
            <a:spLocks noChangeArrowheads="1"/>
          </p:cNvSpPr>
          <p:nvPr/>
        </p:nvSpPr>
        <p:spPr bwMode="auto">
          <a:xfrm>
            <a:off x="0" y="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2" name="Rectangle 2">
            <a:extLst>
              <a:ext uri="{FF2B5EF4-FFF2-40B4-BE49-F238E27FC236}">
                <a16:creationId xmlns:a16="http://schemas.microsoft.com/office/drawing/2014/main" id="{98CE8F82-9D2D-7E90-AEB9-F37C8349E9D3}"/>
              </a:ext>
            </a:extLst>
          </p:cNvPr>
          <p:cNvSpPr>
            <a:spLocks noChangeArrowheads="1"/>
          </p:cNvSpPr>
          <p:nvPr/>
        </p:nvSpPr>
        <p:spPr bwMode="auto">
          <a:xfrm>
            <a:off x="3467100" y="1104655"/>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5" name="文本框 4">
            <a:extLst>
              <a:ext uri="{FF2B5EF4-FFF2-40B4-BE49-F238E27FC236}">
                <a16:creationId xmlns:a16="http://schemas.microsoft.com/office/drawing/2014/main" id="{32CDA5AF-388E-A2CF-EED8-6E187A45FDE3}"/>
              </a:ext>
            </a:extLst>
          </p:cNvPr>
          <p:cNvSpPr txBox="1"/>
          <p:nvPr/>
        </p:nvSpPr>
        <p:spPr>
          <a:xfrm>
            <a:off x="442913" y="1348224"/>
            <a:ext cx="11083637" cy="4524315"/>
          </a:xfrm>
          <a:prstGeom prst="rect">
            <a:avLst/>
          </a:prstGeom>
          <a:noFill/>
        </p:spPr>
        <p:txBody>
          <a:bodyPr wrap="square">
            <a:spAutoFit/>
          </a:bodyPr>
          <a:lstStyle/>
          <a:p>
            <a:pPr lvl="0" algn="just"/>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5.</a:t>
            </a:r>
            <a:r>
              <a:rPr lang="zh-CN" altLang="en-US"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进程队列的组成</a:t>
            </a: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单向链接</a:t>
            </a:r>
            <a:r>
              <a:rPr lang="zh-CN" altLang="en-US"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同一队列中的进程，通过进程控制块中的</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队列指针</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联系起来</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前一进程的进程控制块中的指针值为它的下一个进程的进程控制块的地址</a:t>
            </a:r>
            <a:endParaRPr lang="en-US" altLang="zh-CN" sz="2400"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队列中最后一个进程的进程控制块中的指针值置为“</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0</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双向链接</a:t>
            </a:r>
            <a:r>
              <a:rPr lang="zh-CN" altLang="en-US" sz="2400" b="1"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b="1"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设置两个指针</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前向指针和后向指针</a:t>
            </a:r>
            <a:endParaRPr lang="en-US" altLang="zh-CN" sz="2400" b="1"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分别指出它的前一个或后一个进程的进程控制块地址</a:t>
            </a:r>
            <a:endParaRPr lang="en-US" altLang="zh-CN" sz="2400"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系统为每个队列设置一个队首指针，指出该队列的第一个和最后一个进程</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的进程控制块地址，以便进行双向搜索</a:t>
            </a:r>
          </a:p>
        </p:txBody>
      </p:sp>
      <p:sp>
        <p:nvSpPr>
          <p:cNvPr id="8" name="灯片编号占位符 2">
            <a:extLst>
              <a:ext uri="{FF2B5EF4-FFF2-40B4-BE49-F238E27FC236}">
                <a16:creationId xmlns:a16="http://schemas.microsoft.com/office/drawing/2014/main" id="{9D23C98D-1647-467B-B47F-53C868CA02B2}"/>
              </a:ext>
            </a:extLst>
          </p:cNvPr>
          <p:cNvSpPr>
            <a:spLocks noGrp="1"/>
          </p:cNvSpPr>
          <p:nvPr>
            <p:ph type="sldNum" sz="quarter" idx="4"/>
          </p:nvPr>
        </p:nvSpPr>
        <p:spPr>
          <a:xfrm>
            <a:off x="9005791" y="6394353"/>
            <a:ext cx="2743200" cy="292196"/>
          </a:xfrm>
        </p:spPr>
        <p:txBody>
          <a:bodyPr/>
          <a:lstStyle/>
          <a:p>
            <a:r>
              <a:rPr lang="en-US" altLang="zh-CN"/>
              <a:t>&lt; </a:t>
            </a:r>
            <a:fld id="{A548B57D-AE10-4CF7-A9DF-59FEFA91B28E}" type="slidenum">
              <a:rPr lang="zh-CN" altLang="en-US" smtClean="0"/>
              <a:pPr/>
              <a:t>24</a:t>
            </a:fld>
            <a:r>
              <a:rPr lang="zh-CN" altLang="en-US"/>
              <a:t> </a:t>
            </a:r>
            <a:r>
              <a:rPr lang="en-US" altLang="zh-CN"/>
              <a:t>&gt;</a:t>
            </a:r>
            <a:endParaRPr lang="zh-CN" altLang="en-US" dirty="0"/>
          </a:p>
        </p:txBody>
      </p:sp>
    </p:spTree>
    <p:extLst>
      <p:ext uri="{BB962C8B-B14F-4D97-AF65-F5344CB8AC3E}">
        <p14:creationId xmlns:p14="http://schemas.microsoft.com/office/powerpoint/2010/main" val="217781502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818B9626-9CF4-468B-BDA1-4D4ED9D16858}"/>
              </a:ext>
            </a:extLst>
          </p:cNvPr>
          <p:cNvPicPr>
            <a:picLocks noChangeAspect="1"/>
          </p:cNvPicPr>
          <p:nvPr/>
        </p:nvPicPr>
        <p:blipFill>
          <a:blip r:embed="rId3"/>
          <a:stretch>
            <a:fillRect/>
          </a:stretch>
        </p:blipFill>
        <p:spPr>
          <a:xfrm>
            <a:off x="0" y="0"/>
            <a:ext cx="12192000" cy="6858000"/>
          </a:xfrm>
          <a:prstGeom prst="rect">
            <a:avLst/>
          </a:prstGeom>
        </p:spPr>
      </p:pic>
      <p:grpSp>
        <p:nvGrpSpPr>
          <p:cNvPr id="6" name="组合 5">
            <a:extLst>
              <a:ext uri="{FF2B5EF4-FFF2-40B4-BE49-F238E27FC236}">
                <a16:creationId xmlns:a16="http://schemas.microsoft.com/office/drawing/2014/main" id="{BAC0F8CB-9F21-4DAA-A57F-232DC0ED0CE8}"/>
              </a:ext>
            </a:extLst>
          </p:cNvPr>
          <p:cNvGrpSpPr/>
          <p:nvPr/>
        </p:nvGrpSpPr>
        <p:grpSpPr>
          <a:xfrm>
            <a:off x="10177780" y="329882"/>
            <a:ext cx="1512002" cy="444892"/>
            <a:chOff x="9556201" y="498129"/>
            <a:chExt cx="1993881" cy="586680"/>
          </a:xfrm>
        </p:grpSpPr>
        <p:grpSp>
          <p:nvGrpSpPr>
            <p:cNvPr id="7" name="组合 6">
              <a:extLst>
                <a:ext uri="{FF2B5EF4-FFF2-40B4-BE49-F238E27FC236}">
                  <a16:creationId xmlns:a16="http://schemas.microsoft.com/office/drawing/2014/main" id="{995D529E-5728-44ED-B1C3-8A8D9E54D16F}"/>
                </a:ext>
              </a:extLst>
            </p:cNvPr>
            <p:cNvGrpSpPr/>
            <p:nvPr userDrawn="1"/>
          </p:nvGrpSpPr>
          <p:grpSpPr>
            <a:xfrm>
              <a:off x="10239376" y="968937"/>
              <a:ext cx="1307697" cy="96254"/>
              <a:chOff x="4616246" y="3878362"/>
              <a:chExt cx="5571416" cy="410087"/>
            </a:xfrm>
            <a:solidFill>
              <a:schemeClr val="tx1">
                <a:alpha val="80000"/>
              </a:schemeClr>
            </a:solidFill>
          </p:grpSpPr>
          <p:sp>
            <p:nvSpPr>
              <p:cNvPr id="47" name="Freeform 17">
                <a:extLst>
                  <a:ext uri="{FF2B5EF4-FFF2-40B4-BE49-F238E27FC236}">
                    <a16:creationId xmlns:a16="http://schemas.microsoft.com/office/drawing/2014/main" id="{270FD1AE-F1E7-46D6-8A22-2187FE8341A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8">
                <a:extLst>
                  <a:ext uri="{FF2B5EF4-FFF2-40B4-BE49-F238E27FC236}">
                    <a16:creationId xmlns:a16="http://schemas.microsoft.com/office/drawing/2014/main" id="{6534918A-10CA-415D-BBCF-05DAC5A8727C}"/>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19">
                <a:extLst>
                  <a:ext uri="{FF2B5EF4-FFF2-40B4-BE49-F238E27FC236}">
                    <a16:creationId xmlns:a16="http://schemas.microsoft.com/office/drawing/2014/main" id="{90F10D8F-77EF-456F-B434-663CB47C4ED8}"/>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0">
                <a:extLst>
                  <a:ext uri="{FF2B5EF4-FFF2-40B4-BE49-F238E27FC236}">
                    <a16:creationId xmlns:a16="http://schemas.microsoft.com/office/drawing/2014/main" id="{1FDF2FF4-BE97-417E-888B-B201909F3385}"/>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1">
                <a:extLst>
                  <a:ext uri="{FF2B5EF4-FFF2-40B4-BE49-F238E27FC236}">
                    <a16:creationId xmlns:a16="http://schemas.microsoft.com/office/drawing/2014/main" id="{471C9883-3042-4344-A761-2721045825F2}"/>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22">
                <a:extLst>
                  <a:ext uri="{FF2B5EF4-FFF2-40B4-BE49-F238E27FC236}">
                    <a16:creationId xmlns:a16="http://schemas.microsoft.com/office/drawing/2014/main" id="{F93E0F1A-CFB4-4896-AE55-EEA15CC64317}"/>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3">
                <a:extLst>
                  <a:ext uri="{FF2B5EF4-FFF2-40B4-BE49-F238E27FC236}">
                    <a16:creationId xmlns:a16="http://schemas.microsoft.com/office/drawing/2014/main" id="{9DE37625-33FA-4D2A-8F7D-08D56B2C84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5">
                <a:extLst>
                  <a:ext uri="{FF2B5EF4-FFF2-40B4-BE49-F238E27FC236}">
                    <a16:creationId xmlns:a16="http://schemas.microsoft.com/office/drawing/2014/main" id="{BD67B1C0-192F-49C4-B6AB-50901F65AD0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7">
                <a:extLst>
                  <a:ext uri="{FF2B5EF4-FFF2-40B4-BE49-F238E27FC236}">
                    <a16:creationId xmlns:a16="http://schemas.microsoft.com/office/drawing/2014/main" id="{34A08B84-3894-4F23-81F1-3E261E213F95}"/>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9">
                <a:extLst>
                  <a:ext uri="{FF2B5EF4-FFF2-40B4-BE49-F238E27FC236}">
                    <a16:creationId xmlns:a16="http://schemas.microsoft.com/office/drawing/2014/main" id="{66A478A1-42E2-44B5-8391-5F6545A15582}"/>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30">
                <a:extLst>
                  <a:ext uri="{FF2B5EF4-FFF2-40B4-BE49-F238E27FC236}">
                    <a16:creationId xmlns:a16="http://schemas.microsoft.com/office/drawing/2014/main" id="{12FE9390-5B68-4171-B580-FEBA821D63E6}"/>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31">
                <a:extLst>
                  <a:ext uri="{FF2B5EF4-FFF2-40B4-BE49-F238E27FC236}">
                    <a16:creationId xmlns:a16="http://schemas.microsoft.com/office/drawing/2014/main" id="{A94DD4FC-33C6-4300-817F-6C25AB6BC01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32">
                <a:extLst>
                  <a:ext uri="{FF2B5EF4-FFF2-40B4-BE49-F238E27FC236}">
                    <a16:creationId xmlns:a16="http://schemas.microsoft.com/office/drawing/2014/main" id="{EFAE3B66-45D1-46BE-ABD5-7E9C91838CD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3">
                <a:extLst>
                  <a:ext uri="{FF2B5EF4-FFF2-40B4-BE49-F238E27FC236}">
                    <a16:creationId xmlns:a16="http://schemas.microsoft.com/office/drawing/2014/main" id="{A174EB9C-7DBA-47EA-9780-F5D281A177ED}"/>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4">
                <a:extLst>
                  <a:ext uri="{FF2B5EF4-FFF2-40B4-BE49-F238E27FC236}">
                    <a16:creationId xmlns:a16="http://schemas.microsoft.com/office/drawing/2014/main" id="{189AD1B7-082D-459A-87F3-8652CD337A9A}"/>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5">
                <a:extLst>
                  <a:ext uri="{FF2B5EF4-FFF2-40B4-BE49-F238E27FC236}">
                    <a16:creationId xmlns:a16="http://schemas.microsoft.com/office/drawing/2014/main" id="{9081AEFE-D0E7-4580-B319-7988F6AD947E}"/>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8" name="组合 7">
              <a:extLst>
                <a:ext uri="{FF2B5EF4-FFF2-40B4-BE49-F238E27FC236}">
                  <a16:creationId xmlns:a16="http://schemas.microsoft.com/office/drawing/2014/main" id="{F9C93F1F-0D19-4228-8003-9AF569F32C8A}"/>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5" name="Freeform 9">
                <a:extLst>
                  <a:ext uri="{FF2B5EF4-FFF2-40B4-BE49-F238E27FC236}">
                    <a16:creationId xmlns:a16="http://schemas.microsoft.com/office/drawing/2014/main" id="{EE868CE2-7419-4A92-A489-7F3F590F5BE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10">
                <a:extLst>
                  <a:ext uri="{FF2B5EF4-FFF2-40B4-BE49-F238E27FC236}">
                    <a16:creationId xmlns:a16="http://schemas.microsoft.com/office/drawing/2014/main" id="{75F62A47-5673-4F8A-A5FD-46A2C9193AAB}"/>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11">
                <a:extLst>
                  <a:ext uri="{FF2B5EF4-FFF2-40B4-BE49-F238E27FC236}">
                    <a16:creationId xmlns:a16="http://schemas.microsoft.com/office/drawing/2014/main" id="{7244FD24-DDA1-478B-A486-0BF2E9C2412E}"/>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12">
                <a:extLst>
                  <a:ext uri="{FF2B5EF4-FFF2-40B4-BE49-F238E27FC236}">
                    <a16:creationId xmlns:a16="http://schemas.microsoft.com/office/drawing/2014/main" id="{69437406-1F74-4D77-95B4-2B459F6054B2}"/>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3">
                <a:extLst>
                  <a:ext uri="{FF2B5EF4-FFF2-40B4-BE49-F238E27FC236}">
                    <a16:creationId xmlns:a16="http://schemas.microsoft.com/office/drawing/2014/main" id="{E69EF4CE-7755-481D-BE98-F7124997B32E}"/>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4">
                <a:extLst>
                  <a:ext uri="{FF2B5EF4-FFF2-40B4-BE49-F238E27FC236}">
                    <a16:creationId xmlns:a16="http://schemas.microsoft.com/office/drawing/2014/main" id="{1D14628A-DA0B-4142-B73C-4F4991C58A25}"/>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5">
                <a:extLst>
                  <a:ext uri="{FF2B5EF4-FFF2-40B4-BE49-F238E27FC236}">
                    <a16:creationId xmlns:a16="http://schemas.microsoft.com/office/drawing/2014/main" id="{105E4AE0-8985-48D4-A57E-CC8CE164593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6">
                <a:extLst>
                  <a:ext uri="{FF2B5EF4-FFF2-40B4-BE49-F238E27FC236}">
                    <a16:creationId xmlns:a16="http://schemas.microsoft.com/office/drawing/2014/main" id="{8F7BAF56-B769-47FA-B7F1-936E765A46BA}"/>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24">
                <a:extLst>
                  <a:ext uri="{FF2B5EF4-FFF2-40B4-BE49-F238E27FC236}">
                    <a16:creationId xmlns:a16="http://schemas.microsoft.com/office/drawing/2014/main" id="{0E9B874D-D9C3-49B1-AF77-F3FBB0184F0C}"/>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26">
                <a:extLst>
                  <a:ext uri="{FF2B5EF4-FFF2-40B4-BE49-F238E27FC236}">
                    <a16:creationId xmlns:a16="http://schemas.microsoft.com/office/drawing/2014/main" id="{CD1DD136-444F-46A8-B600-0EB26D6044C4}"/>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28">
                <a:extLst>
                  <a:ext uri="{FF2B5EF4-FFF2-40B4-BE49-F238E27FC236}">
                    <a16:creationId xmlns:a16="http://schemas.microsoft.com/office/drawing/2014/main" id="{216011BF-0BD9-4C0A-98FF-4AA22794B86B}"/>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36">
                <a:extLst>
                  <a:ext uri="{FF2B5EF4-FFF2-40B4-BE49-F238E27FC236}">
                    <a16:creationId xmlns:a16="http://schemas.microsoft.com/office/drawing/2014/main" id="{4367C978-93CE-4B6F-9DEF-7378CF22DAE6}"/>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9" name="组合 8">
              <a:extLst>
                <a:ext uri="{FF2B5EF4-FFF2-40B4-BE49-F238E27FC236}">
                  <a16:creationId xmlns:a16="http://schemas.microsoft.com/office/drawing/2014/main" id="{D92F27A2-2A54-4450-804C-43E1D1474648}"/>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 name="Freeform 8">
                <a:extLst>
                  <a:ext uri="{FF2B5EF4-FFF2-40B4-BE49-F238E27FC236}">
                    <a16:creationId xmlns:a16="http://schemas.microsoft.com/office/drawing/2014/main" id="{454D5418-14DE-4B9F-8923-F4BC7624006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id="{98C4E647-339D-4E91-A699-A7033B3DC7F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id="{F0634E8F-0BA2-48A6-80EC-827FAE26924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id="{9DEC23E1-ECBC-4EE8-8EC0-84E8FFCBB836}"/>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id="{9C91E55C-4FFC-4405-9A35-D4ACD71429EB}"/>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id="{6621423C-978B-41C7-BCCF-7B095A409944}"/>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id="{9829F191-8F4B-4F79-B0CB-220FAE35D6B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id="{16F546BA-1BF0-4A40-A52C-367E724972D3}"/>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id="{BB141E24-20D1-49E6-B745-7BEBD23F6B1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id="{F7E4D811-15F3-4D5D-8F45-6881336D4A9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51">
                <a:extLst>
                  <a:ext uri="{FF2B5EF4-FFF2-40B4-BE49-F238E27FC236}">
                    <a16:creationId xmlns:a16="http://schemas.microsoft.com/office/drawing/2014/main" id="{D1A07F45-3E85-4E42-87EC-30E8C0A18627}"/>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2">
                <a:extLst>
                  <a:ext uri="{FF2B5EF4-FFF2-40B4-BE49-F238E27FC236}">
                    <a16:creationId xmlns:a16="http://schemas.microsoft.com/office/drawing/2014/main" id="{14E9F137-9283-4D56-9874-1FB0DD9D287E}"/>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3">
                <a:extLst>
                  <a:ext uri="{FF2B5EF4-FFF2-40B4-BE49-F238E27FC236}">
                    <a16:creationId xmlns:a16="http://schemas.microsoft.com/office/drawing/2014/main" id="{89A25501-2322-4456-BFD1-F0EF5E0D5795}"/>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4">
                <a:extLst>
                  <a:ext uri="{FF2B5EF4-FFF2-40B4-BE49-F238E27FC236}">
                    <a16:creationId xmlns:a16="http://schemas.microsoft.com/office/drawing/2014/main" id="{BBD74C09-FA59-41E4-BB35-6C98B83959BE}"/>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5">
                <a:extLst>
                  <a:ext uri="{FF2B5EF4-FFF2-40B4-BE49-F238E27FC236}">
                    <a16:creationId xmlns:a16="http://schemas.microsoft.com/office/drawing/2014/main" id="{19541A53-359C-4238-8CCB-4D586D54D648}"/>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6">
                <a:extLst>
                  <a:ext uri="{FF2B5EF4-FFF2-40B4-BE49-F238E27FC236}">
                    <a16:creationId xmlns:a16="http://schemas.microsoft.com/office/drawing/2014/main" id="{245CFA11-3C7C-4D4B-8C39-AAFAAAAC6E70}"/>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7">
                <a:extLst>
                  <a:ext uri="{FF2B5EF4-FFF2-40B4-BE49-F238E27FC236}">
                    <a16:creationId xmlns:a16="http://schemas.microsoft.com/office/drawing/2014/main" id="{1109D178-B26C-42C3-8C80-C01CD4BC46A8}"/>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8">
                <a:extLst>
                  <a:ext uri="{FF2B5EF4-FFF2-40B4-BE49-F238E27FC236}">
                    <a16:creationId xmlns:a16="http://schemas.microsoft.com/office/drawing/2014/main" id="{FF18E6D0-EC46-443F-9E1E-0AEB5CE1575F}"/>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9">
                <a:extLst>
                  <a:ext uri="{FF2B5EF4-FFF2-40B4-BE49-F238E27FC236}">
                    <a16:creationId xmlns:a16="http://schemas.microsoft.com/office/drawing/2014/main" id="{BD789948-4984-4A7C-B766-AEE2B9661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60">
                <a:extLst>
                  <a:ext uri="{FF2B5EF4-FFF2-40B4-BE49-F238E27FC236}">
                    <a16:creationId xmlns:a16="http://schemas.microsoft.com/office/drawing/2014/main" id="{F9FC2B63-6C85-409D-A9F4-E16D6B1666E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61">
                <a:extLst>
                  <a:ext uri="{FF2B5EF4-FFF2-40B4-BE49-F238E27FC236}">
                    <a16:creationId xmlns:a16="http://schemas.microsoft.com/office/drawing/2014/main" id="{09E0A33B-A373-4D66-8B15-3C5E2CAA5610}"/>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2">
                <a:extLst>
                  <a:ext uri="{FF2B5EF4-FFF2-40B4-BE49-F238E27FC236}">
                    <a16:creationId xmlns:a16="http://schemas.microsoft.com/office/drawing/2014/main" id="{7A7285C8-4316-4D8E-AD29-76C9E6D97CC6}"/>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71">
                <a:extLst>
                  <a:ext uri="{FF2B5EF4-FFF2-40B4-BE49-F238E27FC236}">
                    <a16:creationId xmlns:a16="http://schemas.microsoft.com/office/drawing/2014/main" id="{C9E56011-C8BD-4DDA-AE35-A7C89E25B57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3" name="标题 1">
            <a:extLst>
              <a:ext uri="{FF2B5EF4-FFF2-40B4-BE49-F238E27FC236}">
                <a16:creationId xmlns:a16="http://schemas.microsoft.com/office/drawing/2014/main" id="{1335DDEE-9981-4710-859F-990D662D46B0}"/>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-2</a:t>
            </a:r>
            <a:r>
              <a:rPr lang="zh-CN" altLang="en-US" dirty="0">
                <a:latin typeface="Arial" panose="020B0604020202020204" pitchFamily="34" charset="0"/>
                <a:ea typeface="Microsoft YaHei" panose="020B0503020204020204" pitchFamily="34" charset="-122"/>
                <a:sym typeface="Arial" panose="020B0604020202020204" pitchFamily="34" charset="0"/>
              </a:rPr>
              <a:t>：北京大学图书馆</a:t>
            </a:r>
          </a:p>
        </p:txBody>
      </p:sp>
      <p:grpSp>
        <p:nvGrpSpPr>
          <p:cNvPr id="64" name="组合 63">
            <a:extLst>
              <a:ext uri="{FF2B5EF4-FFF2-40B4-BE49-F238E27FC236}">
                <a16:creationId xmlns:a16="http://schemas.microsoft.com/office/drawing/2014/main" id="{CA51569B-8133-43C4-BE5D-581A7860EE87}"/>
              </a:ext>
            </a:extLst>
          </p:cNvPr>
          <p:cNvGrpSpPr/>
          <p:nvPr/>
        </p:nvGrpSpPr>
        <p:grpSpPr>
          <a:xfrm>
            <a:off x="528706" y="867990"/>
            <a:ext cx="2433027" cy="0"/>
            <a:chOff x="7460343" y="1311756"/>
            <a:chExt cx="2433027" cy="0"/>
          </a:xfrm>
        </p:grpSpPr>
        <p:cxnSp>
          <p:nvCxnSpPr>
            <p:cNvPr id="65" name="直接连接符 64">
              <a:extLst>
                <a:ext uri="{FF2B5EF4-FFF2-40B4-BE49-F238E27FC236}">
                  <a16:creationId xmlns:a16="http://schemas.microsoft.com/office/drawing/2014/main" id="{85AD8F56-31AE-445D-9A4C-6BE164502C83}"/>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id="{1209C505-AE10-4568-B2E2-F1CBF2851F53}"/>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a:extLst>
              <a:ext uri="{FF2B5EF4-FFF2-40B4-BE49-F238E27FC236}">
                <a16:creationId xmlns:a16="http://schemas.microsoft.com/office/drawing/2014/main" id="{C6279178-D10E-B074-0359-CDFD88047D22}"/>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 name="组合 3">
            <a:extLst>
              <a:ext uri="{FF2B5EF4-FFF2-40B4-BE49-F238E27FC236}">
                <a16:creationId xmlns:a16="http://schemas.microsoft.com/office/drawing/2014/main" id="{2EE43228-EB14-3100-DA10-878EC42CF3A0}"/>
              </a:ext>
            </a:extLst>
          </p:cNvPr>
          <p:cNvGrpSpPr/>
          <p:nvPr/>
        </p:nvGrpSpPr>
        <p:grpSpPr>
          <a:xfrm>
            <a:off x="796575" y="2751038"/>
            <a:ext cx="3458058" cy="923330"/>
            <a:chOff x="872775" y="2487402"/>
            <a:chExt cx="3458058" cy="923330"/>
          </a:xfrm>
        </p:grpSpPr>
        <p:sp>
          <p:nvSpPr>
            <p:cNvPr id="5" name="文本框 4">
              <a:extLst>
                <a:ext uri="{FF2B5EF4-FFF2-40B4-BE49-F238E27FC236}">
                  <a16:creationId xmlns:a16="http://schemas.microsoft.com/office/drawing/2014/main" id="{919A20F0-BBB7-2310-85B7-AAF512995332}"/>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3.2</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 name="等腰三角形 9">
              <a:extLst>
                <a:ext uri="{FF2B5EF4-FFF2-40B4-BE49-F238E27FC236}">
                  <a16:creationId xmlns:a16="http://schemas.microsoft.com/office/drawing/2014/main" id="{33F37867-9CDC-F9AA-5CC1-1D4F5B23A83A}"/>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id="{B625C142-EC45-A9D0-477A-DEB1B196E2C8}"/>
              </a:ext>
            </a:extLst>
          </p:cNvPr>
          <p:cNvGrpSpPr/>
          <p:nvPr/>
        </p:nvGrpSpPr>
        <p:grpSpPr>
          <a:xfrm>
            <a:off x="6774186" y="2880414"/>
            <a:ext cx="3526265" cy="1107921"/>
            <a:chOff x="6566813" y="2528855"/>
            <a:chExt cx="3526265" cy="1107921"/>
          </a:xfrm>
        </p:grpSpPr>
        <p:sp>
          <p:nvSpPr>
            <p:cNvPr id="67" name="文本框 66">
              <a:extLst>
                <a:ext uri="{FF2B5EF4-FFF2-40B4-BE49-F238E27FC236}">
                  <a16:creationId xmlns:a16="http://schemas.microsoft.com/office/drawing/2014/main" id="{06266922-9D46-8A08-7ED5-F0075642CB61}"/>
                </a:ext>
              </a:extLst>
            </p:cNvPr>
            <p:cNvSpPr txBox="1"/>
            <p:nvPr/>
          </p:nvSpPr>
          <p:spPr>
            <a:xfrm>
              <a:off x="6566813" y="2528855"/>
              <a:ext cx="3526265" cy="830997"/>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进程控制</a:t>
              </a:r>
            </a:p>
          </p:txBody>
        </p:sp>
        <p:sp>
          <p:nvSpPr>
            <p:cNvPr id="68" name="文本框 67">
              <a:extLst>
                <a:ext uri="{FF2B5EF4-FFF2-40B4-BE49-F238E27FC236}">
                  <a16:creationId xmlns:a16="http://schemas.microsoft.com/office/drawing/2014/main" id="{4DB4965B-4666-C97D-BB1A-781842A05F9D}"/>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208646471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标题 1">
            <a:extLst>
              <a:ext uri="{FF2B5EF4-FFF2-40B4-BE49-F238E27FC236}">
                <a16:creationId xmlns:a16="http://schemas.microsoft.com/office/drawing/2014/main" id="{8A7AAD12-B054-74B4-B2FB-22EAE0E9DA65}"/>
              </a:ext>
            </a:extLst>
          </p:cNvPr>
          <p:cNvSpPr txBox="1">
            <a:spLocks noGrp="1"/>
          </p:cNvSpPr>
          <p:nvPr>
            <p:ph type="title"/>
          </p:nvPr>
        </p:nvSpPr>
        <p:spPr>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3.2.1  </a:t>
            </a:r>
            <a:r>
              <a:rPr lang="zh-CN" altLang="zh-CN" dirty="0"/>
              <a:t>进程</a:t>
            </a:r>
            <a:r>
              <a:rPr lang="zh-CN" altLang="en-US" dirty="0"/>
              <a:t>控制</a:t>
            </a:r>
            <a:endParaRPr lang="zh-CN" altLang="zh-CN" dirty="0"/>
          </a:p>
        </p:txBody>
      </p:sp>
      <p:sp>
        <p:nvSpPr>
          <p:cNvPr id="9" name="文本框 8">
            <a:extLst>
              <a:ext uri="{FF2B5EF4-FFF2-40B4-BE49-F238E27FC236}">
                <a16:creationId xmlns:a16="http://schemas.microsoft.com/office/drawing/2014/main" id="{36096EA6-AE69-A0CE-5DAB-37735366124D}"/>
              </a:ext>
            </a:extLst>
          </p:cNvPr>
          <p:cNvSpPr txBox="1"/>
          <p:nvPr/>
        </p:nvSpPr>
        <p:spPr>
          <a:xfrm>
            <a:off x="803347" y="1365562"/>
            <a:ext cx="10585305" cy="4524315"/>
          </a:xfrm>
          <a:prstGeom prst="rect">
            <a:avLst/>
          </a:prstGeom>
          <a:noFill/>
        </p:spPr>
        <p:txBody>
          <a:bodyPr wrap="square">
            <a:spAutoFit/>
          </a:bodyPr>
          <a:lstStyle/>
          <a:p>
            <a:pPr indent="304800" algn="just"/>
            <a:r>
              <a:rPr lang="zh-CN"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进程控制</a:t>
            </a:r>
            <a:r>
              <a:rPr lang="zh-CN" altLang="en-US"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对进程在整个生命周期中各种状态之间的转换进行有效的控制</a:t>
            </a:r>
            <a:endParaRPr lang="en-US"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通过进程控制原语来实现</a:t>
            </a:r>
          </a:p>
          <a:p>
            <a:pPr indent="304800" algn="just"/>
            <a:endParaRPr lang="en-US"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原语</a:t>
            </a:r>
            <a:r>
              <a:rPr lang="zh-CN" altLang="en-US" sz="2400" b="1" kern="100" dirty="0">
                <a:solidFill>
                  <a:schemeClr val="accent1"/>
                </a:solidFill>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b="1" kern="100" dirty="0">
              <a:solidFill>
                <a:schemeClr val="accent1"/>
              </a:solidFill>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若干条指令所组成的一个指令序列，用来实现某个特定的操作功能</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连续的，具有不可分割性，在执行时也不可间断</a:t>
            </a:r>
            <a:endParaRPr lang="en-US"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必须在管态下执行，并且常驻内存</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用于进程控制的原语：</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创建进程、撤消进程、挂起进程、激活进程、</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阻塞进程、唤醒进程以及改变进程优先级等</a:t>
            </a:r>
          </a:p>
        </p:txBody>
      </p:sp>
    </p:spTree>
    <p:extLst>
      <p:ext uri="{BB962C8B-B14F-4D97-AF65-F5344CB8AC3E}">
        <p14:creationId xmlns:p14="http://schemas.microsoft.com/office/powerpoint/2010/main" val="3687737069"/>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标题 1">
            <a:extLst>
              <a:ext uri="{FF2B5EF4-FFF2-40B4-BE49-F238E27FC236}">
                <a16:creationId xmlns:a16="http://schemas.microsoft.com/office/drawing/2014/main" id="{8A7AAD12-B054-74B4-B2FB-22EAE0E9DA65}"/>
              </a:ext>
            </a:extLst>
          </p:cNvPr>
          <p:cNvSpPr txBox="1">
            <a:spLocks noGrp="1"/>
          </p:cNvSpPr>
          <p:nvPr>
            <p:ph type="title"/>
          </p:nvPr>
        </p:nvSpPr>
        <p:spPr>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3.2.1  </a:t>
            </a:r>
            <a:r>
              <a:rPr lang="zh-CN" altLang="zh-CN" dirty="0"/>
              <a:t>进程</a:t>
            </a:r>
            <a:r>
              <a:rPr lang="zh-CN" altLang="en-US" dirty="0"/>
              <a:t>控制</a:t>
            </a:r>
            <a:endParaRPr lang="zh-CN" altLang="zh-CN" dirty="0"/>
          </a:p>
        </p:txBody>
      </p:sp>
      <p:sp>
        <p:nvSpPr>
          <p:cNvPr id="5" name="文本框 4">
            <a:extLst>
              <a:ext uri="{FF2B5EF4-FFF2-40B4-BE49-F238E27FC236}">
                <a16:creationId xmlns:a16="http://schemas.microsoft.com/office/drawing/2014/main" id="{1ACD5794-0BCF-4257-8AFA-5763D73068AD}"/>
              </a:ext>
            </a:extLst>
          </p:cNvPr>
          <p:cNvSpPr txBox="1"/>
          <p:nvPr/>
        </p:nvSpPr>
        <p:spPr>
          <a:xfrm>
            <a:off x="1331767" y="951828"/>
            <a:ext cx="9947565" cy="5509200"/>
          </a:xfrm>
          <a:prstGeom prst="rect">
            <a:avLst/>
          </a:prstGeom>
          <a:noFill/>
        </p:spPr>
        <p:txBody>
          <a:bodyPr wrap="square">
            <a:spAutoFit/>
          </a:bodyPr>
          <a:lstStyle/>
          <a:p>
            <a:pPr marL="342900" lvl="0" indent="-342900" algn="just">
              <a:buFont typeface="Times New Roman" panose="02020603050405020304" pitchFamily="18" charset="0"/>
              <a:buAutoNum type="arabicPeriod"/>
            </a:pPr>
            <a:r>
              <a:rPr lang="zh-CN" altLang="zh-CN" sz="22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创建原语</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创建一个新的进程，前者称为父进程，后者称为子进程</a:t>
            </a:r>
            <a:endParaRPr lang="en-US" altLang="zh-CN" sz="22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建立进程控制块</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PCB</a:t>
            </a:r>
          </a:p>
          <a:p>
            <a:pPr lvl="0" algn="just"/>
            <a:endParaRPr lang="en-US" altLang="zh-CN" sz="2200"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endParaRPr>
          </a:p>
          <a:p>
            <a:pPr lvl="0" algn="just"/>
            <a:r>
              <a:rPr lang="en-US" altLang="zh-CN" sz="2200"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rPr>
              <a:t>2.</a:t>
            </a:r>
            <a:r>
              <a:rPr lang="zh-CN" altLang="en-US" sz="2200"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撤消原语</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撤消</a:t>
            </a:r>
            <a:r>
              <a:rPr lang="zh-CN" altLang="en-US" sz="2200" kern="100" dirty="0">
                <a:effectLst/>
                <a:latin typeface="微软雅黑" panose="020B0503020204020204" pitchFamily="34" charset="-122"/>
                <a:ea typeface="微软雅黑" panose="020B0503020204020204" pitchFamily="34" charset="-122"/>
                <a:cs typeface="Times New Roman" panose="02020603050405020304" pitchFamily="18" charset="0"/>
              </a:rPr>
              <a:t>进程的</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PCB</a:t>
            </a: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撤消属于该进程的一切“子孙进程”，释放被撤消进程所占用的全部资源</a:t>
            </a:r>
          </a:p>
          <a:p>
            <a:pPr indent="304800" algn="just"/>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 </a:t>
            </a:r>
            <a:endPar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lvl="0" algn="just"/>
            <a:r>
              <a:rPr lang="en-US" altLang="zh-CN" sz="22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3.</a:t>
            </a:r>
            <a:r>
              <a:rPr lang="zh-CN" altLang="en-US" sz="22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阻塞原语</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进程从运行状态转换为阻塞状态</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中断</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CPU</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的执行，把</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CPU</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的当前状态保存在</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PCB</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的现场信息中</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当前状态置为等待状态，并把它插入到该事件的等待队列中去</a:t>
            </a:r>
          </a:p>
          <a:p>
            <a:pPr indent="304800" algn="just"/>
            <a:r>
              <a:rPr lang="en-US" altLang="zh-CN" sz="22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 </a:t>
            </a:r>
            <a:endParaRPr lang="zh-CN" altLang="zh-CN" sz="22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lvl="0" algn="just"/>
            <a:r>
              <a:rPr lang="en-US" altLang="zh-CN" sz="22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4.</a:t>
            </a:r>
            <a:r>
              <a:rPr lang="zh-CN" altLang="en-US" sz="22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唤醒原语</a:t>
            </a: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等待状态转换为就绪状态</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从等待队列中撤出并插入到就绪队列中排队，等待调度执行</a:t>
            </a:r>
          </a:p>
        </p:txBody>
      </p:sp>
    </p:spTree>
    <p:extLst>
      <p:ext uri="{BB962C8B-B14F-4D97-AF65-F5344CB8AC3E}">
        <p14:creationId xmlns:p14="http://schemas.microsoft.com/office/powerpoint/2010/main" val="135597969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标题 1">
            <a:extLst>
              <a:ext uri="{FF2B5EF4-FFF2-40B4-BE49-F238E27FC236}">
                <a16:creationId xmlns:a16="http://schemas.microsoft.com/office/drawing/2014/main" id="{8A7AAD12-B054-74B4-B2FB-22EAE0E9DA65}"/>
              </a:ext>
            </a:extLst>
          </p:cNvPr>
          <p:cNvSpPr txBox="1">
            <a:spLocks noGrp="1"/>
          </p:cNvSpPr>
          <p:nvPr>
            <p:ph type="title"/>
          </p:nvPr>
        </p:nvSpPr>
        <p:spPr>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3.2.2  Linux</a:t>
            </a:r>
            <a:r>
              <a:rPr lang="zh-CN" altLang="zh-CN" dirty="0"/>
              <a:t>操作系统有关进程控制的系统调用</a:t>
            </a:r>
          </a:p>
        </p:txBody>
      </p:sp>
      <p:sp>
        <p:nvSpPr>
          <p:cNvPr id="5" name="文本框 4">
            <a:extLst>
              <a:ext uri="{FF2B5EF4-FFF2-40B4-BE49-F238E27FC236}">
                <a16:creationId xmlns:a16="http://schemas.microsoft.com/office/drawing/2014/main" id="{8A9A0485-8841-2643-1C12-BB363A6D9E81}"/>
              </a:ext>
            </a:extLst>
          </p:cNvPr>
          <p:cNvSpPr txBox="1"/>
          <p:nvPr/>
        </p:nvSpPr>
        <p:spPr>
          <a:xfrm>
            <a:off x="442914" y="1133642"/>
            <a:ext cx="10520362" cy="1107996"/>
          </a:xfrm>
          <a:prstGeom prst="rect">
            <a:avLst/>
          </a:prstGeom>
          <a:noFill/>
        </p:spPr>
        <p:txBody>
          <a:bodyPr wrap="square">
            <a:spAutoFit/>
          </a:bodyPr>
          <a:lstStyle/>
          <a:p>
            <a:pPr indent="304800" algn="just"/>
            <a:r>
              <a:rPr lang="zh-CN" altLang="zh-CN" sz="2200" kern="100" dirty="0">
                <a:effectLst/>
                <a:latin typeface="+mn-ea"/>
                <a:cs typeface="Times New Roman" panose="02020603050405020304" pitchFamily="18" charset="0"/>
              </a:rPr>
              <a:t>在</a:t>
            </a:r>
            <a:r>
              <a:rPr lang="en-US" altLang="zh-CN" sz="2200" kern="100" dirty="0">
                <a:effectLst/>
                <a:latin typeface="+mn-ea"/>
                <a:cs typeface="Times New Roman" panose="02020603050405020304" pitchFamily="18" charset="0"/>
              </a:rPr>
              <a:t>Linux</a:t>
            </a:r>
            <a:r>
              <a:rPr lang="zh-CN" altLang="zh-CN" sz="2200" kern="100" dirty="0">
                <a:effectLst/>
                <a:latin typeface="+mn-ea"/>
                <a:cs typeface="Times New Roman" panose="02020603050405020304" pitchFamily="18" charset="0"/>
              </a:rPr>
              <a:t>操作系统中，常用的有关进程控制的系统调用有：</a:t>
            </a:r>
            <a:endParaRPr lang="en-US" altLang="zh-CN" sz="2200" kern="100" dirty="0">
              <a:effectLst/>
              <a:latin typeface="+mn-ea"/>
              <a:cs typeface="Times New Roman" panose="02020603050405020304" pitchFamily="18" charset="0"/>
            </a:endParaRPr>
          </a:p>
          <a:p>
            <a:pPr indent="304800" algn="just"/>
            <a:r>
              <a:rPr lang="en-US" altLang="zh-CN" sz="2200" kern="100" dirty="0">
                <a:effectLst/>
                <a:latin typeface="+mn-ea"/>
                <a:cs typeface="Times New Roman" panose="02020603050405020304" pitchFamily="18" charset="0"/>
              </a:rPr>
              <a:t>fork</a:t>
            </a:r>
            <a:r>
              <a:rPr lang="zh-CN" altLang="zh-CN" sz="2200" kern="100" dirty="0">
                <a:effectLst/>
                <a:latin typeface="+mn-ea"/>
                <a:cs typeface="Times New Roman" panose="02020603050405020304" pitchFamily="18" charset="0"/>
              </a:rPr>
              <a:t>，</a:t>
            </a:r>
            <a:r>
              <a:rPr lang="en-US" altLang="zh-CN" sz="2200" kern="100" dirty="0">
                <a:effectLst/>
                <a:latin typeface="+mn-ea"/>
                <a:cs typeface="Times New Roman" panose="02020603050405020304" pitchFamily="18" charset="0"/>
              </a:rPr>
              <a:t>exec</a:t>
            </a:r>
            <a:r>
              <a:rPr lang="zh-CN" altLang="zh-CN" sz="2200" kern="100" dirty="0">
                <a:effectLst/>
                <a:latin typeface="+mn-ea"/>
                <a:cs typeface="Times New Roman" panose="02020603050405020304" pitchFamily="18" charset="0"/>
              </a:rPr>
              <a:t>，</a:t>
            </a:r>
            <a:r>
              <a:rPr lang="en-US" altLang="zh-CN" sz="2200" kern="100" dirty="0">
                <a:effectLst/>
                <a:latin typeface="+mn-ea"/>
                <a:cs typeface="Times New Roman" panose="02020603050405020304" pitchFamily="18" charset="0"/>
              </a:rPr>
              <a:t>wait</a:t>
            </a:r>
            <a:r>
              <a:rPr lang="zh-CN" altLang="zh-CN" sz="2200" kern="100" dirty="0">
                <a:effectLst/>
                <a:latin typeface="+mn-ea"/>
                <a:cs typeface="Times New Roman" panose="02020603050405020304" pitchFamily="18" charset="0"/>
              </a:rPr>
              <a:t>，</a:t>
            </a:r>
            <a:r>
              <a:rPr lang="en-US" altLang="zh-CN" sz="2200" kern="100" dirty="0">
                <a:effectLst/>
                <a:latin typeface="+mn-ea"/>
                <a:cs typeface="Times New Roman" panose="02020603050405020304" pitchFamily="18" charset="0"/>
              </a:rPr>
              <a:t>exit</a:t>
            </a:r>
            <a:r>
              <a:rPr lang="zh-CN" altLang="zh-CN" sz="2200" kern="100" dirty="0">
                <a:effectLst/>
                <a:latin typeface="+mn-ea"/>
                <a:cs typeface="Times New Roman" panose="02020603050405020304" pitchFamily="18" charset="0"/>
              </a:rPr>
              <a:t>，</a:t>
            </a:r>
            <a:r>
              <a:rPr lang="en-US" altLang="zh-CN" sz="2200" kern="100" dirty="0">
                <a:effectLst/>
                <a:latin typeface="+mn-ea"/>
                <a:cs typeface="Times New Roman" panose="02020603050405020304" pitchFamily="18" charset="0"/>
              </a:rPr>
              <a:t>getpid</a:t>
            </a:r>
            <a:r>
              <a:rPr lang="zh-CN" altLang="zh-CN" sz="2200" kern="100" dirty="0">
                <a:effectLst/>
                <a:latin typeface="+mn-ea"/>
                <a:cs typeface="Times New Roman" panose="02020603050405020304" pitchFamily="18" charset="0"/>
              </a:rPr>
              <a:t>，</a:t>
            </a:r>
            <a:r>
              <a:rPr lang="en-US" altLang="zh-CN" sz="2200" kern="100" dirty="0">
                <a:effectLst/>
                <a:latin typeface="+mn-ea"/>
                <a:cs typeface="Times New Roman" panose="02020603050405020304" pitchFamily="18" charset="0"/>
              </a:rPr>
              <a:t>sleep</a:t>
            </a:r>
            <a:r>
              <a:rPr lang="zh-CN" altLang="zh-CN" sz="2200" kern="100" dirty="0">
                <a:effectLst/>
                <a:latin typeface="+mn-ea"/>
                <a:cs typeface="Times New Roman" panose="02020603050405020304" pitchFamily="18" charset="0"/>
              </a:rPr>
              <a:t>和</a:t>
            </a:r>
            <a:r>
              <a:rPr lang="en-US" altLang="zh-CN" sz="2200" kern="100" dirty="0">
                <a:effectLst/>
                <a:latin typeface="+mn-ea"/>
                <a:cs typeface="Times New Roman" panose="02020603050405020304" pitchFamily="18" charset="0"/>
              </a:rPr>
              <a:t>nice</a:t>
            </a:r>
            <a:r>
              <a:rPr lang="zh-CN" altLang="zh-CN" sz="2200" kern="100" dirty="0">
                <a:effectLst/>
                <a:latin typeface="+mn-ea"/>
                <a:cs typeface="Times New Roman" panose="02020603050405020304" pitchFamily="18" charset="0"/>
              </a:rPr>
              <a:t>等</a:t>
            </a:r>
            <a:endParaRPr lang="en-US" altLang="zh-CN" sz="2200" kern="100" dirty="0">
              <a:effectLst/>
              <a:latin typeface="+mn-ea"/>
              <a:cs typeface="Times New Roman" panose="02020603050405020304" pitchFamily="18" charset="0"/>
            </a:endParaRPr>
          </a:p>
          <a:p>
            <a:pPr indent="304800" algn="just"/>
            <a:r>
              <a:rPr lang="zh-CN" altLang="en-US" sz="2200" kern="100" dirty="0">
                <a:effectLst/>
                <a:latin typeface="+mn-ea"/>
                <a:cs typeface="Times New Roman" panose="02020603050405020304" pitchFamily="18" charset="0"/>
              </a:rPr>
              <a:t>下表</a:t>
            </a:r>
            <a:r>
              <a:rPr lang="zh-CN" altLang="zh-CN" sz="2200" kern="100" dirty="0">
                <a:effectLst/>
                <a:latin typeface="+mn-ea"/>
                <a:cs typeface="Times New Roman" panose="02020603050405020304" pitchFamily="18" charset="0"/>
              </a:rPr>
              <a:t>所示为这些系统调用的功能说明</a:t>
            </a:r>
          </a:p>
        </p:txBody>
      </p:sp>
      <p:graphicFrame>
        <p:nvGraphicFramePr>
          <p:cNvPr id="2" name="表格 2">
            <a:extLst>
              <a:ext uri="{FF2B5EF4-FFF2-40B4-BE49-F238E27FC236}">
                <a16:creationId xmlns:a16="http://schemas.microsoft.com/office/drawing/2014/main" id="{6FB2CADE-28D5-4B0A-AB0D-15982953920E}"/>
              </a:ext>
            </a:extLst>
          </p:cNvPr>
          <p:cNvGraphicFramePr>
            <a:graphicFrameLocks noGrp="1"/>
          </p:cNvGraphicFramePr>
          <p:nvPr>
            <p:extLst>
              <p:ext uri="{D42A27DB-BD31-4B8C-83A1-F6EECF244321}">
                <p14:modId xmlns:p14="http://schemas.microsoft.com/office/powerpoint/2010/main" val="1238700085"/>
              </p:ext>
            </p:extLst>
          </p:nvPr>
        </p:nvGraphicFramePr>
        <p:xfrm>
          <a:off x="733589" y="2467636"/>
          <a:ext cx="10229686" cy="3474720"/>
        </p:xfrm>
        <a:graphic>
          <a:graphicData uri="http://schemas.openxmlformats.org/drawingml/2006/table">
            <a:tbl>
              <a:tblPr firstRow="1" bandRow="1">
                <a:tableStyleId>{5C22544A-7EE6-4342-B048-85BDC9FD1C3A}</a:tableStyleId>
              </a:tblPr>
              <a:tblGrid>
                <a:gridCol w="4064000">
                  <a:extLst>
                    <a:ext uri="{9D8B030D-6E8A-4147-A177-3AD203B41FA5}">
                      <a16:colId xmlns:a16="http://schemas.microsoft.com/office/drawing/2014/main" val="1626743009"/>
                    </a:ext>
                  </a:extLst>
                </a:gridCol>
                <a:gridCol w="6165686">
                  <a:extLst>
                    <a:ext uri="{9D8B030D-6E8A-4147-A177-3AD203B41FA5}">
                      <a16:colId xmlns:a16="http://schemas.microsoft.com/office/drawing/2014/main" val="1264331801"/>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sz="2000" b="1" kern="500" dirty="0">
                          <a:solidFill>
                            <a:schemeClr val="lt1"/>
                          </a:solidFill>
                          <a:effectLst/>
                          <a:latin typeface="+mn-lt"/>
                          <a:ea typeface="+mn-ea"/>
                          <a:cs typeface="+mn-cs"/>
                        </a:rPr>
                        <a:t>系统调用</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zh-CN" sz="2000" kern="500" dirty="0">
                          <a:effectLst/>
                        </a:rPr>
                        <a:t>功</a:t>
                      </a:r>
                      <a:r>
                        <a:rPr lang="en-US" altLang="zh-CN" sz="2000" kern="500" dirty="0">
                          <a:effectLst/>
                        </a:rPr>
                        <a:t>    </a:t>
                      </a:r>
                      <a:r>
                        <a:rPr lang="zh-CN" altLang="zh-CN" sz="2000" kern="500" dirty="0">
                          <a:effectLst/>
                        </a:rPr>
                        <a:t>能</a:t>
                      </a:r>
                      <a:endParaRPr lang="zh-CN" altLang="zh-CN" sz="1800" kern="1050" dirty="0">
                        <a:effectLst/>
                        <a:latin typeface="Times New Roman" panose="02020603050405020304" pitchFamily="18" charset="0"/>
                        <a:ea typeface="宋体" panose="02010600030101010101" pitchFamily="2" charset="-122"/>
                      </a:endParaRPr>
                    </a:p>
                  </a:txBody>
                  <a:tcPr/>
                </a:tc>
                <a:extLst>
                  <a:ext uri="{0D108BD9-81ED-4DB2-BD59-A6C34878D82A}">
                    <a16:rowId xmlns:a16="http://schemas.microsoft.com/office/drawing/2014/main" val="3843309329"/>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kern="500" dirty="0">
                          <a:effectLst/>
                        </a:rPr>
                        <a:t>fork</a:t>
                      </a:r>
                      <a:endParaRPr lang="zh-CN" altLang="zh-CN" sz="2000" kern="1050" dirty="0">
                        <a:effectLst/>
                        <a:latin typeface="Times New Roman" panose="02020603050405020304" pitchFamily="18" charset="0"/>
                        <a:ea typeface="宋体" panose="02010600030101010101" pitchFamily="2" charset="-122"/>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zh-CN" sz="2000" kern="500" dirty="0">
                          <a:effectLst/>
                        </a:rPr>
                        <a:t>创建一个子进程</a:t>
                      </a:r>
                      <a:endParaRPr lang="zh-CN" altLang="zh-CN" sz="2000" kern="1050" dirty="0">
                        <a:effectLst/>
                        <a:latin typeface="Times New Roman" panose="02020603050405020304" pitchFamily="18" charset="0"/>
                        <a:ea typeface="宋体" panose="02010600030101010101" pitchFamily="2" charset="-122"/>
                      </a:endParaRPr>
                    </a:p>
                  </a:txBody>
                  <a:tcPr/>
                </a:tc>
                <a:extLst>
                  <a:ext uri="{0D108BD9-81ED-4DB2-BD59-A6C34878D82A}">
                    <a16:rowId xmlns:a16="http://schemas.microsoft.com/office/drawing/2014/main" val="1504378965"/>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kern="500" dirty="0">
                          <a:solidFill>
                            <a:schemeClr val="dk1"/>
                          </a:solidFill>
                          <a:effectLst/>
                          <a:latin typeface="+mn-lt"/>
                          <a:ea typeface="+mn-ea"/>
                          <a:cs typeface="+mn-cs"/>
                        </a:rPr>
                        <a:t>getpid</a:t>
                      </a:r>
                      <a:endParaRPr lang="zh-CN" altLang="zh-CN" sz="2000" kern="500" dirty="0">
                        <a:solidFill>
                          <a:schemeClr val="dk1"/>
                        </a:solidFill>
                        <a:effectLst/>
                        <a:latin typeface="+mn-lt"/>
                        <a:ea typeface="+mn-ea"/>
                        <a:cs typeface="+mn-cs"/>
                      </a:endParaRPr>
                    </a:p>
                  </a:txBody>
                  <a:tcPr/>
                </a:tc>
                <a:tc>
                  <a:txBody>
                    <a:bodyPr/>
                    <a:lstStyle/>
                    <a:p>
                      <a:pPr algn="ctr"/>
                      <a:r>
                        <a:rPr lang="zh-CN" altLang="zh-CN" sz="2000" kern="500" dirty="0">
                          <a:effectLst/>
                        </a:rPr>
                        <a:t>返回当前进程的</a:t>
                      </a:r>
                      <a:r>
                        <a:rPr lang="en-US" altLang="zh-CN" sz="2000" kern="500" dirty="0">
                          <a:effectLst/>
                        </a:rPr>
                        <a:t>PID</a:t>
                      </a:r>
                      <a:endParaRPr lang="zh-CN" altLang="en-US" sz="2000" dirty="0"/>
                    </a:p>
                  </a:txBody>
                  <a:tcPr/>
                </a:tc>
                <a:extLst>
                  <a:ext uri="{0D108BD9-81ED-4DB2-BD59-A6C34878D82A}">
                    <a16:rowId xmlns:a16="http://schemas.microsoft.com/office/drawing/2014/main" val="3382974929"/>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kern="500" dirty="0">
                          <a:effectLst/>
                        </a:rPr>
                        <a:t>exec</a:t>
                      </a:r>
                      <a:endParaRPr lang="zh-CN" altLang="zh-CN" sz="2000" kern="1050" dirty="0">
                        <a:effectLst/>
                        <a:latin typeface="Times New Roman" panose="02020603050405020304" pitchFamily="18" charset="0"/>
                        <a:ea typeface="宋体" panose="02010600030101010101" pitchFamily="2" charset="-122"/>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zh-CN" sz="2000" kern="500" dirty="0">
                          <a:effectLst/>
                        </a:rPr>
                        <a:t>更换进程映像，即根据指定的文件名找到可执行文件，并用它来取代调用进程的内容</a:t>
                      </a:r>
                      <a:endParaRPr lang="zh-CN" altLang="zh-CN" sz="2000" kern="1050" dirty="0">
                        <a:effectLst/>
                        <a:latin typeface="Times New Roman" panose="02020603050405020304" pitchFamily="18" charset="0"/>
                        <a:ea typeface="宋体" panose="02010600030101010101" pitchFamily="2" charset="-122"/>
                      </a:endParaRPr>
                    </a:p>
                  </a:txBody>
                  <a:tcPr/>
                </a:tc>
                <a:extLst>
                  <a:ext uri="{0D108BD9-81ED-4DB2-BD59-A6C34878D82A}">
                    <a16:rowId xmlns:a16="http://schemas.microsoft.com/office/drawing/2014/main" val="287213954"/>
                  </a:ext>
                </a:extLst>
              </a:tr>
              <a:tr h="370840">
                <a:tc>
                  <a:txBody>
                    <a:bodyPr/>
                    <a:lstStyle/>
                    <a:p>
                      <a:pPr algn="ctr"/>
                      <a:r>
                        <a:rPr lang="en-US" altLang="zh-CN" sz="2000" kern="500" dirty="0">
                          <a:effectLst/>
                        </a:rPr>
                        <a:t>exit</a:t>
                      </a:r>
                      <a:endParaRPr lang="zh-CN" altLang="en-US" sz="2000" dirty="0"/>
                    </a:p>
                  </a:txBody>
                  <a:tcPr/>
                </a:tc>
                <a:tc>
                  <a:txBody>
                    <a:bodyPr/>
                    <a:lstStyle/>
                    <a:p>
                      <a:pPr algn="ctr"/>
                      <a:r>
                        <a:rPr lang="zh-CN" altLang="zh-CN" sz="2000" kern="500" dirty="0">
                          <a:effectLst/>
                        </a:rPr>
                        <a:t>终止调用的程序（用于程序运行出错</a:t>
                      </a:r>
                      <a:r>
                        <a:rPr lang="zh-CN" altLang="en-US" sz="2000" kern="500" dirty="0">
                          <a:effectLst/>
                        </a:rPr>
                        <a:t>）</a:t>
                      </a:r>
                      <a:endParaRPr lang="zh-CN" altLang="en-US" sz="2000" dirty="0"/>
                    </a:p>
                  </a:txBody>
                  <a:tcPr/>
                </a:tc>
                <a:extLst>
                  <a:ext uri="{0D108BD9-81ED-4DB2-BD59-A6C34878D82A}">
                    <a16:rowId xmlns:a16="http://schemas.microsoft.com/office/drawing/2014/main" val="2112074828"/>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kern="500" dirty="0">
                          <a:effectLst/>
                        </a:rPr>
                        <a:t>wait</a:t>
                      </a:r>
                      <a:endParaRPr lang="zh-CN" altLang="zh-CN" sz="2000" kern="1050" dirty="0">
                        <a:effectLst/>
                        <a:latin typeface="Times New Roman" panose="02020603050405020304" pitchFamily="18" charset="0"/>
                        <a:ea typeface="宋体" panose="02010600030101010101" pitchFamily="2" charset="-122"/>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zh-CN" sz="2000" kern="500" dirty="0">
                          <a:effectLst/>
                        </a:rPr>
                        <a:t>等待任何要僵死的子进程</a:t>
                      </a:r>
                      <a:endParaRPr lang="zh-CN" altLang="zh-CN" sz="2000" kern="1050" dirty="0">
                        <a:effectLst/>
                        <a:latin typeface="Times New Roman" panose="02020603050405020304" pitchFamily="18" charset="0"/>
                        <a:ea typeface="宋体" panose="02010600030101010101" pitchFamily="2" charset="-122"/>
                      </a:endParaRPr>
                    </a:p>
                  </a:txBody>
                  <a:tcPr/>
                </a:tc>
                <a:extLst>
                  <a:ext uri="{0D108BD9-81ED-4DB2-BD59-A6C34878D82A}">
                    <a16:rowId xmlns:a16="http://schemas.microsoft.com/office/drawing/2014/main" val="1108477826"/>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kern="500" dirty="0">
                          <a:effectLst/>
                        </a:rPr>
                        <a:t>sleep</a:t>
                      </a:r>
                      <a:endParaRPr lang="zh-CN" altLang="zh-CN" sz="2000" kern="1050" dirty="0">
                        <a:effectLst/>
                        <a:latin typeface="Times New Roman" panose="02020603050405020304" pitchFamily="18" charset="0"/>
                        <a:ea typeface="宋体" panose="02010600030101010101" pitchFamily="2" charset="-122"/>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zh-CN" sz="2000" kern="500" dirty="0">
                          <a:effectLst/>
                        </a:rPr>
                        <a:t>使进程挂起指定的时间</a:t>
                      </a:r>
                      <a:endParaRPr lang="zh-CN" altLang="zh-CN" sz="2000" kern="1050" dirty="0">
                        <a:effectLst/>
                        <a:latin typeface="Times New Roman" panose="02020603050405020304" pitchFamily="18" charset="0"/>
                        <a:ea typeface="宋体" panose="02010600030101010101" pitchFamily="2" charset="-122"/>
                      </a:endParaRPr>
                    </a:p>
                  </a:txBody>
                  <a:tcPr/>
                </a:tc>
                <a:extLst>
                  <a:ext uri="{0D108BD9-81ED-4DB2-BD59-A6C34878D82A}">
                    <a16:rowId xmlns:a16="http://schemas.microsoft.com/office/drawing/2014/main" val="4269239837"/>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2000" kern="500" dirty="0">
                          <a:effectLst/>
                        </a:rPr>
                        <a:t>nice</a:t>
                      </a:r>
                      <a:endParaRPr lang="zh-CN" altLang="zh-CN" sz="2000" kern="1050" dirty="0">
                        <a:effectLst/>
                        <a:latin typeface="Times New Roman" panose="02020603050405020304" pitchFamily="18" charset="0"/>
                        <a:ea typeface="宋体" panose="02010600030101010101" pitchFamily="2" charset="-122"/>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zh-CN" sz="2000" kern="500" dirty="0">
                          <a:effectLst/>
                        </a:rPr>
                        <a:t>改变进程的优先级</a:t>
                      </a:r>
                      <a:endParaRPr lang="zh-CN" altLang="zh-CN" sz="2000" kern="1050" dirty="0">
                        <a:effectLst/>
                        <a:latin typeface="Times New Roman" panose="02020603050405020304" pitchFamily="18" charset="0"/>
                        <a:ea typeface="宋体" panose="02010600030101010101" pitchFamily="2" charset="-122"/>
                      </a:endParaRPr>
                    </a:p>
                  </a:txBody>
                  <a:tcPr/>
                </a:tc>
                <a:extLst>
                  <a:ext uri="{0D108BD9-81ED-4DB2-BD59-A6C34878D82A}">
                    <a16:rowId xmlns:a16="http://schemas.microsoft.com/office/drawing/2014/main" val="986403950"/>
                  </a:ext>
                </a:extLst>
              </a:tr>
            </a:tbl>
          </a:graphicData>
        </a:graphic>
      </p:graphicFrame>
    </p:spTree>
    <p:extLst>
      <p:ext uri="{BB962C8B-B14F-4D97-AF65-F5344CB8AC3E}">
        <p14:creationId xmlns:p14="http://schemas.microsoft.com/office/powerpoint/2010/main" val="39694335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标题 1">
            <a:extLst>
              <a:ext uri="{FF2B5EF4-FFF2-40B4-BE49-F238E27FC236}">
                <a16:creationId xmlns:a16="http://schemas.microsoft.com/office/drawing/2014/main" id="{8A7AAD12-B054-74B4-B2FB-22EAE0E9DA65}"/>
              </a:ext>
            </a:extLst>
          </p:cNvPr>
          <p:cNvSpPr txBox="1">
            <a:spLocks noGrp="1"/>
          </p:cNvSpPr>
          <p:nvPr>
            <p:ph type="title"/>
          </p:nvPr>
        </p:nvSpPr>
        <p:spPr>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3.2.2  Linux</a:t>
            </a:r>
            <a:r>
              <a:rPr lang="zh-CN" altLang="zh-CN" dirty="0"/>
              <a:t>操作系统有关进程控制的系统调用</a:t>
            </a:r>
          </a:p>
        </p:txBody>
      </p:sp>
      <p:sp>
        <p:nvSpPr>
          <p:cNvPr id="3" name="文本框 2">
            <a:extLst>
              <a:ext uri="{FF2B5EF4-FFF2-40B4-BE49-F238E27FC236}">
                <a16:creationId xmlns:a16="http://schemas.microsoft.com/office/drawing/2014/main" id="{1AA00867-E9CE-47E6-1943-7B7BA716562C}"/>
              </a:ext>
            </a:extLst>
          </p:cNvPr>
          <p:cNvSpPr txBox="1"/>
          <p:nvPr/>
        </p:nvSpPr>
        <p:spPr>
          <a:xfrm>
            <a:off x="0" y="997800"/>
            <a:ext cx="11852091" cy="461665"/>
          </a:xfrm>
          <a:prstGeom prst="rect">
            <a:avLst/>
          </a:prstGeom>
          <a:noFill/>
        </p:spPr>
        <p:txBody>
          <a:bodyPr wrap="square">
            <a:spAutoFit/>
          </a:bodyPr>
          <a:lstStyle/>
          <a:p>
            <a:pPr algn="just"/>
            <a:r>
              <a:rPr lang="zh-CN" altLang="zh-CN" sz="2400" kern="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2400" kern="0" dirty="0">
                <a:effectLst/>
                <a:latin typeface="微软雅黑" panose="020B0503020204020204" pitchFamily="34" charset="-122"/>
                <a:ea typeface="微软雅黑" panose="020B0503020204020204" pitchFamily="34" charset="-122"/>
                <a:cs typeface="Times New Roman" panose="02020603050405020304" pitchFamily="18" charset="0"/>
              </a:rPr>
              <a:t>代码示例</a:t>
            </a:r>
            <a:r>
              <a:rPr lang="en-US" altLang="zh-CN" sz="2400" kern="0" dirty="0">
                <a:effectLst/>
                <a:latin typeface="微软雅黑" panose="020B0503020204020204" pitchFamily="34" charset="-122"/>
                <a:ea typeface="微软雅黑" panose="020B0503020204020204" pitchFamily="34" charset="-122"/>
                <a:cs typeface="Times New Roman" panose="02020603050405020304" pitchFamily="18" charset="0"/>
              </a:rPr>
              <a:t>-fork</a:t>
            </a:r>
            <a:r>
              <a:rPr lang="zh-CN" altLang="en-US" sz="2400" kern="0" dirty="0">
                <a:effectLst/>
                <a:latin typeface="微软雅黑" panose="020B0503020204020204" pitchFamily="34" charset="-122"/>
                <a:ea typeface="微软雅黑" panose="020B0503020204020204" pitchFamily="34" charset="-122"/>
                <a:cs typeface="Times New Roman" panose="02020603050405020304" pitchFamily="18" charset="0"/>
              </a:rPr>
              <a:t>与</a:t>
            </a:r>
            <a:r>
              <a:rPr lang="en-US" altLang="zh-CN" sz="2400" kern="0" dirty="0">
                <a:effectLst/>
                <a:latin typeface="微软雅黑" panose="020B0503020204020204" pitchFamily="34" charset="-122"/>
                <a:ea typeface="微软雅黑" panose="020B0503020204020204" pitchFamily="34" charset="-122"/>
                <a:cs typeface="Times New Roman" panose="02020603050405020304" pitchFamily="18" charset="0"/>
              </a:rPr>
              <a:t>exec</a:t>
            </a:r>
            <a:r>
              <a:rPr lang="zh-CN" altLang="zh-CN" sz="2400" kern="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0" dirty="0">
                <a:effectLst/>
                <a:latin typeface="微软雅黑" panose="020B0503020204020204" pitchFamily="34" charset="-122"/>
                <a:ea typeface="微软雅黑" panose="020B0503020204020204" pitchFamily="34" charset="-122"/>
                <a:cs typeface="Times New Roman" panose="02020603050405020304" pitchFamily="18" charset="0"/>
              </a:rPr>
              <a:t>Linux</a:t>
            </a:r>
            <a:r>
              <a:rPr lang="zh-CN" altLang="zh-CN" sz="2400" kern="0" dirty="0">
                <a:effectLst/>
                <a:latin typeface="微软雅黑" panose="020B0503020204020204" pitchFamily="34" charset="-122"/>
                <a:ea typeface="微软雅黑" panose="020B0503020204020204" pitchFamily="34" charset="-122"/>
                <a:cs typeface="Times New Roman" panose="02020603050405020304" pitchFamily="18" charset="0"/>
              </a:rPr>
              <a:t>系统中</a:t>
            </a:r>
            <a:r>
              <a:rPr lang="zh-CN" altLang="en-US" sz="2400" kern="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0" dirty="0">
                <a:effectLst/>
                <a:latin typeface="微软雅黑" panose="020B0503020204020204" pitchFamily="34" charset="-122"/>
                <a:ea typeface="微软雅黑" panose="020B0503020204020204" pitchFamily="34" charset="-122"/>
                <a:cs typeface="Times New Roman" panose="02020603050405020304" pitchFamily="18" charset="0"/>
              </a:rPr>
              <a:t>父进程创建子进程</a:t>
            </a:r>
            <a:r>
              <a:rPr lang="zh-CN" altLang="en-US" sz="2400" kern="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0" dirty="0">
                <a:effectLst/>
                <a:latin typeface="微软雅黑" panose="020B0503020204020204" pitchFamily="34" charset="-122"/>
                <a:ea typeface="微软雅黑" panose="020B0503020204020204" pitchFamily="34" charset="-122"/>
                <a:cs typeface="Times New Roman" panose="02020603050405020304" pitchFamily="18" charset="0"/>
              </a:rPr>
              <a:t>以及各自分开活动的情况</a:t>
            </a:r>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0" name="文本框 9">
            <a:extLst>
              <a:ext uri="{FF2B5EF4-FFF2-40B4-BE49-F238E27FC236}">
                <a16:creationId xmlns:a16="http://schemas.microsoft.com/office/drawing/2014/main" id="{B7B2A31C-F8D2-0658-D2DC-5A498B9BB775}"/>
              </a:ext>
            </a:extLst>
          </p:cNvPr>
          <p:cNvSpPr txBox="1"/>
          <p:nvPr/>
        </p:nvSpPr>
        <p:spPr>
          <a:xfrm>
            <a:off x="442913" y="1671906"/>
            <a:ext cx="9596437" cy="4760278"/>
          </a:xfrm>
          <a:prstGeom prst="rect">
            <a:avLst/>
          </a:prstGeom>
          <a:noFill/>
        </p:spPr>
        <p:txBody>
          <a:bodyPr wrap="square">
            <a:spAutoFit/>
          </a:bodyPr>
          <a:lstStyle/>
          <a:p>
            <a:pPr marR="0" algn="just" rtl="0"/>
            <a:endParaRPr lang="en-US" altLang="zh-CN" sz="700" b="0" i="0" u="none" strike="noStrike"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#include  &lt;</a:t>
            </a:r>
            <a:r>
              <a:rPr lang="en-US" altLang="zh-CN" sz="3200" kern="500" baseline="30000" dirty="0" err="1">
                <a:latin typeface="Times New Roman" panose="02020603050405020304" pitchFamily="18" charset="0"/>
                <a:ea typeface="宋体" panose="02010600030101010101" pitchFamily="2" charset="-122"/>
              </a:rPr>
              <a:t>unistd.h</a:t>
            </a:r>
            <a:r>
              <a:rPr lang="en-US" altLang="zh-CN" sz="3200" kern="500" baseline="30000" dirty="0">
                <a:latin typeface="Times New Roman" panose="02020603050405020304" pitchFamily="18" charset="0"/>
                <a:ea typeface="宋体" panose="02010600030101010101" pitchFamily="2" charset="-122"/>
              </a:rPr>
              <a:t>&gt;</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#include  &lt;sys/</a:t>
            </a:r>
            <a:r>
              <a:rPr lang="en-US" altLang="zh-CN" sz="3200" kern="500" baseline="30000" dirty="0" err="1">
                <a:latin typeface="Times New Roman" panose="02020603050405020304" pitchFamily="18" charset="0"/>
                <a:ea typeface="宋体" panose="02010600030101010101" pitchFamily="2" charset="-122"/>
              </a:rPr>
              <a:t>types.h</a:t>
            </a:r>
            <a:r>
              <a:rPr lang="en-US" altLang="zh-CN" sz="3200" kern="500" baseline="30000" dirty="0">
                <a:latin typeface="Times New Roman" panose="02020603050405020304" pitchFamily="18" charset="0"/>
                <a:ea typeface="宋体" panose="02010600030101010101" pitchFamily="2" charset="-122"/>
              </a:rPr>
              <a:t>&gt;</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#include  &lt;</a:t>
            </a:r>
            <a:r>
              <a:rPr lang="en-US" altLang="zh-CN" sz="3200" kern="500" baseline="30000" dirty="0" err="1">
                <a:latin typeface="Times New Roman" panose="02020603050405020304" pitchFamily="18" charset="0"/>
                <a:ea typeface="宋体" panose="02010600030101010101" pitchFamily="2" charset="-122"/>
              </a:rPr>
              <a:t>stdio.h</a:t>
            </a:r>
            <a:r>
              <a:rPr lang="en-US" altLang="zh-CN" sz="3200" kern="500" baseline="30000" dirty="0">
                <a:latin typeface="Times New Roman" panose="02020603050405020304" pitchFamily="18" charset="0"/>
                <a:ea typeface="宋体" panose="02010600030101010101" pitchFamily="2" charset="-122"/>
              </a:rPr>
              <a:t>&gt;</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#include  &lt;sys/</a:t>
            </a:r>
            <a:r>
              <a:rPr lang="en-US" altLang="zh-CN" sz="3200" kern="500" baseline="30000" dirty="0" err="1">
                <a:latin typeface="Times New Roman" panose="02020603050405020304" pitchFamily="18" charset="0"/>
                <a:ea typeface="宋体" panose="02010600030101010101" pitchFamily="2" charset="-122"/>
              </a:rPr>
              <a:t>wait.h</a:t>
            </a:r>
            <a:r>
              <a:rPr lang="en-US" altLang="zh-CN" sz="3200" kern="500" baseline="30000" dirty="0">
                <a:latin typeface="Times New Roman" panose="02020603050405020304" pitchFamily="18" charset="0"/>
                <a:ea typeface="宋体" panose="02010600030101010101" pitchFamily="2" charset="-122"/>
              </a:rPr>
              <a:t>&gt;</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#include  &lt;</a:t>
            </a:r>
            <a:r>
              <a:rPr lang="en-US" altLang="zh-CN" sz="3200" kern="500" baseline="30000" dirty="0" err="1">
                <a:latin typeface="Times New Roman" panose="02020603050405020304" pitchFamily="18" charset="0"/>
                <a:ea typeface="宋体" panose="02010600030101010101" pitchFamily="2" charset="-122"/>
              </a:rPr>
              <a:t>stdlib.h</a:t>
            </a:r>
            <a:r>
              <a:rPr lang="en-US" altLang="zh-CN" sz="3200" kern="500" baseline="30000" dirty="0">
                <a:latin typeface="Times New Roman" panose="02020603050405020304" pitchFamily="18" charset="0"/>
                <a:ea typeface="宋体" panose="02010600030101010101" pitchFamily="2" charset="-122"/>
              </a:rPr>
              <a:t>&gt;</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     int main(int </a:t>
            </a:r>
            <a:r>
              <a:rPr lang="en-US" altLang="zh-CN" sz="3200" kern="500" baseline="30000" dirty="0" err="1">
                <a:latin typeface="Times New Roman" panose="02020603050405020304" pitchFamily="18" charset="0"/>
                <a:ea typeface="宋体" panose="02010600030101010101" pitchFamily="2" charset="-122"/>
              </a:rPr>
              <a:t>argc,char</a:t>
            </a:r>
            <a:r>
              <a:rPr lang="en-US" altLang="zh-CN" sz="3200" kern="500" baseline="30000" dirty="0">
                <a:latin typeface="Times New Roman" panose="02020603050405020304" pitchFamily="18" charset="0"/>
                <a:ea typeface="宋体" panose="02010600030101010101" pitchFamily="2" charset="-122"/>
              </a:rPr>
              <a:t> *</a:t>
            </a:r>
            <a:r>
              <a:rPr lang="en-US" altLang="zh-CN" sz="3200" kern="500" baseline="30000" dirty="0" err="1">
                <a:latin typeface="Times New Roman" panose="02020603050405020304" pitchFamily="18" charset="0"/>
                <a:ea typeface="宋体" panose="02010600030101010101" pitchFamily="2" charset="-122"/>
              </a:rPr>
              <a:t>argv</a:t>
            </a:r>
            <a:r>
              <a:rPr lang="en-US" altLang="zh-CN" sz="3200" kern="500" baseline="30000" dirty="0">
                <a:latin typeface="Times New Roman" panose="02020603050405020304" pitchFamily="18" charset="0"/>
                <a:ea typeface="宋体" panose="02010600030101010101" pitchFamily="2" charset="-122"/>
              </a:rPr>
              <a:t>[])</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     {</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             int </a:t>
            </a:r>
            <a:r>
              <a:rPr lang="en-US" altLang="zh-CN" sz="3200" kern="500" baseline="30000" dirty="0" err="1">
                <a:latin typeface="Times New Roman" panose="02020603050405020304" pitchFamily="18" charset="0"/>
                <a:ea typeface="宋体" panose="02010600030101010101" pitchFamily="2" charset="-122"/>
              </a:rPr>
              <a:t>pid</a:t>
            </a:r>
            <a:r>
              <a:rPr lang="en-US" altLang="zh-CN" sz="3200" kern="500" baseline="30000" dirty="0">
                <a:latin typeface="Times New Roman" panose="02020603050405020304" pitchFamily="18" charset="0"/>
                <a:ea typeface="宋体" panose="02010600030101010101" pitchFamily="2" charset="-122"/>
              </a:rPr>
              <a:t>; </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             </a:t>
            </a:r>
            <a:r>
              <a:rPr lang="en-US" altLang="zh-CN" sz="3200" kern="500" baseline="30000" dirty="0" err="1">
                <a:latin typeface="Times New Roman" panose="02020603050405020304" pitchFamily="18" charset="0"/>
                <a:ea typeface="宋体" panose="02010600030101010101" pitchFamily="2" charset="-122"/>
              </a:rPr>
              <a:t>pid</a:t>
            </a:r>
            <a:r>
              <a:rPr lang="en-US" altLang="zh-CN" sz="3200" kern="500" baseline="30000" dirty="0">
                <a:latin typeface="Times New Roman" panose="02020603050405020304" pitchFamily="18" charset="0"/>
                <a:ea typeface="宋体" panose="02010600030101010101" pitchFamily="2" charset="-122"/>
              </a:rPr>
              <a:t> = fork();      /* </a:t>
            </a:r>
            <a:r>
              <a:rPr lang="zh-CN" altLang="zh-CN" sz="3200" kern="500" baseline="30000" dirty="0">
                <a:latin typeface="Times New Roman" panose="02020603050405020304" pitchFamily="18" charset="0"/>
                <a:ea typeface="宋体" panose="02010600030101010101" pitchFamily="2" charset="-122"/>
              </a:rPr>
              <a:t>创建一个子进程</a:t>
            </a:r>
            <a:r>
              <a:rPr lang="en-US" altLang="zh-CN" sz="3200" kern="500" baseline="30000" dirty="0">
                <a:latin typeface="Times New Roman" panose="02020603050405020304" pitchFamily="18" charset="0"/>
                <a:ea typeface="宋体" panose="02010600030101010101" pitchFamily="2" charset="-122"/>
              </a:rPr>
              <a:t>*/</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             if (</a:t>
            </a:r>
            <a:r>
              <a:rPr lang="en-US" altLang="zh-CN" sz="3200" kern="500" baseline="30000" dirty="0" err="1">
                <a:latin typeface="Times New Roman" panose="02020603050405020304" pitchFamily="18" charset="0"/>
                <a:ea typeface="宋体" panose="02010600030101010101" pitchFamily="2" charset="-122"/>
              </a:rPr>
              <a:t>pid</a:t>
            </a:r>
            <a:r>
              <a:rPr lang="en-US" altLang="zh-CN" sz="3200" kern="500" baseline="30000" dirty="0">
                <a:latin typeface="Times New Roman" panose="02020603050405020304" pitchFamily="18" charset="0"/>
                <a:ea typeface="宋体" panose="02010600030101010101" pitchFamily="2" charset="-122"/>
              </a:rPr>
              <a:t> &lt; 0) {      /* </a:t>
            </a:r>
            <a:r>
              <a:rPr lang="zh-CN" altLang="zh-CN" sz="3200" kern="500" baseline="30000" dirty="0">
                <a:latin typeface="Times New Roman" panose="02020603050405020304" pitchFamily="18" charset="0"/>
                <a:ea typeface="宋体" panose="02010600030101010101" pitchFamily="2" charset="-122"/>
              </a:rPr>
              <a:t>出现错误。进程</a:t>
            </a:r>
            <a:r>
              <a:rPr lang="en-US" altLang="zh-CN" sz="3200" kern="500" baseline="30000" dirty="0">
                <a:latin typeface="Times New Roman" panose="02020603050405020304" pitchFamily="18" charset="0"/>
                <a:ea typeface="宋体" panose="02010600030101010101" pitchFamily="2" charset="-122"/>
              </a:rPr>
              <a:t>ID</a:t>
            </a:r>
            <a:r>
              <a:rPr lang="zh-CN" altLang="zh-CN" sz="3200" kern="500" baseline="30000" dirty="0">
                <a:latin typeface="Times New Roman" panose="02020603050405020304" pitchFamily="18" charset="0"/>
                <a:ea typeface="宋体" panose="02010600030101010101" pitchFamily="2" charset="-122"/>
              </a:rPr>
              <a:t>号不可能小于</a:t>
            </a:r>
            <a:r>
              <a:rPr lang="en-US" altLang="zh-CN" sz="3200" kern="500" baseline="30000" dirty="0">
                <a:latin typeface="Times New Roman" panose="02020603050405020304" pitchFamily="18" charset="0"/>
                <a:ea typeface="宋体" panose="02010600030101010101" pitchFamily="2" charset="-122"/>
              </a:rPr>
              <a:t>0 */</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                 </a:t>
            </a:r>
            <a:r>
              <a:rPr lang="en-US" altLang="zh-CN" sz="3200" kern="500" baseline="30000" dirty="0" err="1">
                <a:latin typeface="Times New Roman" panose="02020603050405020304" pitchFamily="18" charset="0"/>
                <a:ea typeface="宋体" panose="02010600030101010101" pitchFamily="2" charset="-122"/>
              </a:rPr>
              <a:t>fprintf</a:t>
            </a:r>
            <a:r>
              <a:rPr lang="en-US" altLang="zh-CN" sz="3200" kern="500" baseline="30000" dirty="0">
                <a:latin typeface="Times New Roman" panose="02020603050405020304" pitchFamily="18" charset="0"/>
                <a:ea typeface="宋体" panose="02010600030101010101" pitchFamily="2" charset="-122"/>
              </a:rPr>
              <a:t>(stderr, "Fork Failed");    /*</a:t>
            </a:r>
            <a:r>
              <a:rPr lang="zh-CN" altLang="zh-CN" sz="3200" kern="500" baseline="30000" dirty="0">
                <a:latin typeface="Times New Roman" panose="02020603050405020304" pitchFamily="18" charset="0"/>
                <a:ea typeface="宋体" panose="02010600030101010101" pitchFamily="2" charset="-122"/>
              </a:rPr>
              <a:t>输出出错消息——</a:t>
            </a:r>
            <a:r>
              <a:rPr lang="en-US" altLang="zh-CN" sz="3200" kern="500" baseline="30000" dirty="0">
                <a:latin typeface="Times New Roman" panose="02020603050405020304" pitchFamily="18" charset="0"/>
                <a:ea typeface="宋体" panose="02010600030101010101" pitchFamily="2" charset="-122"/>
              </a:rPr>
              <a:t>Fork Failed */</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                 exit(-1);      /*</a:t>
            </a:r>
            <a:r>
              <a:rPr lang="zh-CN" altLang="zh-CN" sz="3200" kern="500" baseline="30000" dirty="0">
                <a:latin typeface="Times New Roman" panose="02020603050405020304" pitchFamily="18" charset="0"/>
                <a:ea typeface="宋体" panose="02010600030101010101" pitchFamily="2" charset="-122"/>
              </a:rPr>
              <a:t>程序终止，返回码</a:t>
            </a:r>
            <a:r>
              <a:rPr lang="en-US" altLang="zh-CN" sz="3200" kern="500" baseline="30000" dirty="0">
                <a:latin typeface="Times New Roman" panose="02020603050405020304" pitchFamily="18" charset="0"/>
                <a:ea typeface="宋体" panose="02010600030101010101" pitchFamily="2" charset="-122"/>
              </a:rPr>
              <a:t>-1*/</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             }</a:t>
            </a:r>
          </a:p>
          <a:p>
            <a:pPr marL="540385" indent="254000" algn="just"/>
            <a:endParaRPr lang="en-US" altLang="zh-CN" sz="3200" kern="500" baseline="30000" dirty="0">
              <a:latin typeface="Times New Roman" panose="02020603050405020304" pitchFamily="18" charset="0"/>
              <a:ea typeface="宋体" panose="02010600030101010101" pitchFamily="2" charset="-122"/>
            </a:endParaRPr>
          </a:p>
        </p:txBody>
      </p:sp>
      <p:cxnSp>
        <p:nvCxnSpPr>
          <p:cNvPr id="12" name="直线连接符 11">
            <a:extLst>
              <a:ext uri="{FF2B5EF4-FFF2-40B4-BE49-F238E27FC236}">
                <a16:creationId xmlns:a16="http://schemas.microsoft.com/office/drawing/2014/main" id="{76C13D71-7619-45E8-8391-E06C19652A09}"/>
              </a:ext>
            </a:extLst>
          </p:cNvPr>
          <p:cNvCxnSpPr/>
          <p:nvPr/>
        </p:nvCxnSpPr>
        <p:spPr>
          <a:xfrm>
            <a:off x="914304" y="1541012"/>
            <a:ext cx="9463087" cy="0"/>
          </a:xfrm>
          <a:prstGeom prst="line">
            <a:avLst/>
          </a:prstGeom>
          <a:ln w="28575"/>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95418993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标题 1">
            <a:extLst>
              <a:ext uri="{FF2B5EF4-FFF2-40B4-BE49-F238E27FC236}">
                <a16:creationId xmlns:a16="http://schemas.microsoft.com/office/drawing/2014/main" id="{8A7AAD12-B054-74B4-B2FB-22EAE0E9DA65}"/>
              </a:ext>
            </a:extLst>
          </p:cNvPr>
          <p:cNvSpPr txBox="1">
            <a:spLocks noGrp="1"/>
          </p:cNvSpPr>
          <p:nvPr>
            <p:ph type="title"/>
          </p:nvPr>
        </p:nvSpPr>
        <p:spPr>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3.2.2  Linux</a:t>
            </a:r>
            <a:r>
              <a:rPr lang="zh-CN" altLang="zh-CN" dirty="0"/>
              <a:t>操作系统有关进程控制的系统调用</a:t>
            </a:r>
          </a:p>
        </p:txBody>
      </p:sp>
      <p:sp>
        <p:nvSpPr>
          <p:cNvPr id="10" name="文本框 9">
            <a:extLst>
              <a:ext uri="{FF2B5EF4-FFF2-40B4-BE49-F238E27FC236}">
                <a16:creationId xmlns:a16="http://schemas.microsoft.com/office/drawing/2014/main" id="{B7B2A31C-F8D2-0658-D2DC-5A498B9BB775}"/>
              </a:ext>
            </a:extLst>
          </p:cNvPr>
          <p:cNvSpPr txBox="1"/>
          <p:nvPr/>
        </p:nvSpPr>
        <p:spPr>
          <a:xfrm>
            <a:off x="752378" y="1264318"/>
            <a:ext cx="9596437" cy="3118803"/>
          </a:xfrm>
          <a:prstGeom prst="rect">
            <a:avLst/>
          </a:prstGeom>
          <a:noFill/>
        </p:spPr>
        <p:txBody>
          <a:bodyPr wrap="square">
            <a:spAutoFit/>
          </a:bodyPr>
          <a:lstStyle/>
          <a:p>
            <a:pPr marR="0" algn="just" rtl="0"/>
            <a:endParaRPr lang="en-US" altLang="zh-CN" sz="700" b="0" i="0" u="none" strike="noStrike"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else if (</a:t>
            </a:r>
            <a:r>
              <a:rPr lang="en-US" altLang="zh-CN" sz="3200" kern="500" baseline="30000" dirty="0" err="1">
                <a:latin typeface="Times New Roman" panose="02020603050405020304" pitchFamily="18" charset="0"/>
                <a:ea typeface="宋体" panose="02010600030101010101" pitchFamily="2" charset="-122"/>
              </a:rPr>
              <a:t>pid</a:t>
            </a:r>
            <a:r>
              <a:rPr lang="en-US" altLang="zh-CN" sz="3200" kern="500" baseline="30000" dirty="0">
                <a:latin typeface="Times New Roman" panose="02020603050405020304" pitchFamily="18" charset="0"/>
                <a:ea typeface="宋体" panose="02010600030101010101" pitchFamily="2" charset="-122"/>
              </a:rPr>
              <a:t> == 0) {     /* </a:t>
            </a:r>
            <a:r>
              <a:rPr lang="zh-CN" altLang="zh-CN" sz="3200" kern="500" baseline="30000" dirty="0">
                <a:latin typeface="Times New Roman" panose="02020603050405020304" pitchFamily="18" charset="0"/>
                <a:ea typeface="宋体" panose="02010600030101010101" pitchFamily="2" charset="-122"/>
              </a:rPr>
              <a:t>下面是子进程执行</a:t>
            </a:r>
            <a:r>
              <a:rPr lang="en-US" altLang="zh-CN" sz="3200" kern="500" baseline="30000" dirty="0">
                <a:latin typeface="Times New Roman" panose="02020603050405020304" pitchFamily="18" charset="0"/>
                <a:ea typeface="宋体" panose="02010600030101010101" pitchFamily="2" charset="-122"/>
              </a:rPr>
              <a:t>*/</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                 </a:t>
            </a:r>
            <a:r>
              <a:rPr lang="en-US" altLang="zh-CN" sz="3200" kern="500" baseline="30000" dirty="0" err="1">
                <a:latin typeface="Times New Roman" panose="02020603050405020304" pitchFamily="18" charset="0"/>
                <a:ea typeface="宋体" panose="02010600030101010101" pitchFamily="2" charset="-122"/>
              </a:rPr>
              <a:t>execlp</a:t>
            </a:r>
            <a:r>
              <a:rPr lang="en-US" altLang="zh-CN" sz="3200" kern="500" baseline="30000" dirty="0">
                <a:latin typeface="Times New Roman" panose="02020603050405020304" pitchFamily="18" charset="0"/>
                <a:ea typeface="宋体" panose="02010600030101010101" pitchFamily="2" charset="-122"/>
              </a:rPr>
              <a:t>( "/bin/ls", "</a:t>
            </a:r>
            <a:r>
              <a:rPr lang="en-US" altLang="zh-CN" sz="3200" kern="500" baseline="30000" dirty="0" err="1">
                <a:latin typeface="Times New Roman" panose="02020603050405020304" pitchFamily="18" charset="0"/>
                <a:ea typeface="宋体" panose="02010600030101010101" pitchFamily="2" charset="-122"/>
              </a:rPr>
              <a:t>ls",NULL</a:t>
            </a:r>
            <a:r>
              <a:rPr lang="en-US" altLang="zh-CN" sz="3200" kern="500" baseline="30000" dirty="0">
                <a:latin typeface="Times New Roman" panose="02020603050405020304" pitchFamily="18" charset="0"/>
                <a:ea typeface="宋体" panose="02010600030101010101" pitchFamily="2" charset="-122"/>
              </a:rPr>
              <a:t>);   /*</a:t>
            </a:r>
            <a:r>
              <a:rPr lang="zh-CN" altLang="zh-CN" sz="3200" kern="500" baseline="30000" dirty="0">
                <a:latin typeface="Times New Roman" panose="02020603050405020304" pitchFamily="18" charset="0"/>
                <a:ea typeface="宋体" panose="02010600030101010101" pitchFamily="2" charset="-122"/>
              </a:rPr>
              <a:t>执行目录</a:t>
            </a:r>
            <a:r>
              <a:rPr lang="en-US" altLang="zh-CN" sz="3200" kern="500" baseline="30000" dirty="0">
                <a:latin typeface="Times New Roman" panose="02020603050405020304" pitchFamily="18" charset="0"/>
                <a:ea typeface="宋体" panose="02010600030101010101" pitchFamily="2" charset="-122"/>
              </a:rPr>
              <a:t>/bin</a:t>
            </a:r>
            <a:r>
              <a:rPr lang="zh-CN" altLang="zh-CN" sz="3200" kern="500" baseline="30000" dirty="0">
                <a:latin typeface="Times New Roman" panose="02020603050405020304" pitchFamily="18" charset="0"/>
                <a:ea typeface="宋体" panose="02010600030101010101" pitchFamily="2" charset="-122"/>
              </a:rPr>
              <a:t>下面的</a:t>
            </a:r>
            <a:r>
              <a:rPr lang="en-US" altLang="zh-CN" sz="3200" kern="500" baseline="30000" dirty="0">
                <a:latin typeface="Times New Roman" panose="02020603050405020304" pitchFamily="18" charset="0"/>
                <a:ea typeface="宋体" panose="02010600030101010101" pitchFamily="2" charset="-122"/>
              </a:rPr>
              <a:t>ls</a:t>
            </a:r>
            <a:r>
              <a:rPr lang="zh-CN" altLang="zh-CN" sz="3200" kern="500" baseline="30000" dirty="0">
                <a:latin typeface="Times New Roman" panose="02020603050405020304" pitchFamily="18" charset="0"/>
                <a:ea typeface="宋体" panose="02010600030101010101" pitchFamily="2" charset="-122"/>
              </a:rPr>
              <a:t>命令</a:t>
            </a:r>
            <a:r>
              <a:rPr lang="en-US" altLang="zh-CN" sz="3200" kern="500" baseline="30000" dirty="0">
                <a:latin typeface="Times New Roman" panose="02020603050405020304" pitchFamily="18" charset="0"/>
                <a:ea typeface="宋体" panose="02010600030101010101" pitchFamily="2" charset="-122"/>
              </a:rPr>
              <a:t>*/</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             }</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             else {             /*</a:t>
            </a:r>
            <a:r>
              <a:rPr lang="zh-CN" altLang="zh-CN" sz="3200" kern="500" baseline="30000" dirty="0">
                <a:latin typeface="Times New Roman" panose="02020603050405020304" pitchFamily="18" charset="0"/>
                <a:ea typeface="宋体" panose="02010600030101010101" pitchFamily="2" charset="-122"/>
              </a:rPr>
              <a:t>下面是父进程执行</a:t>
            </a:r>
            <a:r>
              <a:rPr lang="en-US" altLang="zh-CN" sz="3200" kern="500" baseline="30000" dirty="0">
                <a:latin typeface="Times New Roman" panose="02020603050405020304" pitchFamily="18" charset="0"/>
                <a:ea typeface="宋体" panose="02010600030101010101" pitchFamily="2" charset="-122"/>
              </a:rPr>
              <a:t>*/</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                 wait(NULL);       /* </a:t>
            </a:r>
            <a:r>
              <a:rPr lang="zh-CN" altLang="zh-CN" sz="3200" kern="500" baseline="30000" dirty="0">
                <a:latin typeface="Times New Roman" panose="02020603050405020304" pitchFamily="18" charset="0"/>
                <a:ea typeface="宋体" panose="02010600030101010101" pitchFamily="2" charset="-122"/>
              </a:rPr>
              <a:t>父进程等待子进程完成</a:t>
            </a:r>
            <a:r>
              <a:rPr lang="en-US" altLang="zh-CN" sz="3200" kern="500" baseline="30000" dirty="0">
                <a:latin typeface="Times New Roman" panose="02020603050405020304" pitchFamily="18" charset="0"/>
                <a:ea typeface="宋体" panose="02010600030101010101" pitchFamily="2" charset="-122"/>
              </a:rPr>
              <a:t>*/</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                 </a:t>
            </a:r>
            <a:r>
              <a:rPr lang="en-US" altLang="zh-CN" sz="3200" kern="500" baseline="30000" dirty="0" err="1">
                <a:latin typeface="Times New Roman" panose="02020603050405020304" pitchFamily="18" charset="0"/>
                <a:ea typeface="宋体" panose="02010600030101010101" pitchFamily="2" charset="-122"/>
              </a:rPr>
              <a:t>printf</a:t>
            </a:r>
            <a:r>
              <a:rPr lang="en-US" altLang="zh-CN" sz="3200" kern="500" baseline="30000" dirty="0">
                <a:latin typeface="Times New Roman" panose="02020603050405020304" pitchFamily="18" charset="0"/>
                <a:ea typeface="宋体" panose="02010600030101010101" pitchFamily="2" charset="-122"/>
              </a:rPr>
              <a:t>( "Child Complete" );       /*</a:t>
            </a:r>
            <a:r>
              <a:rPr lang="zh-CN" altLang="zh-CN" sz="3200" kern="500" baseline="30000" dirty="0">
                <a:latin typeface="Times New Roman" panose="02020603050405020304" pitchFamily="18" charset="0"/>
                <a:ea typeface="宋体" panose="02010600030101010101" pitchFamily="2" charset="-122"/>
              </a:rPr>
              <a:t>输出子进程完成的信息</a:t>
            </a:r>
            <a:r>
              <a:rPr lang="en-US" altLang="zh-CN" sz="3200" kern="500" baseline="30000" dirty="0">
                <a:latin typeface="Times New Roman" panose="02020603050405020304" pitchFamily="18" charset="0"/>
                <a:ea typeface="宋体" panose="02010600030101010101" pitchFamily="2" charset="-122"/>
              </a:rPr>
              <a:t>*/</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                 exit(0);       /*</a:t>
            </a:r>
            <a:r>
              <a:rPr lang="zh-CN" altLang="zh-CN" sz="3200" kern="500" baseline="30000" dirty="0">
                <a:latin typeface="Times New Roman" panose="02020603050405020304" pitchFamily="18" charset="0"/>
                <a:ea typeface="宋体" panose="02010600030101010101" pitchFamily="2" charset="-122"/>
              </a:rPr>
              <a:t>终止</a:t>
            </a:r>
            <a:r>
              <a:rPr lang="en-US" altLang="zh-CN" sz="3200" kern="500" baseline="30000" dirty="0">
                <a:latin typeface="Times New Roman" panose="02020603050405020304" pitchFamily="18" charset="0"/>
                <a:ea typeface="宋体" panose="02010600030101010101" pitchFamily="2" charset="-122"/>
              </a:rPr>
              <a:t>*/</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             }</a:t>
            </a:r>
            <a:endParaRPr lang="zh-CN" altLang="zh-CN" sz="3200" kern="500" baseline="30000" dirty="0">
              <a:latin typeface="Times New Roman" panose="02020603050405020304" pitchFamily="18" charset="0"/>
              <a:ea typeface="宋体" panose="02010600030101010101" pitchFamily="2" charset="-122"/>
            </a:endParaRPr>
          </a:p>
          <a:p>
            <a:pPr marL="540385" indent="254000" algn="just"/>
            <a:r>
              <a:rPr lang="en-US" altLang="zh-CN" sz="3200" kern="500" baseline="30000" dirty="0">
                <a:latin typeface="Times New Roman" panose="02020603050405020304" pitchFamily="18" charset="0"/>
                <a:ea typeface="宋体" panose="02010600030101010101" pitchFamily="2" charset="-122"/>
              </a:rPr>
              <a:t>}</a:t>
            </a:r>
          </a:p>
        </p:txBody>
      </p:sp>
      <p:cxnSp>
        <p:nvCxnSpPr>
          <p:cNvPr id="13" name="直线连接符 12">
            <a:extLst>
              <a:ext uri="{FF2B5EF4-FFF2-40B4-BE49-F238E27FC236}">
                <a16:creationId xmlns:a16="http://schemas.microsoft.com/office/drawing/2014/main" id="{BF136DAB-92F9-B5B4-7B0C-E18E3200302C}"/>
              </a:ext>
            </a:extLst>
          </p:cNvPr>
          <p:cNvCxnSpPr/>
          <p:nvPr/>
        </p:nvCxnSpPr>
        <p:spPr>
          <a:xfrm>
            <a:off x="1066703" y="4500603"/>
            <a:ext cx="9463087" cy="0"/>
          </a:xfrm>
          <a:prstGeom prst="line">
            <a:avLst/>
          </a:prstGeom>
          <a:ln w="28575"/>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33858836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标题 1">
            <a:extLst>
              <a:ext uri="{FF2B5EF4-FFF2-40B4-BE49-F238E27FC236}">
                <a16:creationId xmlns:a16="http://schemas.microsoft.com/office/drawing/2014/main" id="{8A7AAD12-B054-74B4-B2FB-22EAE0E9DA65}"/>
              </a:ext>
            </a:extLst>
          </p:cNvPr>
          <p:cNvSpPr txBox="1">
            <a:spLocks noGrp="1"/>
          </p:cNvSpPr>
          <p:nvPr>
            <p:ph type="title"/>
          </p:nvPr>
        </p:nvSpPr>
        <p:spPr>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3.2.2  Linux</a:t>
            </a:r>
            <a:r>
              <a:rPr lang="zh-CN" altLang="zh-CN" dirty="0"/>
              <a:t>操作系统有关进程控制的系统调用</a:t>
            </a:r>
          </a:p>
        </p:txBody>
      </p:sp>
      <p:sp>
        <p:nvSpPr>
          <p:cNvPr id="5" name="文本框 4">
            <a:extLst>
              <a:ext uri="{FF2B5EF4-FFF2-40B4-BE49-F238E27FC236}">
                <a16:creationId xmlns:a16="http://schemas.microsoft.com/office/drawing/2014/main" id="{008293B2-7AEC-689F-E252-BBDDCEF173D7}"/>
              </a:ext>
            </a:extLst>
          </p:cNvPr>
          <p:cNvSpPr txBox="1"/>
          <p:nvPr/>
        </p:nvSpPr>
        <p:spPr>
          <a:xfrm>
            <a:off x="689899" y="996231"/>
            <a:ext cx="9463086" cy="1200329"/>
          </a:xfrm>
          <a:prstGeom prst="rect">
            <a:avLst/>
          </a:prstGeom>
          <a:noFill/>
        </p:spPr>
        <p:txBody>
          <a:bodyPr wrap="square">
            <a:spAutoFit/>
          </a:bodyPr>
          <a:lstStyle/>
          <a:p>
            <a:pPr algn="just"/>
            <a:r>
              <a:rPr lang="en-US" altLang="zh-CN" sz="2400" kern="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2400" kern="0" dirty="0">
                <a:effectLst/>
                <a:latin typeface="微软雅黑" panose="020B0503020204020204" pitchFamily="34" charset="-122"/>
                <a:ea typeface="微软雅黑" panose="020B0503020204020204" pitchFamily="34" charset="-122"/>
                <a:cs typeface="Times New Roman" panose="02020603050405020304" pitchFamily="18" charset="0"/>
              </a:rPr>
              <a:t>代码示例</a:t>
            </a:r>
            <a:r>
              <a:rPr lang="en-US" altLang="zh-CN" sz="2400" kern="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2400" kern="0" dirty="0">
                <a:effectLst/>
                <a:latin typeface="微软雅黑" panose="020B0503020204020204" pitchFamily="34" charset="-122"/>
                <a:ea typeface="微软雅黑" panose="020B0503020204020204" pitchFamily="34" charset="-122"/>
                <a:cs typeface="Times New Roman" panose="02020603050405020304" pitchFamily="18" charset="0"/>
              </a:rPr>
              <a:t>进程相关操作</a:t>
            </a:r>
            <a:r>
              <a:rPr lang="zh-CN" altLang="zh-CN" sz="2400" kern="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5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利用</a:t>
            </a:r>
            <a:r>
              <a:rPr lang="en-US" altLang="zh-CN" sz="2400" kern="5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fork( )</a:t>
            </a:r>
            <a:r>
              <a:rPr lang="zh-CN" altLang="zh-CN" sz="2400" kern="5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创建子进程，利用</a:t>
            </a:r>
            <a:r>
              <a:rPr lang="en-US" altLang="zh-CN" sz="2400" kern="5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getpid( )</a:t>
            </a:r>
            <a:r>
              <a:rPr lang="zh-CN" altLang="zh-CN" sz="2400" kern="5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和</a:t>
            </a:r>
            <a:r>
              <a:rPr lang="en-US" altLang="zh-CN" sz="2400" kern="500" dirty="0" err="1">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getppid</a:t>
            </a:r>
            <a:r>
              <a:rPr lang="en-US" altLang="zh-CN" sz="2400" kern="5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5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分别获得本进程的</a:t>
            </a:r>
            <a:r>
              <a:rPr lang="en-US" altLang="zh-CN" sz="2400" kern="5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PID</a:t>
            </a:r>
            <a:r>
              <a:rPr lang="zh-CN" altLang="zh-CN" sz="2400" kern="5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和父进程的</a:t>
            </a:r>
            <a:r>
              <a:rPr lang="en-US" altLang="zh-CN" sz="2400" kern="5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PID</a:t>
            </a:r>
            <a:r>
              <a:rPr lang="zh-CN" altLang="zh-CN" sz="2400" kern="5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，使用</a:t>
            </a:r>
            <a:r>
              <a:rPr lang="en-US" altLang="zh-CN" sz="2400" kern="5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sleep( )</a:t>
            </a:r>
            <a:r>
              <a:rPr lang="zh-CN" altLang="zh-CN" sz="2400" kern="5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将相关进程挂起几秒</a:t>
            </a:r>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6" name="直线连接符 11">
            <a:extLst>
              <a:ext uri="{FF2B5EF4-FFF2-40B4-BE49-F238E27FC236}">
                <a16:creationId xmlns:a16="http://schemas.microsoft.com/office/drawing/2014/main" id="{A1485972-B186-41BE-BB2C-93BFFAFF9834}"/>
              </a:ext>
            </a:extLst>
          </p:cNvPr>
          <p:cNvCxnSpPr/>
          <p:nvPr/>
        </p:nvCxnSpPr>
        <p:spPr>
          <a:xfrm>
            <a:off x="689899" y="2290920"/>
            <a:ext cx="9463087" cy="0"/>
          </a:xfrm>
          <a:prstGeom prst="line">
            <a:avLst/>
          </a:prstGeom>
          <a:ln w="28575"/>
        </p:spPr>
        <p:style>
          <a:lnRef idx="1">
            <a:schemeClr val="dk1"/>
          </a:lnRef>
          <a:fillRef idx="0">
            <a:schemeClr val="dk1"/>
          </a:fillRef>
          <a:effectRef idx="0">
            <a:schemeClr val="dk1"/>
          </a:effectRef>
          <a:fontRef idx="minor">
            <a:schemeClr val="tx1"/>
          </a:fontRef>
        </p:style>
      </p:cxnSp>
      <p:sp>
        <p:nvSpPr>
          <p:cNvPr id="8" name="文本框 7">
            <a:extLst>
              <a:ext uri="{FF2B5EF4-FFF2-40B4-BE49-F238E27FC236}">
                <a16:creationId xmlns:a16="http://schemas.microsoft.com/office/drawing/2014/main" id="{25C57972-252F-448A-93D2-9F0DC17FC300}"/>
              </a:ext>
            </a:extLst>
          </p:cNvPr>
          <p:cNvSpPr txBox="1"/>
          <p:nvPr/>
        </p:nvSpPr>
        <p:spPr>
          <a:xfrm>
            <a:off x="940262" y="2385281"/>
            <a:ext cx="8822863" cy="4093428"/>
          </a:xfrm>
          <a:prstGeom prst="rect">
            <a:avLst/>
          </a:prstGeom>
          <a:noFill/>
        </p:spPr>
        <p:txBody>
          <a:bodyPr wrap="square">
            <a:spAutoFit/>
          </a:bodyPr>
          <a:lstStyle/>
          <a:p>
            <a:pPr marL="540385" indent="254000" algn="just"/>
            <a:r>
              <a:rPr lang="en-US" altLang="zh-CN" sz="2000" kern="500" dirty="0">
                <a:effectLst/>
                <a:latin typeface="Times New Roman" panose="02020603050405020304" pitchFamily="18" charset="0"/>
                <a:ea typeface="宋体" panose="02010600030101010101" pitchFamily="2" charset="-122"/>
              </a:rPr>
              <a:t>/*proc1.c</a:t>
            </a:r>
            <a:r>
              <a:rPr lang="zh-CN" altLang="zh-CN" sz="2000" kern="500" dirty="0">
                <a:effectLst/>
                <a:latin typeface="Times New Roman" panose="02020603050405020304" pitchFamily="18" charset="0"/>
                <a:ea typeface="宋体" panose="02010600030101010101" pitchFamily="2" charset="-122"/>
              </a:rPr>
              <a:t>演示有关进程操作</a:t>
            </a:r>
            <a:r>
              <a:rPr lang="en-US" altLang="zh-CN" sz="2000" kern="500" dirty="0">
                <a:effectLst/>
                <a:latin typeface="Times New Roman" panose="02020603050405020304" pitchFamily="18" charset="0"/>
                <a:ea typeface="宋体" panose="02010600030101010101" pitchFamily="2" charset="-122"/>
              </a:rPr>
              <a:t>*/</a:t>
            </a:r>
            <a:endParaRPr lang="zh-CN" altLang="zh-CN" kern="100" dirty="0">
              <a:effectLst/>
              <a:latin typeface="Times New Roman" panose="02020603050405020304" pitchFamily="18" charset="0"/>
              <a:ea typeface="宋体" panose="02010600030101010101" pitchFamily="2" charset="-122"/>
            </a:endParaRPr>
          </a:p>
          <a:p>
            <a:pPr marL="540385" indent="254000" algn="just"/>
            <a:r>
              <a:rPr lang="en-US" altLang="zh-CN" sz="2000" kern="500" dirty="0">
                <a:effectLst/>
                <a:latin typeface="Times New Roman" panose="02020603050405020304" pitchFamily="18" charset="0"/>
                <a:ea typeface="宋体" panose="02010600030101010101" pitchFamily="2" charset="-122"/>
              </a:rPr>
              <a:t>#include &lt;</a:t>
            </a:r>
            <a:r>
              <a:rPr lang="en-US" altLang="zh-CN" sz="2000" kern="500" dirty="0" err="1">
                <a:effectLst/>
                <a:latin typeface="Times New Roman" panose="02020603050405020304" pitchFamily="18" charset="0"/>
                <a:ea typeface="宋体" panose="02010600030101010101" pitchFamily="2" charset="-122"/>
              </a:rPr>
              <a:t>unistd.h</a:t>
            </a:r>
            <a:r>
              <a:rPr lang="en-US" altLang="zh-CN" sz="2000" kern="500" dirty="0">
                <a:effectLst/>
                <a:latin typeface="Times New Roman" panose="02020603050405020304" pitchFamily="18" charset="0"/>
                <a:ea typeface="宋体" panose="02010600030101010101" pitchFamily="2" charset="-122"/>
              </a:rPr>
              <a:t>&gt;</a:t>
            </a:r>
            <a:endParaRPr lang="zh-CN" altLang="zh-CN" kern="100" dirty="0">
              <a:effectLst/>
              <a:latin typeface="Times New Roman" panose="02020603050405020304" pitchFamily="18" charset="0"/>
              <a:ea typeface="宋体" panose="02010600030101010101" pitchFamily="2" charset="-122"/>
            </a:endParaRPr>
          </a:p>
          <a:p>
            <a:pPr marL="540385" indent="254000" algn="just"/>
            <a:r>
              <a:rPr lang="en-US" altLang="zh-CN" sz="2000" kern="500" dirty="0">
                <a:effectLst/>
                <a:latin typeface="Times New Roman" panose="02020603050405020304" pitchFamily="18" charset="0"/>
                <a:ea typeface="宋体" panose="02010600030101010101" pitchFamily="2" charset="-122"/>
              </a:rPr>
              <a:t>#include &lt;sys/</a:t>
            </a:r>
            <a:r>
              <a:rPr lang="en-US" altLang="zh-CN" sz="2000" kern="500" dirty="0" err="1">
                <a:effectLst/>
                <a:latin typeface="Times New Roman" panose="02020603050405020304" pitchFamily="18" charset="0"/>
                <a:ea typeface="宋体" panose="02010600030101010101" pitchFamily="2" charset="-122"/>
              </a:rPr>
              <a:t>types.h</a:t>
            </a:r>
            <a:r>
              <a:rPr lang="en-US" altLang="zh-CN" sz="2000" kern="500" dirty="0">
                <a:effectLst/>
                <a:latin typeface="Times New Roman" panose="02020603050405020304" pitchFamily="18" charset="0"/>
                <a:ea typeface="宋体" panose="02010600030101010101" pitchFamily="2" charset="-122"/>
              </a:rPr>
              <a:t>&gt;</a:t>
            </a:r>
            <a:endParaRPr lang="zh-CN" altLang="zh-CN" kern="100" dirty="0">
              <a:effectLst/>
              <a:latin typeface="Times New Roman" panose="02020603050405020304" pitchFamily="18" charset="0"/>
              <a:ea typeface="宋体" panose="02010600030101010101" pitchFamily="2" charset="-122"/>
            </a:endParaRPr>
          </a:p>
          <a:p>
            <a:pPr marL="540385" indent="254000" algn="just"/>
            <a:r>
              <a:rPr lang="en-US" altLang="zh-CN" sz="2000" kern="500" dirty="0">
                <a:effectLst/>
                <a:latin typeface="Times New Roman" panose="02020603050405020304" pitchFamily="18" charset="0"/>
                <a:ea typeface="宋体" panose="02010600030101010101" pitchFamily="2" charset="-122"/>
              </a:rPr>
              <a:t>#include &lt;</a:t>
            </a:r>
            <a:r>
              <a:rPr lang="en-US" altLang="zh-CN" sz="2000" kern="500" dirty="0" err="1">
                <a:effectLst/>
                <a:latin typeface="Times New Roman" panose="02020603050405020304" pitchFamily="18" charset="0"/>
                <a:ea typeface="宋体" panose="02010600030101010101" pitchFamily="2" charset="-122"/>
              </a:rPr>
              <a:t>stdio.h</a:t>
            </a:r>
            <a:r>
              <a:rPr lang="en-US" altLang="zh-CN" sz="2000" kern="500" dirty="0">
                <a:effectLst/>
                <a:latin typeface="Times New Roman" panose="02020603050405020304" pitchFamily="18" charset="0"/>
                <a:ea typeface="宋体" panose="02010600030101010101" pitchFamily="2" charset="-122"/>
              </a:rPr>
              <a:t>&gt;</a:t>
            </a:r>
            <a:endParaRPr lang="zh-CN" altLang="zh-CN" kern="100" dirty="0">
              <a:effectLst/>
              <a:latin typeface="Times New Roman" panose="02020603050405020304" pitchFamily="18" charset="0"/>
              <a:ea typeface="宋体" panose="02010600030101010101" pitchFamily="2" charset="-122"/>
            </a:endParaRPr>
          </a:p>
          <a:p>
            <a:pPr marL="540385" indent="254000" algn="just"/>
            <a:r>
              <a:rPr lang="en-US" altLang="zh-CN" sz="2000" kern="500" dirty="0">
                <a:effectLst/>
                <a:latin typeface="Times New Roman" panose="02020603050405020304" pitchFamily="18" charset="0"/>
                <a:ea typeface="宋体" panose="02010600030101010101" pitchFamily="2" charset="-122"/>
              </a:rPr>
              <a:t>#include &lt;</a:t>
            </a:r>
            <a:r>
              <a:rPr lang="en-US" altLang="zh-CN" sz="2000" kern="500" dirty="0" err="1">
                <a:effectLst/>
                <a:latin typeface="Times New Roman" panose="02020603050405020304" pitchFamily="18" charset="0"/>
                <a:ea typeface="宋体" panose="02010600030101010101" pitchFamily="2" charset="-122"/>
              </a:rPr>
              <a:t>errno.h</a:t>
            </a:r>
            <a:r>
              <a:rPr lang="en-US" altLang="zh-CN" sz="2000" kern="500" dirty="0">
                <a:effectLst/>
                <a:latin typeface="Times New Roman" panose="02020603050405020304" pitchFamily="18" charset="0"/>
                <a:ea typeface="宋体" panose="02010600030101010101" pitchFamily="2" charset="-122"/>
              </a:rPr>
              <a:t>&gt;</a:t>
            </a:r>
            <a:endParaRPr lang="zh-CN" altLang="zh-CN" kern="100" dirty="0">
              <a:effectLst/>
              <a:latin typeface="Times New Roman" panose="02020603050405020304" pitchFamily="18" charset="0"/>
              <a:ea typeface="宋体" panose="02010600030101010101" pitchFamily="2" charset="-122"/>
            </a:endParaRPr>
          </a:p>
          <a:p>
            <a:pPr marL="540385" indent="254000" algn="just"/>
            <a:r>
              <a:rPr lang="en-US" altLang="zh-CN" sz="2000" kern="500" dirty="0">
                <a:effectLst/>
                <a:latin typeface="Times New Roman" panose="02020603050405020304" pitchFamily="18" charset="0"/>
                <a:ea typeface="宋体" panose="02010600030101010101" pitchFamily="2" charset="-122"/>
              </a:rPr>
              <a:t>#include &lt;</a:t>
            </a:r>
            <a:r>
              <a:rPr lang="en-US" altLang="zh-CN" sz="2000" kern="500" dirty="0" err="1">
                <a:effectLst/>
                <a:latin typeface="Times New Roman" panose="02020603050405020304" pitchFamily="18" charset="0"/>
                <a:ea typeface="宋体" panose="02010600030101010101" pitchFamily="2" charset="-122"/>
              </a:rPr>
              <a:t>stdlib.h</a:t>
            </a:r>
            <a:r>
              <a:rPr lang="en-US" altLang="zh-CN" sz="2000" kern="500" dirty="0">
                <a:effectLst/>
                <a:latin typeface="Times New Roman" panose="02020603050405020304" pitchFamily="18" charset="0"/>
                <a:ea typeface="宋体" panose="02010600030101010101" pitchFamily="2" charset="-122"/>
              </a:rPr>
              <a:t>&gt;</a:t>
            </a:r>
            <a:endParaRPr lang="zh-CN" altLang="zh-CN" kern="100" dirty="0">
              <a:effectLst/>
              <a:latin typeface="Times New Roman" panose="02020603050405020304" pitchFamily="18" charset="0"/>
              <a:ea typeface="宋体" panose="02010600030101010101" pitchFamily="2" charset="-122"/>
            </a:endParaRPr>
          </a:p>
          <a:p>
            <a:pPr marL="540385" indent="254000" algn="just"/>
            <a:r>
              <a:rPr lang="en-US" altLang="zh-CN" sz="2000" kern="500" dirty="0">
                <a:effectLst/>
                <a:latin typeface="Times New Roman" panose="02020603050405020304" pitchFamily="18" charset="0"/>
                <a:ea typeface="宋体" panose="02010600030101010101" pitchFamily="2" charset="-122"/>
              </a:rPr>
              <a:t>#include &lt;</a:t>
            </a:r>
            <a:r>
              <a:rPr lang="en-US" altLang="zh-CN" sz="2000" kern="500" dirty="0" err="1">
                <a:effectLst/>
                <a:latin typeface="Times New Roman" panose="02020603050405020304" pitchFamily="18" charset="0"/>
                <a:ea typeface="宋体" panose="02010600030101010101" pitchFamily="2" charset="-122"/>
              </a:rPr>
              <a:t>string.h</a:t>
            </a:r>
            <a:r>
              <a:rPr lang="en-US" altLang="zh-CN" sz="2000" kern="500" dirty="0">
                <a:effectLst/>
                <a:latin typeface="Times New Roman" panose="02020603050405020304" pitchFamily="18" charset="0"/>
                <a:ea typeface="宋体" panose="02010600030101010101" pitchFamily="2" charset="-122"/>
              </a:rPr>
              <a:t>&gt;</a:t>
            </a:r>
            <a:endParaRPr lang="zh-CN" altLang="zh-CN" kern="100" dirty="0">
              <a:effectLst/>
              <a:latin typeface="Times New Roman" panose="02020603050405020304" pitchFamily="18" charset="0"/>
              <a:ea typeface="宋体" panose="02010600030101010101" pitchFamily="2" charset="-122"/>
            </a:endParaRPr>
          </a:p>
          <a:p>
            <a:pPr marL="540385" indent="254000" algn="just"/>
            <a:r>
              <a:rPr lang="en-US" altLang="zh-CN" sz="2000" kern="500" dirty="0">
                <a:effectLst/>
                <a:latin typeface="Times New Roman" panose="02020603050405020304" pitchFamily="18" charset="0"/>
                <a:ea typeface="宋体" panose="02010600030101010101" pitchFamily="2" charset="-122"/>
              </a:rPr>
              <a:t> </a:t>
            </a:r>
            <a:endParaRPr lang="zh-CN" altLang="zh-CN" kern="100" dirty="0">
              <a:effectLst/>
              <a:latin typeface="Times New Roman" panose="02020603050405020304" pitchFamily="18" charset="0"/>
              <a:ea typeface="宋体" panose="02010600030101010101" pitchFamily="2" charset="-122"/>
            </a:endParaRPr>
          </a:p>
          <a:p>
            <a:pPr marL="540385" indent="254000" algn="just"/>
            <a:r>
              <a:rPr lang="en-US" altLang="zh-CN" sz="2000" kern="500" dirty="0">
                <a:effectLst/>
                <a:latin typeface="Times New Roman" panose="02020603050405020304" pitchFamily="18" charset="0"/>
                <a:ea typeface="宋体" panose="02010600030101010101" pitchFamily="2" charset="-122"/>
              </a:rPr>
              <a:t>int main(int </a:t>
            </a:r>
            <a:r>
              <a:rPr lang="en-US" altLang="zh-CN" sz="2000" kern="500" dirty="0" err="1">
                <a:effectLst/>
                <a:latin typeface="Times New Roman" panose="02020603050405020304" pitchFamily="18" charset="0"/>
                <a:ea typeface="宋体" panose="02010600030101010101" pitchFamily="2" charset="-122"/>
              </a:rPr>
              <a:t>argc,char</a:t>
            </a:r>
            <a:r>
              <a:rPr lang="en-US" altLang="zh-CN" sz="2000" kern="500" dirty="0">
                <a:effectLst/>
                <a:latin typeface="Times New Roman" panose="02020603050405020304" pitchFamily="18" charset="0"/>
                <a:ea typeface="宋体" panose="02010600030101010101" pitchFamily="2" charset="-122"/>
              </a:rPr>
              <a:t> **</a:t>
            </a:r>
            <a:r>
              <a:rPr lang="en-US" altLang="zh-CN" sz="2000" kern="500" dirty="0" err="1">
                <a:effectLst/>
                <a:latin typeface="Times New Roman" panose="02020603050405020304" pitchFamily="18" charset="0"/>
                <a:ea typeface="宋体" panose="02010600030101010101" pitchFamily="2" charset="-122"/>
              </a:rPr>
              <a:t>argv</a:t>
            </a:r>
            <a:r>
              <a:rPr lang="en-US" altLang="zh-CN" sz="2000" kern="500" dirty="0">
                <a:effectLst/>
                <a:latin typeface="Times New Roman" panose="02020603050405020304" pitchFamily="18" charset="0"/>
                <a:ea typeface="宋体" panose="02010600030101010101" pitchFamily="2" charset="-122"/>
              </a:rPr>
              <a:t>)</a:t>
            </a:r>
            <a:endParaRPr lang="zh-CN" altLang="zh-CN" kern="100" dirty="0">
              <a:effectLst/>
              <a:latin typeface="Times New Roman" panose="02020603050405020304" pitchFamily="18" charset="0"/>
              <a:ea typeface="宋体" panose="02010600030101010101" pitchFamily="2" charset="-122"/>
            </a:endParaRPr>
          </a:p>
          <a:p>
            <a:pPr marL="540385" indent="254000" algn="just"/>
            <a:r>
              <a:rPr lang="en-US" altLang="zh-CN" sz="2000" kern="500" dirty="0">
                <a:effectLst/>
                <a:latin typeface="Times New Roman" panose="02020603050405020304" pitchFamily="18" charset="0"/>
                <a:ea typeface="宋体" panose="02010600030101010101" pitchFamily="2" charset="-122"/>
              </a:rPr>
              <a:t>{</a:t>
            </a:r>
            <a:endParaRPr lang="zh-CN" altLang="zh-CN" kern="100" dirty="0">
              <a:effectLst/>
              <a:latin typeface="Times New Roman" panose="02020603050405020304" pitchFamily="18" charset="0"/>
              <a:ea typeface="宋体" panose="02010600030101010101" pitchFamily="2" charset="-122"/>
            </a:endParaRPr>
          </a:p>
          <a:p>
            <a:pPr marL="540385" indent="254000" algn="just"/>
            <a:r>
              <a:rPr lang="en-US" altLang="zh-CN" sz="2000" kern="500" dirty="0">
                <a:effectLst/>
                <a:latin typeface="Times New Roman" panose="02020603050405020304" pitchFamily="18" charset="0"/>
                <a:ea typeface="宋体" panose="02010600030101010101" pitchFamily="2" charset="-122"/>
              </a:rPr>
              <a:t>    </a:t>
            </a:r>
            <a:r>
              <a:rPr lang="en-US" altLang="zh-CN" sz="2000" kern="500" dirty="0" err="1">
                <a:effectLst/>
                <a:latin typeface="Times New Roman" panose="02020603050405020304" pitchFamily="18" charset="0"/>
                <a:ea typeface="宋体" panose="02010600030101010101" pitchFamily="2" charset="-122"/>
              </a:rPr>
              <a:t>pid_t</a:t>
            </a:r>
            <a:r>
              <a:rPr lang="en-US" altLang="zh-CN" sz="2000" kern="500" dirty="0">
                <a:effectLst/>
                <a:latin typeface="Times New Roman" panose="02020603050405020304" pitchFamily="18" charset="0"/>
                <a:ea typeface="宋体" panose="02010600030101010101" pitchFamily="2" charset="-122"/>
              </a:rPr>
              <a:t> </a:t>
            </a:r>
            <a:r>
              <a:rPr lang="en-US" altLang="zh-CN" sz="2000" kern="500" dirty="0" err="1">
                <a:effectLst/>
                <a:latin typeface="Times New Roman" panose="02020603050405020304" pitchFamily="18" charset="0"/>
                <a:ea typeface="宋体" panose="02010600030101010101" pitchFamily="2" charset="-122"/>
              </a:rPr>
              <a:t>pid,old_ppid,new_ppid</a:t>
            </a:r>
            <a:r>
              <a:rPr lang="en-US" altLang="zh-CN" sz="2000" kern="500" dirty="0">
                <a:effectLst/>
                <a:latin typeface="Times New Roman" panose="02020603050405020304" pitchFamily="18" charset="0"/>
                <a:ea typeface="宋体" panose="02010600030101010101" pitchFamily="2" charset="-122"/>
              </a:rPr>
              <a:t>;</a:t>
            </a:r>
            <a:endParaRPr lang="zh-CN" altLang="zh-CN" kern="100" dirty="0">
              <a:effectLst/>
              <a:latin typeface="Times New Roman" panose="02020603050405020304" pitchFamily="18" charset="0"/>
              <a:ea typeface="宋体" panose="02010600030101010101" pitchFamily="2" charset="-122"/>
            </a:endParaRPr>
          </a:p>
          <a:p>
            <a:pPr marL="540385" indent="254000" algn="just"/>
            <a:r>
              <a:rPr lang="en-US" altLang="zh-CN" sz="2000" kern="500" dirty="0">
                <a:effectLst/>
                <a:latin typeface="Times New Roman" panose="02020603050405020304" pitchFamily="18" charset="0"/>
                <a:ea typeface="宋体" panose="02010600030101010101" pitchFamily="2" charset="-122"/>
              </a:rPr>
              <a:t>    </a:t>
            </a:r>
            <a:r>
              <a:rPr lang="en-US" altLang="zh-CN" sz="2000" kern="500" dirty="0" err="1">
                <a:effectLst/>
                <a:latin typeface="Times New Roman" panose="02020603050405020304" pitchFamily="18" charset="0"/>
                <a:ea typeface="宋体" panose="02010600030101010101" pitchFamily="2" charset="-122"/>
              </a:rPr>
              <a:t>pid_t</a:t>
            </a:r>
            <a:r>
              <a:rPr lang="en-US" altLang="zh-CN" sz="2000" kern="500" dirty="0">
                <a:effectLst/>
                <a:latin typeface="Times New Roman" panose="02020603050405020304" pitchFamily="18" charset="0"/>
                <a:ea typeface="宋体" panose="02010600030101010101" pitchFamily="2" charset="-122"/>
              </a:rPr>
              <a:t> </a:t>
            </a:r>
            <a:r>
              <a:rPr lang="en-US" altLang="zh-CN" sz="2000" kern="500" dirty="0" err="1">
                <a:effectLst/>
                <a:latin typeface="Times New Roman" panose="02020603050405020304" pitchFamily="18" charset="0"/>
                <a:ea typeface="宋体" panose="02010600030101010101" pitchFamily="2" charset="-122"/>
              </a:rPr>
              <a:t>child,parent</a:t>
            </a:r>
            <a:r>
              <a:rPr lang="en-US" altLang="zh-CN" sz="2000" kern="500" dirty="0">
                <a:effectLst/>
                <a:latin typeface="Times New Roman" panose="02020603050405020304" pitchFamily="18" charset="0"/>
                <a:ea typeface="宋体" panose="02010600030101010101" pitchFamily="2" charset="-122"/>
              </a:rPr>
              <a:t>;</a:t>
            </a:r>
            <a:endParaRPr lang="zh-CN" altLang="zh-CN" kern="100" dirty="0">
              <a:effectLst/>
              <a:latin typeface="Times New Roman" panose="02020603050405020304" pitchFamily="18" charset="0"/>
              <a:ea typeface="宋体" panose="02010600030101010101" pitchFamily="2" charset="-122"/>
            </a:endParaRPr>
          </a:p>
          <a:p>
            <a:pPr marL="540385" indent="254000" algn="just"/>
            <a:endParaRPr lang="zh-CN" altLang="zh-CN" kern="100" dirty="0">
              <a:effectLst/>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161373168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标题 1">
            <a:extLst>
              <a:ext uri="{FF2B5EF4-FFF2-40B4-BE49-F238E27FC236}">
                <a16:creationId xmlns:a16="http://schemas.microsoft.com/office/drawing/2014/main" id="{8A7AAD12-B054-74B4-B2FB-22EAE0E9DA65}"/>
              </a:ext>
            </a:extLst>
          </p:cNvPr>
          <p:cNvSpPr txBox="1">
            <a:spLocks noGrp="1"/>
          </p:cNvSpPr>
          <p:nvPr>
            <p:ph type="title"/>
          </p:nvPr>
        </p:nvSpPr>
        <p:spPr>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3.2.2  Linux</a:t>
            </a:r>
            <a:r>
              <a:rPr lang="zh-CN" altLang="zh-CN" dirty="0"/>
              <a:t>操作系统有关进程控制的系统调用</a:t>
            </a:r>
          </a:p>
        </p:txBody>
      </p:sp>
      <p:sp>
        <p:nvSpPr>
          <p:cNvPr id="8" name="文本框 7">
            <a:extLst>
              <a:ext uri="{FF2B5EF4-FFF2-40B4-BE49-F238E27FC236}">
                <a16:creationId xmlns:a16="http://schemas.microsoft.com/office/drawing/2014/main" id="{25C57972-252F-448A-93D2-9F0DC17FC300}"/>
              </a:ext>
            </a:extLst>
          </p:cNvPr>
          <p:cNvSpPr txBox="1"/>
          <p:nvPr/>
        </p:nvSpPr>
        <p:spPr>
          <a:xfrm>
            <a:off x="0" y="931319"/>
            <a:ext cx="8822863" cy="5155257"/>
          </a:xfrm>
          <a:prstGeom prst="rect">
            <a:avLst/>
          </a:prstGeom>
          <a:noFill/>
        </p:spPr>
        <p:txBody>
          <a:bodyPr wrap="square">
            <a:spAutoFit/>
          </a:bodyPr>
          <a:lstStyle/>
          <a:p>
            <a:pPr marL="540385" indent="254000" algn="just"/>
            <a:r>
              <a:rPr lang="en-US" altLang="zh-CN" kern="500" dirty="0">
                <a:effectLst/>
                <a:latin typeface="Times New Roman" panose="02020603050405020304" pitchFamily="18" charset="0"/>
                <a:ea typeface="宋体" panose="02010600030101010101" pitchFamily="2" charset="-122"/>
              </a:rPr>
              <a:t>parent=getpid();          	</a:t>
            </a:r>
            <a:endParaRPr lang="zh-CN" altLang="zh-CN" kern="100" dirty="0">
              <a:effectLst/>
              <a:latin typeface="Times New Roman" panose="02020603050405020304" pitchFamily="18" charset="0"/>
              <a:ea typeface="宋体" panose="02010600030101010101" pitchFamily="2" charset="-122"/>
            </a:endParaRPr>
          </a:p>
          <a:p>
            <a:pPr marL="540385" indent="254000" algn="just"/>
            <a:r>
              <a:rPr lang="en-US" altLang="zh-CN" kern="500" dirty="0">
                <a:effectLst/>
                <a:latin typeface="Times New Roman" panose="02020603050405020304" pitchFamily="18" charset="0"/>
                <a:ea typeface="宋体" panose="02010600030101010101" pitchFamily="2" charset="-122"/>
              </a:rPr>
              <a:t>    if((child=fork())&lt;0){        </a:t>
            </a:r>
            <a:endParaRPr lang="zh-CN" altLang="zh-CN" kern="100" dirty="0">
              <a:effectLst/>
              <a:latin typeface="Times New Roman" panose="02020603050405020304" pitchFamily="18" charset="0"/>
              <a:ea typeface="宋体" panose="02010600030101010101" pitchFamily="2" charset="-122"/>
            </a:endParaRPr>
          </a:p>
          <a:p>
            <a:pPr marL="540385" indent="254000" algn="just"/>
            <a:r>
              <a:rPr lang="en-US" altLang="zh-CN" kern="500" dirty="0">
                <a:effectLst/>
                <a:latin typeface="Times New Roman" panose="02020603050405020304" pitchFamily="18" charset="0"/>
                <a:ea typeface="宋体" panose="02010600030101010101" pitchFamily="2" charset="-122"/>
              </a:rPr>
              <a:t>        </a:t>
            </a:r>
            <a:r>
              <a:rPr lang="en-US" altLang="zh-CN" kern="500" dirty="0" err="1">
                <a:effectLst/>
                <a:latin typeface="Times New Roman" panose="02020603050405020304" pitchFamily="18" charset="0"/>
                <a:ea typeface="宋体" panose="02010600030101010101" pitchFamily="2" charset="-122"/>
              </a:rPr>
              <a:t>fprintf</a:t>
            </a:r>
            <a:r>
              <a:rPr lang="en-US" altLang="zh-CN" kern="500" dirty="0">
                <a:effectLst/>
                <a:latin typeface="Times New Roman" panose="02020603050405020304" pitchFamily="18" charset="0"/>
                <a:ea typeface="宋体" panose="02010600030101010101" pitchFamily="2" charset="-122"/>
              </a:rPr>
              <a:t>(stderr,"%</a:t>
            </a:r>
            <a:r>
              <a:rPr lang="en-US" altLang="zh-CN" kern="500" dirty="0" err="1">
                <a:effectLst/>
                <a:latin typeface="Times New Roman" panose="02020603050405020304" pitchFamily="18" charset="0"/>
                <a:ea typeface="宋体" panose="02010600030101010101" pitchFamily="2" charset="-122"/>
              </a:rPr>
              <a:t>s:fork</a:t>
            </a:r>
            <a:r>
              <a:rPr lang="en-US" altLang="zh-CN" kern="500" dirty="0">
                <a:effectLst/>
                <a:latin typeface="Times New Roman" panose="02020603050405020304" pitchFamily="18" charset="0"/>
                <a:ea typeface="宋体" panose="02010600030101010101" pitchFamily="2" charset="-122"/>
              </a:rPr>
              <a:t> of child failed:%s\n",</a:t>
            </a:r>
            <a:r>
              <a:rPr lang="en-US" altLang="zh-CN" kern="500" dirty="0" err="1">
                <a:effectLst/>
                <a:latin typeface="Times New Roman" panose="02020603050405020304" pitchFamily="18" charset="0"/>
                <a:ea typeface="宋体" panose="02010600030101010101" pitchFamily="2" charset="-122"/>
              </a:rPr>
              <a:t>argv</a:t>
            </a:r>
            <a:r>
              <a:rPr lang="en-US" altLang="zh-CN" kern="500" dirty="0">
                <a:effectLst/>
                <a:latin typeface="Times New Roman" panose="02020603050405020304" pitchFamily="18" charset="0"/>
                <a:ea typeface="宋体" panose="02010600030101010101" pitchFamily="2" charset="-122"/>
              </a:rPr>
              <a:t>[0],</a:t>
            </a:r>
            <a:r>
              <a:rPr lang="en-US" altLang="zh-CN" kern="500" dirty="0" err="1">
                <a:effectLst/>
                <a:latin typeface="Times New Roman" panose="02020603050405020304" pitchFamily="18" charset="0"/>
                <a:ea typeface="宋体" panose="02010600030101010101" pitchFamily="2" charset="-122"/>
              </a:rPr>
              <a:t>strerror</a:t>
            </a:r>
            <a:r>
              <a:rPr lang="en-US" altLang="zh-CN" kern="500" dirty="0">
                <a:effectLst/>
                <a:latin typeface="Times New Roman" panose="02020603050405020304" pitchFamily="18" charset="0"/>
                <a:ea typeface="宋体" panose="02010600030101010101" pitchFamily="2" charset="-122"/>
              </a:rPr>
              <a:t>(</a:t>
            </a:r>
            <a:r>
              <a:rPr lang="en-US" altLang="zh-CN" kern="500" dirty="0" err="1">
                <a:effectLst/>
                <a:latin typeface="Times New Roman" panose="02020603050405020304" pitchFamily="18" charset="0"/>
                <a:ea typeface="宋体" panose="02010600030101010101" pitchFamily="2" charset="-122"/>
              </a:rPr>
              <a:t>errno</a:t>
            </a:r>
            <a:r>
              <a:rPr lang="en-US" altLang="zh-CN" kern="500" dirty="0">
                <a:effectLst/>
                <a:latin typeface="Times New Roman" panose="02020603050405020304" pitchFamily="18" charset="0"/>
                <a:ea typeface="宋体" panose="02010600030101010101" pitchFamily="2" charset="-122"/>
              </a:rPr>
              <a:t>));</a:t>
            </a:r>
            <a:endParaRPr lang="zh-CN" altLang="zh-CN" kern="100" dirty="0">
              <a:effectLst/>
              <a:latin typeface="Times New Roman" panose="02020603050405020304" pitchFamily="18" charset="0"/>
              <a:ea typeface="宋体" panose="02010600030101010101" pitchFamily="2" charset="-122"/>
            </a:endParaRPr>
          </a:p>
          <a:p>
            <a:pPr marL="540385" indent="254000" algn="just"/>
            <a:r>
              <a:rPr lang="en-US" altLang="zh-CN" kern="500" dirty="0">
                <a:effectLst/>
                <a:latin typeface="Times New Roman" panose="02020603050405020304" pitchFamily="18" charset="0"/>
                <a:ea typeface="宋体" panose="02010600030101010101" pitchFamily="2" charset="-122"/>
              </a:rPr>
              <a:t>        exit(1);           </a:t>
            </a:r>
            <a:endParaRPr lang="zh-CN" altLang="zh-CN" kern="100" dirty="0">
              <a:effectLst/>
              <a:latin typeface="Times New Roman" panose="02020603050405020304" pitchFamily="18" charset="0"/>
              <a:ea typeface="宋体" panose="02010600030101010101" pitchFamily="2" charset="-122"/>
            </a:endParaRPr>
          </a:p>
          <a:p>
            <a:pPr marL="540385" indent="254000" algn="just"/>
            <a:r>
              <a:rPr lang="en-US" altLang="zh-CN" kern="500" dirty="0">
                <a:effectLst/>
                <a:latin typeface="Times New Roman" panose="02020603050405020304" pitchFamily="18" charset="0"/>
                <a:ea typeface="宋体" panose="02010600030101010101" pitchFamily="2" charset="-122"/>
              </a:rPr>
              <a:t>    }</a:t>
            </a:r>
          </a:p>
          <a:p>
            <a:pPr marL="540385" indent="254000" algn="just">
              <a:lnSpc>
                <a:spcPts val="1450"/>
              </a:lnSpc>
            </a:pPr>
            <a:r>
              <a:rPr lang="en-US" altLang="zh-CN" kern="500" dirty="0">
                <a:latin typeface="Times New Roman" panose="02020603050405020304" pitchFamily="18" charset="0"/>
                <a:ea typeface="宋体" panose="02010600030101010101" pitchFamily="2" charset="-122"/>
              </a:rPr>
              <a:t> 	  else if(child==0){       	/*</a:t>
            </a:r>
            <a:r>
              <a:rPr lang="zh-CN" altLang="zh-CN" kern="500" dirty="0">
                <a:latin typeface="Times New Roman" panose="02020603050405020304" pitchFamily="18" charset="0"/>
                <a:ea typeface="宋体" panose="02010600030101010101" pitchFamily="2" charset="-122"/>
              </a:rPr>
              <a:t>此时子进程被调度运行</a:t>
            </a:r>
            <a:r>
              <a:rPr lang="en-US" altLang="zh-CN" kern="500" dirty="0">
                <a:latin typeface="Times New Roman" panose="02020603050405020304" pitchFamily="18" charset="0"/>
                <a:ea typeface="宋体" panose="02010600030101010101" pitchFamily="2" charset="-122"/>
              </a:rPr>
              <a:t>*/</a:t>
            </a:r>
            <a:endParaRPr lang="zh-CN" altLang="zh-CN" kern="500" dirty="0">
              <a:latin typeface="Times New Roman" panose="02020603050405020304" pitchFamily="18" charset="0"/>
              <a:ea typeface="宋体" panose="02010600030101010101" pitchFamily="2" charset="-122"/>
            </a:endParaRPr>
          </a:p>
          <a:p>
            <a:pPr marL="540385" indent="254000" algn="just">
              <a:lnSpc>
                <a:spcPts val="1450"/>
              </a:lnSpc>
            </a:pPr>
            <a:r>
              <a:rPr lang="en-US" altLang="zh-CN" kern="500" dirty="0">
                <a:latin typeface="Times New Roman" panose="02020603050405020304" pitchFamily="18" charset="0"/>
                <a:ea typeface="宋体" panose="02010600030101010101" pitchFamily="2" charset="-122"/>
              </a:rPr>
              <a:t>        </a:t>
            </a:r>
            <a:r>
              <a:rPr lang="en-US" altLang="zh-CN" kern="500" dirty="0" err="1">
                <a:latin typeface="Times New Roman" panose="02020603050405020304" pitchFamily="18" charset="0"/>
                <a:ea typeface="宋体" panose="02010600030101010101" pitchFamily="2" charset="-122"/>
              </a:rPr>
              <a:t>old_ppid</a:t>
            </a:r>
            <a:r>
              <a:rPr lang="en-US" altLang="zh-CN" kern="500" dirty="0">
                <a:latin typeface="Times New Roman" panose="02020603050405020304" pitchFamily="18" charset="0"/>
                <a:ea typeface="宋体" panose="02010600030101010101" pitchFamily="2" charset="-122"/>
              </a:rPr>
              <a:t>=</a:t>
            </a:r>
            <a:r>
              <a:rPr lang="en-US" altLang="zh-CN" kern="500" dirty="0" err="1">
                <a:latin typeface="Times New Roman" panose="02020603050405020304" pitchFamily="18" charset="0"/>
                <a:ea typeface="宋体" panose="02010600030101010101" pitchFamily="2" charset="-122"/>
              </a:rPr>
              <a:t>getppid</a:t>
            </a:r>
            <a:r>
              <a:rPr lang="en-US" altLang="zh-CN" kern="500" dirty="0">
                <a:latin typeface="Times New Roman" panose="02020603050405020304" pitchFamily="18" charset="0"/>
                <a:ea typeface="宋体" panose="02010600030101010101" pitchFamily="2" charset="-122"/>
              </a:rPr>
              <a:t>();      </a:t>
            </a:r>
            <a:endParaRPr lang="zh-CN" altLang="zh-CN" kern="500" dirty="0">
              <a:latin typeface="Times New Roman" panose="02020603050405020304" pitchFamily="18" charset="0"/>
              <a:ea typeface="宋体" panose="02010600030101010101" pitchFamily="2" charset="-122"/>
            </a:endParaRPr>
          </a:p>
          <a:p>
            <a:pPr marL="540385" indent="254000" algn="just">
              <a:lnSpc>
                <a:spcPts val="1450"/>
              </a:lnSpc>
            </a:pPr>
            <a:r>
              <a:rPr lang="en-US" altLang="zh-CN" kern="500" dirty="0">
                <a:latin typeface="Times New Roman" panose="02020603050405020304" pitchFamily="18" charset="0"/>
                <a:ea typeface="宋体" panose="02010600030101010101" pitchFamily="2" charset="-122"/>
              </a:rPr>
              <a:t>        sleep(2);               </a:t>
            </a:r>
            <a:endParaRPr lang="zh-CN" altLang="zh-CN" kern="500" dirty="0">
              <a:latin typeface="Times New Roman" panose="02020603050405020304" pitchFamily="18" charset="0"/>
              <a:ea typeface="宋体" panose="02010600030101010101" pitchFamily="2" charset="-122"/>
            </a:endParaRPr>
          </a:p>
          <a:p>
            <a:pPr marL="540385" indent="254000" algn="just">
              <a:lnSpc>
                <a:spcPts val="1450"/>
              </a:lnSpc>
            </a:pPr>
            <a:r>
              <a:rPr lang="en-US" altLang="zh-CN" kern="500" dirty="0">
                <a:latin typeface="Times New Roman" panose="02020603050405020304" pitchFamily="18" charset="0"/>
                <a:ea typeface="宋体" panose="02010600030101010101" pitchFamily="2" charset="-122"/>
              </a:rPr>
              <a:t>        </a:t>
            </a:r>
            <a:r>
              <a:rPr lang="en-US" altLang="zh-CN" kern="500" dirty="0" err="1">
                <a:latin typeface="Times New Roman" panose="02020603050405020304" pitchFamily="18" charset="0"/>
                <a:ea typeface="宋体" panose="02010600030101010101" pitchFamily="2" charset="-122"/>
              </a:rPr>
              <a:t>new_ppid</a:t>
            </a:r>
            <a:r>
              <a:rPr lang="en-US" altLang="zh-CN" kern="500" dirty="0">
                <a:latin typeface="Times New Roman" panose="02020603050405020304" pitchFamily="18" charset="0"/>
                <a:ea typeface="宋体" panose="02010600030101010101" pitchFamily="2" charset="-122"/>
              </a:rPr>
              <a:t>=</a:t>
            </a:r>
            <a:r>
              <a:rPr lang="en-US" altLang="zh-CN" kern="500" dirty="0" err="1">
                <a:latin typeface="Times New Roman" panose="02020603050405020304" pitchFamily="18" charset="0"/>
                <a:ea typeface="宋体" panose="02010600030101010101" pitchFamily="2" charset="-122"/>
              </a:rPr>
              <a:t>getppid</a:t>
            </a:r>
            <a:r>
              <a:rPr lang="en-US" altLang="zh-CN" kern="500" dirty="0">
                <a:latin typeface="Times New Roman" panose="02020603050405020304" pitchFamily="18" charset="0"/>
                <a:ea typeface="宋体" panose="02010600030101010101" pitchFamily="2" charset="-122"/>
              </a:rPr>
              <a:t>();     </a:t>
            </a:r>
            <a:endParaRPr lang="zh-CN" altLang="zh-CN" kern="500" dirty="0">
              <a:latin typeface="Times New Roman" panose="02020603050405020304" pitchFamily="18" charset="0"/>
              <a:ea typeface="宋体" panose="02010600030101010101" pitchFamily="2" charset="-122"/>
            </a:endParaRPr>
          </a:p>
          <a:p>
            <a:pPr marL="540385" indent="254000" algn="just">
              <a:lnSpc>
                <a:spcPts val="1450"/>
              </a:lnSpc>
            </a:pPr>
            <a:r>
              <a:rPr lang="en-US" altLang="zh-CN" kern="500" dirty="0">
                <a:latin typeface="Times New Roman" panose="02020603050405020304" pitchFamily="18" charset="0"/>
                <a:ea typeface="宋体" panose="02010600030101010101" pitchFamily="2" charset="-122"/>
              </a:rPr>
              <a:t>    }</a:t>
            </a:r>
            <a:endParaRPr lang="zh-CN" altLang="zh-CN" kern="500" dirty="0">
              <a:latin typeface="Times New Roman" panose="02020603050405020304" pitchFamily="18" charset="0"/>
              <a:ea typeface="宋体" panose="02010600030101010101" pitchFamily="2" charset="-122"/>
            </a:endParaRPr>
          </a:p>
          <a:p>
            <a:pPr marL="540385" indent="254000" algn="just">
              <a:lnSpc>
                <a:spcPts val="1450"/>
              </a:lnSpc>
            </a:pPr>
            <a:r>
              <a:rPr lang="en-US" altLang="zh-CN" kern="500" dirty="0">
                <a:latin typeface="Times New Roman" panose="02020603050405020304" pitchFamily="18" charset="0"/>
                <a:ea typeface="宋体" panose="02010600030101010101" pitchFamily="2" charset="-122"/>
              </a:rPr>
              <a:t>    else {                     /*</a:t>
            </a:r>
            <a:r>
              <a:rPr lang="zh-CN" altLang="zh-CN" kern="500" dirty="0">
                <a:latin typeface="Times New Roman" panose="02020603050405020304" pitchFamily="18" charset="0"/>
                <a:ea typeface="宋体" panose="02010600030101010101" pitchFamily="2" charset="-122"/>
              </a:rPr>
              <a:t>父进程运行</a:t>
            </a:r>
            <a:r>
              <a:rPr lang="en-US" altLang="zh-CN" kern="500" dirty="0">
                <a:latin typeface="Times New Roman" panose="02020603050405020304" pitchFamily="18" charset="0"/>
                <a:ea typeface="宋体" panose="02010600030101010101" pitchFamily="2" charset="-122"/>
              </a:rPr>
              <a:t>*/</a:t>
            </a:r>
            <a:endParaRPr lang="zh-CN" altLang="zh-CN" kern="500" dirty="0">
              <a:latin typeface="Times New Roman" panose="02020603050405020304" pitchFamily="18" charset="0"/>
              <a:ea typeface="宋体" panose="02010600030101010101" pitchFamily="2" charset="-122"/>
            </a:endParaRPr>
          </a:p>
          <a:p>
            <a:pPr marL="540385" indent="254000" algn="just">
              <a:lnSpc>
                <a:spcPts val="1450"/>
              </a:lnSpc>
            </a:pPr>
            <a:r>
              <a:rPr lang="en-US" altLang="zh-CN" kern="500" dirty="0">
                <a:latin typeface="Times New Roman" panose="02020603050405020304" pitchFamily="18" charset="0"/>
                <a:ea typeface="宋体" panose="02010600030101010101" pitchFamily="2" charset="-122"/>
              </a:rPr>
              <a:t>        sleep(1);               </a:t>
            </a:r>
            <a:endParaRPr lang="zh-CN" altLang="zh-CN" kern="500" dirty="0">
              <a:latin typeface="Times New Roman" panose="02020603050405020304" pitchFamily="18" charset="0"/>
              <a:ea typeface="宋体" panose="02010600030101010101" pitchFamily="2" charset="-122"/>
            </a:endParaRPr>
          </a:p>
          <a:p>
            <a:pPr marL="540385" indent="254000" algn="just">
              <a:lnSpc>
                <a:spcPts val="1450"/>
              </a:lnSpc>
            </a:pPr>
            <a:r>
              <a:rPr lang="en-US" altLang="zh-CN" kern="500" dirty="0">
                <a:latin typeface="Times New Roman" panose="02020603050405020304" pitchFamily="18" charset="0"/>
                <a:ea typeface="宋体" panose="02010600030101010101" pitchFamily="2" charset="-122"/>
              </a:rPr>
              <a:t>        exit(0); </a:t>
            </a:r>
          </a:p>
          <a:p>
            <a:pPr marL="540385" indent="254000" algn="just">
              <a:lnSpc>
                <a:spcPts val="1450"/>
              </a:lnSpc>
            </a:pPr>
            <a:r>
              <a:rPr lang="en-US" altLang="zh-CN" kern="500" dirty="0">
                <a:latin typeface="Times New Roman" panose="02020603050405020304" pitchFamily="18" charset="0"/>
                <a:ea typeface="宋体" panose="02010600030101010101" pitchFamily="2" charset="-122"/>
              </a:rPr>
              <a:t>    }</a:t>
            </a:r>
          </a:p>
          <a:p>
            <a:pPr marL="540385" indent="254000" algn="just">
              <a:lnSpc>
                <a:spcPts val="1450"/>
              </a:lnSpc>
            </a:pPr>
            <a:endParaRPr lang="en-US" altLang="zh-CN" kern="500" dirty="0">
              <a:latin typeface="Times New Roman" panose="02020603050405020304" pitchFamily="18" charset="0"/>
              <a:ea typeface="宋体" panose="02010600030101010101" pitchFamily="2" charset="-122"/>
            </a:endParaRPr>
          </a:p>
          <a:p>
            <a:pPr marL="540385" indent="254000" algn="just">
              <a:lnSpc>
                <a:spcPts val="1450"/>
              </a:lnSpc>
            </a:pPr>
            <a:r>
              <a:rPr lang="en-US" altLang="zh-CN" kern="500" dirty="0">
                <a:latin typeface="Times New Roman" panose="02020603050405020304" pitchFamily="18" charset="0"/>
                <a:ea typeface="宋体" panose="02010600030101010101" pitchFamily="2" charset="-122"/>
              </a:rPr>
              <a:t> /*</a:t>
            </a:r>
            <a:r>
              <a:rPr lang="zh-CN" altLang="zh-CN" kern="500" dirty="0">
                <a:latin typeface="Times New Roman" panose="02020603050405020304" pitchFamily="18" charset="0"/>
                <a:ea typeface="宋体" panose="02010600030101010101" pitchFamily="2" charset="-122"/>
              </a:rPr>
              <a:t>下面仅子进程运行</a:t>
            </a:r>
            <a:r>
              <a:rPr lang="en-US" altLang="zh-CN" kern="500" dirty="0">
                <a:latin typeface="Times New Roman" panose="02020603050405020304" pitchFamily="18" charset="0"/>
                <a:ea typeface="宋体" panose="02010600030101010101" pitchFamily="2" charset="-122"/>
              </a:rPr>
              <a:t>*/</a:t>
            </a:r>
            <a:endParaRPr lang="zh-CN" altLang="zh-CN" kern="500" dirty="0">
              <a:latin typeface="Times New Roman" panose="02020603050405020304" pitchFamily="18" charset="0"/>
              <a:ea typeface="宋体" panose="02010600030101010101" pitchFamily="2" charset="-122"/>
            </a:endParaRPr>
          </a:p>
          <a:p>
            <a:pPr marL="540385" indent="254000" algn="just">
              <a:lnSpc>
                <a:spcPts val="1450"/>
              </a:lnSpc>
            </a:pPr>
            <a:r>
              <a:rPr lang="en-US" altLang="zh-CN" kern="500" dirty="0">
                <a:latin typeface="Times New Roman" panose="02020603050405020304" pitchFamily="18" charset="0"/>
                <a:ea typeface="宋体" panose="02010600030101010101" pitchFamily="2" charset="-122"/>
              </a:rPr>
              <a:t>    </a:t>
            </a:r>
            <a:r>
              <a:rPr lang="en-US" altLang="zh-CN" kern="500" dirty="0" err="1">
                <a:latin typeface="Times New Roman" panose="02020603050405020304" pitchFamily="18" charset="0"/>
                <a:ea typeface="宋体" panose="02010600030101010101" pitchFamily="2" charset="-122"/>
              </a:rPr>
              <a:t>printf</a:t>
            </a:r>
            <a:r>
              <a:rPr lang="en-US" altLang="zh-CN" kern="500" dirty="0">
                <a:latin typeface="Times New Roman" panose="02020603050405020304" pitchFamily="18" charset="0"/>
                <a:ea typeface="宋体" panose="02010600030101010101" pitchFamily="2" charset="-122"/>
              </a:rPr>
              <a:t>("Original parent:%d\</a:t>
            </a:r>
            <a:r>
              <a:rPr lang="en-US" altLang="zh-CN" kern="500" dirty="0" err="1">
                <a:latin typeface="Times New Roman" panose="02020603050405020304" pitchFamily="18" charset="0"/>
                <a:ea typeface="宋体" panose="02010600030101010101" pitchFamily="2" charset="-122"/>
              </a:rPr>
              <a:t>n",parent</a:t>
            </a:r>
            <a:r>
              <a:rPr lang="en-US" altLang="zh-CN" kern="500" dirty="0">
                <a:latin typeface="Times New Roman" panose="02020603050405020304" pitchFamily="18" charset="0"/>
                <a:ea typeface="宋体" panose="02010600030101010101" pitchFamily="2" charset="-122"/>
              </a:rPr>
              <a:t>); </a:t>
            </a:r>
          </a:p>
          <a:p>
            <a:pPr marL="540385" indent="254000" algn="just">
              <a:lnSpc>
                <a:spcPts val="1450"/>
              </a:lnSpc>
            </a:pPr>
            <a:r>
              <a:rPr lang="en-US" altLang="zh-CN" kern="500" dirty="0">
                <a:latin typeface="Times New Roman" panose="02020603050405020304" pitchFamily="18" charset="0"/>
                <a:ea typeface="宋体" panose="02010600030101010101" pitchFamily="2" charset="-122"/>
              </a:rPr>
              <a:t>    </a:t>
            </a:r>
            <a:r>
              <a:rPr lang="en-US" altLang="zh-CN" kern="500" dirty="0" err="1">
                <a:latin typeface="Times New Roman" panose="02020603050405020304" pitchFamily="18" charset="0"/>
                <a:ea typeface="宋体" panose="02010600030101010101" pitchFamily="2" charset="-122"/>
              </a:rPr>
              <a:t>printf</a:t>
            </a:r>
            <a:r>
              <a:rPr lang="en-US" altLang="zh-CN" kern="500" dirty="0">
                <a:latin typeface="Times New Roman" panose="02020603050405020304" pitchFamily="18" charset="0"/>
                <a:ea typeface="宋体" panose="02010600030101010101" pitchFamily="2" charset="-122"/>
              </a:rPr>
              <a:t>("Child:%d\</a:t>
            </a:r>
            <a:r>
              <a:rPr lang="en-US" altLang="zh-CN" kern="500" dirty="0" err="1">
                <a:latin typeface="Times New Roman" panose="02020603050405020304" pitchFamily="18" charset="0"/>
                <a:ea typeface="宋体" panose="02010600030101010101" pitchFamily="2" charset="-122"/>
              </a:rPr>
              <a:t>n",getpid</a:t>
            </a:r>
            <a:r>
              <a:rPr lang="en-US" altLang="zh-CN" kern="500" dirty="0">
                <a:latin typeface="Times New Roman" panose="02020603050405020304" pitchFamily="18" charset="0"/>
                <a:ea typeface="宋体" panose="02010600030101010101" pitchFamily="2" charset="-122"/>
              </a:rPr>
              <a:t>());           </a:t>
            </a:r>
            <a:endParaRPr lang="zh-CN" altLang="zh-CN" kern="500" dirty="0">
              <a:latin typeface="Times New Roman" panose="02020603050405020304" pitchFamily="18" charset="0"/>
              <a:ea typeface="宋体" panose="02010600030101010101" pitchFamily="2" charset="-122"/>
            </a:endParaRPr>
          </a:p>
          <a:p>
            <a:pPr marL="540385" indent="254000" algn="just">
              <a:lnSpc>
                <a:spcPts val="1450"/>
              </a:lnSpc>
            </a:pPr>
            <a:r>
              <a:rPr lang="en-US" altLang="zh-CN" kern="500" dirty="0">
                <a:latin typeface="Times New Roman" panose="02020603050405020304" pitchFamily="18" charset="0"/>
                <a:ea typeface="宋体" panose="02010600030101010101" pitchFamily="2" charset="-122"/>
              </a:rPr>
              <a:t>    </a:t>
            </a:r>
            <a:r>
              <a:rPr lang="en-US" altLang="zh-CN" kern="500" dirty="0" err="1">
                <a:latin typeface="Times New Roman" panose="02020603050405020304" pitchFamily="18" charset="0"/>
                <a:ea typeface="宋体" panose="02010600030101010101" pitchFamily="2" charset="-122"/>
              </a:rPr>
              <a:t>printf</a:t>
            </a:r>
            <a:r>
              <a:rPr lang="en-US" altLang="zh-CN" kern="500" dirty="0">
                <a:latin typeface="Times New Roman" panose="02020603050405020304" pitchFamily="18" charset="0"/>
                <a:ea typeface="宋体" panose="02010600030101010101" pitchFamily="2" charset="-122"/>
              </a:rPr>
              <a:t>("Child's old </a:t>
            </a:r>
            <a:r>
              <a:rPr lang="en-US" altLang="zh-CN" kern="500" dirty="0" err="1">
                <a:latin typeface="Times New Roman" panose="02020603050405020304" pitchFamily="18" charset="0"/>
                <a:ea typeface="宋体" panose="02010600030101010101" pitchFamily="2" charset="-122"/>
              </a:rPr>
              <a:t>ppid</a:t>
            </a:r>
            <a:r>
              <a:rPr lang="en-US" altLang="zh-CN" kern="500" dirty="0">
                <a:latin typeface="Times New Roman" panose="02020603050405020304" pitchFamily="18" charset="0"/>
                <a:ea typeface="宋体" panose="02010600030101010101" pitchFamily="2" charset="-122"/>
              </a:rPr>
              <a:t>:%d\n",</a:t>
            </a:r>
            <a:r>
              <a:rPr lang="en-US" altLang="zh-CN" kern="500" dirty="0" err="1">
                <a:latin typeface="Times New Roman" panose="02020603050405020304" pitchFamily="18" charset="0"/>
                <a:ea typeface="宋体" panose="02010600030101010101" pitchFamily="2" charset="-122"/>
              </a:rPr>
              <a:t>old_ppid</a:t>
            </a:r>
            <a:r>
              <a:rPr lang="en-US" altLang="zh-CN" kern="500" dirty="0">
                <a:latin typeface="Times New Roman" panose="02020603050405020304" pitchFamily="18" charset="0"/>
                <a:ea typeface="宋体" panose="02010600030101010101" pitchFamily="2" charset="-122"/>
              </a:rPr>
              <a:t>);     </a:t>
            </a:r>
            <a:endParaRPr lang="zh-CN" altLang="zh-CN" kern="500" dirty="0">
              <a:latin typeface="Times New Roman" panose="02020603050405020304" pitchFamily="18" charset="0"/>
              <a:ea typeface="宋体" panose="02010600030101010101" pitchFamily="2" charset="-122"/>
            </a:endParaRPr>
          </a:p>
          <a:p>
            <a:pPr marL="540385" indent="254000" algn="just">
              <a:lnSpc>
                <a:spcPts val="1450"/>
              </a:lnSpc>
            </a:pPr>
            <a:r>
              <a:rPr lang="en-US" altLang="zh-CN" kern="500" dirty="0">
                <a:latin typeface="Times New Roman" panose="02020603050405020304" pitchFamily="18" charset="0"/>
                <a:ea typeface="宋体" panose="02010600030101010101" pitchFamily="2" charset="-122"/>
              </a:rPr>
              <a:t>    </a:t>
            </a:r>
            <a:r>
              <a:rPr lang="en-US" altLang="zh-CN" kern="500" dirty="0" err="1">
                <a:latin typeface="Times New Roman" panose="02020603050405020304" pitchFamily="18" charset="0"/>
                <a:ea typeface="宋体" panose="02010600030101010101" pitchFamily="2" charset="-122"/>
              </a:rPr>
              <a:t>printf</a:t>
            </a:r>
            <a:r>
              <a:rPr lang="en-US" altLang="zh-CN" kern="500" dirty="0">
                <a:latin typeface="Times New Roman" panose="02020603050405020304" pitchFamily="18" charset="0"/>
                <a:ea typeface="宋体" panose="02010600030101010101" pitchFamily="2" charset="-122"/>
              </a:rPr>
              <a:t>("Child's new </a:t>
            </a:r>
            <a:r>
              <a:rPr lang="en-US" altLang="zh-CN" kern="500" dirty="0" err="1">
                <a:latin typeface="Times New Roman" panose="02020603050405020304" pitchFamily="18" charset="0"/>
                <a:ea typeface="宋体" panose="02010600030101010101" pitchFamily="2" charset="-122"/>
              </a:rPr>
              <a:t>ppid</a:t>
            </a:r>
            <a:r>
              <a:rPr lang="en-US" altLang="zh-CN" kern="500" dirty="0">
                <a:latin typeface="Times New Roman" panose="02020603050405020304" pitchFamily="18" charset="0"/>
                <a:ea typeface="宋体" panose="02010600030101010101" pitchFamily="2" charset="-122"/>
              </a:rPr>
              <a:t>:%d\n",</a:t>
            </a:r>
            <a:r>
              <a:rPr lang="en-US" altLang="zh-CN" kern="500" dirty="0" err="1">
                <a:latin typeface="Times New Roman" panose="02020603050405020304" pitchFamily="18" charset="0"/>
                <a:ea typeface="宋体" panose="02010600030101010101" pitchFamily="2" charset="-122"/>
              </a:rPr>
              <a:t>new_ppid</a:t>
            </a:r>
            <a:r>
              <a:rPr lang="en-US" altLang="zh-CN" kern="500" dirty="0">
                <a:latin typeface="Times New Roman" panose="02020603050405020304" pitchFamily="18" charset="0"/>
                <a:ea typeface="宋体" panose="02010600030101010101" pitchFamily="2" charset="-122"/>
              </a:rPr>
              <a:t>);    </a:t>
            </a:r>
            <a:endParaRPr lang="zh-CN" altLang="zh-CN" kern="500" dirty="0">
              <a:latin typeface="Times New Roman" panose="02020603050405020304" pitchFamily="18" charset="0"/>
              <a:ea typeface="宋体" panose="02010600030101010101" pitchFamily="2" charset="-122"/>
            </a:endParaRPr>
          </a:p>
          <a:p>
            <a:pPr marL="540385" indent="254000" algn="just">
              <a:lnSpc>
                <a:spcPts val="1450"/>
              </a:lnSpc>
            </a:pPr>
            <a:r>
              <a:rPr lang="en-US" altLang="zh-CN" kern="500" dirty="0">
                <a:latin typeface="Times New Roman" panose="02020603050405020304" pitchFamily="18" charset="0"/>
                <a:ea typeface="宋体" panose="02010600030101010101" pitchFamily="2" charset="-122"/>
              </a:rPr>
              <a:t> </a:t>
            </a:r>
            <a:endParaRPr lang="zh-CN" altLang="zh-CN" kern="500" dirty="0">
              <a:latin typeface="Times New Roman" panose="02020603050405020304" pitchFamily="18" charset="0"/>
              <a:ea typeface="宋体" panose="02010600030101010101" pitchFamily="2" charset="-122"/>
            </a:endParaRPr>
          </a:p>
          <a:p>
            <a:pPr marL="540385" indent="254000" algn="just">
              <a:lnSpc>
                <a:spcPts val="1450"/>
              </a:lnSpc>
            </a:pPr>
            <a:r>
              <a:rPr lang="en-US" altLang="zh-CN" kern="500" dirty="0">
                <a:latin typeface="Times New Roman" panose="02020603050405020304" pitchFamily="18" charset="0"/>
                <a:ea typeface="宋体" panose="02010600030101010101" pitchFamily="2" charset="-122"/>
              </a:rPr>
              <a:t>    exit(0);</a:t>
            </a:r>
          </a:p>
          <a:p>
            <a:pPr marL="540385" indent="254000" algn="just">
              <a:lnSpc>
                <a:spcPts val="1450"/>
              </a:lnSpc>
            </a:pPr>
            <a:r>
              <a:rPr lang="en-US" altLang="zh-CN" kern="500" dirty="0">
                <a:latin typeface="Times New Roman" panose="02020603050405020304" pitchFamily="18" charset="0"/>
                <a:ea typeface="宋体" panose="02010600030101010101" pitchFamily="2" charset="-122"/>
              </a:rPr>
              <a:t>}</a:t>
            </a:r>
            <a:endParaRPr lang="zh-CN" altLang="en-US" kern="500" dirty="0">
              <a:latin typeface="Times New Roman" panose="02020603050405020304" pitchFamily="18" charset="0"/>
              <a:ea typeface="宋体" panose="02010600030101010101" pitchFamily="2" charset="-122"/>
            </a:endParaRPr>
          </a:p>
          <a:p>
            <a:pPr marL="540385" indent="254000" algn="just"/>
            <a:endParaRPr lang="zh-CN" altLang="zh-CN" sz="1400" kern="100" dirty="0">
              <a:effectLst/>
              <a:latin typeface="Times New Roman" panose="02020603050405020304" pitchFamily="18" charset="0"/>
              <a:ea typeface="宋体" panose="02010600030101010101" pitchFamily="2" charset="-122"/>
            </a:endParaRPr>
          </a:p>
        </p:txBody>
      </p:sp>
      <p:cxnSp>
        <p:nvCxnSpPr>
          <p:cNvPr id="9" name="直线连接符 12">
            <a:extLst>
              <a:ext uri="{FF2B5EF4-FFF2-40B4-BE49-F238E27FC236}">
                <a16:creationId xmlns:a16="http://schemas.microsoft.com/office/drawing/2014/main" id="{AA78A162-8425-40D9-A599-CC0CCEEA3921}"/>
              </a:ext>
            </a:extLst>
          </p:cNvPr>
          <p:cNvCxnSpPr>
            <a:cxnSpLocks/>
          </p:cNvCxnSpPr>
          <p:nvPr/>
        </p:nvCxnSpPr>
        <p:spPr>
          <a:xfrm>
            <a:off x="704754" y="6204915"/>
            <a:ext cx="7410546" cy="0"/>
          </a:xfrm>
          <a:prstGeom prst="line">
            <a:avLst/>
          </a:prstGeom>
          <a:ln w="28575"/>
        </p:spPr>
        <p:style>
          <a:lnRef idx="1">
            <a:schemeClr val="dk1"/>
          </a:lnRef>
          <a:fillRef idx="0">
            <a:schemeClr val="dk1"/>
          </a:fillRef>
          <a:effectRef idx="0">
            <a:schemeClr val="dk1"/>
          </a:effectRef>
          <a:fontRef idx="minor">
            <a:schemeClr val="tx1"/>
          </a:fontRef>
        </p:style>
      </p:cxnSp>
      <p:sp>
        <p:nvSpPr>
          <p:cNvPr id="10" name="文本框 9">
            <a:extLst>
              <a:ext uri="{FF2B5EF4-FFF2-40B4-BE49-F238E27FC236}">
                <a16:creationId xmlns:a16="http://schemas.microsoft.com/office/drawing/2014/main" id="{435D3E07-1FE0-489A-A645-A844CD98C497}"/>
              </a:ext>
            </a:extLst>
          </p:cNvPr>
          <p:cNvSpPr txBox="1"/>
          <p:nvPr/>
        </p:nvSpPr>
        <p:spPr>
          <a:xfrm>
            <a:off x="8181975" y="1081874"/>
            <a:ext cx="3605116" cy="2123658"/>
          </a:xfrm>
          <a:prstGeom prst="rect">
            <a:avLst/>
          </a:prstGeom>
          <a:noFill/>
        </p:spPr>
        <p:txBody>
          <a:bodyPr wrap="square">
            <a:spAutoFit/>
          </a:bodyPr>
          <a:lstStyle/>
          <a:p>
            <a:pPr indent="260350" algn="just"/>
            <a:r>
              <a:rPr lang="zh-CN" altLang="zh-CN" sz="2200" kern="500" dirty="0">
                <a:effectLst/>
                <a:latin typeface="+mn-ea"/>
                <a:cs typeface="Times New Roman" panose="02020603050405020304" pitchFamily="18" charset="0"/>
              </a:rPr>
              <a:t>程序运行的结果如下：</a:t>
            </a:r>
            <a:endParaRPr lang="zh-CN" altLang="zh-CN" sz="2200" kern="100" dirty="0">
              <a:effectLst/>
              <a:latin typeface="+mn-ea"/>
              <a:cs typeface="Times New Roman" panose="02020603050405020304" pitchFamily="18" charset="0"/>
            </a:endParaRPr>
          </a:p>
          <a:p>
            <a:pPr indent="260350" algn="just"/>
            <a:r>
              <a:rPr lang="en-US" altLang="zh-CN" sz="2200" kern="500" dirty="0">
                <a:effectLst/>
                <a:latin typeface="+mn-ea"/>
                <a:cs typeface="Times New Roman" panose="02020603050405020304" pitchFamily="18" charset="0"/>
              </a:rPr>
              <a:t>$ ./proc1</a:t>
            </a:r>
            <a:endParaRPr lang="zh-CN" altLang="zh-CN" sz="2200" kern="100" dirty="0">
              <a:effectLst/>
              <a:latin typeface="+mn-ea"/>
              <a:cs typeface="Times New Roman" panose="02020603050405020304" pitchFamily="18" charset="0"/>
            </a:endParaRPr>
          </a:p>
          <a:p>
            <a:pPr indent="205740" algn="just"/>
            <a:r>
              <a:rPr lang="en-US" altLang="zh-CN" sz="2200" kern="500" dirty="0">
                <a:effectLst/>
                <a:latin typeface="+mn-ea"/>
                <a:cs typeface="Times New Roman" panose="02020603050405020304" pitchFamily="18" charset="0"/>
              </a:rPr>
              <a:t> Original parent:2009</a:t>
            </a:r>
            <a:endParaRPr lang="zh-CN" altLang="zh-CN" sz="2200" kern="100" dirty="0">
              <a:effectLst/>
              <a:latin typeface="+mn-ea"/>
              <a:cs typeface="Times New Roman" panose="02020603050405020304" pitchFamily="18" charset="0"/>
            </a:endParaRPr>
          </a:p>
          <a:p>
            <a:pPr indent="260350" algn="just"/>
            <a:r>
              <a:rPr lang="en-US" altLang="zh-CN" sz="2200" kern="500" dirty="0">
                <a:effectLst/>
                <a:latin typeface="+mn-ea"/>
                <a:cs typeface="Times New Roman" panose="02020603050405020304" pitchFamily="18" charset="0"/>
              </a:rPr>
              <a:t>Child:2010</a:t>
            </a:r>
            <a:endParaRPr lang="zh-CN" altLang="zh-CN" sz="2200" kern="100" dirty="0">
              <a:effectLst/>
              <a:latin typeface="+mn-ea"/>
              <a:cs typeface="Times New Roman" panose="02020603050405020304" pitchFamily="18" charset="0"/>
            </a:endParaRPr>
          </a:p>
          <a:p>
            <a:pPr indent="260350" algn="just"/>
            <a:r>
              <a:rPr lang="en-US" altLang="zh-CN" sz="2200" kern="500" dirty="0">
                <a:effectLst/>
                <a:latin typeface="+mn-ea"/>
                <a:cs typeface="Times New Roman" panose="02020603050405020304" pitchFamily="18" charset="0"/>
              </a:rPr>
              <a:t>Child's old ppid:2009</a:t>
            </a:r>
            <a:endParaRPr lang="zh-CN" altLang="zh-CN" sz="2200" kern="100" dirty="0">
              <a:effectLst/>
              <a:latin typeface="+mn-ea"/>
              <a:cs typeface="Times New Roman" panose="02020603050405020304" pitchFamily="18" charset="0"/>
            </a:endParaRPr>
          </a:p>
          <a:p>
            <a:pPr indent="260350" algn="just"/>
            <a:r>
              <a:rPr lang="en-US" altLang="zh-CN" sz="2200" kern="500" dirty="0">
                <a:effectLst/>
                <a:latin typeface="+mn-ea"/>
                <a:cs typeface="Times New Roman" panose="02020603050405020304" pitchFamily="18" charset="0"/>
              </a:rPr>
              <a:t>Child's new ppid:1</a:t>
            </a:r>
            <a:endParaRPr lang="zh-CN" altLang="en-US" sz="2200" dirty="0"/>
          </a:p>
        </p:txBody>
      </p:sp>
      <p:sp>
        <p:nvSpPr>
          <p:cNvPr id="11" name="文本框 10">
            <a:extLst>
              <a:ext uri="{FF2B5EF4-FFF2-40B4-BE49-F238E27FC236}">
                <a16:creationId xmlns:a16="http://schemas.microsoft.com/office/drawing/2014/main" id="{2E7BA218-5D24-41E8-8E55-0EB8A219557C}"/>
              </a:ext>
            </a:extLst>
          </p:cNvPr>
          <p:cNvSpPr txBox="1"/>
          <p:nvPr/>
        </p:nvSpPr>
        <p:spPr>
          <a:xfrm>
            <a:off x="8310514" y="3738113"/>
            <a:ext cx="3714653" cy="2123658"/>
          </a:xfrm>
          <a:prstGeom prst="rect">
            <a:avLst/>
          </a:prstGeom>
          <a:noFill/>
        </p:spPr>
        <p:txBody>
          <a:bodyPr wrap="square">
            <a:spAutoFit/>
          </a:bodyPr>
          <a:lstStyle/>
          <a:p>
            <a:pPr indent="260350" algn="just"/>
            <a:r>
              <a:rPr lang="zh-CN" altLang="zh-CN" sz="2200" kern="500" dirty="0">
                <a:solidFill>
                  <a:srgbClr val="000000"/>
                </a:solidFill>
                <a:effectLst/>
                <a:latin typeface="+mn-ea"/>
                <a:cs typeface="Times New Roman" panose="02020603050405020304" pitchFamily="18" charset="0"/>
              </a:rPr>
              <a:t>需要注意的是，</a:t>
            </a:r>
            <a:r>
              <a:rPr lang="zh-CN" altLang="zh-CN" sz="2200" b="1" kern="500" dirty="0">
                <a:solidFill>
                  <a:srgbClr val="9A0001"/>
                </a:solidFill>
                <a:effectLst/>
                <a:latin typeface="+mn-ea"/>
                <a:cs typeface="Times New Roman" panose="02020603050405020304" pitchFamily="18" charset="0"/>
              </a:rPr>
              <a:t>进程是并发执行的</a:t>
            </a:r>
            <a:r>
              <a:rPr lang="zh-CN" altLang="zh-CN" sz="2200" kern="500" dirty="0">
                <a:solidFill>
                  <a:srgbClr val="000000"/>
                </a:solidFill>
                <a:effectLst/>
                <a:latin typeface="+mn-ea"/>
                <a:cs typeface="Times New Roman" panose="02020603050405020304" pitchFamily="18" charset="0"/>
              </a:rPr>
              <a:t>；当子进程被成功调度后，调度程序的返回值是</a:t>
            </a:r>
            <a:r>
              <a:rPr lang="en-US" altLang="zh-CN" sz="2200" kern="500" dirty="0">
                <a:solidFill>
                  <a:srgbClr val="000000"/>
                </a:solidFill>
                <a:effectLst/>
                <a:latin typeface="+mn-ea"/>
                <a:cs typeface="Times New Roman" panose="02020603050405020304" pitchFamily="18" charset="0"/>
              </a:rPr>
              <a:t>0</a:t>
            </a:r>
            <a:r>
              <a:rPr lang="zh-CN" altLang="zh-CN" sz="2200" kern="500" dirty="0">
                <a:solidFill>
                  <a:srgbClr val="000000"/>
                </a:solidFill>
                <a:effectLst/>
                <a:latin typeface="+mn-ea"/>
                <a:cs typeface="Times New Roman" panose="02020603050405020304" pitchFamily="18" charset="0"/>
              </a:rPr>
              <a:t>。</a:t>
            </a:r>
            <a:r>
              <a:rPr lang="zh-CN" altLang="zh-CN" sz="2200" kern="500" dirty="0">
                <a:solidFill>
                  <a:srgbClr val="9A0001"/>
                </a:solidFill>
                <a:effectLst/>
                <a:latin typeface="+mn-ea"/>
                <a:cs typeface="Times New Roman" panose="02020603050405020304" pitchFamily="18" charset="0"/>
              </a:rPr>
              <a:t>如果父进程先终止，则其子进程的父进程就被系统指定为</a:t>
            </a:r>
            <a:r>
              <a:rPr lang="en-US" altLang="zh-CN" sz="2200" kern="500" dirty="0" err="1">
                <a:solidFill>
                  <a:srgbClr val="9A0001"/>
                </a:solidFill>
                <a:effectLst/>
                <a:latin typeface="+mn-ea"/>
                <a:cs typeface="Times New Roman" panose="02020603050405020304" pitchFamily="18" charset="0"/>
              </a:rPr>
              <a:t>init</a:t>
            </a:r>
            <a:r>
              <a:rPr lang="zh-CN" altLang="zh-CN" sz="2200" kern="500" dirty="0">
                <a:solidFill>
                  <a:srgbClr val="9A0001"/>
                </a:solidFill>
                <a:effectLst/>
                <a:latin typeface="+mn-ea"/>
                <a:cs typeface="Times New Roman" panose="02020603050405020304" pitchFamily="18" charset="0"/>
              </a:rPr>
              <a:t>进程（其</a:t>
            </a:r>
            <a:r>
              <a:rPr lang="en-US" altLang="zh-CN" sz="2200" kern="500" dirty="0">
                <a:solidFill>
                  <a:srgbClr val="9A0001"/>
                </a:solidFill>
                <a:effectLst/>
                <a:latin typeface="+mn-ea"/>
                <a:cs typeface="Times New Roman" panose="02020603050405020304" pitchFamily="18" charset="0"/>
              </a:rPr>
              <a:t>PID</a:t>
            </a:r>
            <a:r>
              <a:rPr lang="zh-CN" altLang="zh-CN" sz="2200" kern="500" dirty="0">
                <a:solidFill>
                  <a:srgbClr val="9A0001"/>
                </a:solidFill>
                <a:effectLst/>
                <a:latin typeface="+mn-ea"/>
                <a:cs typeface="Times New Roman" panose="02020603050405020304" pitchFamily="18" charset="0"/>
              </a:rPr>
              <a:t>为</a:t>
            </a:r>
            <a:r>
              <a:rPr lang="en-US" altLang="zh-CN" sz="2200" kern="500" dirty="0">
                <a:solidFill>
                  <a:srgbClr val="9A0001"/>
                </a:solidFill>
                <a:effectLst/>
                <a:latin typeface="+mn-ea"/>
                <a:cs typeface="Times New Roman" panose="02020603050405020304" pitchFamily="18" charset="0"/>
              </a:rPr>
              <a:t>1</a:t>
            </a:r>
            <a:r>
              <a:rPr lang="zh-CN" altLang="zh-CN" sz="2200" kern="500" dirty="0">
                <a:solidFill>
                  <a:srgbClr val="9A0001"/>
                </a:solidFill>
                <a:effectLst/>
                <a:latin typeface="+mn-ea"/>
                <a:cs typeface="Times New Roman" panose="02020603050405020304" pitchFamily="18" charset="0"/>
              </a:rPr>
              <a:t>）</a:t>
            </a:r>
            <a:endParaRPr lang="zh-CN" altLang="zh-CN" sz="2200" kern="100" dirty="0">
              <a:solidFill>
                <a:srgbClr val="9A0001"/>
              </a:solidFill>
              <a:effectLst/>
              <a:latin typeface="+mn-ea"/>
              <a:cs typeface="Times New Roman" panose="02020603050405020304" pitchFamily="18" charset="0"/>
            </a:endParaRPr>
          </a:p>
        </p:txBody>
      </p:sp>
    </p:spTree>
    <p:extLst>
      <p:ext uri="{BB962C8B-B14F-4D97-AF65-F5344CB8AC3E}">
        <p14:creationId xmlns:p14="http://schemas.microsoft.com/office/powerpoint/2010/main" val="283050605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A52667DD-E90C-4A9E-ACB0-2B20B199FA44}"/>
              </a:ext>
            </a:extLst>
          </p:cNvPr>
          <p:cNvPicPr>
            <a:picLocks noChangeAspect="1"/>
          </p:cNvPicPr>
          <p:nvPr/>
        </p:nvPicPr>
        <p:blipFill>
          <a:blip r:embed="rId3"/>
          <a:stretch>
            <a:fillRect/>
          </a:stretch>
        </p:blipFill>
        <p:spPr>
          <a:xfrm>
            <a:off x="0" y="0"/>
            <a:ext cx="12192000" cy="6858000"/>
          </a:xfrm>
          <a:prstGeom prst="rect">
            <a:avLst/>
          </a:prstGeom>
        </p:spPr>
      </p:pic>
      <p:grpSp>
        <p:nvGrpSpPr>
          <p:cNvPr id="9" name="组合 8">
            <a:extLst>
              <a:ext uri="{FF2B5EF4-FFF2-40B4-BE49-F238E27FC236}">
                <a16:creationId xmlns:a16="http://schemas.microsoft.com/office/drawing/2014/main" id="{7ABA2758-0837-4CB0-9DBD-2E789872AA13}"/>
              </a:ext>
            </a:extLst>
          </p:cNvPr>
          <p:cNvGrpSpPr/>
          <p:nvPr/>
        </p:nvGrpSpPr>
        <p:grpSpPr>
          <a:xfrm>
            <a:off x="10177780" y="329882"/>
            <a:ext cx="1512002" cy="444892"/>
            <a:chOff x="9556201" y="498129"/>
            <a:chExt cx="1993881" cy="586680"/>
          </a:xfrm>
        </p:grpSpPr>
        <p:grpSp>
          <p:nvGrpSpPr>
            <p:cNvPr id="11" name="组合 10">
              <a:extLst>
                <a:ext uri="{FF2B5EF4-FFF2-40B4-BE49-F238E27FC236}">
                  <a16:creationId xmlns:a16="http://schemas.microsoft.com/office/drawing/2014/main" id="{7D6C1F50-22F0-4BC9-8B7A-8E3BBAFA4EB8}"/>
                </a:ext>
              </a:extLst>
            </p:cNvPr>
            <p:cNvGrpSpPr/>
            <p:nvPr userDrawn="1"/>
          </p:nvGrpSpPr>
          <p:grpSpPr>
            <a:xfrm>
              <a:off x="10239376" y="968937"/>
              <a:ext cx="1307697" cy="96254"/>
              <a:chOff x="4616246" y="3878362"/>
              <a:chExt cx="5571416" cy="410087"/>
            </a:xfrm>
            <a:solidFill>
              <a:schemeClr val="tx1">
                <a:alpha val="80000"/>
              </a:schemeClr>
            </a:solidFill>
          </p:grpSpPr>
          <p:sp>
            <p:nvSpPr>
              <p:cNvPr id="49" name="Freeform 17">
                <a:extLst>
                  <a:ext uri="{FF2B5EF4-FFF2-40B4-BE49-F238E27FC236}">
                    <a16:creationId xmlns:a16="http://schemas.microsoft.com/office/drawing/2014/main" id="{62C67D9D-0CA5-4835-A64C-B350E1598EE2}"/>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18">
                <a:extLst>
                  <a:ext uri="{FF2B5EF4-FFF2-40B4-BE49-F238E27FC236}">
                    <a16:creationId xmlns:a16="http://schemas.microsoft.com/office/drawing/2014/main" id="{28C6923C-716D-42B1-8FA5-26FA17DC8517}"/>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19">
                <a:extLst>
                  <a:ext uri="{FF2B5EF4-FFF2-40B4-BE49-F238E27FC236}">
                    <a16:creationId xmlns:a16="http://schemas.microsoft.com/office/drawing/2014/main" id="{41E5F1C9-16DC-4B67-B822-34BB5E504A76}"/>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20">
                <a:extLst>
                  <a:ext uri="{FF2B5EF4-FFF2-40B4-BE49-F238E27FC236}">
                    <a16:creationId xmlns:a16="http://schemas.microsoft.com/office/drawing/2014/main" id="{0CC938DE-D475-43CD-BD6B-6A4F4C8BA1F9}"/>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1">
                <a:extLst>
                  <a:ext uri="{FF2B5EF4-FFF2-40B4-BE49-F238E27FC236}">
                    <a16:creationId xmlns:a16="http://schemas.microsoft.com/office/drawing/2014/main" id="{ED69A8CA-695F-4512-85BC-0CF99F007EC4}"/>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2">
                <a:extLst>
                  <a:ext uri="{FF2B5EF4-FFF2-40B4-BE49-F238E27FC236}">
                    <a16:creationId xmlns:a16="http://schemas.microsoft.com/office/drawing/2014/main" id="{85FB3EB9-33F2-4062-B657-DF1920DA7A6B}"/>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3">
                <a:extLst>
                  <a:ext uri="{FF2B5EF4-FFF2-40B4-BE49-F238E27FC236}">
                    <a16:creationId xmlns:a16="http://schemas.microsoft.com/office/drawing/2014/main" id="{C96A8855-A47D-4904-AF95-E63ED70F1019}"/>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5">
                <a:extLst>
                  <a:ext uri="{FF2B5EF4-FFF2-40B4-BE49-F238E27FC236}">
                    <a16:creationId xmlns:a16="http://schemas.microsoft.com/office/drawing/2014/main" id="{F4A5ED25-BC5A-4DA7-A3E7-57B6ECC634A3}"/>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7">
                <a:extLst>
                  <a:ext uri="{FF2B5EF4-FFF2-40B4-BE49-F238E27FC236}">
                    <a16:creationId xmlns:a16="http://schemas.microsoft.com/office/drawing/2014/main" id="{E27D0B1F-7BD3-42D3-A9F4-D26FFDDB2EEF}"/>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9">
                <a:extLst>
                  <a:ext uri="{FF2B5EF4-FFF2-40B4-BE49-F238E27FC236}">
                    <a16:creationId xmlns:a16="http://schemas.microsoft.com/office/drawing/2014/main" id="{78A2089B-44E1-4147-ACD3-5F1E5A8234D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30">
                <a:extLst>
                  <a:ext uri="{FF2B5EF4-FFF2-40B4-BE49-F238E27FC236}">
                    <a16:creationId xmlns:a16="http://schemas.microsoft.com/office/drawing/2014/main" id="{74A81181-86B2-4034-9579-A7E6B622F95C}"/>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1">
                <a:extLst>
                  <a:ext uri="{FF2B5EF4-FFF2-40B4-BE49-F238E27FC236}">
                    <a16:creationId xmlns:a16="http://schemas.microsoft.com/office/drawing/2014/main" id="{79E81724-0215-40C3-8508-1E58097DCB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2">
                <a:extLst>
                  <a:ext uri="{FF2B5EF4-FFF2-40B4-BE49-F238E27FC236}">
                    <a16:creationId xmlns:a16="http://schemas.microsoft.com/office/drawing/2014/main" id="{470A5A82-41AB-4DBC-A021-22AAD1BE2364}"/>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3">
                <a:extLst>
                  <a:ext uri="{FF2B5EF4-FFF2-40B4-BE49-F238E27FC236}">
                    <a16:creationId xmlns:a16="http://schemas.microsoft.com/office/drawing/2014/main" id="{AB92F267-21C2-4DEC-A95E-D2E8B9C04C1D}"/>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4">
                <a:extLst>
                  <a:ext uri="{FF2B5EF4-FFF2-40B4-BE49-F238E27FC236}">
                    <a16:creationId xmlns:a16="http://schemas.microsoft.com/office/drawing/2014/main" id="{12395290-8A3E-4CEA-A79E-4ED1A2D0932C}"/>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5">
                <a:extLst>
                  <a:ext uri="{FF2B5EF4-FFF2-40B4-BE49-F238E27FC236}">
                    <a16:creationId xmlns:a16="http://schemas.microsoft.com/office/drawing/2014/main" id="{B3B1D2CA-2CC8-494F-8F6F-E0DB86EC8703}"/>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2" name="组合 11">
              <a:extLst>
                <a:ext uri="{FF2B5EF4-FFF2-40B4-BE49-F238E27FC236}">
                  <a16:creationId xmlns:a16="http://schemas.microsoft.com/office/drawing/2014/main" id="{10099A7E-0577-4F33-AC2A-6504FF9DC9AA}"/>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7" name="Freeform 9">
                <a:extLst>
                  <a:ext uri="{FF2B5EF4-FFF2-40B4-BE49-F238E27FC236}">
                    <a16:creationId xmlns:a16="http://schemas.microsoft.com/office/drawing/2014/main" id="{33FFEFBB-641A-44C2-979B-259DD1109FBB}"/>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10">
                <a:extLst>
                  <a:ext uri="{FF2B5EF4-FFF2-40B4-BE49-F238E27FC236}">
                    <a16:creationId xmlns:a16="http://schemas.microsoft.com/office/drawing/2014/main" id="{BB515BDA-1A17-45EB-88F9-AF7ED31A8100}"/>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1">
                <a:extLst>
                  <a:ext uri="{FF2B5EF4-FFF2-40B4-BE49-F238E27FC236}">
                    <a16:creationId xmlns:a16="http://schemas.microsoft.com/office/drawing/2014/main" id="{57A5BA4B-5AD0-4CC6-894B-4852200766DE}"/>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2">
                <a:extLst>
                  <a:ext uri="{FF2B5EF4-FFF2-40B4-BE49-F238E27FC236}">
                    <a16:creationId xmlns:a16="http://schemas.microsoft.com/office/drawing/2014/main" id="{AAA596AF-B1A6-4A80-BFBF-F5D841DF1D35}"/>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3">
                <a:extLst>
                  <a:ext uri="{FF2B5EF4-FFF2-40B4-BE49-F238E27FC236}">
                    <a16:creationId xmlns:a16="http://schemas.microsoft.com/office/drawing/2014/main" id="{630C0BFB-C1FF-46B1-ACB1-122F29EFE647}"/>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4">
                <a:extLst>
                  <a:ext uri="{FF2B5EF4-FFF2-40B4-BE49-F238E27FC236}">
                    <a16:creationId xmlns:a16="http://schemas.microsoft.com/office/drawing/2014/main" id="{660B3CAA-A283-46AB-B882-E801EFCBF01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5">
                <a:extLst>
                  <a:ext uri="{FF2B5EF4-FFF2-40B4-BE49-F238E27FC236}">
                    <a16:creationId xmlns:a16="http://schemas.microsoft.com/office/drawing/2014/main" id="{F6C02F43-004B-45D9-B3F2-08E589D03439}"/>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6">
                <a:extLst>
                  <a:ext uri="{FF2B5EF4-FFF2-40B4-BE49-F238E27FC236}">
                    <a16:creationId xmlns:a16="http://schemas.microsoft.com/office/drawing/2014/main" id="{82759A77-6F35-4D90-9722-C3AEB5BBC70B}"/>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24">
                <a:extLst>
                  <a:ext uri="{FF2B5EF4-FFF2-40B4-BE49-F238E27FC236}">
                    <a16:creationId xmlns:a16="http://schemas.microsoft.com/office/drawing/2014/main" id="{21E7E9E5-0D9E-4031-B558-E92A97FE89BC}"/>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26">
                <a:extLst>
                  <a:ext uri="{FF2B5EF4-FFF2-40B4-BE49-F238E27FC236}">
                    <a16:creationId xmlns:a16="http://schemas.microsoft.com/office/drawing/2014/main" id="{4DDAA159-A3C5-4DFD-925A-F125B60A5169}"/>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28">
                <a:extLst>
                  <a:ext uri="{FF2B5EF4-FFF2-40B4-BE49-F238E27FC236}">
                    <a16:creationId xmlns:a16="http://schemas.microsoft.com/office/drawing/2014/main" id="{320E2A67-7318-4D74-9F42-7D045193C0B2}"/>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36">
                <a:extLst>
                  <a:ext uri="{FF2B5EF4-FFF2-40B4-BE49-F238E27FC236}">
                    <a16:creationId xmlns:a16="http://schemas.microsoft.com/office/drawing/2014/main" id="{8EE885E7-D9F1-4F5F-81F0-EE400BDAF984}"/>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9F503599-6256-4425-8CE9-5ECCACFAA4D7}"/>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4" name="Freeform 8">
                <a:extLst>
                  <a:ext uri="{FF2B5EF4-FFF2-40B4-BE49-F238E27FC236}">
                    <a16:creationId xmlns:a16="http://schemas.microsoft.com/office/drawing/2014/main" id="{FE120B7C-09BC-476E-A226-17EF73B27892}"/>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2">
                <a:extLst>
                  <a:ext uri="{FF2B5EF4-FFF2-40B4-BE49-F238E27FC236}">
                    <a16:creationId xmlns:a16="http://schemas.microsoft.com/office/drawing/2014/main" id="{026C897F-29AD-4DAA-9808-2720C263BBE8}"/>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3">
                <a:extLst>
                  <a:ext uri="{FF2B5EF4-FFF2-40B4-BE49-F238E27FC236}">
                    <a16:creationId xmlns:a16="http://schemas.microsoft.com/office/drawing/2014/main" id="{0492CF55-BD32-49D5-8131-950423958D58}"/>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4">
                <a:extLst>
                  <a:ext uri="{FF2B5EF4-FFF2-40B4-BE49-F238E27FC236}">
                    <a16:creationId xmlns:a16="http://schemas.microsoft.com/office/drawing/2014/main" id="{9B440E57-4EE2-46A3-B99D-992B58CC5F8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5">
                <a:extLst>
                  <a:ext uri="{FF2B5EF4-FFF2-40B4-BE49-F238E27FC236}">
                    <a16:creationId xmlns:a16="http://schemas.microsoft.com/office/drawing/2014/main" id="{C36C2ADC-6F0E-4079-BA21-34673C32D911}"/>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6">
                <a:extLst>
                  <a:ext uri="{FF2B5EF4-FFF2-40B4-BE49-F238E27FC236}">
                    <a16:creationId xmlns:a16="http://schemas.microsoft.com/office/drawing/2014/main" id="{D1B387DB-4091-4ABA-A4C8-E4ECEE4B0D7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7">
                <a:extLst>
                  <a:ext uri="{FF2B5EF4-FFF2-40B4-BE49-F238E27FC236}">
                    <a16:creationId xmlns:a16="http://schemas.microsoft.com/office/drawing/2014/main" id="{388F60FD-2438-4D6B-8C59-B803356AE30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8">
                <a:extLst>
                  <a:ext uri="{FF2B5EF4-FFF2-40B4-BE49-F238E27FC236}">
                    <a16:creationId xmlns:a16="http://schemas.microsoft.com/office/drawing/2014/main" id="{34340596-AFAE-4F6A-BB50-E2206DB9ED88}"/>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9">
                <a:extLst>
                  <a:ext uri="{FF2B5EF4-FFF2-40B4-BE49-F238E27FC236}">
                    <a16:creationId xmlns:a16="http://schemas.microsoft.com/office/drawing/2014/main" id="{4FA9BC12-21B5-41CE-AAC2-80D8A6AADAF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0">
                <a:extLst>
                  <a:ext uri="{FF2B5EF4-FFF2-40B4-BE49-F238E27FC236}">
                    <a16:creationId xmlns:a16="http://schemas.microsoft.com/office/drawing/2014/main" id="{08F08137-E9B2-40A3-901E-20B785EEDAC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1">
                <a:extLst>
                  <a:ext uri="{FF2B5EF4-FFF2-40B4-BE49-F238E27FC236}">
                    <a16:creationId xmlns:a16="http://schemas.microsoft.com/office/drawing/2014/main" id="{B5654C4B-FAD9-4D92-A9FC-73A4E5EDB36E}"/>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2">
                <a:extLst>
                  <a:ext uri="{FF2B5EF4-FFF2-40B4-BE49-F238E27FC236}">
                    <a16:creationId xmlns:a16="http://schemas.microsoft.com/office/drawing/2014/main" id="{51E679DE-528E-4E1C-BB3C-9149D8702CA2}"/>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3">
                <a:extLst>
                  <a:ext uri="{FF2B5EF4-FFF2-40B4-BE49-F238E27FC236}">
                    <a16:creationId xmlns:a16="http://schemas.microsoft.com/office/drawing/2014/main" id="{BC84FFBD-F1FD-4314-A626-387C7AE576A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4">
                <a:extLst>
                  <a:ext uri="{FF2B5EF4-FFF2-40B4-BE49-F238E27FC236}">
                    <a16:creationId xmlns:a16="http://schemas.microsoft.com/office/drawing/2014/main" id="{0A2D667F-2944-4A7A-9731-535C7EDA8916}"/>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5">
                <a:extLst>
                  <a:ext uri="{FF2B5EF4-FFF2-40B4-BE49-F238E27FC236}">
                    <a16:creationId xmlns:a16="http://schemas.microsoft.com/office/drawing/2014/main" id="{CDD33567-3B0C-4461-8F41-16F59B52E23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6">
                <a:extLst>
                  <a:ext uri="{FF2B5EF4-FFF2-40B4-BE49-F238E27FC236}">
                    <a16:creationId xmlns:a16="http://schemas.microsoft.com/office/drawing/2014/main" id="{B9860431-ABED-4F79-87A2-3CE1669F5E7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7">
                <a:extLst>
                  <a:ext uri="{FF2B5EF4-FFF2-40B4-BE49-F238E27FC236}">
                    <a16:creationId xmlns:a16="http://schemas.microsoft.com/office/drawing/2014/main" id="{5084F967-5DDD-46EF-948A-59423B394F6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8">
                <a:extLst>
                  <a:ext uri="{FF2B5EF4-FFF2-40B4-BE49-F238E27FC236}">
                    <a16:creationId xmlns:a16="http://schemas.microsoft.com/office/drawing/2014/main" id="{521313D7-6443-4EFC-9925-4C84177FCEF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9">
                <a:extLst>
                  <a:ext uri="{FF2B5EF4-FFF2-40B4-BE49-F238E27FC236}">
                    <a16:creationId xmlns:a16="http://schemas.microsoft.com/office/drawing/2014/main" id="{080C6197-61C7-4AAB-9900-38CEB112849B}"/>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0">
                <a:extLst>
                  <a:ext uri="{FF2B5EF4-FFF2-40B4-BE49-F238E27FC236}">
                    <a16:creationId xmlns:a16="http://schemas.microsoft.com/office/drawing/2014/main" id="{A1740823-8089-40CC-A604-54FB7D1B5CFF}"/>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61">
                <a:extLst>
                  <a:ext uri="{FF2B5EF4-FFF2-40B4-BE49-F238E27FC236}">
                    <a16:creationId xmlns:a16="http://schemas.microsoft.com/office/drawing/2014/main" id="{B0135FE3-3C2B-4D1E-BEB9-2CF944DAFE7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2">
                <a:extLst>
                  <a:ext uri="{FF2B5EF4-FFF2-40B4-BE49-F238E27FC236}">
                    <a16:creationId xmlns:a16="http://schemas.microsoft.com/office/drawing/2014/main" id="{2A386C12-6297-45FC-8545-C7B9A9E8D80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71">
                <a:extLst>
                  <a:ext uri="{FF2B5EF4-FFF2-40B4-BE49-F238E27FC236}">
                    <a16:creationId xmlns:a16="http://schemas.microsoft.com/office/drawing/2014/main" id="{AA069BEC-D427-4F69-8F68-D0948B3B6FA2}"/>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5" name="标题 1">
            <a:extLst>
              <a:ext uri="{FF2B5EF4-FFF2-40B4-BE49-F238E27FC236}">
                <a16:creationId xmlns:a16="http://schemas.microsoft.com/office/drawing/2014/main" id="{2076BCE9-DF7E-463D-8297-74D6A40DF0B9}"/>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-3</a:t>
            </a:r>
            <a:r>
              <a:rPr lang="zh-CN" altLang="en-US" dirty="0">
                <a:latin typeface="Arial" panose="020B0604020202020204" pitchFamily="34" charset="0"/>
                <a:ea typeface="Microsoft YaHei" panose="020B0503020204020204" pitchFamily="34" charset="-122"/>
                <a:sym typeface="Arial" panose="020B0604020202020204" pitchFamily="34" charset="0"/>
              </a:rPr>
              <a:t>：西门华表</a:t>
            </a:r>
          </a:p>
        </p:txBody>
      </p:sp>
      <p:grpSp>
        <p:nvGrpSpPr>
          <p:cNvPr id="66" name="组合 65">
            <a:extLst>
              <a:ext uri="{FF2B5EF4-FFF2-40B4-BE49-F238E27FC236}">
                <a16:creationId xmlns:a16="http://schemas.microsoft.com/office/drawing/2014/main" id="{DFC14133-A207-4890-B8D5-08D8AD1C9F97}"/>
              </a:ext>
            </a:extLst>
          </p:cNvPr>
          <p:cNvGrpSpPr/>
          <p:nvPr/>
        </p:nvGrpSpPr>
        <p:grpSpPr>
          <a:xfrm>
            <a:off x="528706" y="867990"/>
            <a:ext cx="2433027" cy="0"/>
            <a:chOff x="7460343" y="1311756"/>
            <a:chExt cx="2433027" cy="0"/>
          </a:xfrm>
        </p:grpSpPr>
        <p:cxnSp>
          <p:nvCxnSpPr>
            <p:cNvPr id="67" name="直接连接符 66">
              <a:extLst>
                <a:ext uri="{FF2B5EF4-FFF2-40B4-BE49-F238E27FC236}">
                  <a16:creationId xmlns:a16="http://schemas.microsoft.com/office/drawing/2014/main" id="{E50FC05A-0D4F-4E0F-B08C-DAFB9D5FBF78}"/>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7">
              <a:extLst>
                <a:ext uri="{FF2B5EF4-FFF2-40B4-BE49-F238E27FC236}">
                  <a16:creationId xmlns:a16="http://schemas.microsoft.com/office/drawing/2014/main" id="{3A695418-4ED9-4B97-9FBF-283A277123FD}"/>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a:extLst>
              <a:ext uri="{FF2B5EF4-FFF2-40B4-BE49-F238E27FC236}">
                <a16:creationId xmlns:a16="http://schemas.microsoft.com/office/drawing/2014/main" id="{2175E2F5-ABB4-BBAA-606F-036A2A196676}"/>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 name="组合 3">
            <a:extLst>
              <a:ext uri="{FF2B5EF4-FFF2-40B4-BE49-F238E27FC236}">
                <a16:creationId xmlns:a16="http://schemas.microsoft.com/office/drawing/2014/main" id="{58E04227-24E0-1811-CC64-C670B4CBB34D}"/>
              </a:ext>
            </a:extLst>
          </p:cNvPr>
          <p:cNvGrpSpPr/>
          <p:nvPr/>
        </p:nvGrpSpPr>
        <p:grpSpPr>
          <a:xfrm>
            <a:off x="5662490" y="2862454"/>
            <a:ext cx="6120100" cy="1569660"/>
            <a:chOff x="6566813" y="2528855"/>
            <a:chExt cx="3526265" cy="1569660"/>
          </a:xfrm>
        </p:grpSpPr>
        <p:sp>
          <p:nvSpPr>
            <p:cNvPr id="5" name="文本框 4">
              <a:extLst>
                <a:ext uri="{FF2B5EF4-FFF2-40B4-BE49-F238E27FC236}">
                  <a16:creationId xmlns:a16="http://schemas.microsoft.com/office/drawing/2014/main" id="{4D4DA880-B275-F253-FF41-395F4E5A0BB3}"/>
                </a:ext>
              </a:extLst>
            </p:cNvPr>
            <p:cNvSpPr txBox="1"/>
            <p:nvPr/>
          </p:nvSpPr>
          <p:spPr>
            <a:xfrm>
              <a:off x="6566813" y="2528855"/>
              <a:ext cx="3526265" cy="156966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lang="zh-CN" altLang="en-US" sz="4800" b="1" dirty="0">
                  <a:solidFill>
                    <a:schemeClr val="accent1"/>
                  </a:solidFill>
                  <a:latin typeface="Arial" panose="020B0604020202020204" pitchFamily="34" charset="0"/>
                  <a:ea typeface="Microsoft YaHei" panose="020B0503020204020204" pitchFamily="34" charset="-122"/>
                  <a:cs typeface="+mn-ea"/>
                  <a:sym typeface="Arial" panose="020B0604020202020204" pitchFamily="34" charset="0"/>
                </a:rPr>
                <a:t>线程引入及基本概念</a:t>
              </a:r>
            </a:p>
          </p:txBody>
        </p:sp>
        <p:sp>
          <p:nvSpPr>
            <p:cNvPr id="6" name="文本框 5">
              <a:extLst>
                <a:ext uri="{FF2B5EF4-FFF2-40B4-BE49-F238E27FC236}">
                  <a16:creationId xmlns:a16="http://schemas.microsoft.com/office/drawing/2014/main" id="{3F92E572-F5A3-9B74-527F-24407FAC0753}"/>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7" name="组合 6">
            <a:extLst>
              <a:ext uri="{FF2B5EF4-FFF2-40B4-BE49-F238E27FC236}">
                <a16:creationId xmlns:a16="http://schemas.microsoft.com/office/drawing/2014/main" id="{BABCCB69-2B79-6B4A-EA6F-ADE72FB2B8CC}"/>
              </a:ext>
            </a:extLst>
          </p:cNvPr>
          <p:cNvGrpSpPr/>
          <p:nvPr/>
        </p:nvGrpSpPr>
        <p:grpSpPr>
          <a:xfrm>
            <a:off x="796575" y="2751038"/>
            <a:ext cx="3458058" cy="923330"/>
            <a:chOff x="872775" y="2487402"/>
            <a:chExt cx="3458058" cy="923330"/>
          </a:xfrm>
        </p:grpSpPr>
        <p:sp>
          <p:nvSpPr>
            <p:cNvPr id="8" name="文本框 7">
              <a:extLst>
                <a:ext uri="{FF2B5EF4-FFF2-40B4-BE49-F238E27FC236}">
                  <a16:creationId xmlns:a16="http://schemas.microsoft.com/office/drawing/2014/main" id="{77BA8AB8-9854-1ED7-85F1-E7EFF55E042D}"/>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3.3</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 name="等腰三角形 9">
              <a:extLst>
                <a:ext uri="{FF2B5EF4-FFF2-40B4-BE49-F238E27FC236}">
                  <a16:creationId xmlns:a16="http://schemas.microsoft.com/office/drawing/2014/main" id="{30C1BD37-B6E5-B237-E62B-95A6FC777BA1}"/>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426578887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标题 1">
            <a:extLst>
              <a:ext uri="{FF2B5EF4-FFF2-40B4-BE49-F238E27FC236}">
                <a16:creationId xmlns:a16="http://schemas.microsoft.com/office/drawing/2014/main" id="{8A7AAD12-B054-74B4-B2FB-22EAE0E9DA65}"/>
              </a:ext>
            </a:extLst>
          </p:cNvPr>
          <p:cNvSpPr txBox="1">
            <a:spLocks noGrp="1"/>
          </p:cNvSpPr>
          <p:nvPr>
            <p:ph type="title"/>
          </p:nvPr>
        </p:nvSpPr>
        <p:spPr>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3.3.1  </a:t>
            </a:r>
            <a:r>
              <a:rPr lang="zh-CN" altLang="en-US" dirty="0"/>
              <a:t>线程的引入</a:t>
            </a:r>
            <a:endParaRPr lang="zh-CN" altLang="zh-CN" dirty="0"/>
          </a:p>
        </p:txBody>
      </p:sp>
      <p:sp>
        <p:nvSpPr>
          <p:cNvPr id="5" name="文本框 4">
            <a:extLst>
              <a:ext uri="{FF2B5EF4-FFF2-40B4-BE49-F238E27FC236}">
                <a16:creationId xmlns:a16="http://schemas.microsoft.com/office/drawing/2014/main" id="{A92284CF-B9E4-7BF2-9416-ACC288C15CFF}"/>
              </a:ext>
            </a:extLst>
          </p:cNvPr>
          <p:cNvSpPr txBox="1"/>
          <p:nvPr/>
        </p:nvSpPr>
        <p:spPr>
          <a:xfrm>
            <a:off x="442913" y="1148809"/>
            <a:ext cx="10388600" cy="3416320"/>
          </a:xfrm>
          <a:prstGeom prst="rect">
            <a:avLst/>
          </a:prstGeom>
          <a:noFill/>
        </p:spPr>
        <p:txBody>
          <a:bodyPr wrap="square">
            <a:spAutoFit/>
          </a:bodyPr>
          <a:lstStyle/>
          <a:p>
            <a:pPr indent="304800" algn="just"/>
            <a:r>
              <a:rPr lang="zh-CN" altLang="en-US"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为何需要线程？</a:t>
            </a:r>
            <a:endPar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进程</a:t>
            </a:r>
            <a:r>
              <a:rPr lang="zh-CN" altLang="en-US" sz="2400" kern="100" dirty="0">
                <a:latin typeface="微软雅黑" panose="020B0503020204020204" pitchFamily="34" charset="-122"/>
                <a:ea typeface="微软雅黑" panose="020B0503020204020204" pitchFamily="34" charset="-122"/>
                <a:cs typeface="Times New Roman" panose="02020603050405020304" pitchFamily="18" charset="0"/>
              </a:rPr>
              <a:t>活动存在</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时间和空间的资源开销</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数目不宜太多，切换频率不宜过高</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使多个程序更好地并发执行</a:t>
            </a:r>
            <a:r>
              <a:rPr lang="zh-CN" altLang="en-US" sz="2400" kern="1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尽量减少系统的开销</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           分离</a:t>
            </a:r>
            <a:r>
              <a:rPr lang="zh-CN" altLang="en-US"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调度的基本单位</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独立分配资源的单位</a:t>
            </a:r>
            <a:endParaRPr lang="en-US"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调度和分派的基本单位</a:t>
            </a:r>
            <a:r>
              <a:rPr lang="zh-CN" altLang="en-US" sz="2400" kern="100" dirty="0">
                <a:latin typeface="微软雅黑" panose="020B0503020204020204" pitchFamily="34" charset="-122"/>
                <a:ea typeface="微软雅黑" panose="020B0503020204020204" pitchFamily="34" charset="-122"/>
                <a:cs typeface="Times New Roman" panose="02020603050405020304" pitchFamily="18" charset="0"/>
              </a:rPr>
              <a:t>不负责分配资源</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拥有资源的基本单位，不频繁地切换</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 name="箭头: 右 1">
            <a:extLst>
              <a:ext uri="{FF2B5EF4-FFF2-40B4-BE49-F238E27FC236}">
                <a16:creationId xmlns:a16="http://schemas.microsoft.com/office/drawing/2014/main" id="{E7414FF8-1F3A-411E-9707-2DBFD95930B4}"/>
              </a:ext>
            </a:extLst>
          </p:cNvPr>
          <p:cNvSpPr/>
          <p:nvPr/>
        </p:nvSpPr>
        <p:spPr>
          <a:xfrm>
            <a:off x="828675" y="3047999"/>
            <a:ext cx="914400" cy="295275"/>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8426546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标题 1">
            <a:extLst>
              <a:ext uri="{FF2B5EF4-FFF2-40B4-BE49-F238E27FC236}">
                <a16:creationId xmlns:a16="http://schemas.microsoft.com/office/drawing/2014/main" id="{8A7AAD12-B054-74B4-B2FB-22EAE0E9DA65}"/>
              </a:ext>
            </a:extLst>
          </p:cNvPr>
          <p:cNvSpPr txBox="1">
            <a:spLocks noGrp="1"/>
          </p:cNvSpPr>
          <p:nvPr>
            <p:ph type="title"/>
          </p:nvPr>
        </p:nvSpPr>
        <p:spPr>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3.3.1  </a:t>
            </a:r>
            <a:r>
              <a:rPr lang="zh-CN" altLang="en-US" dirty="0"/>
              <a:t>线程的引入</a:t>
            </a:r>
            <a:endParaRPr lang="zh-CN" altLang="zh-CN" dirty="0"/>
          </a:p>
        </p:txBody>
      </p:sp>
      <p:sp>
        <p:nvSpPr>
          <p:cNvPr id="3" name="文本框 2">
            <a:extLst>
              <a:ext uri="{FF2B5EF4-FFF2-40B4-BE49-F238E27FC236}">
                <a16:creationId xmlns:a16="http://schemas.microsoft.com/office/drawing/2014/main" id="{845A00DC-2B46-2A8A-4766-136B0BFFE8B8}"/>
              </a:ext>
            </a:extLst>
          </p:cNvPr>
          <p:cNvSpPr txBox="1"/>
          <p:nvPr/>
        </p:nvSpPr>
        <p:spPr>
          <a:xfrm>
            <a:off x="1063365" y="2062435"/>
            <a:ext cx="9056851" cy="3416320"/>
          </a:xfrm>
          <a:prstGeom prst="rect">
            <a:avLst/>
          </a:prstGeom>
          <a:noFill/>
        </p:spPr>
        <p:txBody>
          <a:bodyPr wrap="square">
            <a:spAutoFit/>
          </a:bodyPr>
          <a:lstStyle/>
          <a:p>
            <a:pPr marL="342900" lvl="0" indent="-342900" algn="just">
              <a:buFont typeface="Times New Roman" panose="02020603050405020304" pitchFamily="18" charset="0"/>
              <a:buAutoNum type="arabicPeriod"/>
            </a:pP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什么是线程</a:t>
            </a:r>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a:t>
            </a:r>
            <a:endPar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线程是进程中的一个实体，是</a:t>
            </a:r>
            <a:r>
              <a:rPr lang="en-US"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CPU</a:t>
            </a:r>
            <a:r>
              <a:rPr lang="zh-CN"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调度和分派的基本单位</a:t>
            </a:r>
            <a:endParaRPr lang="en-US" altLang="zh-CN" sz="2400" b="1" kern="100" dirty="0">
              <a:solidFill>
                <a:schemeClr val="accent1"/>
              </a:solidFill>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只拥有少量在运行中必不可少的资源</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同属一个进程的其他线程共享进程所拥有的全部资源</a:t>
            </a:r>
            <a:endPar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线程有就绪、等待和运行三种基本状态</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有的系统中线程还有终止状态等</a:t>
            </a:r>
          </a:p>
        </p:txBody>
      </p:sp>
      <p:sp>
        <p:nvSpPr>
          <p:cNvPr id="2" name="思想气泡: 云 1">
            <a:extLst>
              <a:ext uri="{FF2B5EF4-FFF2-40B4-BE49-F238E27FC236}">
                <a16:creationId xmlns:a16="http://schemas.microsoft.com/office/drawing/2014/main" id="{ACB96AC6-BA70-49A9-B896-B286A724730A}"/>
              </a:ext>
            </a:extLst>
          </p:cNvPr>
          <p:cNvSpPr/>
          <p:nvPr/>
        </p:nvSpPr>
        <p:spPr>
          <a:xfrm>
            <a:off x="3995642" y="538313"/>
            <a:ext cx="5967508" cy="1847441"/>
          </a:xfrm>
          <a:prstGeom prst="cloudCallou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solidFill>
                  <a:schemeClr val="tx1"/>
                </a:solidFill>
              </a:rPr>
              <a:t>进程执行程序，就如同工人完成工作</a:t>
            </a:r>
            <a:endParaRPr lang="en-US" altLang="zh-CN" dirty="0">
              <a:solidFill>
                <a:schemeClr val="tx1"/>
              </a:solidFill>
            </a:endParaRPr>
          </a:p>
          <a:p>
            <a:pPr algn="ctr"/>
            <a:r>
              <a:rPr lang="zh-CN" altLang="en-US" dirty="0">
                <a:solidFill>
                  <a:schemeClr val="tx1"/>
                </a:solidFill>
              </a:rPr>
              <a:t>一个进程内的多个线程同时运行，就如同多个工人共同完成一份工作</a:t>
            </a:r>
          </a:p>
        </p:txBody>
      </p:sp>
    </p:spTree>
    <p:extLst>
      <p:ext uri="{BB962C8B-B14F-4D97-AF65-F5344CB8AC3E}">
        <p14:creationId xmlns:p14="http://schemas.microsoft.com/office/powerpoint/2010/main" val="149002561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标题 1">
            <a:extLst>
              <a:ext uri="{FF2B5EF4-FFF2-40B4-BE49-F238E27FC236}">
                <a16:creationId xmlns:a16="http://schemas.microsoft.com/office/drawing/2014/main" id="{8A7AAD12-B054-74B4-B2FB-22EAE0E9DA65}"/>
              </a:ext>
            </a:extLst>
          </p:cNvPr>
          <p:cNvSpPr txBox="1">
            <a:spLocks noGrp="1"/>
          </p:cNvSpPr>
          <p:nvPr>
            <p:ph type="title"/>
          </p:nvPr>
        </p:nvSpPr>
        <p:spPr>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3.3.1  </a:t>
            </a:r>
            <a:r>
              <a:rPr lang="zh-CN" altLang="en-US" dirty="0"/>
              <a:t>线程的引入</a:t>
            </a:r>
            <a:endParaRPr lang="zh-CN" altLang="zh-CN" dirty="0"/>
          </a:p>
        </p:txBody>
      </p:sp>
      <p:sp>
        <p:nvSpPr>
          <p:cNvPr id="3" name="文本框 2">
            <a:extLst>
              <a:ext uri="{FF2B5EF4-FFF2-40B4-BE49-F238E27FC236}">
                <a16:creationId xmlns:a16="http://schemas.microsoft.com/office/drawing/2014/main" id="{845A00DC-2B46-2A8A-4766-136B0BFFE8B8}"/>
              </a:ext>
            </a:extLst>
          </p:cNvPr>
          <p:cNvSpPr txBox="1"/>
          <p:nvPr/>
        </p:nvSpPr>
        <p:spPr>
          <a:xfrm>
            <a:off x="833745" y="1476920"/>
            <a:ext cx="10524509" cy="4524315"/>
          </a:xfrm>
          <a:prstGeom prst="rect">
            <a:avLst/>
          </a:prstGeom>
          <a:noFill/>
        </p:spPr>
        <p:txBody>
          <a:bodyPr wrap="square">
            <a:spAutoFit/>
          </a:bodyPr>
          <a:lstStyle/>
          <a:p>
            <a:pPr lvl="0" algn="just"/>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2.</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线程的属性</a:t>
            </a: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1</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）惟一的标识符和一张线程描述表</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线程描述表记录了线程执行的寄存器以及栈等</a:t>
            </a:r>
            <a:r>
              <a:rPr lang="zh-CN" altLang="zh-CN" sz="2400" b="1" kern="100" dirty="0">
                <a:solidFill>
                  <a:srgbClr val="C00000"/>
                </a:solidFill>
                <a:effectLst/>
                <a:latin typeface="微软雅黑" panose="020B0503020204020204" pitchFamily="34" charset="-122"/>
                <a:ea typeface="微软雅黑" panose="020B0503020204020204" pitchFamily="34" charset="-122"/>
                <a:cs typeface="Times New Roman" panose="02020603050405020304" pitchFamily="18" charset="0"/>
              </a:rPr>
              <a:t>现场状态</a:t>
            </a:r>
            <a:endParaRPr lang="en-US" altLang="zh-CN" sz="2400" b="1" kern="100" dirty="0">
              <a:solidFill>
                <a:srgbClr val="C00000"/>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zh-CN" altLang="zh-CN" sz="2400" b="1" kern="100" dirty="0">
              <a:solidFill>
                <a:srgbClr val="C00000"/>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2</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）不同的线程可以执行相同的程序</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3</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）同一个进程中的各个线程</a:t>
            </a:r>
            <a:r>
              <a:rPr lang="zh-CN" altLang="zh-CN" sz="2400" b="1" kern="100" dirty="0">
                <a:solidFill>
                  <a:srgbClr val="C00000"/>
                </a:solidFill>
                <a:effectLst/>
                <a:latin typeface="微软雅黑" panose="020B0503020204020204" pitchFamily="34" charset="-122"/>
                <a:ea typeface="微软雅黑" panose="020B0503020204020204" pitchFamily="34" charset="-122"/>
                <a:cs typeface="Times New Roman" panose="02020603050405020304" pitchFamily="18" charset="0"/>
              </a:rPr>
              <a:t>共享</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该</a:t>
            </a:r>
            <a:r>
              <a:rPr lang="zh-CN" altLang="zh-CN" sz="2400" b="1" kern="100" dirty="0">
                <a:solidFill>
                  <a:srgbClr val="C00000"/>
                </a:solidFill>
                <a:effectLst/>
                <a:latin typeface="微软雅黑" panose="020B0503020204020204" pitchFamily="34" charset="-122"/>
                <a:ea typeface="微软雅黑" panose="020B0503020204020204" pitchFamily="34" charset="-122"/>
                <a:cs typeface="Times New Roman" panose="02020603050405020304" pitchFamily="18" charset="0"/>
              </a:rPr>
              <a:t>进程的内存地址空间</a:t>
            </a:r>
            <a:endParaRPr lang="en-US" altLang="zh-CN" sz="2400" b="1" kern="100" dirty="0">
              <a:solidFill>
                <a:srgbClr val="C00000"/>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zh-CN" altLang="zh-CN" sz="2400" b="1" kern="100" dirty="0">
              <a:solidFill>
                <a:srgbClr val="C00000"/>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4</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）线程是处理器的独立调度单位，</a:t>
            </a:r>
            <a:r>
              <a:rPr lang="zh-CN" altLang="zh-CN" sz="2400" b="1" kern="100" dirty="0">
                <a:solidFill>
                  <a:srgbClr val="C00000"/>
                </a:solidFill>
                <a:effectLst/>
                <a:latin typeface="微软雅黑" panose="020B0503020204020204" pitchFamily="34" charset="-122"/>
                <a:ea typeface="微软雅黑" panose="020B0503020204020204" pitchFamily="34" charset="-122"/>
                <a:cs typeface="Times New Roman" panose="02020603050405020304" pitchFamily="18" charset="0"/>
              </a:rPr>
              <a:t>多个线程是可以并发执行</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的</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5</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）线程在生命周期内会经历等待状态、就绪态和运行态等各种状态变化</a:t>
            </a:r>
          </a:p>
        </p:txBody>
      </p:sp>
      <p:sp>
        <p:nvSpPr>
          <p:cNvPr id="2" name="对话气泡: 椭圆形 1">
            <a:extLst>
              <a:ext uri="{FF2B5EF4-FFF2-40B4-BE49-F238E27FC236}">
                <a16:creationId xmlns:a16="http://schemas.microsoft.com/office/drawing/2014/main" id="{9BDD9705-9214-496B-8517-615E627252D3}"/>
              </a:ext>
            </a:extLst>
          </p:cNvPr>
          <p:cNvSpPr/>
          <p:nvPr/>
        </p:nvSpPr>
        <p:spPr>
          <a:xfrm>
            <a:off x="9201150" y="2998765"/>
            <a:ext cx="2909791" cy="1480623"/>
          </a:xfrm>
          <a:prstGeom prst="wedgeEllipseCallou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solidFill>
                  <a:schemeClr val="tx1"/>
                </a:solidFill>
              </a:rPr>
              <a:t>每个线程单独占有</a:t>
            </a:r>
            <a:r>
              <a:rPr lang="en-US" altLang="zh-CN" dirty="0">
                <a:solidFill>
                  <a:schemeClr val="tx1"/>
                </a:solidFill>
              </a:rPr>
              <a:t>CPU</a:t>
            </a:r>
            <a:r>
              <a:rPr lang="zh-CN" altLang="en-US" dirty="0">
                <a:solidFill>
                  <a:schemeClr val="tx1"/>
                </a:solidFill>
              </a:rPr>
              <a:t>资源，只有在多核</a:t>
            </a:r>
            <a:r>
              <a:rPr lang="en-US" altLang="zh-CN" dirty="0">
                <a:solidFill>
                  <a:schemeClr val="tx1"/>
                </a:solidFill>
              </a:rPr>
              <a:t>CPU</a:t>
            </a:r>
            <a:r>
              <a:rPr lang="zh-CN" altLang="en-US" dirty="0">
                <a:solidFill>
                  <a:schemeClr val="tx1"/>
                </a:solidFill>
              </a:rPr>
              <a:t>上，多线程才可能并行执行</a:t>
            </a:r>
          </a:p>
        </p:txBody>
      </p:sp>
    </p:spTree>
    <p:extLst>
      <p:ext uri="{BB962C8B-B14F-4D97-AF65-F5344CB8AC3E}">
        <p14:creationId xmlns:p14="http://schemas.microsoft.com/office/powerpoint/2010/main" val="249167357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标题 1">
            <a:extLst>
              <a:ext uri="{FF2B5EF4-FFF2-40B4-BE49-F238E27FC236}">
                <a16:creationId xmlns:a16="http://schemas.microsoft.com/office/drawing/2014/main" id="{8A7AAD12-B054-74B4-B2FB-22EAE0E9DA65}"/>
              </a:ext>
            </a:extLst>
          </p:cNvPr>
          <p:cNvSpPr txBox="1">
            <a:spLocks noGrp="1"/>
          </p:cNvSpPr>
          <p:nvPr>
            <p:ph type="title"/>
          </p:nvPr>
        </p:nvSpPr>
        <p:spPr>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3.3.1  </a:t>
            </a:r>
            <a:r>
              <a:rPr lang="zh-CN" altLang="en-US" dirty="0"/>
              <a:t>线程的引入</a:t>
            </a:r>
            <a:endParaRPr lang="zh-CN" altLang="zh-CN" dirty="0"/>
          </a:p>
        </p:txBody>
      </p:sp>
      <p:sp>
        <p:nvSpPr>
          <p:cNvPr id="5" name="文本框 4">
            <a:extLst>
              <a:ext uri="{FF2B5EF4-FFF2-40B4-BE49-F238E27FC236}">
                <a16:creationId xmlns:a16="http://schemas.microsoft.com/office/drawing/2014/main" id="{CC58AF9F-7788-2765-D916-788F08F7BEB0}"/>
              </a:ext>
            </a:extLst>
          </p:cNvPr>
          <p:cNvSpPr txBox="1"/>
          <p:nvPr/>
        </p:nvSpPr>
        <p:spPr>
          <a:xfrm>
            <a:off x="561975" y="1351508"/>
            <a:ext cx="11068050" cy="3785652"/>
          </a:xfrm>
          <a:prstGeom prst="rect">
            <a:avLst/>
          </a:prstGeom>
          <a:noFill/>
        </p:spPr>
        <p:txBody>
          <a:bodyPr wrap="square">
            <a:spAutoFit/>
          </a:bodyPr>
          <a:lstStyle/>
          <a:p>
            <a:pPr algn="just"/>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3</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．引入线程的好处</a:t>
            </a:r>
            <a:endPar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algn="just"/>
            <a:endPar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1</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）创建一个新线程花费时间少</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创建线程的速度比创建进程的速度快</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，且系统的开销也少</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2</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）线程之间的切换花费时间少</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3</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）同一个进程内的线程共享内存和文件，</a:t>
            </a:r>
            <a:r>
              <a:rPr lang="zh-CN"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rPr>
              <a:t>通信更简便，信息传送速度也快</a:t>
            </a:r>
            <a:endParaRPr lang="en-US"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zh-CN" altLang="zh-CN" sz="2400" b="1" kern="100" dirty="0">
              <a:solidFill>
                <a:schemeClr val="accent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4</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）线程能独立执行，充分利用和发挥处理器与外部设备并行工作能力</a:t>
            </a:r>
          </a:p>
        </p:txBody>
      </p:sp>
    </p:spTree>
    <p:extLst>
      <p:ext uri="{BB962C8B-B14F-4D97-AF65-F5344CB8AC3E}">
        <p14:creationId xmlns:p14="http://schemas.microsoft.com/office/powerpoint/2010/main" val="161922032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标题 1">
            <a:extLst>
              <a:ext uri="{FF2B5EF4-FFF2-40B4-BE49-F238E27FC236}">
                <a16:creationId xmlns:a16="http://schemas.microsoft.com/office/drawing/2014/main" id="{8A7AAD12-B054-74B4-B2FB-22EAE0E9DA65}"/>
              </a:ext>
            </a:extLst>
          </p:cNvPr>
          <p:cNvSpPr txBox="1">
            <a:spLocks noGrp="1"/>
          </p:cNvSpPr>
          <p:nvPr>
            <p:ph type="title"/>
          </p:nvPr>
        </p:nvSpPr>
        <p:spPr>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3.3.2 </a:t>
            </a:r>
            <a:r>
              <a:rPr lang="zh-CN" altLang="en-US" dirty="0"/>
              <a:t> </a:t>
            </a:r>
            <a:r>
              <a:rPr lang="en-US" altLang="zh-CN" dirty="0"/>
              <a:t> </a:t>
            </a:r>
            <a:r>
              <a:rPr lang="zh-CN" altLang="en-US" dirty="0"/>
              <a:t>线程的组成</a:t>
            </a:r>
            <a:endParaRPr lang="zh-CN" altLang="zh-CN" dirty="0"/>
          </a:p>
        </p:txBody>
      </p:sp>
      <p:sp>
        <p:nvSpPr>
          <p:cNvPr id="3" name="文本框 2">
            <a:extLst>
              <a:ext uri="{FF2B5EF4-FFF2-40B4-BE49-F238E27FC236}">
                <a16:creationId xmlns:a16="http://schemas.microsoft.com/office/drawing/2014/main" id="{4ED0540A-C60E-DFAE-B6D0-6BCFDF129FBE}"/>
              </a:ext>
            </a:extLst>
          </p:cNvPr>
          <p:cNvSpPr txBox="1"/>
          <p:nvPr/>
        </p:nvSpPr>
        <p:spPr>
          <a:xfrm>
            <a:off x="0" y="1119217"/>
            <a:ext cx="8682037" cy="4524315"/>
          </a:xfrm>
          <a:prstGeom prst="rect">
            <a:avLst/>
          </a:prstGeom>
          <a:noFill/>
        </p:spPr>
        <p:txBody>
          <a:bodyPr wrap="square">
            <a:spAutoFit/>
          </a:bodyPr>
          <a:lstStyle/>
          <a:p>
            <a:pPr indent="266700" algn="just"/>
            <a:r>
              <a:rPr lang="en-US"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thread</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结构</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，即</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线程控制块</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，由以下四个基本部分组成</a:t>
            </a:r>
            <a:r>
              <a:rPr lang="zh-CN" altLang="en-US" sz="2400" kern="100" dirty="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266700" algn="just"/>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lvl="1" algn="just"/>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①</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一个唯一的</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线程标识符</a:t>
            </a:r>
            <a:endParaRPr lang="en-US"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marL="342900" lvl="0" indent="-342900" algn="just">
              <a:buFont typeface="+mj-ea"/>
              <a:buAutoNum type="circleNumDbPlain"/>
            </a:pPr>
            <a:endPar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lvl="1" algn="just"/>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②</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描述处理器工作情况的</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一组寄存器</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的内容</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lvl="1" algn="just"/>
            <a:r>
              <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如程序计数器、状态寄存器、通用寄存器等</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lvl="2" algn="just"/>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lvl="1" algn="just"/>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③</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两个</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栈指针</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lvl="1"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一个指向核心栈；另一个指向用户栈</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marL="342900" lvl="0" indent="-342900" algn="just">
              <a:buFont typeface="+mj-ea"/>
              <a:buAutoNum type="circleNumDbPlain"/>
            </a:pP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lvl="1" algn="just"/>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④</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一个</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私有存储区</a:t>
            </a:r>
            <a:endParaRPr lang="en-US" altLang="zh-CN" sz="2400" b="1"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endParaRPr>
          </a:p>
          <a:p>
            <a:pPr lvl="1" algn="just"/>
            <a:r>
              <a:rPr lang="en-US"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用来存放现场保护信息和其他与该线程相关的统计信息等</a:t>
            </a:r>
          </a:p>
        </p:txBody>
      </p:sp>
      <p:pic>
        <p:nvPicPr>
          <p:cNvPr id="5" name="图片 4">
            <a:extLst>
              <a:ext uri="{FF2B5EF4-FFF2-40B4-BE49-F238E27FC236}">
                <a16:creationId xmlns:a16="http://schemas.microsoft.com/office/drawing/2014/main" id="{C5DD14C3-E78A-44C2-9AC7-73883BF8AE90}"/>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77038" y="2380106"/>
            <a:ext cx="5414962" cy="2097788"/>
          </a:xfrm>
          <a:prstGeom prst="rect">
            <a:avLst/>
          </a:prstGeom>
          <a:noFill/>
          <a:ln>
            <a:noFill/>
          </a:ln>
        </p:spPr>
      </p:pic>
    </p:spTree>
    <p:extLst>
      <p:ext uri="{BB962C8B-B14F-4D97-AF65-F5344CB8AC3E}">
        <p14:creationId xmlns:p14="http://schemas.microsoft.com/office/powerpoint/2010/main" val="146921772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标题 1">
            <a:extLst>
              <a:ext uri="{FF2B5EF4-FFF2-40B4-BE49-F238E27FC236}">
                <a16:creationId xmlns:a16="http://schemas.microsoft.com/office/drawing/2014/main" id="{8A7AAD12-B054-74B4-B2FB-22EAE0E9DA65}"/>
              </a:ext>
            </a:extLst>
          </p:cNvPr>
          <p:cNvSpPr txBox="1">
            <a:spLocks noGrp="1"/>
          </p:cNvSpPr>
          <p:nvPr>
            <p:ph type="title"/>
          </p:nvPr>
        </p:nvSpPr>
        <p:spPr>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3.3.2 </a:t>
            </a:r>
            <a:r>
              <a:rPr lang="zh-CN" altLang="en-US" dirty="0"/>
              <a:t> </a:t>
            </a:r>
            <a:r>
              <a:rPr lang="en-US" altLang="zh-CN" dirty="0"/>
              <a:t> </a:t>
            </a:r>
            <a:r>
              <a:rPr lang="zh-CN" altLang="en-US" dirty="0"/>
              <a:t>线程的组成</a:t>
            </a:r>
            <a:endParaRPr lang="zh-CN" altLang="zh-CN" dirty="0"/>
          </a:p>
        </p:txBody>
      </p:sp>
      <p:pic>
        <p:nvPicPr>
          <p:cNvPr id="8" name="图片 7">
            <a:extLst>
              <a:ext uri="{FF2B5EF4-FFF2-40B4-BE49-F238E27FC236}">
                <a16:creationId xmlns:a16="http://schemas.microsoft.com/office/drawing/2014/main" id="{85CBF51B-DC25-CBE4-C496-A53568D7CA87}"/>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03557" y="2494099"/>
            <a:ext cx="7353593" cy="3900253"/>
          </a:xfrm>
          <a:prstGeom prst="rect">
            <a:avLst/>
          </a:prstGeom>
          <a:noFill/>
          <a:ln>
            <a:noFill/>
          </a:ln>
        </p:spPr>
      </p:pic>
      <p:sp>
        <p:nvSpPr>
          <p:cNvPr id="13" name="文本框 12">
            <a:extLst>
              <a:ext uri="{FF2B5EF4-FFF2-40B4-BE49-F238E27FC236}">
                <a16:creationId xmlns:a16="http://schemas.microsoft.com/office/drawing/2014/main" id="{9A092B8F-22F9-30E2-93CB-F1BA98D4BB43}"/>
              </a:ext>
            </a:extLst>
          </p:cNvPr>
          <p:cNvSpPr txBox="1"/>
          <p:nvPr/>
        </p:nvSpPr>
        <p:spPr>
          <a:xfrm>
            <a:off x="838564" y="924440"/>
            <a:ext cx="10133869" cy="1569660"/>
          </a:xfrm>
          <a:prstGeom prst="rect">
            <a:avLst/>
          </a:prstGeom>
          <a:noFill/>
        </p:spPr>
        <p:txBody>
          <a:bodyPr wrap="square">
            <a:spAutoFit/>
          </a:bodyPr>
          <a:lstStyle/>
          <a:p>
            <a:pPr indent="2667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一个进程可以包含一个线程或多个线程</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266700"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2667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当一个进程包含多个线程时，</a:t>
            </a:r>
            <a:r>
              <a:rPr lang="zh-CN" altLang="zh-CN" sz="24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这些线程除各自私有少量资源以外，</a:t>
            </a:r>
            <a:endParaRPr lang="en-US" altLang="zh-CN" sz="24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266700" algn="just"/>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共享所属进程的全部资源</a:t>
            </a:r>
          </a:p>
        </p:txBody>
      </p:sp>
    </p:spTree>
    <p:extLst>
      <p:ext uri="{BB962C8B-B14F-4D97-AF65-F5344CB8AC3E}">
        <p14:creationId xmlns:p14="http://schemas.microsoft.com/office/powerpoint/2010/main" val="101642234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标题 1">
            <a:extLst>
              <a:ext uri="{FF2B5EF4-FFF2-40B4-BE49-F238E27FC236}">
                <a16:creationId xmlns:a16="http://schemas.microsoft.com/office/drawing/2014/main" id="{8A7AAD12-B054-74B4-B2FB-22EAE0E9DA65}"/>
              </a:ext>
            </a:extLst>
          </p:cNvPr>
          <p:cNvSpPr txBox="1">
            <a:spLocks noGrp="1"/>
          </p:cNvSpPr>
          <p:nvPr>
            <p:ph type="title"/>
          </p:nvPr>
        </p:nvSpPr>
        <p:spPr>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3.3.3 </a:t>
            </a:r>
            <a:r>
              <a:rPr lang="zh-CN" altLang="en-US" dirty="0"/>
              <a:t> </a:t>
            </a:r>
            <a:r>
              <a:rPr lang="en-US" altLang="zh-CN" dirty="0"/>
              <a:t> </a:t>
            </a:r>
            <a:r>
              <a:rPr lang="zh-CN" altLang="en-US" dirty="0"/>
              <a:t>线程与进程的关系</a:t>
            </a:r>
            <a:endParaRPr lang="zh-CN" altLang="zh-CN" dirty="0"/>
          </a:p>
        </p:txBody>
      </p:sp>
      <p:sp>
        <p:nvSpPr>
          <p:cNvPr id="6" name="文本框 5">
            <a:extLst>
              <a:ext uri="{FF2B5EF4-FFF2-40B4-BE49-F238E27FC236}">
                <a16:creationId xmlns:a16="http://schemas.microsoft.com/office/drawing/2014/main" id="{29CB8AFA-FA56-9639-FB7D-B4C0407E5D10}"/>
              </a:ext>
            </a:extLst>
          </p:cNvPr>
          <p:cNvSpPr txBox="1"/>
          <p:nvPr/>
        </p:nvSpPr>
        <p:spPr>
          <a:xfrm>
            <a:off x="1098113" y="1135547"/>
            <a:ext cx="5478395" cy="1938992"/>
          </a:xfrm>
          <a:prstGeom prst="rect">
            <a:avLst/>
          </a:prstGeom>
          <a:noFill/>
        </p:spPr>
        <p:txBody>
          <a:bodyPr wrap="square">
            <a:spAutoFit/>
          </a:bodyPr>
          <a:lstStyle/>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线程又称为</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轻量级进程或者进程元</a:t>
            </a:r>
            <a:endParaRPr lang="en-US"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b="1" kern="1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传统的进程称为重量级进程</a:t>
            </a:r>
            <a:endParaRPr lang="en-US"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通常一个进程都有若干个线程</a:t>
            </a:r>
          </a:p>
        </p:txBody>
      </p:sp>
      <p:sp>
        <p:nvSpPr>
          <p:cNvPr id="5" name="文本框 4">
            <a:extLst>
              <a:ext uri="{FF2B5EF4-FFF2-40B4-BE49-F238E27FC236}">
                <a16:creationId xmlns:a16="http://schemas.microsoft.com/office/drawing/2014/main" id="{B9B97048-6295-4DC4-8D0F-D8E0B81516EC}"/>
              </a:ext>
            </a:extLst>
          </p:cNvPr>
          <p:cNvSpPr txBox="1"/>
          <p:nvPr/>
        </p:nvSpPr>
        <p:spPr>
          <a:xfrm>
            <a:off x="1098113" y="3349000"/>
            <a:ext cx="9995774" cy="2677656"/>
          </a:xfrm>
          <a:prstGeom prst="rect">
            <a:avLst/>
          </a:prstGeom>
          <a:noFill/>
        </p:spPr>
        <p:txBody>
          <a:bodyPr wrap="square">
            <a:spAutoFit/>
          </a:bodyPr>
          <a:lstStyle/>
          <a:p>
            <a:pPr marL="342900" lvl="0" indent="-342900" algn="just">
              <a:buFont typeface="Times New Roman" panose="02020603050405020304" pitchFamily="18" charset="0"/>
              <a:buAutoNum type="arabicPeriod"/>
            </a:pP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调度</a:t>
            </a: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传统的操作系统中</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拥有资源的基本单位和独立调度、分派的基本单位都是进程</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引入线程的操作系统中</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线程作为调度和分派的基本单位，进程作为资源拥有的基本单位</a:t>
            </a:r>
          </a:p>
        </p:txBody>
      </p:sp>
    </p:spTree>
    <p:extLst>
      <p:ext uri="{BB962C8B-B14F-4D97-AF65-F5344CB8AC3E}">
        <p14:creationId xmlns:p14="http://schemas.microsoft.com/office/powerpoint/2010/main" val="35039370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标题 1">
            <a:extLst>
              <a:ext uri="{FF2B5EF4-FFF2-40B4-BE49-F238E27FC236}">
                <a16:creationId xmlns:a16="http://schemas.microsoft.com/office/drawing/2014/main" id="{8A7AAD12-B054-74B4-B2FB-22EAE0E9DA65}"/>
              </a:ext>
            </a:extLst>
          </p:cNvPr>
          <p:cNvSpPr txBox="1">
            <a:spLocks noGrp="1"/>
          </p:cNvSpPr>
          <p:nvPr>
            <p:ph type="title"/>
          </p:nvPr>
        </p:nvSpPr>
        <p:spPr>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3.3.3 </a:t>
            </a:r>
            <a:r>
              <a:rPr lang="zh-CN" altLang="en-US" dirty="0"/>
              <a:t> </a:t>
            </a:r>
            <a:r>
              <a:rPr lang="en-US" altLang="zh-CN" dirty="0"/>
              <a:t> </a:t>
            </a:r>
            <a:r>
              <a:rPr lang="zh-CN" altLang="en-US" dirty="0"/>
              <a:t>线程与进程的关系</a:t>
            </a:r>
            <a:endParaRPr lang="zh-CN" altLang="zh-CN" dirty="0"/>
          </a:p>
        </p:txBody>
      </p:sp>
      <p:sp>
        <p:nvSpPr>
          <p:cNvPr id="3" name="文本框 2">
            <a:extLst>
              <a:ext uri="{FF2B5EF4-FFF2-40B4-BE49-F238E27FC236}">
                <a16:creationId xmlns:a16="http://schemas.microsoft.com/office/drawing/2014/main" id="{1AE77535-7259-A2BD-CA9E-87C8549A08B7}"/>
              </a:ext>
            </a:extLst>
          </p:cNvPr>
          <p:cNvSpPr txBox="1"/>
          <p:nvPr/>
        </p:nvSpPr>
        <p:spPr>
          <a:xfrm>
            <a:off x="1243551" y="1240833"/>
            <a:ext cx="8781415" cy="1938992"/>
          </a:xfrm>
          <a:prstGeom prst="rect">
            <a:avLst/>
          </a:prstGeom>
          <a:noFill/>
        </p:spPr>
        <p:txBody>
          <a:bodyPr wrap="square">
            <a:spAutoFit/>
          </a:bodyPr>
          <a:lstStyle/>
          <a:p>
            <a:pPr lvl="0" algn="just"/>
            <a:r>
              <a:rPr lang="en-US" altLang="zh-CN" sz="2400"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rPr>
              <a:t>2.  </a:t>
            </a:r>
            <a:r>
              <a:rPr lang="zh-CN" altLang="zh-CN" sz="2400"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rPr>
              <a:t>并发性</a:t>
            </a:r>
          </a:p>
          <a:p>
            <a:pPr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algn="just"/>
            <a:r>
              <a:rPr lang="zh-CN" altLang="zh-CN" sz="2400" kern="100" dirty="0">
                <a:latin typeface="微软雅黑" panose="020B0503020204020204" pitchFamily="34" charset="-122"/>
                <a:ea typeface="微软雅黑" panose="020B0503020204020204" pitchFamily="34" charset="-122"/>
                <a:cs typeface="Times New Roman" panose="02020603050405020304" pitchFamily="18" charset="0"/>
              </a:rPr>
              <a:t>引入线程的操作系统中</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algn="just"/>
            <a:r>
              <a:rPr lang="zh-CN" altLang="zh-CN" sz="2400" kern="100" dirty="0">
                <a:latin typeface="微软雅黑" panose="020B0503020204020204" pitchFamily="34" charset="-122"/>
                <a:ea typeface="微软雅黑" panose="020B0503020204020204" pitchFamily="34" charset="-122"/>
                <a:cs typeface="Times New Roman" panose="02020603050405020304" pitchFamily="18" charset="0"/>
              </a:rPr>
              <a:t>不仅进程之间可以并发执行</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algn="just"/>
            <a:r>
              <a:rPr lang="zh-CN" altLang="zh-CN" sz="2400" kern="100" dirty="0">
                <a:latin typeface="微软雅黑" panose="020B0503020204020204" pitchFamily="34" charset="-122"/>
                <a:ea typeface="微软雅黑" panose="020B0503020204020204" pitchFamily="34" charset="-122"/>
                <a:cs typeface="Times New Roman" panose="02020603050405020304" pitchFamily="18" charset="0"/>
              </a:rPr>
              <a:t>一个进程中的多个线程之间也可以并发执行</a:t>
            </a:r>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5" name="文本框 4">
            <a:extLst>
              <a:ext uri="{FF2B5EF4-FFF2-40B4-BE49-F238E27FC236}">
                <a16:creationId xmlns:a16="http://schemas.microsoft.com/office/drawing/2014/main" id="{01C6F2F3-C187-4A24-A046-C8395813BB27}"/>
              </a:ext>
            </a:extLst>
          </p:cNvPr>
          <p:cNvSpPr txBox="1"/>
          <p:nvPr/>
        </p:nvSpPr>
        <p:spPr>
          <a:xfrm>
            <a:off x="1243551" y="3678176"/>
            <a:ext cx="8781415" cy="1569660"/>
          </a:xfrm>
          <a:prstGeom prst="rect">
            <a:avLst/>
          </a:prstGeom>
          <a:noFill/>
        </p:spPr>
        <p:txBody>
          <a:bodyPr wrap="square">
            <a:spAutoFit/>
          </a:bodyPr>
          <a:lstStyle/>
          <a:p>
            <a:pPr marL="342900" lvl="0" indent="-342900" algn="just">
              <a:buAutoNum type="arabicPeriod" startAt="3"/>
            </a:pP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拥有资源</a:t>
            </a:r>
            <a:endPar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lvl="0" algn="just"/>
            <a:endParaRPr lang="en-US" altLang="zh-CN" sz="2400"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endParaRPr>
          </a:p>
          <a:p>
            <a:pPr lvl="0" algn="just"/>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不论是</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传统的操作系统</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，还</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有线程的操作系统</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lvl="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进程都是拥有资源的一个独立单位</a:t>
            </a:r>
          </a:p>
        </p:txBody>
      </p:sp>
    </p:spTree>
    <p:extLst>
      <p:ext uri="{BB962C8B-B14F-4D97-AF65-F5344CB8AC3E}">
        <p14:creationId xmlns:p14="http://schemas.microsoft.com/office/powerpoint/2010/main" val="428316872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标题 1">
            <a:extLst>
              <a:ext uri="{FF2B5EF4-FFF2-40B4-BE49-F238E27FC236}">
                <a16:creationId xmlns:a16="http://schemas.microsoft.com/office/drawing/2014/main" id="{8A7AAD12-B054-74B4-B2FB-22EAE0E9DA65}"/>
              </a:ext>
            </a:extLst>
          </p:cNvPr>
          <p:cNvSpPr txBox="1">
            <a:spLocks noGrp="1"/>
          </p:cNvSpPr>
          <p:nvPr>
            <p:ph type="title"/>
          </p:nvPr>
        </p:nvSpPr>
        <p:spPr>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3.3.3 </a:t>
            </a:r>
            <a:r>
              <a:rPr lang="zh-CN" altLang="en-US" dirty="0"/>
              <a:t> </a:t>
            </a:r>
            <a:r>
              <a:rPr lang="en-US" altLang="zh-CN" dirty="0"/>
              <a:t> </a:t>
            </a:r>
            <a:r>
              <a:rPr lang="zh-CN" altLang="en-US" dirty="0"/>
              <a:t>线程与进程的关系</a:t>
            </a:r>
            <a:endParaRPr lang="zh-CN" altLang="zh-CN" dirty="0"/>
          </a:p>
        </p:txBody>
      </p:sp>
      <p:sp>
        <p:nvSpPr>
          <p:cNvPr id="5" name="文本框 4">
            <a:extLst>
              <a:ext uri="{FF2B5EF4-FFF2-40B4-BE49-F238E27FC236}">
                <a16:creationId xmlns:a16="http://schemas.microsoft.com/office/drawing/2014/main" id="{C3784CDD-3B9D-4991-A8A9-502B44123E32}"/>
              </a:ext>
            </a:extLst>
          </p:cNvPr>
          <p:cNvSpPr txBox="1"/>
          <p:nvPr/>
        </p:nvSpPr>
        <p:spPr>
          <a:xfrm>
            <a:off x="838200" y="1734894"/>
            <a:ext cx="10297160" cy="3046988"/>
          </a:xfrm>
          <a:prstGeom prst="rect">
            <a:avLst/>
          </a:prstGeom>
          <a:noFill/>
        </p:spPr>
        <p:txBody>
          <a:bodyPr wrap="square">
            <a:spAutoFit/>
          </a:bodyPr>
          <a:lstStyle/>
          <a:p>
            <a:pPr lvl="0" algn="just"/>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4.</a:t>
            </a:r>
            <a:r>
              <a:rPr lang="zh-CN" altLang="en-US"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系统开销</a:t>
            </a: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在创建或撤消进程时，</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操作系统所付出的开销将显著地大于在创建或撤消线程时的开销</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进程切换的开销远大于线程切换的开销</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同一进程中的多个线程具有相同的地址空间，同步和通信的实现比较容易</a:t>
            </a:r>
          </a:p>
        </p:txBody>
      </p:sp>
    </p:spTree>
    <p:extLst>
      <p:ext uri="{BB962C8B-B14F-4D97-AF65-F5344CB8AC3E}">
        <p14:creationId xmlns:p14="http://schemas.microsoft.com/office/powerpoint/2010/main" val="31835848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358D2FA9-9473-4EAF-991B-548E788A84D5}"/>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7" name="标题 1">
            <a:extLst>
              <a:ext uri="{FF2B5EF4-FFF2-40B4-BE49-F238E27FC236}">
                <a16:creationId xmlns:a16="http://schemas.microsoft.com/office/drawing/2014/main" id="{8A7AAD12-B054-74B4-B2FB-22EAE0E9DA65}"/>
              </a:ext>
            </a:extLst>
          </p:cNvPr>
          <p:cNvSpPr txBox="1">
            <a:spLocks noGrp="1"/>
          </p:cNvSpPr>
          <p:nvPr>
            <p:ph type="title"/>
          </p:nvPr>
        </p:nvSpPr>
        <p:spPr>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3.3.3 </a:t>
            </a:r>
            <a:r>
              <a:rPr lang="zh-CN" altLang="en-US" dirty="0"/>
              <a:t> </a:t>
            </a:r>
            <a:r>
              <a:rPr lang="en-US" altLang="zh-CN" dirty="0"/>
              <a:t> </a:t>
            </a:r>
            <a:r>
              <a:rPr lang="zh-CN" altLang="en-US" dirty="0"/>
              <a:t>线程与进程的关系</a:t>
            </a:r>
            <a:endParaRPr lang="zh-CN" altLang="zh-CN" dirty="0"/>
          </a:p>
        </p:txBody>
      </p:sp>
      <p:graphicFrame>
        <p:nvGraphicFramePr>
          <p:cNvPr id="2" name="表格 2">
            <a:extLst>
              <a:ext uri="{FF2B5EF4-FFF2-40B4-BE49-F238E27FC236}">
                <a16:creationId xmlns:a16="http://schemas.microsoft.com/office/drawing/2014/main" id="{DDCF21A4-B1FE-4E25-B343-410D3B8625A3}"/>
              </a:ext>
            </a:extLst>
          </p:cNvPr>
          <p:cNvGraphicFramePr>
            <a:graphicFrameLocks noGrp="1"/>
          </p:cNvGraphicFramePr>
          <p:nvPr>
            <p:extLst>
              <p:ext uri="{D42A27DB-BD31-4B8C-83A1-F6EECF244321}">
                <p14:modId xmlns:p14="http://schemas.microsoft.com/office/powerpoint/2010/main" val="973143741"/>
              </p:ext>
            </p:extLst>
          </p:nvPr>
        </p:nvGraphicFramePr>
        <p:xfrm>
          <a:off x="904875" y="1524000"/>
          <a:ext cx="9658350" cy="2792304"/>
        </p:xfrm>
        <a:graphic>
          <a:graphicData uri="http://schemas.openxmlformats.org/drawingml/2006/table">
            <a:tbl>
              <a:tblPr firstRow="1" bandRow="1">
                <a:tableStyleId>{5C22544A-7EE6-4342-B048-85BDC9FD1C3A}</a:tableStyleId>
              </a:tblPr>
              <a:tblGrid>
                <a:gridCol w="2834216">
                  <a:extLst>
                    <a:ext uri="{9D8B030D-6E8A-4147-A177-3AD203B41FA5}">
                      <a16:colId xmlns:a16="http://schemas.microsoft.com/office/drawing/2014/main" val="1912106097"/>
                    </a:ext>
                  </a:extLst>
                </a:gridCol>
                <a:gridCol w="3347509">
                  <a:extLst>
                    <a:ext uri="{9D8B030D-6E8A-4147-A177-3AD203B41FA5}">
                      <a16:colId xmlns:a16="http://schemas.microsoft.com/office/drawing/2014/main" val="269176443"/>
                    </a:ext>
                  </a:extLst>
                </a:gridCol>
                <a:gridCol w="3476625">
                  <a:extLst>
                    <a:ext uri="{9D8B030D-6E8A-4147-A177-3AD203B41FA5}">
                      <a16:colId xmlns:a16="http://schemas.microsoft.com/office/drawing/2014/main" val="577174924"/>
                    </a:ext>
                  </a:extLst>
                </a:gridCol>
              </a:tblGrid>
              <a:tr h="465384">
                <a:tc>
                  <a:txBody>
                    <a:bodyPr/>
                    <a:lstStyle/>
                    <a:p>
                      <a:pPr algn="ctr"/>
                      <a:r>
                        <a:rPr lang="zh-CN" altLang="en-US" sz="2400" dirty="0"/>
                        <a:t>比较概念</a:t>
                      </a:r>
                    </a:p>
                  </a:txBody>
                  <a:tcPr/>
                </a:tc>
                <a:tc>
                  <a:txBody>
                    <a:bodyPr/>
                    <a:lstStyle/>
                    <a:p>
                      <a:pPr algn="ctr"/>
                      <a:r>
                        <a:rPr lang="zh-CN" altLang="en-US" sz="2400" dirty="0"/>
                        <a:t>线  程</a:t>
                      </a:r>
                    </a:p>
                  </a:txBody>
                  <a:tcPr/>
                </a:tc>
                <a:tc>
                  <a:txBody>
                    <a:bodyPr/>
                    <a:lstStyle/>
                    <a:p>
                      <a:pPr algn="ctr"/>
                      <a:r>
                        <a:rPr lang="zh-CN" altLang="en-US" sz="2400" dirty="0"/>
                        <a:t>进  程</a:t>
                      </a:r>
                    </a:p>
                  </a:txBody>
                  <a:tcPr/>
                </a:tc>
                <a:extLst>
                  <a:ext uri="{0D108BD9-81ED-4DB2-BD59-A6C34878D82A}">
                    <a16:rowId xmlns:a16="http://schemas.microsoft.com/office/drawing/2014/main" val="1062094286"/>
                  </a:ext>
                </a:extLst>
              </a:tr>
              <a:tr h="465384">
                <a:tc>
                  <a:txBody>
                    <a:bodyPr/>
                    <a:lstStyle/>
                    <a:p>
                      <a:pPr algn="ctr"/>
                      <a:r>
                        <a:rPr lang="zh-CN" altLang="en-US" sz="2000" dirty="0"/>
                        <a:t>基本功能</a:t>
                      </a:r>
                    </a:p>
                  </a:txBody>
                  <a:tcPr/>
                </a:tc>
                <a:tc>
                  <a:txBody>
                    <a:bodyPr/>
                    <a:lstStyle/>
                    <a:p>
                      <a:pPr algn="ctr"/>
                      <a:r>
                        <a:rPr lang="zh-CN" altLang="en-US" sz="2000" dirty="0"/>
                        <a:t>调度的基本单位</a:t>
                      </a:r>
                    </a:p>
                  </a:txBody>
                  <a:tcPr/>
                </a:tc>
                <a:tc>
                  <a:txBody>
                    <a:bodyPr/>
                    <a:lstStyle/>
                    <a:p>
                      <a:pPr algn="ctr"/>
                      <a:r>
                        <a:rPr lang="zh-CN" altLang="en-US" sz="2000" dirty="0"/>
                        <a:t>资源分配的基本单位</a:t>
                      </a:r>
                    </a:p>
                  </a:txBody>
                  <a:tcPr/>
                </a:tc>
                <a:extLst>
                  <a:ext uri="{0D108BD9-81ED-4DB2-BD59-A6C34878D82A}">
                    <a16:rowId xmlns:a16="http://schemas.microsoft.com/office/drawing/2014/main" val="150643422"/>
                  </a:ext>
                </a:extLst>
              </a:tr>
              <a:tr h="465384">
                <a:tc>
                  <a:txBody>
                    <a:bodyPr/>
                    <a:lstStyle/>
                    <a:p>
                      <a:pPr algn="ctr"/>
                      <a:r>
                        <a:rPr lang="zh-CN" altLang="en-US" sz="2000" dirty="0"/>
                        <a:t>系统开销</a:t>
                      </a:r>
                    </a:p>
                  </a:txBody>
                  <a:tcPr/>
                </a:tc>
                <a:tc>
                  <a:txBody>
                    <a:bodyPr/>
                    <a:lstStyle/>
                    <a:p>
                      <a:pPr algn="ctr"/>
                      <a:r>
                        <a:rPr lang="zh-CN" altLang="en-US" sz="2000" dirty="0"/>
                        <a:t>切换开销小</a:t>
                      </a:r>
                    </a:p>
                  </a:txBody>
                  <a:tcPr/>
                </a:tc>
                <a:tc>
                  <a:txBody>
                    <a:bodyPr/>
                    <a:lstStyle/>
                    <a:p>
                      <a:pPr algn="ctr"/>
                      <a:r>
                        <a:rPr lang="zh-CN" altLang="en-US" sz="2000" dirty="0"/>
                        <a:t>切换开销大</a:t>
                      </a:r>
                    </a:p>
                  </a:txBody>
                  <a:tcPr/>
                </a:tc>
                <a:extLst>
                  <a:ext uri="{0D108BD9-81ED-4DB2-BD59-A6C34878D82A}">
                    <a16:rowId xmlns:a16="http://schemas.microsoft.com/office/drawing/2014/main" val="4192879719"/>
                  </a:ext>
                </a:extLst>
              </a:tr>
              <a:tr h="465384">
                <a:tc>
                  <a:txBody>
                    <a:bodyPr/>
                    <a:lstStyle/>
                    <a:p>
                      <a:pPr algn="ctr"/>
                      <a:r>
                        <a:rPr lang="zh-CN" altLang="en-US" sz="2000" dirty="0"/>
                        <a:t>资源分配</a:t>
                      </a:r>
                    </a:p>
                  </a:txBody>
                  <a:tcPr/>
                </a:tc>
                <a:tc>
                  <a:txBody>
                    <a:bodyPr/>
                    <a:lstStyle/>
                    <a:p>
                      <a:pPr algn="ctr"/>
                      <a:r>
                        <a:rPr lang="zh-CN" altLang="en-US" sz="2000" dirty="0"/>
                        <a:t>线程共享一个进程下的资源</a:t>
                      </a:r>
                    </a:p>
                  </a:txBody>
                  <a:tcPr/>
                </a:tc>
                <a:tc>
                  <a:txBody>
                    <a:bodyPr/>
                    <a:lstStyle/>
                    <a:p>
                      <a:pPr algn="ctr"/>
                      <a:r>
                        <a:rPr lang="zh-CN" altLang="en-US" sz="2000" dirty="0"/>
                        <a:t>进程独占资源</a:t>
                      </a:r>
                    </a:p>
                  </a:txBody>
                  <a:tcPr/>
                </a:tc>
                <a:extLst>
                  <a:ext uri="{0D108BD9-81ED-4DB2-BD59-A6C34878D82A}">
                    <a16:rowId xmlns:a16="http://schemas.microsoft.com/office/drawing/2014/main" val="4157313288"/>
                  </a:ext>
                </a:extLst>
              </a:tr>
              <a:tr h="465384">
                <a:tc>
                  <a:txBody>
                    <a:bodyPr/>
                    <a:lstStyle/>
                    <a:p>
                      <a:pPr algn="ctr"/>
                      <a:r>
                        <a:rPr lang="zh-CN" altLang="en-US" sz="2000" dirty="0"/>
                        <a:t>通信方式</a:t>
                      </a:r>
                    </a:p>
                  </a:txBody>
                  <a:tcPr/>
                </a:tc>
                <a:tc>
                  <a:txBody>
                    <a:bodyPr/>
                    <a:lstStyle/>
                    <a:p>
                      <a:pPr algn="ctr"/>
                      <a:r>
                        <a:rPr lang="zh-CN" altLang="en-US" sz="2000" dirty="0"/>
                        <a:t>共享内存地址空间</a:t>
                      </a:r>
                    </a:p>
                  </a:txBody>
                  <a:tcPr/>
                </a:tc>
                <a:tc>
                  <a:txBody>
                    <a:bodyPr/>
                    <a:lstStyle/>
                    <a:p>
                      <a:pPr algn="ctr"/>
                      <a:r>
                        <a:rPr lang="zh-CN" altLang="en-US" sz="2000" dirty="0"/>
                        <a:t>使用进程通信的系统调用</a:t>
                      </a:r>
                    </a:p>
                  </a:txBody>
                  <a:tcPr/>
                </a:tc>
                <a:extLst>
                  <a:ext uri="{0D108BD9-81ED-4DB2-BD59-A6C34878D82A}">
                    <a16:rowId xmlns:a16="http://schemas.microsoft.com/office/drawing/2014/main" val="940483106"/>
                  </a:ext>
                </a:extLst>
              </a:tr>
              <a:tr h="465384">
                <a:tc>
                  <a:txBody>
                    <a:bodyPr/>
                    <a:lstStyle/>
                    <a:p>
                      <a:pPr algn="ctr"/>
                      <a:r>
                        <a:rPr lang="zh-CN" altLang="en-US" sz="2000" dirty="0"/>
                        <a:t>并发性</a:t>
                      </a:r>
                    </a:p>
                  </a:txBody>
                  <a:tcPr/>
                </a:tc>
                <a:tc>
                  <a:txBody>
                    <a:bodyPr/>
                    <a:lstStyle/>
                    <a:p>
                      <a:pPr algn="ctr"/>
                      <a:r>
                        <a:rPr lang="zh-CN" altLang="en-US" sz="2000" dirty="0"/>
                        <a:t>更强</a:t>
                      </a:r>
                    </a:p>
                  </a:txBody>
                  <a:tcPr/>
                </a:tc>
                <a:tc>
                  <a:txBody>
                    <a:bodyPr/>
                    <a:lstStyle/>
                    <a:p>
                      <a:pPr algn="ctr"/>
                      <a:r>
                        <a:rPr lang="zh-CN" altLang="en-US" sz="2000" dirty="0"/>
                        <a:t>更弱</a:t>
                      </a:r>
                    </a:p>
                  </a:txBody>
                  <a:tcPr/>
                </a:tc>
                <a:extLst>
                  <a:ext uri="{0D108BD9-81ED-4DB2-BD59-A6C34878D82A}">
                    <a16:rowId xmlns:a16="http://schemas.microsoft.com/office/drawing/2014/main" val="3392418553"/>
                  </a:ext>
                </a:extLst>
              </a:tr>
            </a:tbl>
          </a:graphicData>
        </a:graphic>
      </p:graphicFrame>
    </p:spTree>
    <p:extLst>
      <p:ext uri="{BB962C8B-B14F-4D97-AF65-F5344CB8AC3E}">
        <p14:creationId xmlns:p14="http://schemas.microsoft.com/office/powerpoint/2010/main" val="231244064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65B6C92C-DDEF-4845-8E1E-0705E5177409}"/>
              </a:ext>
            </a:extLst>
          </p:cNvPr>
          <p:cNvPicPr>
            <a:picLocks noChangeAspect="1"/>
          </p:cNvPicPr>
          <p:nvPr/>
        </p:nvPicPr>
        <p:blipFill>
          <a:blip r:embed="rId3"/>
          <a:stretch>
            <a:fillRect/>
          </a:stretch>
        </p:blipFill>
        <p:spPr>
          <a:xfrm>
            <a:off x="0" y="0"/>
            <a:ext cx="12192000" cy="6858000"/>
          </a:xfrm>
          <a:prstGeom prst="rect">
            <a:avLst/>
          </a:prstGeom>
        </p:spPr>
      </p:pic>
      <p:grpSp>
        <p:nvGrpSpPr>
          <p:cNvPr id="11" name="组合 10">
            <a:extLst>
              <a:ext uri="{FF2B5EF4-FFF2-40B4-BE49-F238E27FC236}">
                <a16:creationId xmlns:a16="http://schemas.microsoft.com/office/drawing/2014/main" id="{0487EC0F-9C1A-4806-90C1-70B2EB0DE772}"/>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94131F19-D91D-468B-8A63-FCEF9481A2B4}"/>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9FDFB8DC-C08E-412B-A85F-BB717EAAAABB}"/>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62024969-E9A6-4CA0-9E8E-5D35C0CC8FC1}"/>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00FC2637-D884-4C11-9731-298866B3398F}"/>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68BECE3E-05EC-4148-8A47-7D0313D7EDD8}"/>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3EF51712-53DE-449D-B92E-9A4A83A7FAA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2143ADE6-59E2-4F63-94B3-0F800C0E1C51}"/>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E6DF09D9-C410-4B62-8F35-39139984186B}"/>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77A2E02A-72BB-4A24-ABAB-01BAF6B16E80}"/>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CBDD9210-5904-4571-B683-5138EFFFDC98}"/>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FFFD2E50-A3A7-4EA7-831B-A0C0FFFE913C}"/>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3D695D98-B692-44B0-99C4-8577B6EC517B}"/>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187EF152-D46B-4DD0-9D6B-F491F2862EC6}"/>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FFB657E4-6356-48C5-A0E6-C8BE1493C6DA}"/>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BBB43EAD-2772-4381-9D38-5CF16DCC92F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4C1C37B6-A8FB-4B5A-8ED5-9CDDDEBE476C}"/>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C235CFA2-5A19-4500-82EB-4705B5334F95}"/>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83AA77EE-BB9E-488D-8AE4-A1BD7A44D00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DF845293-4C04-48CA-8A1D-FAD40B689C40}"/>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44372E13-2CCB-4260-8A9E-307B46C2BB81}"/>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55C921A7-BCF1-49D3-848A-B8BF9D44A9A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00380B0F-1363-4E16-B2E6-29A869141897}"/>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0C92CB41-CDF0-4482-ACEA-56B70326DF5A}"/>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8384FA38-B5D2-496F-88ED-776AE7E545F6}"/>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228C0F30-53CE-47C1-A91B-A3C0EFD40E53}"/>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38B69A56-5EC6-4498-8314-2E297521BA8E}"/>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24CFB588-69A0-4E9E-AF05-1A93D2CFD8F3}"/>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8BE6EC03-DB59-4A07-9622-5333DB921FD8}"/>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7ECE6968-DB6A-4F8F-86EC-0C7FC997060A}"/>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C2DC8030-C7CC-493A-A584-27A8BE29754B}"/>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64F2AB73-8017-4212-941A-8A4427BEAAF8}"/>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2A5CAC2D-7B32-41D1-B834-527E838C360C}"/>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D799BEAC-B555-427D-98C7-D0BA51D58C21}"/>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4F1B9CC3-81F8-4402-B476-157A2EB086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2FA64C44-2658-4FF6-A036-AFA780016E6F}"/>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5E060BEA-FE15-48E3-895A-258388050902}"/>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D1BAA670-1CBA-4C97-91A8-1C50F83B584B}"/>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B5D450B6-BAD4-452F-922A-31EB823604E1}"/>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F534C92B-AC05-417B-AF3E-2CF1F3A683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DBF1C38D-9D19-4675-B9B4-FCC8E025043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D1FD9F14-8131-43BD-A38C-993B583171D0}"/>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446F7267-505C-4942-A6E4-9D2EBF92141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232B8DA2-B702-4288-90A0-617F63C184D2}"/>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3041BCC7-D587-476C-84FA-76DDEA71A9A7}"/>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4C11FE62-647C-41B0-8BA7-83F573D4501D}"/>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BAA71BA9-EBC2-4316-B6CC-DD7D204C478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52C50683-AE35-4020-B178-C951887B7874}"/>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895BBD34-D33A-4976-9329-30F8360831B9}"/>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9C464504-D00B-4B09-9945-0BE0988A97BA}"/>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AE330BBC-7EA1-4401-96E6-8EEFE79BB4F7}"/>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E04B951F-98C2-4199-9BD8-82B816DE525D}"/>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873CC654-8259-4C70-81B5-C6C0C92CF81B}"/>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BC1EC969-AA48-452A-913B-CDB143B07A5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77254489-9CB8-4976-A834-68DA657DF41B}"/>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6" name="标题 1">
            <a:extLst>
              <a:ext uri="{FF2B5EF4-FFF2-40B4-BE49-F238E27FC236}">
                <a16:creationId xmlns:a16="http://schemas.microsoft.com/office/drawing/2014/main" id="{2FA8A2C8-A0E7-4911-BD22-B415DEE35D74}"/>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-4</a:t>
            </a:r>
            <a:r>
              <a:rPr lang="zh-CN" altLang="en-US" dirty="0">
                <a:latin typeface="Arial" panose="020B0604020202020204" pitchFamily="34" charset="0"/>
                <a:ea typeface="Microsoft YaHei" panose="020B0503020204020204" pitchFamily="34" charset="-122"/>
                <a:sym typeface="Arial" panose="020B0604020202020204" pitchFamily="34" charset="0"/>
              </a:rPr>
              <a:t>：未名湖</a:t>
            </a:r>
          </a:p>
        </p:txBody>
      </p:sp>
      <p:grpSp>
        <p:nvGrpSpPr>
          <p:cNvPr id="67" name="组合 66">
            <a:extLst>
              <a:ext uri="{FF2B5EF4-FFF2-40B4-BE49-F238E27FC236}">
                <a16:creationId xmlns:a16="http://schemas.microsoft.com/office/drawing/2014/main" id="{11C051E9-4662-4B66-BB32-99BB3F7A3F4D}"/>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88130424-29F8-4D0E-BDAE-B78309994198}"/>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70CB97BA-DC80-465E-BA7D-5290C4E44E36}"/>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2" name="矩形 1">
            <a:extLst>
              <a:ext uri="{FF2B5EF4-FFF2-40B4-BE49-F238E27FC236}">
                <a16:creationId xmlns:a16="http://schemas.microsoft.com/office/drawing/2014/main" id="{FD783C91-8F88-D7DF-F1AC-F37C7931C16F}"/>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3" name="组合 2">
            <a:extLst>
              <a:ext uri="{FF2B5EF4-FFF2-40B4-BE49-F238E27FC236}">
                <a16:creationId xmlns:a16="http://schemas.microsoft.com/office/drawing/2014/main" id="{6B2B42F5-10BB-D1D4-B46A-8D6705DDFCDE}"/>
              </a:ext>
            </a:extLst>
          </p:cNvPr>
          <p:cNvGrpSpPr/>
          <p:nvPr/>
        </p:nvGrpSpPr>
        <p:grpSpPr>
          <a:xfrm>
            <a:off x="796575" y="2751038"/>
            <a:ext cx="3458058" cy="923330"/>
            <a:chOff x="872775" y="2487402"/>
            <a:chExt cx="3458058" cy="923330"/>
          </a:xfrm>
        </p:grpSpPr>
        <p:sp>
          <p:nvSpPr>
            <p:cNvPr id="5" name="文本框 4">
              <a:extLst>
                <a:ext uri="{FF2B5EF4-FFF2-40B4-BE49-F238E27FC236}">
                  <a16:creationId xmlns:a16="http://schemas.microsoft.com/office/drawing/2014/main" id="{909CCBF9-6635-D93A-2240-AE43D0508911}"/>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3.4</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 name="等腰三角形 5">
              <a:extLst>
                <a:ext uri="{FF2B5EF4-FFF2-40B4-BE49-F238E27FC236}">
                  <a16:creationId xmlns:a16="http://schemas.microsoft.com/office/drawing/2014/main" id="{934AE66E-F8D9-771D-3C0C-92A0AD065B43}"/>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7" name="组合 6">
            <a:extLst>
              <a:ext uri="{FF2B5EF4-FFF2-40B4-BE49-F238E27FC236}">
                <a16:creationId xmlns:a16="http://schemas.microsoft.com/office/drawing/2014/main" id="{1577BC82-26CB-ADE3-5837-E3681250D139}"/>
              </a:ext>
            </a:extLst>
          </p:cNvPr>
          <p:cNvGrpSpPr/>
          <p:nvPr/>
        </p:nvGrpSpPr>
        <p:grpSpPr>
          <a:xfrm>
            <a:off x="5976366" y="2811418"/>
            <a:ext cx="5325649" cy="1569660"/>
            <a:chOff x="6566813" y="2528855"/>
            <a:chExt cx="3526265" cy="1569660"/>
          </a:xfrm>
        </p:grpSpPr>
        <p:sp>
          <p:nvSpPr>
            <p:cNvPr id="8" name="文本框 7">
              <a:extLst>
                <a:ext uri="{FF2B5EF4-FFF2-40B4-BE49-F238E27FC236}">
                  <a16:creationId xmlns:a16="http://schemas.microsoft.com/office/drawing/2014/main" id="{9839D22D-D2B8-6758-6D17-E4DB6FFD9127}"/>
                </a:ext>
              </a:extLst>
            </p:cNvPr>
            <p:cNvSpPr txBox="1"/>
            <p:nvPr/>
          </p:nvSpPr>
          <p:spPr>
            <a:xfrm>
              <a:off x="6566813" y="2528855"/>
              <a:ext cx="3526265" cy="156966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lang="zh-CN" altLang="zh-CN" sz="4800" b="1" dirty="0">
                  <a:solidFill>
                    <a:schemeClr val="accent1"/>
                  </a:solidFill>
                  <a:latin typeface="Arial" panose="020B0604020202020204" pitchFamily="34" charset="0"/>
                  <a:ea typeface="Microsoft YaHei" panose="020B0503020204020204" pitchFamily="34" charset="-122"/>
                  <a:cs typeface="+mn-ea"/>
                </a:rPr>
                <a:t>线程的实现和实例 </a:t>
              </a:r>
              <a:endParaRPr lang="zh-CN" altLang="en-US" sz="4800" b="1" dirty="0">
                <a:solidFill>
                  <a:schemeClr val="accent1"/>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9" name="文本框 8">
              <a:extLst>
                <a:ext uri="{FF2B5EF4-FFF2-40B4-BE49-F238E27FC236}">
                  <a16:creationId xmlns:a16="http://schemas.microsoft.com/office/drawing/2014/main" id="{755C4DE0-F1C0-2AC1-9C52-49F3FB9480A6}"/>
                </a:ext>
              </a:extLst>
            </p:cNvPr>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368254774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a:extLst>
              <a:ext uri="{FF2B5EF4-FFF2-40B4-BE49-F238E27FC236}">
                <a16:creationId xmlns:a16="http://schemas.microsoft.com/office/drawing/2014/main" id="{A7E8FFFD-0147-4A1D-9AE4-FD11E2E3FB6D}"/>
              </a:ext>
            </a:extLst>
          </p:cNvPr>
          <p:cNvSpPr>
            <a:spLocks noGrp="1"/>
          </p:cNvSpPr>
          <p:nvPr>
            <p:ph type="sldNum" sz="quarter" idx="4"/>
          </p:nvPr>
        </p:nvSpPr>
        <p:spPr/>
        <p:txBody>
          <a:bodyPr/>
          <a:lstStyle/>
          <a:p>
            <a:r>
              <a:rPr lang="en-US" altLang="zh-CN" dirty="0">
                <a:sym typeface="Arial" panose="020B0604020202020204" pitchFamily="34" charset="0"/>
              </a:rPr>
              <a:t>&lt; </a:t>
            </a:r>
            <a:fld id="{A548B57D-AE10-4CF7-A9DF-59FEFA91B28E}" type="slidenum">
              <a:rPr lang="zh-CN" altLang="en-US" smtClean="0">
                <a:sym typeface="Arial" panose="020B0604020202020204" pitchFamily="34" charset="0"/>
              </a:rPr>
              <a:pPr/>
              <a:t>45</a:t>
            </a:fld>
            <a:r>
              <a:rPr lang="zh-CN" altLang="en-US" dirty="0">
                <a:sym typeface="Arial" panose="020B0604020202020204" pitchFamily="34" charset="0"/>
              </a:rPr>
              <a:t> </a:t>
            </a:r>
            <a:r>
              <a:rPr lang="en-US" altLang="zh-CN" dirty="0">
                <a:sym typeface="Arial" panose="020B0604020202020204" pitchFamily="34" charset="0"/>
              </a:rPr>
              <a:t>&gt;</a:t>
            </a:r>
            <a:endParaRPr lang="zh-CN" altLang="en-US" dirty="0">
              <a:sym typeface="Arial" panose="020B0604020202020204" pitchFamily="34" charset="0"/>
            </a:endParaRPr>
          </a:p>
        </p:txBody>
      </p:sp>
      <p:sp>
        <p:nvSpPr>
          <p:cNvPr id="5" name="标题 1">
            <a:extLst>
              <a:ext uri="{FF2B5EF4-FFF2-40B4-BE49-F238E27FC236}">
                <a16:creationId xmlns:a16="http://schemas.microsoft.com/office/drawing/2014/main" id="{0719C4E5-5393-9B66-62BA-07B746D600F9}"/>
              </a:ext>
            </a:extLst>
          </p:cNvPr>
          <p:cNvSpPr txBox="1">
            <a:spLocks noGrp="1"/>
          </p:cNvSpPr>
          <p:nvPr>
            <p:ph type="title"/>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3.4.1 </a:t>
            </a:r>
            <a:r>
              <a:rPr lang="zh-CN" altLang="en-US" dirty="0"/>
              <a:t> </a:t>
            </a:r>
            <a:r>
              <a:rPr lang="en-US" altLang="zh-CN" dirty="0"/>
              <a:t> </a:t>
            </a:r>
            <a:r>
              <a:rPr lang="zh-CN" altLang="en-US" dirty="0"/>
              <a:t>线程的实现方式</a:t>
            </a:r>
            <a:endParaRPr lang="zh-CN" altLang="zh-CN" dirty="0"/>
          </a:p>
        </p:txBody>
      </p:sp>
      <p:sp>
        <p:nvSpPr>
          <p:cNvPr id="8" name="文本框 7">
            <a:extLst>
              <a:ext uri="{FF2B5EF4-FFF2-40B4-BE49-F238E27FC236}">
                <a16:creationId xmlns:a16="http://schemas.microsoft.com/office/drawing/2014/main" id="{82635232-B130-A9AB-B499-B8D4C257A2B4}"/>
              </a:ext>
            </a:extLst>
          </p:cNvPr>
          <p:cNvSpPr txBox="1"/>
          <p:nvPr/>
        </p:nvSpPr>
        <p:spPr>
          <a:xfrm>
            <a:off x="1021935" y="1536174"/>
            <a:ext cx="9807989" cy="3785652"/>
          </a:xfrm>
          <a:prstGeom prst="rect">
            <a:avLst/>
          </a:prstGeom>
          <a:noFill/>
        </p:spPr>
        <p:txBody>
          <a:bodyPr wrap="square">
            <a:spAutoFit/>
          </a:bodyPr>
          <a:lstStyle/>
          <a:p>
            <a:pPr algn="just"/>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1</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．用户级线程、核心级线程和混合方式</a:t>
            </a: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线程已在许多系统中实现，但实现的方式并不完全相同</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用户级线程</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User-Level Threads</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不依赖于内核</a:t>
            </a:r>
            <a:endParaRPr lang="en-US"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例如：数据库系统中的线程</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核心级线程</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Kernel-Supported Threads)</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依赖于内核</a:t>
            </a:r>
            <a:endParaRPr lang="en-US"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en-US"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混合方式</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实现线程，</a:t>
            </a:r>
            <a:r>
              <a:rPr lang="zh-CN" altLang="en-US" sz="2400" kern="100" dirty="0">
                <a:latin typeface="微软雅黑" panose="020B0503020204020204" pitchFamily="34" charset="-122"/>
                <a:ea typeface="微软雅黑" panose="020B0503020204020204" pitchFamily="34" charset="-122"/>
                <a:cs typeface="Times New Roman" panose="02020603050405020304" pitchFamily="18" charset="0"/>
              </a:rPr>
              <a:t>即</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同时实现了</a:t>
            </a:r>
            <a:r>
              <a:rPr lang="zh-CN" altLang="en-US"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以上</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两种类型</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的线程</a:t>
            </a:r>
          </a:p>
        </p:txBody>
      </p:sp>
    </p:spTree>
    <p:extLst>
      <p:ext uri="{BB962C8B-B14F-4D97-AF65-F5344CB8AC3E}">
        <p14:creationId xmlns:p14="http://schemas.microsoft.com/office/powerpoint/2010/main" val="172400045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a:extLst>
              <a:ext uri="{FF2B5EF4-FFF2-40B4-BE49-F238E27FC236}">
                <a16:creationId xmlns:a16="http://schemas.microsoft.com/office/drawing/2014/main" id="{A7E8FFFD-0147-4A1D-9AE4-FD11E2E3FB6D}"/>
              </a:ext>
            </a:extLst>
          </p:cNvPr>
          <p:cNvSpPr>
            <a:spLocks noGrp="1"/>
          </p:cNvSpPr>
          <p:nvPr>
            <p:ph type="sldNum" sz="quarter" idx="4"/>
          </p:nvPr>
        </p:nvSpPr>
        <p:spPr/>
        <p:txBody>
          <a:bodyPr/>
          <a:lstStyle/>
          <a:p>
            <a:r>
              <a:rPr lang="en-US" altLang="zh-CN" dirty="0">
                <a:sym typeface="Arial" panose="020B0604020202020204" pitchFamily="34" charset="0"/>
              </a:rPr>
              <a:t>&lt; </a:t>
            </a:r>
            <a:fld id="{A548B57D-AE10-4CF7-A9DF-59FEFA91B28E}" type="slidenum">
              <a:rPr lang="zh-CN" altLang="en-US" smtClean="0">
                <a:sym typeface="Arial" panose="020B0604020202020204" pitchFamily="34" charset="0"/>
              </a:rPr>
              <a:pPr/>
              <a:t>46</a:t>
            </a:fld>
            <a:r>
              <a:rPr lang="zh-CN" altLang="en-US" dirty="0">
                <a:sym typeface="Arial" panose="020B0604020202020204" pitchFamily="34" charset="0"/>
              </a:rPr>
              <a:t> </a:t>
            </a:r>
            <a:r>
              <a:rPr lang="en-US" altLang="zh-CN" dirty="0">
                <a:sym typeface="Arial" panose="020B0604020202020204" pitchFamily="34" charset="0"/>
              </a:rPr>
              <a:t>&gt;</a:t>
            </a:r>
            <a:endParaRPr lang="zh-CN" altLang="en-US" dirty="0">
              <a:sym typeface="Arial" panose="020B0604020202020204" pitchFamily="34" charset="0"/>
            </a:endParaRPr>
          </a:p>
        </p:txBody>
      </p:sp>
      <p:sp>
        <p:nvSpPr>
          <p:cNvPr id="5" name="标题 1">
            <a:extLst>
              <a:ext uri="{FF2B5EF4-FFF2-40B4-BE49-F238E27FC236}">
                <a16:creationId xmlns:a16="http://schemas.microsoft.com/office/drawing/2014/main" id="{0719C4E5-5393-9B66-62BA-07B746D600F9}"/>
              </a:ext>
            </a:extLst>
          </p:cNvPr>
          <p:cNvSpPr txBox="1">
            <a:spLocks noGrp="1"/>
          </p:cNvSpPr>
          <p:nvPr>
            <p:ph type="title"/>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3.4.1 </a:t>
            </a:r>
            <a:r>
              <a:rPr lang="zh-CN" altLang="en-US" dirty="0"/>
              <a:t> </a:t>
            </a:r>
            <a:r>
              <a:rPr lang="en-US" altLang="zh-CN" dirty="0"/>
              <a:t> </a:t>
            </a:r>
            <a:r>
              <a:rPr lang="zh-CN" altLang="en-US" dirty="0"/>
              <a:t>线程的实现方式</a:t>
            </a:r>
            <a:endParaRPr lang="zh-CN" altLang="zh-CN" dirty="0"/>
          </a:p>
        </p:txBody>
      </p:sp>
      <p:sp>
        <p:nvSpPr>
          <p:cNvPr id="3" name="文本框 2">
            <a:extLst>
              <a:ext uri="{FF2B5EF4-FFF2-40B4-BE49-F238E27FC236}">
                <a16:creationId xmlns:a16="http://schemas.microsoft.com/office/drawing/2014/main" id="{E450210F-366B-729C-4AFB-9CE33D169127}"/>
              </a:ext>
            </a:extLst>
          </p:cNvPr>
          <p:cNvSpPr txBox="1"/>
          <p:nvPr/>
        </p:nvSpPr>
        <p:spPr>
          <a:xfrm>
            <a:off x="185940" y="1204912"/>
            <a:ext cx="7886801" cy="5632311"/>
          </a:xfrm>
          <a:prstGeom prst="rect">
            <a:avLst/>
          </a:prstGeom>
          <a:noFill/>
        </p:spPr>
        <p:txBody>
          <a:bodyPr wrap="square">
            <a:spAutoFit/>
          </a:bodyPr>
          <a:lstStyle/>
          <a:p>
            <a:pPr algn="just"/>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1</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）用户级线程</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en-US"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实现方式</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创建、撤消和切换都不利用系统调用</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spc="2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spc="20" dirty="0">
                <a:effectLst/>
                <a:latin typeface="微软雅黑" panose="020B0503020204020204" pitchFamily="34" charset="-122"/>
                <a:ea typeface="微软雅黑" panose="020B0503020204020204" pitchFamily="34" charset="-122"/>
                <a:cs typeface="Times New Roman" panose="02020603050405020304" pitchFamily="18" charset="0"/>
              </a:rPr>
              <a:t>管理线程的工作全部由应用程序完成</a:t>
            </a:r>
            <a:endParaRPr lang="en-US" altLang="zh-CN" sz="2400" kern="100" spc="2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14960" algn="just"/>
            <a:endPar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1496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每个进程都有一个私有的线程表</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1496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1496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核心空间中有一个进程表，记载系统中各个进程的情况</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spc="2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spc="20" dirty="0">
                <a:effectLst/>
                <a:latin typeface="微软雅黑" panose="020B0503020204020204" pitchFamily="34" charset="-122"/>
                <a:ea typeface="微软雅黑" panose="020B0503020204020204" pitchFamily="34" charset="-122"/>
                <a:cs typeface="Times New Roman" panose="02020603050405020304" pitchFamily="18" charset="0"/>
              </a:rPr>
              <a:t>POSIX </a:t>
            </a:r>
            <a:r>
              <a:rPr lang="en-US" altLang="zh-CN" sz="2400" kern="100" spc="20" dirty="0" err="1">
                <a:effectLst/>
                <a:latin typeface="微软雅黑" panose="020B0503020204020204" pitchFamily="34" charset="-122"/>
                <a:ea typeface="微软雅黑" panose="020B0503020204020204" pitchFamily="34" charset="-122"/>
                <a:cs typeface="Times New Roman" panose="02020603050405020304" pitchFamily="18" charset="0"/>
              </a:rPr>
              <a:t>Pthreads</a:t>
            </a:r>
            <a:endParaRPr lang="en-US" altLang="zh-CN" sz="2400" kern="100" spc="2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spc="20" dirty="0">
                <a:effectLst/>
                <a:latin typeface="微软雅黑" panose="020B0503020204020204" pitchFamily="34" charset="-122"/>
                <a:ea typeface="微软雅黑" panose="020B0503020204020204" pitchFamily="34" charset="-122"/>
                <a:cs typeface="Times New Roman" panose="02020603050405020304" pitchFamily="18" charset="0"/>
              </a:rPr>
              <a:t>Mach C-threads</a:t>
            </a:r>
            <a:endParaRPr lang="en-US" altLang="zh-CN" sz="2400" kern="100" spc="2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Solaris 2 UI-threads</a:t>
            </a:r>
          </a:p>
          <a:p>
            <a:pPr indent="314960" algn="just"/>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p:txBody>
      </p:sp>
      <p:pic>
        <p:nvPicPr>
          <p:cNvPr id="6" name="图片 5">
            <a:extLst>
              <a:ext uri="{FF2B5EF4-FFF2-40B4-BE49-F238E27FC236}">
                <a16:creationId xmlns:a16="http://schemas.microsoft.com/office/drawing/2014/main" id="{41A540B1-7DAB-4016-B56F-9B28C2A10EAA}"/>
              </a:ext>
            </a:extLst>
          </p:cNvPr>
          <p:cNvPicPr>
            <a:picLocks noChangeAspect="1"/>
          </p:cNvPicPr>
          <p:nvPr/>
        </p:nvPicPr>
        <p:blipFill>
          <a:blip r:embed="rId3"/>
          <a:stretch>
            <a:fillRect/>
          </a:stretch>
        </p:blipFill>
        <p:spPr>
          <a:xfrm>
            <a:off x="6371510" y="822987"/>
            <a:ext cx="4514850" cy="3705225"/>
          </a:xfrm>
          <a:prstGeom prst="rect">
            <a:avLst/>
          </a:prstGeom>
        </p:spPr>
      </p:pic>
    </p:spTree>
    <p:extLst>
      <p:ext uri="{BB962C8B-B14F-4D97-AF65-F5344CB8AC3E}">
        <p14:creationId xmlns:p14="http://schemas.microsoft.com/office/powerpoint/2010/main" val="1406997304"/>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a:extLst>
              <a:ext uri="{FF2B5EF4-FFF2-40B4-BE49-F238E27FC236}">
                <a16:creationId xmlns:a16="http://schemas.microsoft.com/office/drawing/2014/main" id="{A7E8FFFD-0147-4A1D-9AE4-FD11E2E3FB6D}"/>
              </a:ext>
            </a:extLst>
          </p:cNvPr>
          <p:cNvSpPr>
            <a:spLocks noGrp="1"/>
          </p:cNvSpPr>
          <p:nvPr>
            <p:ph type="sldNum" sz="quarter" idx="4"/>
          </p:nvPr>
        </p:nvSpPr>
        <p:spPr/>
        <p:txBody>
          <a:bodyPr/>
          <a:lstStyle/>
          <a:p>
            <a:r>
              <a:rPr lang="en-US" altLang="zh-CN" dirty="0">
                <a:sym typeface="Arial" panose="020B0604020202020204" pitchFamily="34" charset="0"/>
              </a:rPr>
              <a:t>&lt; </a:t>
            </a:r>
            <a:fld id="{A548B57D-AE10-4CF7-A9DF-59FEFA91B28E}" type="slidenum">
              <a:rPr lang="zh-CN" altLang="en-US" smtClean="0">
                <a:sym typeface="Arial" panose="020B0604020202020204" pitchFamily="34" charset="0"/>
              </a:rPr>
              <a:pPr/>
              <a:t>47</a:t>
            </a:fld>
            <a:r>
              <a:rPr lang="zh-CN" altLang="en-US" dirty="0">
                <a:sym typeface="Arial" panose="020B0604020202020204" pitchFamily="34" charset="0"/>
              </a:rPr>
              <a:t> </a:t>
            </a:r>
            <a:r>
              <a:rPr lang="en-US" altLang="zh-CN" dirty="0">
                <a:sym typeface="Arial" panose="020B0604020202020204" pitchFamily="34" charset="0"/>
              </a:rPr>
              <a:t>&gt;</a:t>
            </a:r>
            <a:endParaRPr lang="zh-CN" altLang="en-US" dirty="0">
              <a:sym typeface="Arial" panose="020B0604020202020204" pitchFamily="34" charset="0"/>
            </a:endParaRPr>
          </a:p>
        </p:txBody>
      </p:sp>
      <p:sp>
        <p:nvSpPr>
          <p:cNvPr id="5" name="标题 1">
            <a:extLst>
              <a:ext uri="{FF2B5EF4-FFF2-40B4-BE49-F238E27FC236}">
                <a16:creationId xmlns:a16="http://schemas.microsoft.com/office/drawing/2014/main" id="{0719C4E5-5393-9B66-62BA-07B746D600F9}"/>
              </a:ext>
            </a:extLst>
          </p:cNvPr>
          <p:cNvSpPr txBox="1">
            <a:spLocks noGrp="1"/>
          </p:cNvSpPr>
          <p:nvPr>
            <p:ph type="title"/>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3.4.1 </a:t>
            </a:r>
            <a:r>
              <a:rPr lang="zh-CN" altLang="en-US" dirty="0"/>
              <a:t> </a:t>
            </a:r>
            <a:r>
              <a:rPr lang="en-US" altLang="zh-CN" dirty="0"/>
              <a:t> </a:t>
            </a:r>
            <a:r>
              <a:rPr lang="zh-CN" altLang="en-US" dirty="0"/>
              <a:t>线程的实现方式</a:t>
            </a:r>
            <a:endParaRPr lang="zh-CN" altLang="zh-CN" dirty="0"/>
          </a:p>
        </p:txBody>
      </p:sp>
      <p:sp>
        <p:nvSpPr>
          <p:cNvPr id="3" name="文本框 2">
            <a:extLst>
              <a:ext uri="{FF2B5EF4-FFF2-40B4-BE49-F238E27FC236}">
                <a16:creationId xmlns:a16="http://schemas.microsoft.com/office/drawing/2014/main" id="{E450210F-366B-729C-4AFB-9CE33D169127}"/>
              </a:ext>
            </a:extLst>
          </p:cNvPr>
          <p:cNvSpPr txBox="1"/>
          <p:nvPr/>
        </p:nvSpPr>
        <p:spPr>
          <a:xfrm>
            <a:off x="620492" y="1351508"/>
            <a:ext cx="10951015" cy="4154984"/>
          </a:xfrm>
          <a:prstGeom prst="rect">
            <a:avLst/>
          </a:prstGeom>
          <a:noFill/>
        </p:spPr>
        <p:txBody>
          <a:bodyPr wrap="square">
            <a:spAutoFit/>
          </a:bodyPr>
          <a:lstStyle/>
          <a:p>
            <a:pPr algn="just"/>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1</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）用户级线程</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en-US"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优缺点</a:t>
            </a:r>
            <a:endParaRPr lang="en-US"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 </a:t>
            </a:r>
            <a:endParaRPr lang="en-US" altLang="zh-CN" sz="2400" b="1"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优点：</a:t>
            </a:r>
          </a:p>
          <a:p>
            <a:pPr marL="742950" lvl="1" indent="-285750" algn="just">
              <a:buFont typeface="+mj-ea"/>
              <a:buAutoNum type="circleNumDbPlain"/>
            </a:pP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线程的切换速度快</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marL="742950" lvl="1" indent="-285750" algn="just">
              <a:buFont typeface="+mj-ea"/>
              <a:buAutoNum type="circleNumDbPlain"/>
            </a:pP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允许采用适合自己要求的不同调度算法</a:t>
            </a:r>
          </a:p>
          <a:p>
            <a:pPr marL="742950" lvl="1" indent="-285750" algn="just">
              <a:buFont typeface="+mj-ea"/>
              <a:buAutoNum type="circleNumDbPlain"/>
            </a:pP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可以运行在任何操作系统上</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marL="742950" lvl="1" indent="-285750" algn="just">
              <a:buFont typeface="+mj-ea"/>
              <a:buAutoNum type="circleNumDbPlain"/>
            </a:pPr>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缺点：</a:t>
            </a:r>
          </a:p>
          <a:p>
            <a:pPr marL="742950" lvl="1" indent="-285750" algn="just">
              <a:buFont typeface="+mj-ea"/>
              <a:buAutoNum type="circleNumDbPlain"/>
            </a:pPr>
            <a:r>
              <a:rPr lang="zh-CN" altLang="zh-CN" sz="2400" kern="100" dirty="0">
                <a:latin typeface="微软雅黑" panose="020B0503020204020204" pitchFamily="34" charset="-122"/>
                <a:ea typeface="微软雅黑" panose="020B0503020204020204" pitchFamily="34" charset="-122"/>
                <a:cs typeface="Times New Roman" panose="02020603050405020304" pitchFamily="18" charset="0"/>
              </a:rPr>
              <a:t>当一个线程执行系统调用时，在同一个进程内的所有线程都被阻塞</a:t>
            </a:r>
          </a:p>
          <a:p>
            <a:pPr marL="742950" lvl="1" indent="-285750" algn="just">
              <a:buFont typeface="+mj-ea"/>
              <a:buAutoNum type="circleNumDbPlain"/>
            </a:pPr>
            <a:r>
              <a:rPr lang="zh-CN" altLang="zh-CN" sz="2400" kern="100" dirty="0">
                <a:latin typeface="微软雅黑" panose="020B0503020204020204" pitchFamily="34" charset="-122"/>
                <a:ea typeface="微软雅黑" panose="020B0503020204020204" pitchFamily="34" charset="-122"/>
                <a:cs typeface="Times New Roman" panose="02020603050405020304" pitchFamily="18" charset="0"/>
              </a:rPr>
              <a:t>多线程应用程序不具有多处理器的优点</a:t>
            </a:r>
            <a:endParaRPr lang="en-US"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p14="http://schemas.microsoft.com/office/powerpoint/2010/main" val="24562169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a:extLst>
              <a:ext uri="{FF2B5EF4-FFF2-40B4-BE49-F238E27FC236}">
                <a16:creationId xmlns:a16="http://schemas.microsoft.com/office/drawing/2014/main" id="{A7E8FFFD-0147-4A1D-9AE4-FD11E2E3FB6D}"/>
              </a:ext>
            </a:extLst>
          </p:cNvPr>
          <p:cNvSpPr>
            <a:spLocks noGrp="1"/>
          </p:cNvSpPr>
          <p:nvPr>
            <p:ph type="sldNum" sz="quarter" idx="4"/>
          </p:nvPr>
        </p:nvSpPr>
        <p:spPr/>
        <p:txBody>
          <a:bodyPr/>
          <a:lstStyle/>
          <a:p>
            <a:r>
              <a:rPr lang="en-US" altLang="zh-CN" dirty="0">
                <a:sym typeface="Arial" panose="020B0604020202020204" pitchFamily="34" charset="0"/>
              </a:rPr>
              <a:t>&lt; </a:t>
            </a:r>
            <a:fld id="{A548B57D-AE10-4CF7-A9DF-59FEFA91B28E}" type="slidenum">
              <a:rPr lang="zh-CN" altLang="en-US" smtClean="0">
                <a:sym typeface="Arial" panose="020B0604020202020204" pitchFamily="34" charset="0"/>
              </a:rPr>
              <a:pPr/>
              <a:t>48</a:t>
            </a:fld>
            <a:r>
              <a:rPr lang="zh-CN" altLang="en-US" dirty="0">
                <a:sym typeface="Arial" panose="020B0604020202020204" pitchFamily="34" charset="0"/>
              </a:rPr>
              <a:t> </a:t>
            </a:r>
            <a:r>
              <a:rPr lang="en-US" altLang="zh-CN" dirty="0">
                <a:sym typeface="Arial" panose="020B0604020202020204" pitchFamily="34" charset="0"/>
              </a:rPr>
              <a:t>&gt;</a:t>
            </a:r>
            <a:endParaRPr lang="zh-CN" altLang="en-US" dirty="0">
              <a:sym typeface="Arial" panose="020B0604020202020204" pitchFamily="34" charset="0"/>
            </a:endParaRPr>
          </a:p>
        </p:txBody>
      </p:sp>
      <p:sp>
        <p:nvSpPr>
          <p:cNvPr id="5" name="标题 1">
            <a:extLst>
              <a:ext uri="{FF2B5EF4-FFF2-40B4-BE49-F238E27FC236}">
                <a16:creationId xmlns:a16="http://schemas.microsoft.com/office/drawing/2014/main" id="{0719C4E5-5393-9B66-62BA-07B746D600F9}"/>
              </a:ext>
            </a:extLst>
          </p:cNvPr>
          <p:cNvSpPr txBox="1">
            <a:spLocks noGrp="1"/>
          </p:cNvSpPr>
          <p:nvPr>
            <p:ph type="title"/>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3.4.1 </a:t>
            </a:r>
            <a:r>
              <a:rPr lang="zh-CN" altLang="en-US" dirty="0"/>
              <a:t> </a:t>
            </a:r>
            <a:r>
              <a:rPr lang="en-US" altLang="zh-CN" dirty="0"/>
              <a:t> </a:t>
            </a:r>
            <a:r>
              <a:rPr lang="zh-CN" altLang="en-US" dirty="0"/>
              <a:t>线程的实现方式</a:t>
            </a:r>
            <a:endParaRPr lang="zh-CN" altLang="zh-CN" dirty="0"/>
          </a:p>
        </p:txBody>
      </p:sp>
      <p:sp>
        <p:nvSpPr>
          <p:cNvPr id="3" name="文本框 2">
            <a:extLst>
              <a:ext uri="{FF2B5EF4-FFF2-40B4-BE49-F238E27FC236}">
                <a16:creationId xmlns:a16="http://schemas.microsoft.com/office/drawing/2014/main" id="{5270E509-6516-9517-5A7C-59B07B2945DB}"/>
              </a:ext>
            </a:extLst>
          </p:cNvPr>
          <p:cNvSpPr txBox="1"/>
          <p:nvPr/>
        </p:nvSpPr>
        <p:spPr>
          <a:xfrm>
            <a:off x="442913" y="1062067"/>
            <a:ext cx="7196137" cy="5262979"/>
          </a:xfrm>
          <a:prstGeom prst="rect">
            <a:avLst/>
          </a:prstGeom>
          <a:noFill/>
        </p:spPr>
        <p:txBody>
          <a:bodyPr wrap="square">
            <a:spAutoFit/>
          </a:bodyPr>
          <a:lstStyle/>
          <a:p>
            <a:pPr algn="just"/>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2</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）核心级线程</a:t>
            </a:r>
          </a:p>
          <a:p>
            <a:pPr indent="304800" algn="just"/>
            <a:r>
              <a:rPr lang="zh-CN" altLang="en-US"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实现方式</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创建、撤消和切换都由核心实现</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核心保留了一个线程控制块，</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根据该控制块感知线程的存在并对线程进行控制</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线程表在核心空间</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中，</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记载系统中所有线程的情况</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核心空间中保存一个进程表，</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记载系统所有进程的信息</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spc="-2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spc="-20" dirty="0">
                <a:effectLst/>
                <a:latin typeface="微软雅黑" panose="020B0503020204020204" pitchFamily="34" charset="-122"/>
                <a:ea typeface="微软雅黑" panose="020B0503020204020204" pitchFamily="34" charset="-122"/>
                <a:cs typeface="Times New Roman" panose="02020603050405020304" pitchFamily="18" charset="0"/>
              </a:rPr>
              <a:t>核心进行调度时以线程为基本单位</a:t>
            </a:r>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p:txBody>
      </p:sp>
      <p:pic>
        <p:nvPicPr>
          <p:cNvPr id="6" name="图片 5">
            <a:extLst>
              <a:ext uri="{FF2B5EF4-FFF2-40B4-BE49-F238E27FC236}">
                <a16:creationId xmlns:a16="http://schemas.microsoft.com/office/drawing/2014/main" id="{46DC7EE4-7453-45FB-8D03-D4C4F7BB1C53}"/>
              </a:ext>
            </a:extLst>
          </p:cNvPr>
          <p:cNvPicPr>
            <a:picLocks noChangeAspect="1"/>
          </p:cNvPicPr>
          <p:nvPr/>
        </p:nvPicPr>
        <p:blipFill>
          <a:blip r:embed="rId3"/>
          <a:stretch>
            <a:fillRect/>
          </a:stretch>
        </p:blipFill>
        <p:spPr>
          <a:xfrm>
            <a:off x="8143875" y="1724025"/>
            <a:ext cx="3352800" cy="3409950"/>
          </a:xfrm>
          <a:prstGeom prst="rect">
            <a:avLst/>
          </a:prstGeom>
        </p:spPr>
      </p:pic>
    </p:spTree>
    <p:extLst>
      <p:ext uri="{BB962C8B-B14F-4D97-AF65-F5344CB8AC3E}">
        <p14:creationId xmlns:p14="http://schemas.microsoft.com/office/powerpoint/2010/main" val="303891506"/>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灯片编号占位符 9">
            <a:extLst>
              <a:ext uri="{FF2B5EF4-FFF2-40B4-BE49-F238E27FC236}">
                <a16:creationId xmlns:a16="http://schemas.microsoft.com/office/drawing/2014/main" id="{A7E8FFFD-0147-4A1D-9AE4-FD11E2E3FB6D}"/>
              </a:ext>
            </a:extLst>
          </p:cNvPr>
          <p:cNvSpPr>
            <a:spLocks noGrp="1"/>
          </p:cNvSpPr>
          <p:nvPr>
            <p:ph type="sldNum" sz="quarter" idx="4"/>
          </p:nvPr>
        </p:nvSpPr>
        <p:spPr/>
        <p:txBody>
          <a:bodyPr/>
          <a:lstStyle/>
          <a:p>
            <a:r>
              <a:rPr lang="en-US" altLang="zh-CN" dirty="0">
                <a:sym typeface="Arial" panose="020B0604020202020204" pitchFamily="34" charset="0"/>
              </a:rPr>
              <a:t>&lt; </a:t>
            </a:r>
            <a:fld id="{A548B57D-AE10-4CF7-A9DF-59FEFA91B28E}" type="slidenum">
              <a:rPr lang="zh-CN" altLang="en-US" smtClean="0">
                <a:sym typeface="Arial" panose="020B0604020202020204" pitchFamily="34" charset="0"/>
              </a:rPr>
              <a:pPr/>
              <a:t>49</a:t>
            </a:fld>
            <a:r>
              <a:rPr lang="zh-CN" altLang="en-US" dirty="0">
                <a:sym typeface="Arial" panose="020B0604020202020204" pitchFamily="34" charset="0"/>
              </a:rPr>
              <a:t> </a:t>
            </a:r>
            <a:r>
              <a:rPr lang="en-US" altLang="zh-CN" dirty="0">
                <a:sym typeface="Arial" panose="020B0604020202020204" pitchFamily="34" charset="0"/>
              </a:rPr>
              <a:t>&gt;</a:t>
            </a:r>
            <a:endParaRPr lang="zh-CN" altLang="en-US" dirty="0">
              <a:sym typeface="Arial" panose="020B0604020202020204" pitchFamily="34" charset="0"/>
            </a:endParaRPr>
          </a:p>
        </p:txBody>
      </p:sp>
      <p:sp>
        <p:nvSpPr>
          <p:cNvPr id="5" name="标题 1">
            <a:extLst>
              <a:ext uri="{FF2B5EF4-FFF2-40B4-BE49-F238E27FC236}">
                <a16:creationId xmlns:a16="http://schemas.microsoft.com/office/drawing/2014/main" id="{0719C4E5-5393-9B66-62BA-07B746D600F9}"/>
              </a:ext>
            </a:extLst>
          </p:cNvPr>
          <p:cNvSpPr txBox="1">
            <a:spLocks noGrp="1"/>
          </p:cNvSpPr>
          <p:nvPr>
            <p:ph type="title"/>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3.4.1 </a:t>
            </a:r>
            <a:r>
              <a:rPr lang="zh-CN" altLang="en-US" dirty="0"/>
              <a:t> </a:t>
            </a:r>
            <a:r>
              <a:rPr lang="en-US" altLang="zh-CN" dirty="0"/>
              <a:t> </a:t>
            </a:r>
            <a:r>
              <a:rPr lang="zh-CN" altLang="en-US" dirty="0"/>
              <a:t>线程的实现方式</a:t>
            </a:r>
            <a:endParaRPr lang="zh-CN" altLang="zh-CN" dirty="0"/>
          </a:p>
        </p:txBody>
      </p:sp>
      <p:sp>
        <p:nvSpPr>
          <p:cNvPr id="3" name="文本框 2">
            <a:extLst>
              <a:ext uri="{FF2B5EF4-FFF2-40B4-BE49-F238E27FC236}">
                <a16:creationId xmlns:a16="http://schemas.microsoft.com/office/drawing/2014/main" id="{5270E509-6516-9517-5A7C-59B07B2945DB}"/>
              </a:ext>
            </a:extLst>
          </p:cNvPr>
          <p:cNvSpPr txBox="1"/>
          <p:nvPr/>
        </p:nvSpPr>
        <p:spPr>
          <a:xfrm>
            <a:off x="590549" y="1316040"/>
            <a:ext cx="11439525" cy="5078313"/>
          </a:xfrm>
          <a:prstGeom prst="rect">
            <a:avLst/>
          </a:prstGeom>
          <a:noFill/>
        </p:spPr>
        <p:txBody>
          <a:bodyPr wrap="square">
            <a:spAutoFit/>
          </a:bodyPr>
          <a:lstStyle/>
          <a:p>
            <a:pPr algn="just"/>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2</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）核心级线程</a:t>
            </a:r>
          </a:p>
          <a:p>
            <a:pPr indent="304800" algn="just"/>
            <a:r>
              <a:rPr lang="zh-CN" altLang="en-US"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优缺点</a:t>
            </a:r>
            <a:endParaRPr lang="en-US" altLang="zh-CN" sz="2400" b="1"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b="1" kern="100" spc="-2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r>
              <a:rPr lang="zh-CN" altLang="zh-CN" sz="2400" b="1" kern="100" spc="-20" dirty="0">
                <a:effectLst/>
                <a:latin typeface="微软雅黑" panose="020B0503020204020204" pitchFamily="34" charset="-122"/>
                <a:ea typeface="微软雅黑" panose="020B0503020204020204" pitchFamily="34" charset="-122"/>
                <a:cs typeface="Times New Roman" panose="02020603050405020304" pitchFamily="18" charset="0"/>
              </a:rPr>
              <a:t>优点：</a:t>
            </a:r>
            <a:endPar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marL="800100" lvl="1" indent="-342900" algn="just">
              <a:buFont typeface="+mj-ea"/>
              <a:buAutoNum type="circleNumDbPlain"/>
            </a:pPr>
            <a:r>
              <a:rPr lang="zh-CN" altLang="zh-CN" sz="2400" kern="100" spc="-20" dirty="0">
                <a:effectLst/>
                <a:latin typeface="微软雅黑" panose="020B0503020204020204" pitchFamily="34" charset="-122"/>
                <a:ea typeface="微软雅黑" panose="020B0503020204020204" pitchFamily="34" charset="-122"/>
                <a:cs typeface="Times New Roman" panose="02020603050405020304" pitchFamily="18" charset="0"/>
              </a:rPr>
              <a:t>核心可以同时调度同一进程中的多个线程，真正实现并行操作</a:t>
            </a:r>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marL="800100" lvl="1" indent="-342900" algn="just">
              <a:buFont typeface="+mj-ea"/>
              <a:buAutoNum type="circleNumDbPlain"/>
            </a:pPr>
            <a:r>
              <a:rPr lang="zh-CN" altLang="zh-CN" sz="2400" kern="100" spc="-20" dirty="0">
                <a:effectLst/>
                <a:latin typeface="微软雅黑" panose="020B0503020204020204" pitchFamily="34" charset="-122"/>
                <a:ea typeface="微软雅黑" panose="020B0503020204020204" pitchFamily="34" charset="-122"/>
                <a:cs typeface="Times New Roman" panose="02020603050405020304" pitchFamily="18" charset="0"/>
              </a:rPr>
              <a:t>如果一个进程的某个线程阻塞了，核心可以调度同一个进程中的另一个线程</a:t>
            </a:r>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marL="800100" lvl="1" indent="-342900" algn="just">
              <a:buFont typeface="+mj-ea"/>
              <a:buAutoNum type="circleNumDbPlain"/>
            </a:pPr>
            <a:r>
              <a:rPr lang="zh-CN" altLang="zh-CN" sz="2400" kern="100" spc="-20" dirty="0">
                <a:effectLst/>
                <a:latin typeface="微软雅黑" panose="020B0503020204020204" pitchFamily="34" charset="-122"/>
                <a:ea typeface="微软雅黑" panose="020B0503020204020204" pitchFamily="34" charset="-122"/>
                <a:cs typeface="Times New Roman" panose="02020603050405020304" pitchFamily="18" charset="0"/>
              </a:rPr>
              <a:t>核心线程本身也可以是多线程的</a:t>
            </a:r>
            <a:endParaRPr lang="en-US" altLang="zh-CN" sz="2400" kern="100" spc="-20" dirty="0">
              <a:effectLst/>
              <a:latin typeface="微软雅黑" panose="020B0503020204020204" pitchFamily="34" charset="-122"/>
              <a:ea typeface="微软雅黑" panose="020B0503020204020204" pitchFamily="34" charset="-122"/>
              <a:cs typeface="Times New Roman" panose="02020603050405020304" pitchFamily="18" charset="0"/>
            </a:endParaRPr>
          </a:p>
          <a:p>
            <a:pPr marL="342900" lvl="0" indent="-342900" algn="just">
              <a:buFont typeface="+mj-ea"/>
              <a:buAutoNum type="circleNumDbPlain"/>
            </a:pPr>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effectLst/>
                <a:latin typeface="微软雅黑" panose="020B0503020204020204" pitchFamily="34" charset="-122"/>
                <a:ea typeface="微软雅黑" panose="020B0503020204020204" pitchFamily="34" charset="-122"/>
                <a:cs typeface="Times New Roman" panose="02020603050405020304" pitchFamily="18" charset="0"/>
              </a:rPr>
              <a:t>缺点：</a:t>
            </a:r>
          </a:p>
          <a:p>
            <a:pPr marL="800100" lvl="1" indent="-342900" algn="just">
              <a:buFont typeface="+mj-ea"/>
              <a:buAutoNum type="circleNumDbPlain"/>
            </a:pP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控制转移开销大</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marL="800100" lvl="1" indent="-342900" algn="just">
              <a:buFont typeface="+mj-ea"/>
              <a:buAutoNum type="circleNumDbPlain"/>
            </a:pP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应用进程无法影响线程的切换</a:t>
            </a:r>
          </a:p>
          <a:p>
            <a:pPr indent="304800" algn="just"/>
            <a:endParaRPr lang="en-US"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18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zh-CN" altLang="zh-CN" sz="1800" kern="100" dirty="0">
              <a:effectLst/>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p14="http://schemas.microsoft.com/office/powerpoint/2010/main" val="206182869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1">
            <a:extLst>
              <a:ext uri="{FF2B5EF4-FFF2-40B4-BE49-F238E27FC236}">
                <a16:creationId xmlns:a16="http://schemas.microsoft.com/office/drawing/2014/main" id="{0719C4E5-5393-9B66-62BA-07B746D600F9}"/>
              </a:ext>
            </a:extLst>
          </p:cNvPr>
          <p:cNvSpPr txBox="1">
            <a:spLocks noGrp="1"/>
          </p:cNvSpPr>
          <p:nvPr>
            <p:ph type="title"/>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3.4.1 </a:t>
            </a:r>
            <a:r>
              <a:rPr lang="zh-CN" altLang="en-US" dirty="0"/>
              <a:t> </a:t>
            </a:r>
            <a:r>
              <a:rPr lang="en-US" altLang="zh-CN" dirty="0"/>
              <a:t> </a:t>
            </a:r>
            <a:r>
              <a:rPr lang="zh-CN" altLang="en-US" dirty="0"/>
              <a:t>线程的实现方式</a:t>
            </a:r>
            <a:endParaRPr lang="zh-CN" altLang="zh-CN" dirty="0"/>
          </a:p>
        </p:txBody>
      </p:sp>
      <p:sp>
        <p:nvSpPr>
          <p:cNvPr id="2" name="Rectangle 2">
            <a:extLst>
              <a:ext uri="{FF2B5EF4-FFF2-40B4-BE49-F238E27FC236}">
                <a16:creationId xmlns:a16="http://schemas.microsoft.com/office/drawing/2014/main" id="{63BAFE15-7E3E-97B2-F1F8-FD9FAF5D12A9}"/>
              </a:ext>
            </a:extLst>
          </p:cNvPr>
          <p:cNvSpPr>
            <a:spLocks noChangeArrowheads="1"/>
          </p:cNvSpPr>
          <p:nvPr/>
        </p:nvSpPr>
        <p:spPr bwMode="auto">
          <a:xfrm>
            <a:off x="352425" y="1429940"/>
            <a:ext cx="6534785" cy="4154984"/>
          </a:xfrm>
          <a:prstGeom prst="rect">
            <a:avLst/>
          </a:prstGeom>
          <a:noFill/>
        </p:spPr>
        <p:txBody>
          <a:bodyPr wrap="square">
            <a:spAutoFit/>
          </a:bodyPr>
          <a:lstStyle/>
          <a:p>
            <a:pPr algn="just"/>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3</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）混合方式</a:t>
            </a:r>
            <a:endParaRPr lang="en-US" altLang="zh-CN" sz="2400"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endParaRPr>
          </a:p>
          <a:p>
            <a:pPr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algn="just"/>
            <a:r>
              <a:rPr lang="en-US" altLang="zh-CN" sz="2400" b="1"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b="1"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rPr>
              <a:t>用户级线程和核心级线程两种实现方式结合</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algn="just"/>
            <a:r>
              <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latin typeface="微软雅黑" panose="020B0503020204020204" pitchFamily="34" charset="-122"/>
                <a:ea typeface="微软雅黑" panose="020B0503020204020204" pitchFamily="34" charset="-122"/>
                <a:cs typeface="Times New Roman" panose="02020603050405020304" pitchFamily="18" charset="0"/>
              </a:rPr>
              <a:t>同一个进程内的多个线程可在多个处理器上</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algn="just"/>
            <a:r>
              <a:rPr lang="en-US" altLang="zh-CN" sz="2400" b="1"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b="1"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rPr>
              <a:t>并行运行</a:t>
            </a:r>
            <a:endParaRPr lang="en-US" altLang="zh-CN" sz="2400" b="1"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endParaRPr>
          </a:p>
          <a:p>
            <a:pPr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algn="just"/>
            <a:r>
              <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latin typeface="微软雅黑" panose="020B0503020204020204" pitchFamily="34" charset="-122"/>
                <a:ea typeface="微软雅黑" panose="020B0503020204020204" pitchFamily="34" charset="-122"/>
                <a:cs typeface="Times New Roman" panose="02020603050405020304" pitchFamily="18" charset="0"/>
              </a:rPr>
              <a:t>阻塞式系统调用不必将整个进程阻塞</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algn="just"/>
            <a:r>
              <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latin typeface="微软雅黑" panose="020B0503020204020204" pitchFamily="34" charset="-122"/>
                <a:ea typeface="微软雅黑" panose="020B0503020204020204" pitchFamily="34" charset="-122"/>
                <a:cs typeface="Times New Roman" panose="02020603050405020304" pitchFamily="18" charset="0"/>
              </a:rPr>
              <a:t>线程</a:t>
            </a:r>
            <a:r>
              <a:rPr lang="zh-CN" altLang="zh-CN" sz="2400" b="1"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rPr>
              <a:t>创建在用户空间</a:t>
            </a:r>
            <a:r>
              <a:rPr lang="zh-CN" altLang="zh-CN" sz="2400" kern="100" dirty="0">
                <a:latin typeface="微软雅黑" panose="020B0503020204020204" pitchFamily="34" charset="-122"/>
                <a:ea typeface="微软雅黑" panose="020B0503020204020204" pitchFamily="34" charset="-122"/>
                <a:cs typeface="Times New Roman" panose="02020603050405020304" pitchFamily="18" charset="0"/>
              </a:rPr>
              <a:t>完成</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algn="just"/>
            <a:r>
              <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latin typeface="微软雅黑" panose="020B0503020204020204" pitchFamily="34" charset="-122"/>
                <a:ea typeface="微软雅黑" panose="020B0503020204020204" pitchFamily="34" charset="-122"/>
                <a:cs typeface="Times New Roman" panose="02020603050405020304" pitchFamily="18" charset="0"/>
              </a:rPr>
              <a:t>线程</a:t>
            </a:r>
            <a:r>
              <a:rPr lang="zh-CN" altLang="zh-CN" sz="2400" b="1" kern="100" dirty="0">
                <a:solidFill>
                  <a:srgbClr val="9A0001"/>
                </a:solidFill>
                <a:latin typeface="微软雅黑" panose="020B0503020204020204" pitchFamily="34" charset="-122"/>
                <a:ea typeface="微软雅黑" panose="020B0503020204020204" pitchFamily="34" charset="-122"/>
                <a:cs typeface="Times New Roman" panose="02020603050405020304" pitchFamily="18" charset="0"/>
              </a:rPr>
              <a:t>调度等在核心态</a:t>
            </a:r>
            <a:r>
              <a:rPr lang="zh-CN" altLang="zh-CN" sz="2400" kern="100" dirty="0">
                <a:latin typeface="微软雅黑" panose="020B0503020204020204" pitchFamily="34" charset="-122"/>
                <a:ea typeface="微软雅黑" panose="020B0503020204020204" pitchFamily="34" charset="-122"/>
                <a:cs typeface="Times New Roman" panose="02020603050405020304" pitchFamily="18" charset="0"/>
              </a:rPr>
              <a:t>完成</a:t>
            </a:r>
          </a:p>
        </p:txBody>
      </p:sp>
      <p:pic>
        <p:nvPicPr>
          <p:cNvPr id="6" name="图片 5">
            <a:extLst>
              <a:ext uri="{FF2B5EF4-FFF2-40B4-BE49-F238E27FC236}">
                <a16:creationId xmlns:a16="http://schemas.microsoft.com/office/drawing/2014/main" id="{07B55E21-ECE8-423D-A2D7-1B2D770210F1}"/>
              </a:ext>
            </a:extLst>
          </p:cNvPr>
          <p:cNvPicPr/>
          <p:nvPr/>
        </p:nvPicPr>
        <p:blipFill>
          <a:blip r:embed="rId3">
            <a:extLst>
              <a:ext uri="{28A0092B-C50C-407E-A947-70E740481C1C}">
                <a14:useLocalDpi xmlns:a14="http://schemas.microsoft.com/office/drawing/2010/main" val="0"/>
              </a:ext>
            </a:extLst>
          </a:blip>
          <a:srcRect/>
          <a:stretch>
            <a:fillRect/>
          </a:stretch>
        </p:blipFill>
        <p:spPr>
          <a:xfrm>
            <a:off x="6728682" y="1596926"/>
            <a:ext cx="5448934" cy="3416320"/>
          </a:xfrm>
          <a:prstGeom prst="rect">
            <a:avLst/>
          </a:prstGeom>
          <a:noFill/>
          <a:ln>
            <a:noFill/>
          </a:ln>
        </p:spPr>
      </p:pic>
      <p:sp>
        <p:nvSpPr>
          <p:cNvPr id="7" name="灯片编号占位符 2">
            <a:extLst>
              <a:ext uri="{FF2B5EF4-FFF2-40B4-BE49-F238E27FC236}">
                <a16:creationId xmlns:a16="http://schemas.microsoft.com/office/drawing/2014/main" id="{B474B86F-056D-44C9-A0EF-275708735C39}"/>
              </a:ext>
            </a:extLst>
          </p:cNvPr>
          <p:cNvSpPr>
            <a:spLocks noGrp="1"/>
          </p:cNvSpPr>
          <p:nvPr>
            <p:ph type="sldNum" sz="quarter" idx="4"/>
          </p:nvPr>
        </p:nvSpPr>
        <p:spPr>
          <a:xfrm>
            <a:off x="9005791" y="6394353"/>
            <a:ext cx="2743200" cy="292196"/>
          </a:xfrm>
        </p:spPr>
        <p:txBody>
          <a:bodyPr/>
          <a:lstStyle/>
          <a:p>
            <a:r>
              <a:rPr lang="en-US" altLang="zh-CN"/>
              <a:t>&lt; </a:t>
            </a:r>
            <a:fld id="{A548B57D-AE10-4CF7-A9DF-59FEFA91B28E}" type="slidenum">
              <a:rPr lang="zh-CN" altLang="en-US" smtClean="0"/>
              <a:pPr/>
              <a:t>50</a:t>
            </a:fld>
            <a:r>
              <a:rPr lang="zh-CN" altLang="en-US"/>
              <a:t> </a:t>
            </a:r>
            <a:r>
              <a:rPr lang="en-US" altLang="zh-CN"/>
              <a:t>&gt;</a:t>
            </a:r>
            <a:endParaRPr lang="zh-CN" altLang="en-US" dirty="0"/>
          </a:p>
        </p:txBody>
      </p:sp>
    </p:spTree>
    <p:extLst>
      <p:ext uri="{BB962C8B-B14F-4D97-AF65-F5344CB8AC3E}">
        <p14:creationId xmlns:p14="http://schemas.microsoft.com/office/powerpoint/2010/main" val="131600937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1">
            <a:extLst>
              <a:ext uri="{FF2B5EF4-FFF2-40B4-BE49-F238E27FC236}">
                <a16:creationId xmlns:a16="http://schemas.microsoft.com/office/drawing/2014/main" id="{0719C4E5-5393-9B66-62BA-07B746D600F9}"/>
              </a:ext>
            </a:extLst>
          </p:cNvPr>
          <p:cNvSpPr txBox="1">
            <a:spLocks noGrp="1"/>
          </p:cNvSpPr>
          <p:nvPr>
            <p:ph type="title"/>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3.4.1 </a:t>
            </a:r>
            <a:r>
              <a:rPr lang="zh-CN" altLang="en-US" dirty="0"/>
              <a:t> </a:t>
            </a:r>
            <a:r>
              <a:rPr lang="en-US" altLang="zh-CN" dirty="0"/>
              <a:t> </a:t>
            </a:r>
            <a:r>
              <a:rPr lang="zh-CN" altLang="en-US" dirty="0"/>
              <a:t>线程的实现方式</a:t>
            </a:r>
            <a:endParaRPr lang="zh-CN" altLang="zh-CN" dirty="0"/>
          </a:p>
        </p:txBody>
      </p:sp>
      <p:sp>
        <p:nvSpPr>
          <p:cNvPr id="4" name="文本框 3">
            <a:extLst>
              <a:ext uri="{FF2B5EF4-FFF2-40B4-BE49-F238E27FC236}">
                <a16:creationId xmlns:a16="http://schemas.microsoft.com/office/drawing/2014/main" id="{C03F0BED-52E5-211B-ABA0-E7C5A2A38D06}"/>
              </a:ext>
            </a:extLst>
          </p:cNvPr>
          <p:cNvSpPr txBox="1"/>
          <p:nvPr/>
        </p:nvSpPr>
        <p:spPr>
          <a:xfrm>
            <a:off x="904876" y="1361871"/>
            <a:ext cx="11115674" cy="4893647"/>
          </a:xfrm>
          <a:prstGeom prst="rect">
            <a:avLst/>
          </a:prstGeom>
          <a:noFill/>
        </p:spPr>
        <p:txBody>
          <a:bodyPr wrap="square">
            <a:spAutoFit/>
          </a:bodyPr>
          <a:lstStyle/>
          <a:p>
            <a:pPr algn="just"/>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2</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．线程实现方式的比较</a:t>
            </a:r>
          </a:p>
          <a:p>
            <a:pPr indent="304800"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1</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）线程的调度与切换速度</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用户级线程的切换速度</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更加</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快</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2</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）系统调用</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用户级线程调用一个系统调用时，把系统调用看作是整个进程的行为</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内核支持线程，则调度是以线程为单位</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3</a:t>
            </a:r>
            <a:r>
              <a:rPr lang="zh-CN" altLang="zh-CN" sz="2400"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）线程执行时间</a:t>
            </a:r>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用户级线程</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调度是以进程为单位进行的</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核心级线程，调度是以线程为单位进行的</a:t>
            </a:r>
          </a:p>
          <a:p>
            <a:pPr indent="304800" algn="just"/>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6" name="灯片编号占位符 2">
            <a:extLst>
              <a:ext uri="{FF2B5EF4-FFF2-40B4-BE49-F238E27FC236}">
                <a16:creationId xmlns:a16="http://schemas.microsoft.com/office/drawing/2014/main" id="{A8DB491D-6122-426C-8A56-256E3972BD55}"/>
              </a:ext>
            </a:extLst>
          </p:cNvPr>
          <p:cNvSpPr>
            <a:spLocks noGrp="1"/>
          </p:cNvSpPr>
          <p:nvPr>
            <p:ph type="sldNum" sz="quarter" idx="4"/>
          </p:nvPr>
        </p:nvSpPr>
        <p:spPr>
          <a:xfrm>
            <a:off x="9005791" y="6394353"/>
            <a:ext cx="2743200" cy="292196"/>
          </a:xfrm>
        </p:spPr>
        <p:txBody>
          <a:bodyPr/>
          <a:lstStyle/>
          <a:p>
            <a:r>
              <a:rPr lang="en-US" altLang="zh-CN"/>
              <a:t>&lt; </a:t>
            </a:r>
            <a:fld id="{A548B57D-AE10-4CF7-A9DF-59FEFA91B28E}" type="slidenum">
              <a:rPr lang="zh-CN" altLang="en-US" smtClean="0"/>
              <a:pPr/>
              <a:t>51</a:t>
            </a:fld>
            <a:r>
              <a:rPr lang="zh-CN" altLang="en-US"/>
              <a:t> </a:t>
            </a:r>
            <a:r>
              <a:rPr lang="en-US" altLang="zh-CN"/>
              <a:t>&gt;</a:t>
            </a:r>
            <a:endParaRPr lang="zh-CN" altLang="en-US" dirty="0"/>
          </a:p>
        </p:txBody>
      </p:sp>
    </p:spTree>
    <p:extLst>
      <p:ext uri="{BB962C8B-B14F-4D97-AF65-F5344CB8AC3E}">
        <p14:creationId xmlns:p14="http://schemas.microsoft.com/office/powerpoint/2010/main" val="342160656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1">
            <a:extLst>
              <a:ext uri="{FF2B5EF4-FFF2-40B4-BE49-F238E27FC236}">
                <a16:creationId xmlns:a16="http://schemas.microsoft.com/office/drawing/2014/main" id="{0719C4E5-5393-9B66-62BA-07B746D600F9}"/>
              </a:ext>
            </a:extLst>
          </p:cNvPr>
          <p:cNvSpPr txBox="1">
            <a:spLocks noGrp="1"/>
          </p:cNvSpPr>
          <p:nvPr>
            <p:ph type="title"/>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a:t>3.4.2 </a:t>
            </a:r>
            <a:r>
              <a:rPr lang="zh-CN" altLang="en-US"/>
              <a:t> </a:t>
            </a:r>
            <a:r>
              <a:rPr lang="en-US" altLang="zh-CN"/>
              <a:t> </a:t>
            </a:r>
            <a:r>
              <a:rPr lang="en-US" altLang="zh-CN" dirty="0" err="1"/>
              <a:t>Pthread</a:t>
            </a:r>
            <a:r>
              <a:rPr lang="zh-CN" altLang="zh-CN" dirty="0"/>
              <a:t>线程包 </a:t>
            </a:r>
          </a:p>
        </p:txBody>
      </p:sp>
      <p:sp>
        <p:nvSpPr>
          <p:cNvPr id="3" name="文本框 2">
            <a:extLst>
              <a:ext uri="{FF2B5EF4-FFF2-40B4-BE49-F238E27FC236}">
                <a16:creationId xmlns:a16="http://schemas.microsoft.com/office/drawing/2014/main" id="{C5D7EE38-343B-2E1A-47BC-21C2555EF440}"/>
              </a:ext>
            </a:extLst>
          </p:cNvPr>
          <p:cNvSpPr txBox="1"/>
          <p:nvPr/>
        </p:nvSpPr>
        <p:spPr>
          <a:xfrm>
            <a:off x="299941" y="890411"/>
            <a:ext cx="11449050" cy="3139321"/>
          </a:xfrm>
          <a:prstGeom prst="rect">
            <a:avLst/>
          </a:prstGeom>
          <a:noFill/>
        </p:spPr>
        <p:txBody>
          <a:bodyPr wrap="square">
            <a:spAutoFit/>
          </a:bodyPr>
          <a:lstStyle/>
          <a:p>
            <a:pPr indent="304800" algn="just"/>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多线程应用程序用一组</a:t>
            </a:r>
            <a:r>
              <a:rPr lang="zh-CN" altLang="zh-CN" sz="22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用户级程序库</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来编写，将</a:t>
            </a:r>
            <a:r>
              <a:rPr lang="zh-CN" altLang="zh-CN" sz="22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所有线程映射到一个单独的内核级进程</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中</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en-US" sz="2200" kern="100" dirty="0">
                <a:effectLst/>
                <a:latin typeface="微软雅黑" panose="020B0503020204020204" pitchFamily="34" charset="-122"/>
                <a:ea typeface="微软雅黑" panose="020B0503020204020204" pitchFamily="34" charset="-122"/>
                <a:cs typeface="Times New Roman" panose="02020603050405020304" pitchFamily="18" charset="0"/>
              </a:rPr>
              <a:t>其中</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最著名的是</a:t>
            </a:r>
            <a:r>
              <a:rPr lang="zh-CN" altLang="en-US" sz="22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200" b="1" kern="100" dirty="0" err="1">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Pthread</a:t>
            </a:r>
            <a:r>
              <a:rPr lang="zh-CN" altLang="zh-CN" sz="22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2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POSIX thread</a:t>
            </a:r>
            <a:r>
              <a:rPr lang="zh-CN" altLang="zh-CN" sz="22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）库</a:t>
            </a:r>
            <a:endParaRPr lang="en-US" altLang="zh-CN" sz="22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266700" algn="just"/>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266700" algn="just"/>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2200" kern="100" dirty="0" err="1">
                <a:effectLst/>
                <a:latin typeface="微软雅黑" panose="020B0503020204020204" pitchFamily="34" charset="-122"/>
                <a:ea typeface="微软雅黑" panose="020B0503020204020204" pitchFamily="34" charset="-122"/>
                <a:cs typeface="Times New Roman" panose="02020603050405020304" pitchFamily="18" charset="0"/>
              </a:rPr>
              <a:t>Pthread</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线程</a:t>
            </a:r>
            <a:r>
              <a:rPr lang="zh-CN" altLang="en-US" sz="2200" kern="100" dirty="0">
                <a:latin typeface="微软雅黑" panose="020B0503020204020204" pitchFamily="34" charset="-122"/>
                <a:ea typeface="微软雅黑" panose="020B0503020204020204" pitchFamily="34" charset="-122"/>
                <a:cs typeface="Times New Roman" panose="02020603050405020304" pitchFamily="18" charset="0"/>
              </a:rPr>
              <a:t>共有</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特性</a:t>
            </a:r>
            <a:r>
              <a:rPr lang="zh-CN" altLang="en-US" sz="2200" kern="1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266700" algn="just"/>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一个</a:t>
            </a:r>
            <a:r>
              <a:rPr lang="zh-CN" altLang="zh-CN" sz="22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标识符</a:t>
            </a:r>
            <a:endParaRPr lang="en-US" altLang="zh-CN" sz="22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266700" algn="just"/>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一组</a:t>
            </a:r>
            <a:r>
              <a:rPr lang="zh-CN" altLang="zh-CN" sz="22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寄存器</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（包括程序计数器）</a:t>
            </a:r>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266700" algn="just"/>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一组存储在结构中的</a:t>
            </a:r>
            <a:r>
              <a:rPr lang="zh-CN" altLang="zh-CN" sz="22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属性</a:t>
            </a:r>
            <a:r>
              <a:rPr lang="zh-CN" altLang="en-US" sz="22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包括栈大小、调度参数以及其它线程需要的项目</a:t>
            </a:r>
            <a:endParaRPr lang="en-US" altLang="zh-CN" sz="22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266700" algn="just"/>
            <a:endPar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266700" algn="just"/>
            <a:r>
              <a:rPr lang="zh-CN" altLang="en-US" sz="2200" kern="100" dirty="0">
                <a:effectLst/>
                <a:latin typeface="微软雅黑" panose="020B0503020204020204" pitchFamily="34" charset="-122"/>
                <a:ea typeface="微软雅黑" panose="020B0503020204020204" pitchFamily="34" charset="-122"/>
                <a:cs typeface="Times New Roman" panose="02020603050405020304" pitchFamily="18" charset="0"/>
              </a:rPr>
              <a:t>下表</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中列举了几个主要的</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2200" kern="100" dirty="0" err="1">
                <a:effectLst/>
                <a:latin typeface="微软雅黑" panose="020B0503020204020204" pitchFamily="34" charset="-122"/>
                <a:ea typeface="微软雅黑" panose="020B0503020204020204" pitchFamily="34" charset="-122"/>
                <a:cs typeface="Times New Roman" panose="02020603050405020304" pitchFamily="18" charset="0"/>
              </a:rPr>
              <a:t>Pthread</a:t>
            </a:r>
            <a:r>
              <a:rPr lang="en-US"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2200" kern="100" dirty="0">
                <a:effectLst/>
                <a:latin typeface="微软雅黑" panose="020B0503020204020204" pitchFamily="34" charset="-122"/>
                <a:ea typeface="微软雅黑" panose="020B0503020204020204" pitchFamily="34" charset="-122"/>
                <a:cs typeface="Times New Roman" panose="02020603050405020304" pitchFamily="18" charset="0"/>
              </a:rPr>
              <a:t>函数调用</a:t>
            </a:r>
          </a:p>
        </p:txBody>
      </p:sp>
      <p:graphicFrame>
        <p:nvGraphicFramePr>
          <p:cNvPr id="12" name="表格 11">
            <a:extLst>
              <a:ext uri="{FF2B5EF4-FFF2-40B4-BE49-F238E27FC236}">
                <a16:creationId xmlns:a16="http://schemas.microsoft.com/office/drawing/2014/main" id="{1929F7F6-C8A9-175E-6F73-9342FE7F3951}"/>
              </a:ext>
            </a:extLst>
          </p:cNvPr>
          <p:cNvGraphicFramePr>
            <a:graphicFrameLocks noGrp="1"/>
          </p:cNvGraphicFramePr>
          <p:nvPr>
            <p:extLst>
              <p:ext uri="{D42A27DB-BD31-4B8C-83A1-F6EECF244321}">
                <p14:modId xmlns:p14="http://schemas.microsoft.com/office/powerpoint/2010/main" val="1538161921"/>
              </p:ext>
            </p:extLst>
          </p:nvPr>
        </p:nvGraphicFramePr>
        <p:xfrm>
          <a:off x="737711" y="4029732"/>
          <a:ext cx="7706678" cy="2364621"/>
        </p:xfrm>
        <a:graphic>
          <a:graphicData uri="http://schemas.openxmlformats.org/drawingml/2006/table">
            <a:tbl>
              <a:tblPr firstRow="1" firstCol="1" bandRow="1">
                <a:tableStyleId>{FABFCF23-3B69-468F-B69F-88F6DE6A72F2}</a:tableStyleId>
              </a:tblPr>
              <a:tblGrid>
                <a:gridCol w="3853339">
                  <a:extLst>
                    <a:ext uri="{9D8B030D-6E8A-4147-A177-3AD203B41FA5}">
                      <a16:colId xmlns:a16="http://schemas.microsoft.com/office/drawing/2014/main" val="533081562"/>
                    </a:ext>
                  </a:extLst>
                </a:gridCol>
                <a:gridCol w="3853339">
                  <a:extLst>
                    <a:ext uri="{9D8B030D-6E8A-4147-A177-3AD203B41FA5}">
                      <a16:colId xmlns:a16="http://schemas.microsoft.com/office/drawing/2014/main" val="1183389849"/>
                    </a:ext>
                  </a:extLst>
                </a:gridCol>
              </a:tblGrid>
              <a:tr h="337803">
                <a:tc>
                  <a:txBody>
                    <a:bodyPr/>
                    <a:lstStyle/>
                    <a:p>
                      <a:pPr algn="just"/>
                      <a:r>
                        <a:rPr lang="zh-CN" sz="1400" kern="100" dirty="0">
                          <a:solidFill>
                            <a:schemeClr val="bg1"/>
                          </a:solidFill>
                          <a:effectLst/>
                        </a:rPr>
                        <a:t>线程调用</a:t>
                      </a:r>
                      <a:endParaRPr lang="zh-CN" sz="2400" kern="100" dirty="0">
                        <a:solidFill>
                          <a:schemeClr val="bg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tc>
                <a:tc>
                  <a:txBody>
                    <a:bodyPr/>
                    <a:lstStyle/>
                    <a:p>
                      <a:pPr algn="just"/>
                      <a:r>
                        <a:rPr lang="zh-CN" sz="1400" kern="100" dirty="0">
                          <a:solidFill>
                            <a:schemeClr val="bg1"/>
                          </a:solidFill>
                          <a:effectLst/>
                        </a:rPr>
                        <a:t>描述</a:t>
                      </a:r>
                      <a:endParaRPr lang="zh-CN" sz="2400" kern="100" dirty="0">
                        <a:solidFill>
                          <a:schemeClr val="bg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tc>
                <a:extLst>
                  <a:ext uri="{0D108BD9-81ED-4DB2-BD59-A6C34878D82A}">
                    <a16:rowId xmlns:a16="http://schemas.microsoft.com/office/drawing/2014/main" val="707253770"/>
                  </a:ext>
                </a:extLst>
              </a:tr>
              <a:tr h="337803">
                <a:tc>
                  <a:txBody>
                    <a:bodyPr/>
                    <a:lstStyle/>
                    <a:p>
                      <a:pPr algn="just"/>
                      <a:r>
                        <a:rPr lang="en-US" sz="1400" u="sng" kern="100">
                          <a:solidFill>
                            <a:schemeClr val="tx1"/>
                          </a:solidFill>
                          <a:effectLst/>
                          <a:hlinkClick r:id="rId3">
                            <a:extLst>
                              <a:ext uri="{A12FA001-AC4F-418D-AE19-62706E023703}">
                                <ahyp:hlinkClr xmlns:ahyp="http://schemas.microsoft.com/office/drawing/2018/hyperlinkcolor" val="tx"/>
                              </a:ext>
                            </a:extLst>
                          </a:hlinkClick>
                        </a:rPr>
                        <a:t>pthread_create()</a:t>
                      </a:r>
                      <a:endParaRPr lang="zh-CN" sz="2400" kern="10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tc>
                <a:tc>
                  <a:txBody>
                    <a:bodyPr/>
                    <a:lstStyle/>
                    <a:p>
                      <a:pPr algn="just"/>
                      <a:r>
                        <a:rPr lang="zh-CN" sz="1400" kern="100" dirty="0">
                          <a:solidFill>
                            <a:schemeClr val="tx1"/>
                          </a:solidFill>
                          <a:effectLst/>
                        </a:rPr>
                        <a:t>创建一个新线程</a:t>
                      </a:r>
                      <a:endParaRPr lang="zh-CN" sz="2400" kern="100" dirty="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tc>
                <a:extLst>
                  <a:ext uri="{0D108BD9-81ED-4DB2-BD59-A6C34878D82A}">
                    <a16:rowId xmlns:a16="http://schemas.microsoft.com/office/drawing/2014/main" val="3307679824"/>
                  </a:ext>
                </a:extLst>
              </a:tr>
              <a:tr h="337803">
                <a:tc>
                  <a:txBody>
                    <a:bodyPr/>
                    <a:lstStyle/>
                    <a:p>
                      <a:pPr algn="just"/>
                      <a:r>
                        <a:rPr lang="en-US" sz="1400" u="sng" kern="100">
                          <a:solidFill>
                            <a:schemeClr val="tx1"/>
                          </a:solidFill>
                          <a:effectLst/>
                          <a:hlinkClick r:id="rId4">
                            <a:extLst>
                              <a:ext uri="{A12FA001-AC4F-418D-AE19-62706E023703}">
                                <ahyp:hlinkClr xmlns:ahyp="http://schemas.microsoft.com/office/drawing/2018/hyperlinkcolor" val="tx"/>
                              </a:ext>
                            </a:extLst>
                          </a:hlinkClick>
                        </a:rPr>
                        <a:t>pthread_join()</a:t>
                      </a:r>
                      <a:endParaRPr lang="zh-CN" sz="2400" kern="10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tc>
                <a:tc>
                  <a:txBody>
                    <a:bodyPr/>
                    <a:lstStyle/>
                    <a:p>
                      <a:pPr algn="just"/>
                      <a:r>
                        <a:rPr lang="zh-CN" sz="1400" kern="100" dirty="0">
                          <a:solidFill>
                            <a:schemeClr val="tx1"/>
                          </a:solidFill>
                          <a:effectLst/>
                        </a:rPr>
                        <a:t>等待一个特定的线程退出</a:t>
                      </a:r>
                      <a:endParaRPr lang="zh-CN" sz="2400" kern="100" dirty="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tc>
                <a:extLst>
                  <a:ext uri="{0D108BD9-81ED-4DB2-BD59-A6C34878D82A}">
                    <a16:rowId xmlns:a16="http://schemas.microsoft.com/office/drawing/2014/main" val="1581714880"/>
                  </a:ext>
                </a:extLst>
              </a:tr>
              <a:tr h="337803">
                <a:tc>
                  <a:txBody>
                    <a:bodyPr/>
                    <a:lstStyle/>
                    <a:p>
                      <a:pPr algn="just"/>
                      <a:r>
                        <a:rPr lang="en-US" sz="1400" u="sng" kern="100">
                          <a:solidFill>
                            <a:schemeClr val="tx1"/>
                          </a:solidFill>
                          <a:effectLst/>
                          <a:hlinkClick r:id="rId5">
                            <a:extLst>
                              <a:ext uri="{A12FA001-AC4F-418D-AE19-62706E023703}">
                                <ahyp:hlinkClr xmlns:ahyp="http://schemas.microsoft.com/office/drawing/2018/hyperlinkcolor" val="tx"/>
                              </a:ext>
                            </a:extLst>
                          </a:hlinkClick>
                        </a:rPr>
                        <a:t>pthread_exit()</a:t>
                      </a:r>
                      <a:endParaRPr lang="zh-CN" sz="2400" kern="10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tc>
                <a:tc>
                  <a:txBody>
                    <a:bodyPr/>
                    <a:lstStyle/>
                    <a:p>
                      <a:pPr algn="just"/>
                      <a:r>
                        <a:rPr lang="zh-CN" sz="1400" kern="100">
                          <a:solidFill>
                            <a:schemeClr val="tx1"/>
                          </a:solidFill>
                          <a:effectLst/>
                        </a:rPr>
                        <a:t>结束调用的线程</a:t>
                      </a:r>
                      <a:endParaRPr lang="zh-CN" sz="2400" kern="10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tc>
                <a:extLst>
                  <a:ext uri="{0D108BD9-81ED-4DB2-BD59-A6C34878D82A}">
                    <a16:rowId xmlns:a16="http://schemas.microsoft.com/office/drawing/2014/main" val="656791064"/>
                  </a:ext>
                </a:extLst>
              </a:tr>
              <a:tr h="337803">
                <a:tc>
                  <a:txBody>
                    <a:bodyPr/>
                    <a:lstStyle/>
                    <a:p>
                      <a:pPr algn="just"/>
                      <a:r>
                        <a:rPr lang="en-US" sz="1400" kern="100">
                          <a:solidFill>
                            <a:schemeClr val="tx1"/>
                          </a:solidFill>
                          <a:effectLst/>
                        </a:rPr>
                        <a:t>pthread_yield()</a:t>
                      </a:r>
                      <a:endParaRPr lang="zh-CN" sz="2400" kern="10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tc>
                <a:tc>
                  <a:txBody>
                    <a:bodyPr/>
                    <a:lstStyle/>
                    <a:p>
                      <a:pPr algn="just"/>
                      <a:r>
                        <a:rPr lang="zh-CN" sz="1400" kern="100">
                          <a:solidFill>
                            <a:schemeClr val="tx1"/>
                          </a:solidFill>
                          <a:effectLst/>
                        </a:rPr>
                        <a:t>释放</a:t>
                      </a:r>
                      <a:r>
                        <a:rPr lang="en-US" sz="1400" kern="100">
                          <a:solidFill>
                            <a:schemeClr val="tx1"/>
                          </a:solidFill>
                          <a:effectLst/>
                        </a:rPr>
                        <a:t>CPU</a:t>
                      </a:r>
                      <a:r>
                        <a:rPr lang="zh-CN" sz="1400" kern="100">
                          <a:solidFill>
                            <a:schemeClr val="tx1"/>
                          </a:solidFill>
                          <a:effectLst/>
                        </a:rPr>
                        <a:t>来运行另外一个线程</a:t>
                      </a:r>
                      <a:endParaRPr lang="zh-CN" sz="2400" kern="10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tc>
                <a:extLst>
                  <a:ext uri="{0D108BD9-81ED-4DB2-BD59-A6C34878D82A}">
                    <a16:rowId xmlns:a16="http://schemas.microsoft.com/office/drawing/2014/main" val="1890735511"/>
                  </a:ext>
                </a:extLst>
              </a:tr>
              <a:tr h="337803">
                <a:tc>
                  <a:txBody>
                    <a:bodyPr/>
                    <a:lstStyle/>
                    <a:p>
                      <a:pPr algn="just"/>
                      <a:r>
                        <a:rPr lang="en-US" sz="1400" u="sng" kern="100">
                          <a:solidFill>
                            <a:schemeClr val="tx1"/>
                          </a:solidFill>
                          <a:effectLst/>
                          <a:hlinkClick r:id="rId6">
                            <a:extLst>
                              <a:ext uri="{A12FA001-AC4F-418D-AE19-62706E023703}">
                                <ahyp:hlinkClr xmlns:ahyp="http://schemas.microsoft.com/office/drawing/2018/hyperlinkcolor" val="tx"/>
                              </a:ext>
                            </a:extLst>
                          </a:hlinkClick>
                        </a:rPr>
                        <a:t>pthread_attr_init()</a:t>
                      </a:r>
                      <a:endParaRPr lang="zh-CN" sz="2400" kern="10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tc>
                <a:tc>
                  <a:txBody>
                    <a:bodyPr/>
                    <a:lstStyle/>
                    <a:p>
                      <a:pPr algn="just"/>
                      <a:r>
                        <a:rPr lang="zh-CN" sz="1400" kern="100">
                          <a:solidFill>
                            <a:schemeClr val="tx1"/>
                          </a:solidFill>
                          <a:effectLst/>
                        </a:rPr>
                        <a:t>创建并初始化一个线程</a:t>
                      </a:r>
                      <a:endParaRPr lang="zh-CN" sz="2400" kern="10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tc>
                <a:extLst>
                  <a:ext uri="{0D108BD9-81ED-4DB2-BD59-A6C34878D82A}">
                    <a16:rowId xmlns:a16="http://schemas.microsoft.com/office/drawing/2014/main" val="3584473639"/>
                  </a:ext>
                </a:extLst>
              </a:tr>
              <a:tr h="337803">
                <a:tc>
                  <a:txBody>
                    <a:bodyPr/>
                    <a:lstStyle/>
                    <a:p>
                      <a:pPr algn="just"/>
                      <a:r>
                        <a:rPr lang="en-US" sz="1400" u="sng" kern="100">
                          <a:solidFill>
                            <a:schemeClr val="tx1"/>
                          </a:solidFill>
                          <a:effectLst/>
                          <a:hlinkClick r:id="rId7">
                            <a:extLst>
                              <a:ext uri="{A12FA001-AC4F-418D-AE19-62706E023703}">
                                <ahyp:hlinkClr xmlns:ahyp="http://schemas.microsoft.com/office/drawing/2018/hyperlinkcolor" val="tx"/>
                              </a:ext>
                            </a:extLst>
                          </a:hlinkClick>
                        </a:rPr>
                        <a:t>pthread_attr_destroy()</a:t>
                      </a:r>
                      <a:endParaRPr lang="zh-CN" sz="2400" kern="10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tc>
                <a:tc>
                  <a:txBody>
                    <a:bodyPr/>
                    <a:lstStyle/>
                    <a:p>
                      <a:pPr algn="just"/>
                      <a:r>
                        <a:rPr lang="zh-CN" sz="1400" kern="100" dirty="0">
                          <a:solidFill>
                            <a:schemeClr val="tx1"/>
                          </a:solidFill>
                          <a:effectLst/>
                        </a:rPr>
                        <a:t>删除一个线程的属性结构</a:t>
                      </a:r>
                      <a:endParaRPr lang="zh-CN" sz="2400" kern="100" dirty="0">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marL="68580" marR="68580" marT="0" marB="0"/>
                </a:tc>
                <a:extLst>
                  <a:ext uri="{0D108BD9-81ED-4DB2-BD59-A6C34878D82A}">
                    <a16:rowId xmlns:a16="http://schemas.microsoft.com/office/drawing/2014/main" val="3233985857"/>
                  </a:ext>
                </a:extLst>
              </a:tr>
            </a:tbl>
          </a:graphicData>
        </a:graphic>
      </p:graphicFrame>
      <p:sp>
        <p:nvSpPr>
          <p:cNvPr id="6" name="灯片编号占位符 2">
            <a:extLst>
              <a:ext uri="{FF2B5EF4-FFF2-40B4-BE49-F238E27FC236}">
                <a16:creationId xmlns:a16="http://schemas.microsoft.com/office/drawing/2014/main" id="{D1138F82-4129-4B52-BA51-BB385E365EB5}"/>
              </a:ext>
            </a:extLst>
          </p:cNvPr>
          <p:cNvSpPr>
            <a:spLocks noGrp="1"/>
          </p:cNvSpPr>
          <p:nvPr>
            <p:ph type="sldNum" sz="quarter" idx="4"/>
          </p:nvPr>
        </p:nvSpPr>
        <p:spPr>
          <a:xfrm>
            <a:off x="9005791" y="6394353"/>
            <a:ext cx="2743200" cy="292196"/>
          </a:xfrm>
        </p:spPr>
        <p:txBody>
          <a:bodyPr/>
          <a:lstStyle/>
          <a:p>
            <a:r>
              <a:rPr lang="en-US" altLang="zh-CN"/>
              <a:t>&lt; </a:t>
            </a:r>
            <a:fld id="{A548B57D-AE10-4CF7-A9DF-59FEFA91B28E}" type="slidenum">
              <a:rPr lang="zh-CN" altLang="en-US" smtClean="0"/>
              <a:pPr/>
              <a:t>52</a:t>
            </a:fld>
            <a:r>
              <a:rPr lang="zh-CN" altLang="en-US"/>
              <a:t> </a:t>
            </a:r>
            <a:r>
              <a:rPr lang="en-US" altLang="zh-CN"/>
              <a:t>&gt;</a:t>
            </a:r>
            <a:endParaRPr lang="zh-CN" altLang="en-US" dirty="0"/>
          </a:p>
        </p:txBody>
      </p:sp>
    </p:spTree>
    <p:extLst>
      <p:ext uri="{BB962C8B-B14F-4D97-AF65-F5344CB8AC3E}">
        <p14:creationId xmlns:p14="http://schemas.microsoft.com/office/powerpoint/2010/main" val="414043510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1">
            <a:extLst>
              <a:ext uri="{FF2B5EF4-FFF2-40B4-BE49-F238E27FC236}">
                <a16:creationId xmlns:a16="http://schemas.microsoft.com/office/drawing/2014/main" id="{0719C4E5-5393-9B66-62BA-07B746D600F9}"/>
              </a:ext>
            </a:extLst>
          </p:cNvPr>
          <p:cNvSpPr txBox="1">
            <a:spLocks noGrp="1"/>
          </p:cNvSpPr>
          <p:nvPr>
            <p:ph type="title"/>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3.4.2 </a:t>
            </a:r>
            <a:r>
              <a:rPr lang="zh-CN" altLang="en-US" dirty="0"/>
              <a:t> </a:t>
            </a:r>
            <a:r>
              <a:rPr lang="en-US" altLang="zh-CN" dirty="0"/>
              <a:t> </a:t>
            </a:r>
            <a:r>
              <a:rPr lang="en-US" altLang="zh-CN" dirty="0" err="1"/>
              <a:t>Pthread</a:t>
            </a:r>
            <a:r>
              <a:rPr lang="zh-CN" altLang="zh-CN" dirty="0"/>
              <a:t>线程包 </a:t>
            </a:r>
          </a:p>
        </p:txBody>
      </p:sp>
      <p:sp>
        <p:nvSpPr>
          <p:cNvPr id="3" name="文本框 2">
            <a:extLst>
              <a:ext uri="{FF2B5EF4-FFF2-40B4-BE49-F238E27FC236}">
                <a16:creationId xmlns:a16="http://schemas.microsoft.com/office/drawing/2014/main" id="{6ED253AA-144E-A2DD-E336-C411D98AE557}"/>
              </a:ext>
            </a:extLst>
          </p:cNvPr>
          <p:cNvSpPr txBox="1"/>
          <p:nvPr/>
        </p:nvSpPr>
        <p:spPr>
          <a:xfrm>
            <a:off x="442913" y="957710"/>
            <a:ext cx="11139487" cy="461665"/>
          </a:xfrm>
          <a:prstGeom prst="rect">
            <a:avLst/>
          </a:prstGeom>
          <a:noFill/>
        </p:spPr>
        <p:txBody>
          <a:bodyPr wrap="square">
            <a:spAutoFit/>
          </a:bodyPr>
          <a:lstStyle/>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代码示例</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err="1">
                <a:effectLst/>
                <a:latin typeface="微软雅黑" panose="020B0503020204020204" pitchFamily="34" charset="-122"/>
                <a:ea typeface="微软雅黑" panose="020B0503020204020204" pitchFamily="34" charset="-122"/>
                <a:cs typeface="Times New Roman" panose="02020603050405020304" pitchFamily="18" charset="0"/>
              </a:rPr>
              <a:t>Pthread</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库的简单应用</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7" name="文本框 6">
            <a:extLst>
              <a:ext uri="{FF2B5EF4-FFF2-40B4-BE49-F238E27FC236}">
                <a16:creationId xmlns:a16="http://schemas.microsoft.com/office/drawing/2014/main" id="{A266619E-E8A1-5306-E7BA-575E9BDADB8F}"/>
              </a:ext>
            </a:extLst>
          </p:cNvPr>
          <p:cNvSpPr txBox="1"/>
          <p:nvPr/>
        </p:nvSpPr>
        <p:spPr>
          <a:xfrm>
            <a:off x="114300" y="1515999"/>
            <a:ext cx="8623935" cy="3134191"/>
          </a:xfrm>
          <a:prstGeom prst="rect">
            <a:avLst/>
          </a:prstGeom>
          <a:noFill/>
        </p:spPr>
        <p:txBody>
          <a:bodyPr wrap="square">
            <a:spAutoFit/>
          </a:bodyPr>
          <a:lstStyle/>
          <a:p>
            <a:pPr marL="540385" indent="254000" algn="just"/>
            <a:r>
              <a:rPr lang="en-US" altLang="zh-CN" sz="2800" kern="500" baseline="30000" dirty="0">
                <a:latin typeface="Times New Roman" panose="02020603050405020304" pitchFamily="18" charset="0"/>
                <a:ea typeface="宋体" panose="02010600030101010101" pitchFamily="2" charset="-122"/>
              </a:rPr>
              <a:t>#include  &lt;</a:t>
            </a:r>
            <a:r>
              <a:rPr lang="en-US" altLang="zh-CN" sz="2800" kern="500" baseline="30000" dirty="0" err="1">
                <a:latin typeface="Times New Roman" panose="02020603050405020304" pitchFamily="18" charset="0"/>
                <a:ea typeface="宋体" panose="02010600030101010101" pitchFamily="2" charset="-122"/>
              </a:rPr>
              <a:t>pthread.h</a:t>
            </a:r>
            <a:r>
              <a:rPr lang="en-US" altLang="zh-CN" sz="2800" kern="500" baseline="30000" dirty="0">
                <a:latin typeface="Times New Roman" panose="02020603050405020304" pitchFamily="18" charset="0"/>
                <a:ea typeface="宋体" panose="02010600030101010101" pitchFamily="2" charset="-122"/>
              </a:rPr>
              <a:t>&gt; // </a:t>
            </a:r>
            <a:r>
              <a:rPr lang="zh-CN" altLang="zh-CN" sz="2800" kern="500" baseline="30000" dirty="0">
                <a:latin typeface="Times New Roman" panose="02020603050405020304" pitchFamily="18" charset="0"/>
                <a:ea typeface="宋体" panose="02010600030101010101" pitchFamily="2" charset="-122"/>
              </a:rPr>
              <a:t>引入</a:t>
            </a:r>
            <a:r>
              <a:rPr lang="en-US" altLang="zh-CN" sz="2800" kern="500" baseline="30000" dirty="0" err="1">
                <a:latin typeface="Times New Roman" panose="02020603050405020304" pitchFamily="18" charset="0"/>
                <a:ea typeface="宋体" panose="02010600030101010101" pitchFamily="2" charset="-122"/>
              </a:rPr>
              <a:t>pthread</a:t>
            </a:r>
            <a:r>
              <a:rPr lang="zh-CN" altLang="zh-CN" sz="2800" kern="500" baseline="30000" dirty="0">
                <a:latin typeface="Times New Roman" panose="02020603050405020304" pitchFamily="18" charset="0"/>
                <a:ea typeface="宋体" panose="02010600030101010101" pitchFamily="2" charset="-122"/>
              </a:rPr>
              <a:t>库</a:t>
            </a:r>
          </a:p>
          <a:p>
            <a:pPr marL="540385" indent="254000" algn="just"/>
            <a:r>
              <a:rPr lang="en-US" altLang="zh-CN" sz="2800" kern="500" baseline="30000" dirty="0">
                <a:latin typeface="Times New Roman" panose="02020603050405020304" pitchFamily="18" charset="0"/>
                <a:ea typeface="宋体" panose="02010600030101010101" pitchFamily="2" charset="-122"/>
              </a:rPr>
              <a:t>#include  &lt;</a:t>
            </a:r>
            <a:r>
              <a:rPr lang="en-US" altLang="zh-CN" sz="2800" kern="500" baseline="30000" dirty="0" err="1">
                <a:latin typeface="Times New Roman" panose="02020603050405020304" pitchFamily="18" charset="0"/>
                <a:ea typeface="宋体" panose="02010600030101010101" pitchFamily="2" charset="-122"/>
              </a:rPr>
              <a:t>stdio.h</a:t>
            </a:r>
            <a:r>
              <a:rPr lang="en-US" altLang="zh-CN" sz="2800" kern="500" baseline="30000" dirty="0">
                <a:latin typeface="Times New Roman" panose="02020603050405020304" pitchFamily="18" charset="0"/>
                <a:ea typeface="宋体" panose="02010600030101010101" pitchFamily="2" charset="-122"/>
              </a:rPr>
              <a:t>&gt;</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#include  &lt;</a:t>
            </a:r>
            <a:r>
              <a:rPr lang="en-US" altLang="zh-CN" sz="2800" kern="500" baseline="30000" dirty="0" err="1">
                <a:latin typeface="Times New Roman" panose="02020603050405020304" pitchFamily="18" charset="0"/>
                <a:ea typeface="宋体" panose="02010600030101010101" pitchFamily="2" charset="-122"/>
              </a:rPr>
              <a:t>stdlib.h</a:t>
            </a:r>
            <a:r>
              <a:rPr lang="en-US" altLang="zh-CN" sz="2800" kern="500" baseline="30000" dirty="0">
                <a:latin typeface="Times New Roman" panose="02020603050405020304" pitchFamily="18" charset="0"/>
                <a:ea typeface="宋体" panose="02010600030101010101" pitchFamily="2" charset="-122"/>
              </a:rPr>
              <a:t>&gt;</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#define  NUMBER_OF_THREADS  10</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void  *</a:t>
            </a:r>
            <a:r>
              <a:rPr lang="en-US" altLang="zh-CN" sz="2800" kern="500" baseline="30000" dirty="0" err="1">
                <a:latin typeface="Times New Roman" panose="02020603050405020304" pitchFamily="18" charset="0"/>
                <a:ea typeface="宋体" panose="02010600030101010101" pitchFamily="2" charset="-122"/>
              </a:rPr>
              <a:t>print_hello_world</a:t>
            </a:r>
            <a:r>
              <a:rPr lang="en-US" altLang="zh-CN" sz="2800" kern="500" baseline="30000" dirty="0">
                <a:latin typeface="Times New Roman" panose="02020603050405020304" pitchFamily="18" charset="0"/>
                <a:ea typeface="宋体" panose="02010600030101010101" pitchFamily="2" charset="-122"/>
              </a:rPr>
              <a:t>(void *</a:t>
            </a:r>
            <a:r>
              <a:rPr lang="en-US" altLang="zh-CN" sz="2800" kern="500" baseline="30000" dirty="0" err="1">
                <a:latin typeface="Times New Roman" panose="02020603050405020304" pitchFamily="18" charset="0"/>
                <a:ea typeface="宋体" panose="02010600030101010101" pitchFamily="2" charset="-122"/>
              </a:rPr>
              <a:t>tid</a:t>
            </a:r>
            <a:r>
              <a:rPr lang="en-US" altLang="zh-CN" sz="2800" kern="500" baseline="30000" dirty="0">
                <a:latin typeface="Times New Roman" panose="02020603050405020304" pitchFamily="18" charset="0"/>
                <a:ea typeface="宋体" panose="02010600030101010101" pitchFamily="2" charset="-122"/>
              </a:rPr>
              <a:t>) {</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 </a:t>
            </a:r>
            <a:r>
              <a:rPr lang="zh-CN" altLang="zh-CN" sz="2800" kern="500" baseline="30000" dirty="0">
                <a:latin typeface="Times New Roman" panose="02020603050405020304" pitchFamily="18" charset="0"/>
                <a:ea typeface="宋体" panose="02010600030101010101" pitchFamily="2" charset="-122"/>
              </a:rPr>
              <a:t>本函数输出线程的标识符，然后退出。</a:t>
            </a:r>
            <a:r>
              <a:rPr lang="en-US" altLang="zh-CN" sz="2800" kern="500" baseline="30000" dirty="0">
                <a:latin typeface="Times New Roman" panose="02020603050405020304" pitchFamily="18" charset="0"/>
                <a:ea typeface="宋体" panose="02010600030101010101" pitchFamily="2" charset="-122"/>
              </a:rPr>
              <a:t> */</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a:t>
            </a:r>
            <a:r>
              <a:rPr lang="en-US" altLang="zh-CN" sz="2800" kern="500" baseline="30000" dirty="0" err="1">
                <a:latin typeface="Times New Roman" panose="02020603050405020304" pitchFamily="18" charset="0"/>
                <a:ea typeface="宋体" panose="02010600030101010101" pitchFamily="2" charset="-122"/>
              </a:rPr>
              <a:t>printf</a:t>
            </a:r>
            <a:r>
              <a:rPr lang="en-US" altLang="zh-CN" sz="2800" kern="500" baseline="30000" dirty="0">
                <a:latin typeface="Times New Roman" panose="02020603050405020304" pitchFamily="18" charset="0"/>
                <a:ea typeface="宋体" panose="02010600030101010101" pitchFamily="2" charset="-122"/>
              </a:rPr>
              <a:t>("Hello World. %d0\n", *(int*)</a:t>
            </a:r>
            <a:r>
              <a:rPr lang="en-US" altLang="zh-CN" sz="2800" kern="500" baseline="30000" dirty="0" err="1">
                <a:latin typeface="Times New Roman" panose="02020603050405020304" pitchFamily="18" charset="0"/>
                <a:ea typeface="宋体" panose="02010600030101010101" pitchFamily="2" charset="-122"/>
              </a:rPr>
              <a:t>tid</a:t>
            </a:r>
            <a:r>
              <a:rPr lang="en-US" altLang="zh-CN" sz="2800" kern="500" baseline="30000" dirty="0">
                <a:latin typeface="Times New Roman" panose="02020603050405020304" pitchFamily="18" charset="0"/>
                <a:ea typeface="宋体" panose="02010600030101010101" pitchFamily="2" charset="-122"/>
              </a:rPr>
              <a:t>);</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a:t>
            </a:r>
            <a:r>
              <a:rPr lang="en-US" altLang="zh-CN" sz="2800" kern="500" baseline="30000" dirty="0" err="1">
                <a:latin typeface="Times New Roman" panose="02020603050405020304" pitchFamily="18" charset="0"/>
                <a:ea typeface="宋体" panose="02010600030101010101" pitchFamily="2" charset="-122"/>
              </a:rPr>
              <a:t>pthread_exit</a:t>
            </a:r>
            <a:r>
              <a:rPr lang="en-US" altLang="zh-CN" sz="2800" kern="500" baseline="30000" dirty="0">
                <a:latin typeface="Times New Roman" panose="02020603050405020304" pitchFamily="18" charset="0"/>
                <a:ea typeface="宋体" panose="02010600030101010101" pitchFamily="2" charset="-122"/>
              </a:rPr>
              <a:t>(NULL);</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a:t>
            </a:r>
            <a:endParaRPr lang="zh-CN" altLang="zh-CN" sz="2800" kern="500" baseline="30000" dirty="0">
              <a:latin typeface="Times New Roman" panose="02020603050405020304" pitchFamily="18" charset="0"/>
              <a:ea typeface="宋体" panose="02010600030101010101" pitchFamily="2" charset="-122"/>
            </a:endParaRPr>
          </a:p>
          <a:p>
            <a:pPr indent="304800" algn="just"/>
            <a:endParaRPr lang="zh-CN" altLang="zh-CN" sz="1100" kern="100" dirty="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9" name="文本框 8">
            <a:extLst>
              <a:ext uri="{FF2B5EF4-FFF2-40B4-BE49-F238E27FC236}">
                <a16:creationId xmlns:a16="http://schemas.microsoft.com/office/drawing/2014/main" id="{DDF44B33-C765-5AE6-92FF-DBC175D1E726}"/>
              </a:ext>
            </a:extLst>
          </p:cNvPr>
          <p:cNvSpPr txBox="1"/>
          <p:nvPr/>
        </p:nvSpPr>
        <p:spPr>
          <a:xfrm>
            <a:off x="6158160" y="1515998"/>
            <a:ext cx="5160149" cy="2677656"/>
          </a:xfrm>
          <a:prstGeom prst="rect">
            <a:avLst/>
          </a:prstGeom>
          <a:noFill/>
        </p:spPr>
        <p:txBody>
          <a:bodyPr wrap="square">
            <a:spAutoFit/>
          </a:bodyPr>
          <a:lstStyle/>
          <a:p>
            <a:pPr indent="304800"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引入</a:t>
            </a:r>
            <a:r>
              <a:rPr lang="en-US" altLang="zh-CN" sz="2400" kern="100" dirty="0" err="1">
                <a:effectLst/>
                <a:latin typeface="微软雅黑" panose="020B0503020204020204" pitchFamily="34" charset="-122"/>
                <a:ea typeface="微软雅黑" panose="020B0503020204020204" pitchFamily="34" charset="-122"/>
                <a:cs typeface="Times New Roman" panose="02020603050405020304" pitchFamily="18" charset="0"/>
              </a:rPr>
              <a:t>Pthread</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库，并定义线程需要执行的函数：</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当创建一个线程时，它打印一条发布信息，然后退出</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6" name="灯片编号占位符 2">
            <a:extLst>
              <a:ext uri="{FF2B5EF4-FFF2-40B4-BE49-F238E27FC236}">
                <a16:creationId xmlns:a16="http://schemas.microsoft.com/office/drawing/2014/main" id="{9EFFB463-09A0-4035-969B-AD5F3E2ED403}"/>
              </a:ext>
            </a:extLst>
          </p:cNvPr>
          <p:cNvSpPr>
            <a:spLocks noGrp="1"/>
          </p:cNvSpPr>
          <p:nvPr>
            <p:ph type="sldNum" sz="quarter" idx="4"/>
          </p:nvPr>
        </p:nvSpPr>
        <p:spPr>
          <a:xfrm>
            <a:off x="9005791" y="6394353"/>
            <a:ext cx="2743200" cy="292196"/>
          </a:xfrm>
        </p:spPr>
        <p:txBody>
          <a:bodyPr/>
          <a:lstStyle/>
          <a:p>
            <a:r>
              <a:rPr lang="en-US" altLang="zh-CN"/>
              <a:t>&lt; </a:t>
            </a:r>
            <a:fld id="{A548B57D-AE10-4CF7-A9DF-59FEFA91B28E}" type="slidenum">
              <a:rPr lang="zh-CN" altLang="en-US" smtClean="0"/>
              <a:pPr/>
              <a:t>53</a:t>
            </a:fld>
            <a:r>
              <a:rPr lang="zh-CN" altLang="en-US"/>
              <a:t> </a:t>
            </a:r>
            <a:r>
              <a:rPr lang="en-US" altLang="zh-CN"/>
              <a:t>&gt;</a:t>
            </a:r>
            <a:endParaRPr lang="zh-CN" altLang="en-US" dirty="0"/>
          </a:p>
        </p:txBody>
      </p:sp>
    </p:spTree>
    <p:extLst>
      <p:ext uri="{BB962C8B-B14F-4D97-AF65-F5344CB8AC3E}">
        <p14:creationId xmlns:p14="http://schemas.microsoft.com/office/powerpoint/2010/main" val="367357311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1">
            <a:extLst>
              <a:ext uri="{FF2B5EF4-FFF2-40B4-BE49-F238E27FC236}">
                <a16:creationId xmlns:a16="http://schemas.microsoft.com/office/drawing/2014/main" id="{0719C4E5-5393-9B66-62BA-07B746D600F9}"/>
              </a:ext>
            </a:extLst>
          </p:cNvPr>
          <p:cNvSpPr txBox="1">
            <a:spLocks noGrp="1"/>
          </p:cNvSpPr>
          <p:nvPr>
            <p:ph type="title"/>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3.4.2 </a:t>
            </a:r>
            <a:r>
              <a:rPr lang="zh-CN" altLang="en-US" dirty="0"/>
              <a:t> </a:t>
            </a:r>
            <a:r>
              <a:rPr lang="en-US" altLang="zh-CN" dirty="0"/>
              <a:t> </a:t>
            </a:r>
            <a:r>
              <a:rPr lang="en-US" altLang="zh-CN" dirty="0" err="1"/>
              <a:t>Pthread</a:t>
            </a:r>
            <a:r>
              <a:rPr lang="zh-CN" altLang="zh-CN" dirty="0"/>
              <a:t>线程包 </a:t>
            </a:r>
          </a:p>
        </p:txBody>
      </p:sp>
      <p:sp>
        <p:nvSpPr>
          <p:cNvPr id="3" name="文本框 2">
            <a:extLst>
              <a:ext uri="{FF2B5EF4-FFF2-40B4-BE49-F238E27FC236}">
                <a16:creationId xmlns:a16="http://schemas.microsoft.com/office/drawing/2014/main" id="{6ED253AA-144E-A2DD-E336-C411D98AE557}"/>
              </a:ext>
            </a:extLst>
          </p:cNvPr>
          <p:cNvSpPr txBox="1"/>
          <p:nvPr/>
        </p:nvSpPr>
        <p:spPr>
          <a:xfrm>
            <a:off x="-354755" y="964963"/>
            <a:ext cx="11139487" cy="461665"/>
          </a:xfrm>
          <a:prstGeom prst="rect">
            <a:avLst/>
          </a:prstGeom>
          <a:noFill/>
        </p:spPr>
        <p:txBody>
          <a:bodyPr wrap="square">
            <a:spAutoFit/>
          </a:bodyPr>
          <a:lstStyle/>
          <a:p>
            <a:pPr indent="304800" algn="just"/>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代码示例</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2400" kern="100" dirty="0" err="1">
                <a:effectLst/>
                <a:latin typeface="微软雅黑" panose="020B0503020204020204" pitchFamily="34" charset="-122"/>
                <a:ea typeface="微软雅黑" panose="020B0503020204020204" pitchFamily="34" charset="-122"/>
                <a:cs typeface="Times New Roman" panose="02020603050405020304" pitchFamily="18" charset="0"/>
              </a:rPr>
              <a:t>Pthread</a:t>
            </a:r>
            <a:r>
              <a:rPr lang="zh-CN" altLang="en-US" sz="2400" kern="100" dirty="0">
                <a:effectLst/>
                <a:latin typeface="微软雅黑" panose="020B0503020204020204" pitchFamily="34" charset="-122"/>
                <a:ea typeface="微软雅黑" panose="020B0503020204020204" pitchFamily="34" charset="-122"/>
                <a:cs typeface="Times New Roman" panose="02020603050405020304" pitchFamily="18" charset="0"/>
              </a:rPr>
              <a:t>库的简单应用</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a:t>
            </a:r>
            <a:endPar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9" name="文本框 8">
            <a:extLst>
              <a:ext uri="{FF2B5EF4-FFF2-40B4-BE49-F238E27FC236}">
                <a16:creationId xmlns:a16="http://schemas.microsoft.com/office/drawing/2014/main" id="{DDF44B33-C765-5AE6-92FF-DBC175D1E726}"/>
              </a:ext>
            </a:extLst>
          </p:cNvPr>
          <p:cNvSpPr txBox="1"/>
          <p:nvPr/>
        </p:nvSpPr>
        <p:spPr>
          <a:xfrm>
            <a:off x="5319970" y="1594472"/>
            <a:ext cx="6429021" cy="2308324"/>
          </a:xfrm>
          <a:prstGeom prst="rect">
            <a:avLst/>
          </a:prstGeom>
          <a:noFill/>
        </p:spPr>
        <p:txBody>
          <a:bodyPr wrap="square">
            <a:spAutoFit/>
          </a:bodyPr>
          <a:lstStyle/>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这里主程序循环</a:t>
            </a:r>
            <a:r>
              <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NUMBER_OF_THREADS</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次，每次创建一个新的线程</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如果线程创建失败，会打印出一条错误信息后退出。在创建完所有线程之后，主程序退出</a:t>
            </a:r>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这些不同信息交错的顺序是不确定</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的，并且可能在连续运行程序的情况下发生变化</a:t>
            </a:r>
          </a:p>
        </p:txBody>
      </p:sp>
      <p:sp>
        <p:nvSpPr>
          <p:cNvPr id="6" name="灯片编号占位符 2">
            <a:extLst>
              <a:ext uri="{FF2B5EF4-FFF2-40B4-BE49-F238E27FC236}">
                <a16:creationId xmlns:a16="http://schemas.microsoft.com/office/drawing/2014/main" id="{9EFFB463-09A0-4035-969B-AD5F3E2ED403}"/>
              </a:ext>
            </a:extLst>
          </p:cNvPr>
          <p:cNvSpPr>
            <a:spLocks noGrp="1"/>
          </p:cNvSpPr>
          <p:nvPr>
            <p:ph type="sldNum" sz="quarter" idx="4"/>
          </p:nvPr>
        </p:nvSpPr>
        <p:spPr>
          <a:xfrm>
            <a:off x="9005791" y="6394353"/>
            <a:ext cx="2743200" cy="292196"/>
          </a:xfrm>
        </p:spPr>
        <p:txBody>
          <a:bodyPr/>
          <a:lstStyle/>
          <a:p>
            <a:r>
              <a:rPr lang="en-US" altLang="zh-CN"/>
              <a:t>&lt; </a:t>
            </a:r>
            <a:fld id="{A548B57D-AE10-4CF7-A9DF-59FEFA91B28E}" type="slidenum">
              <a:rPr lang="zh-CN" altLang="en-US" smtClean="0"/>
              <a:pPr/>
              <a:t>54</a:t>
            </a:fld>
            <a:r>
              <a:rPr lang="zh-CN" altLang="en-US"/>
              <a:t> </a:t>
            </a:r>
            <a:r>
              <a:rPr lang="en-US" altLang="zh-CN"/>
              <a:t>&gt;</a:t>
            </a:r>
            <a:endParaRPr lang="zh-CN" altLang="en-US" dirty="0"/>
          </a:p>
        </p:txBody>
      </p:sp>
      <p:sp>
        <p:nvSpPr>
          <p:cNvPr id="8" name="文本框 7">
            <a:extLst>
              <a:ext uri="{FF2B5EF4-FFF2-40B4-BE49-F238E27FC236}">
                <a16:creationId xmlns:a16="http://schemas.microsoft.com/office/drawing/2014/main" id="{D2B9C222-B2F5-46C5-A022-32AE135A64D6}"/>
              </a:ext>
            </a:extLst>
          </p:cNvPr>
          <p:cNvSpPr txBox="1"/>
          <p:nvPr/>
        </p:nvSpPr>
        <p:spPr>
          <a:xfrm>
            <a:off x="-698167" y="1594472"/>
            <a:ext cx="10810876" cy="4688463"/>
          </a:xfrm>
          <a:prstGeom prst="rect">
            <a:avLst/>
          </a:prstGeom>
          <a:noFill/>
        </p:spPr>
        <p:txBody>
          <a:bodyPr wrap="square">
            <a:spAutoFit/>
          </a:bodyPr>
          <a:lstStyle/>
          <a:p>
            <a:pPr marL="540385" indent="254000" algn="just"/>
            <a:r>
              <a:rPr lang="en-US" altLang="zh-CN" sz="2800" kern="500" baseline="30000" dirty="0">
                <a:latin typeface="Times New Roman" panose="02020603050405020304" pitchFamily="18" charset="0"/>
                <a:ea typeface="宋体" panose="02010600030101010101" pitchFamily="2" charset="-122"/>
              </a:rPr>
              <a:t>int main(int </a:t>
            </a:r>
            <a:r>
              <a:rPr lang="en-US" altLang="zh-CN" sz="2800" kern="500" baseline="30000" dirty="0" err="1">
                <a:latin typeface="Times New Roman" panose="02020603050405020304" pitchFamily="18" charset="0"/>
                <a:ea typeface="宋体" panose="02010600030101010101" pitchFamily="2" charset="-122"/>
              </a:rPr>
              <a:t>argc</a:t>
            </a:r>
            <a:r>
              <a:rPr lang="en-US" altLang="zh-CN" sz="2800" kern="500" baseline="30000" dirty="0">
                <a:latin typeface="Times New Roman" panose="02020603050405020304" pitchFamily="18" charset="0"/>
                <a:ea typeface="宋体" panose="02010600030101010101" pitchFamily="2" charset="-122"/>
              </a:rPr>
              <a:t>, char *</a:t>
            </a:r>
            <a:r>
              <a:rPr lang="en-US" altLang="zh-CN" sz="2800" kern="500" baseline="30000" dirty="0" err="1">
                <a:latin typeface="Times New Roman" panose="02020603050405020304" pitchFamily="18" charset="0"/>
                <a:ea typeface="宋体" panose="02010600030101010101" pitchFamily="2" charset="-122"/>
              </a:rPr>
              <a:t>argv</a:t>
            </a:r>
            <a:r>
              <a:rPr lang="en-US" altLang="zh-CN" sz="2800" kern="500" baseline="30000" dirty="0">
                <a:latin typeface="Times New Roman" panose="02020603050405020304" pitchFamily="18" charset="0"/>
                <a:ea typeface="宋体" panose="02010600030101010101" pitchFamily="2" charset="-122"/>
              </a:rPr>
              <a:t>[]) {</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 </a:t>
            </a:r>
            <a:r>
              <a:rPr lang="zh-CN" altLang="zh-CN" sz="2800" kern="500" baseline="30000" dirty="0">
                <a:latin typeface="Times New Roman" panose="02020603050405020304" pitchFamily="18" charset="0"/>
                <a:ea typeface="宋体" panose="02010600030101010101" pitchFamily="2" charset="-122"/>
              </a:rPr>
              <a:t>主程序创建</a:t>
            </a:r>
            <a:r>
              <a:rPr lang="en-US" altLang="zh-CN" sz="2800" kern="500" baseline="30000" dirty="0">
                <a:latin typeface="Times New Roman" panose="02020603050405020304" pitchFamily="18" charset="0"/>
                <a:ea typeface="宋体" panose="02010600030101010101" pitchFamily="2" charset="-122"/>
              </a:rPr>
              <a:t>10</a:t>
            </a:r>
            <a:r>
              <a:rPr lang="zh-CN" altLang="zh-CN" sz="2800" kern="500" baseline="30000" dirty="0">
                <a:latin typeface="Times New Roman" panose="02020603050405020304" pitchFamily="18" charset="0"/>
                <a:ea typeface="宋体" panose="02010600030101010101" pitchFamily="2" charset="-122"/>
              </a:rPr>
              <a:t>个线程，然后退出。</a:t>
            </a:r>
            <a:r>
              <a:rPr lang="en-US" altLang="zh-CN" sz="2800" kern="500" baseline="30000" dirty="0">
                <a:latin typeface="Times New Roman" panose="02020603050405020304" pitchFamily="18" charset="0"/>
                <a:ea typeface="宋体" panose="02010600030101010101" pitchFamily="2" charset="-122"/>
              </a:rPr>
              <a:t> */</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a:t>
            </a:r>
            <a:r>
              <a:rPr lang="en-US" altLang="zh-CN" sz="2800" kern="500" baseline="30000" dirty="0" err="1">
                <a:latin typeface="Times New Roman" panose="02020603050405020304" pitchFamily="18" charset="0"/>
                <a:ea typeface="宋体" panose="02010600030101010101" pitchFamily="2" charset="-122"/>
              </a:rPr>
              <a:t>pthread_t</a:t>
            </a:r>
            <a:r>
              <a:rPr lang="en-US" altLang="zh-CN" sz="2800" kern="500" baseline="30000" dirty="0">
                <a:latin typeface="Times New Roman" panose="02020603050405020304" pitchFamily="18" charset="0"/>
                <a:ea typeface="宋体" panose="02010600030101010101" pitchFamily="2" charset="-122"/>
              </a:rPr>
              <a:t> threads[NUMBER_OF_THREADS];</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int status, </a:t>
            </a:r>
            <a:r>
              <a:rPr lang="en-US" altLang="zh-CN" sz="2800" kern="500" baseline="30000" dirty="0" err="1">
                <a:latin typeface="Times New Roman" panose="02020603050405020304" pitchFamily="18" charset="0"/>
                <a:ea typeface="宋体" panose="02010600030101010101" pitchFamily="2" charset="-122"/>
              </a:rPr>
              <a:t>i</a:t>
            </a:r>
            <a:r>
              <a:rPr lang="en-US" altLang="zh-CN" sz="2800" kern="500" baseline="30000" dirty="0">
                <a:latin typeface="Times New Roman" panose="02020603050405020304" pitchFamily="18" charset="0"/>
                <a:ea typeface="宋体" panose="02010600030101010101" pitchFamily="2" charset="-122"/>
              </a:rPr>
              <a:t>;</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for (</a:t>
            </a:r>
            <a:r>
              <a:rPr lang="en-US" altLang="zh-CN" sz="2800" kern="500" baseline="30000" dirty="0" err="1">
                <a:latin typeface="Times New Roman" panose="02020603050405020304" pitchFamily="18" charset="0"/>
                <a:ea typeface="宋体" panose="02010600030101010101" pitchFamily="2" charset="-122"/>
              </a:rPr>
              <a:t>i</a:t>
            </a:r>
            <a:r>
              <a:rPr lang="en-US" altLang="zh-CN" sz="2800" kern="500" baseline="30000" dirty="0">
                <a:latin typeface="Times New Roman" panose="02020603050405020304" pitchFamily="18" charset="0"/>
                <a:ea typeface="宋体" panose="02010600030101010101" pitchFamily="2" charset="-122"/>
              </a:rPr>
              <a:t>=1; </a:t>
            </a:r>
            <a:r>
              <a:rPr lang="en-US" altLang="zh-CN" sz="2800" kern="500" baseline="30000" dirty="0" err="1">
                <a:latin typeface="Times New Roman" panose="02020603050405020304" pitchFamily="18" charset="0"/>
                <a:ea typeface="宋体" panose="02010600030101010101" pitchFamily="2" charset="-122"/>
              </a:rPr>
              <a:t>i</a:t>
            </a:r>
            <a:r>
              <a:rPr lang="en-US" altLang="zh-CN" sz="2800" kern="500" baseline="30000" dirty="0">
                <a:latin typeface="Times New Roman" panose="02020603050405020304" pitchFamily="18" charset="0"/>
                <a:ea typeface="宋体" panose="02010600030101010101" pitchFamily="2" charset="-122"/>
              </a:rPr>
              <a:t> &lt; NUMBER_OF_THREADS; </a:t>
            </a:r>
            <a:r>
              <a:rPr lang="en-US" altLang="zh-CN" sz="2800" kern="500" baseline="30000" dirty="0" err="1">
                <a:latin typeface="Times New Roman" panose="02020603050405020304" pitchFamily="18" charset="0"/>
                <a:ea typeface="宋体" panose="02010600030101010101" pitchFamily="2" charset="-122"/>
              </a:rPr>
              <a:t>i</a:t>
            </a:r>
            <a:r>
              <a:rPr lang="en-US" altLang="zh-CN" sz="2800" kern="500" baseline="30000" dirty="0">
                <a:latin typeface="Times New Roman" panose="02020603050405020304" pitchFamily="18" charset="0"/>
                <a:ea typeface="宋体" panose="02010600030101010101" pitchFamily="2" charset="-122"/>
              </a:rPr>
              <a:t>++){</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a:t>
            </a:r>
            <a:r>
              <a:rPr lang="en-US" altLang="zh-CN" sz="2800" kern="500" baseline="30000" dirty="0" err="1">
                <a:latin typeface="Times New Roman" panose="02020603050405020304" pitchFamily="18" charset="0"/>
                <a:ea typeface="宋体" panose="02010600030101010101" pitchFamily="2" charset="-122"/>
              </a:rPr>
              <a:t>printf</a:t>
            </a:r>
            <a:r>
              <a:rPr lang="en-US" altLang="zh-CN" sz="2800" kern="500" baseline="30000" dirty="0">
                <a:latin typeface="Times New Roman" panose="02020603050405020304" pitchFamily="18" charset="0"/>
                <a:ea typeface="宋体" panose="02010600030101010101" pitchFamily="2" charset="-122"/>
              </a:rPr>
              <a:t>("Main here. Creating thread %d0\n", </a:t>
            </a:r>
            <a:r>
              <a:rPr lang="en-US" altLang="zh-CN" sz="2800" kern="500" baseline="30000" dirty="0" err="1">
                <a:latin typeface="Times New Roman" panose="02020603050405020304" pitchFamily="18" charset="0"/>
                <a:ea typeface="宋体" panose="02010600030101010101" pitchFamily="2" charset="-122"/>
              </a:rPr>
              <a:t>i</a:t>
            </a:r>
            <a:r>
              <a:rPr lang="en-US" altLang="zh-CN" sz="2800" kern="500" baseline="30000" dirty="0">
                <a:latin typeface="Times New Roman" panose="02020603050405020304" pitchFamily="18" charset="0"/>
                <a:ea typeface="宋体" panose="02010600030101010101" pitchFamily="2" charset="-122"/>
              </a:rPr>
              <a:t>);</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status = </a:t>
            </a:r>
            <a:r>
              <a:rPr lang="en-US" altLang="zh-CN" sz="2800" kern="500" baseline="30000" dirty="0" err="1">
                <a:latin typeface="Times New Roman" panose="02020603050405020304" pitchFamily="18" charset="0"/>
                <a:ea typeface="宋体" panose="02010600030101010101" pitchFamily="2" charset="-122"/>
              </a:rPr>
              <a:t>pthread_create</a:t>
            </a:r>
            <a:r>
              <a:rPr lang="en-US" altLang="zh-CN" sz="2800" kern="500" baseline="30000" dirty="0">
                <a:latin typeface="Times New Roman" panose="02020603050405020304" pitchFamily="18" charset="0"/>
                <a:ea typeface="宋体" panose="02010600030101010101" pitchFamily="2" charset="-122"/>
              </a:rPr>
              <a:t>(&amp;threads[</a:t>
            </a:r>
            <a:r>
              <a:rPr lang="en-US" altLang="zh-CN" sz="2800" kern="500" baseline="30000" dirty="0" err="1">
                <a:latin typeface="Times New Roman" panose="02020603050405020304" pitchFamily="18" charset="0"/>
                <a:ea typeface="宋体" panose="02010600030101010101" pitchFamily="2" charset="-122"/>
              </a:rPr>
              <a:t>i</a:t>
            </a:r>
            <a:r>
              <a:rPr lang="en-US" altLang="zh-CN" sz="2800" kern="500" baseline="30000" dirty="0">
                <a:latin typeface="Times New Roman" panose="02020603050405020304" pitchFamily="18" charset="0"/>
                <a:ea typeface="宋体" panose="02010600030101010101" pitchFamily="2" charset="-122"/>
              </a:rPr>
              <a:t>], NULL, </a:t>
            </a:r>
          </a:p>
          <a:p>
            <a:pPr marL="540385" indent="254000" algn="just"/>
            <a:r>
              <a:rPr lang="en-US" altLang="zh-CN" sz="2800" kern="500" baseline="30000" dirty="0">
                <a:latin typeface="Times New Roman" panose="02020603050405020304" pitchFamily="18" charset="0"/>
                <a:ea typeface="宋体" panose="02010600030101010101" pitchFamily="2" charset="-122"/>
              </a:rPr>
              <a:t>		  </a:t>
            </a:r>
            <a:r>
              <a:rPr lang="en-US" altLang="zh-CN" sz="2800" kern="500" baseline="30000" dirty="0" err="1">
                <a:latin typeface="Times New Roman" panose="02020603050405020304" pitchFamily="18" charset="0"/>
                <a:ea typeface="宋体" panose="02010600030101010101" pitchFamily="2" charset="-122"/>
              </a:rPr>
              <a:t>print_hello_world</a:t>
            </a:r>
            <a:r>
              <a:rPr lang="en-US" altLang="zh-CN" sz="2800" kern="500" baseline="30000" dirty="0">
                <a:latin typeface="Times New Roman" panose="02020603050405020304" pitchFamily="18" charset="0"/>
                <a:ea typeface="宋体" panose="02010600030101010101" pitchFamily="2" charset="-122"/>
              </a:rPr>
              <a:t>, (void *)&amp;</a:t>
            </a:r>
            <a:r>
              <a:rPr lang="en-US" altLang="zh-CN" sz="2800" kern="500" baseline="30000" dirty="0" err="1">
                <a:latin typeface="Times New Roman" panose="02020603050405020304" pitchFamily="18" charset="0"/>
                <a:ea typeface="宋体" panose="02010600030101010101" pitchFamily="2" charset="-122"/>
              </a:rPr>
              <a:t>i</a:t>
            </a:r>
            <a:r>
              <a:rPr lang="en-US" altLang="zh-CN" sz="2800" kern="500" baseline="30000" dirty="0">
                <a:latin typeface="Times New Roman" panose="02020603050405020304" pitchFamily="18" charset="0"/>
                <a:ea typeface="宋体" panose="02010600030101010101" pitchFamily="2" charset="-122"/>
              </a:rPr>
              <a:t>);</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if (status != 0) {</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a:t>
            </a:r>
            <a:r>
              <a:rPr lang="en-US" altLang="zh-CN" sz="2800" kern="500" baseline="30000" dirty="0" err="1">
                <a:latin typeface="Times New Roman" panose="02020603050405020304" pitchFamily="18" charset="0"/>
                <a:ea typeface="宋体" panose="02010600030101010101" pitchFamily="2" charset="-122"/>
              </a:rPr>
              <a:t>printf</a:t>
            </a:r>
            <a:r>
              <a:rPr lang="en-US" altLang="zh-CN" sz="2800" kern="500" baseline="30000" dirty="0">
                <a:latin typeface="Times New Roman" panose="02020603050405020304" pitchFamily="18" charset="0"/>
                <a:ea typeface="宋体" panose="02010600030101010101" pitchFamily="2" charset="-122"/>
              </a:rPr>
              <a:t>("</a:t>
            </a:r>
            <a:r>
              <a:rPr lang="en-US" altLang="zh-CN" sz="2800" kern="500" baseline="30000" dirty="0" err="1">
                <a:latin typeface="Times New Roman" panose="02020603050405020304" pitchFamily="18" charset="0"/>
                <a:ea typeface="宋体" panose="02010600030101010101" pitchFamily="2" charset="-122"/>
              </a:rPr>
              <a:t>pthread_create</a:t>
            </a:r>
            <a:r>
              <a:rPr lang="en-US" altLang="zh-CN" sz="2800" kern="500" baseline="30000" dirty="0">
                <a:latin typeface="Times New Roman" panose="02020603050405020304" pitchFamily="18" charset="0"/>
                <a:ea typeface="宋体" panose="02010600030101010101" pitchFamily="2" charset="-122"/>
              </a:rPr>
              <a:t> returned error code %d0\n", status);</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exit(-1);</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a:t>
            </a:r>
            <a:endParaRPr lang="zh-CN" altLang="zh-CN" sz="2800" kern="500" baseline="30000" dirty="0">
              <a:latin typeface="Times New Roman" panose="02020603050405020304" pitchFamily="18" charset="0"/>
              <a:ea typeface="宋体" panose="02010600030101010101" pitchFamily="2" charset="-122"/>
            </a:endParaRPr>
          </a:p>
          <a:p>
            <a:pPr marL="540385" indent="254000" algn="just"/>
            <a:r>
              <a:rPr lang="en-US" altLang="zh-CN" sz="2800" kern="500" baseline="30000" dirty="0">
                <a:latin typeface="Times New Roman" panose="02020603050405020304" pitchFamily="18" charset="0"/>
                <a:ea typeface="宋体" panose="02010600030101010101" pitchFamily="2" charset="-122"/>
              </a:rPr>
              <a:t>    exit(0);</a:t>
            </a:r>
            <a:endParaRPr lang="zh-CN" altLang="zh-CN" sz="2800" kern="500" baseline="30000" dirty="0">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111718252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1">
            <a:extLst>
              <a:ext uri="{FF2B5EF4-FFF2-40B4-BE49-F238E27FC236}">
                <a16:creationId xmlns:a16="http://schemas.microsoft.com/office/drawing/2014/main" id="{0719C4E5-5393-9B66-62BA-07B746D600F9}"/>
              </a:ext>
            </a:extLst>
          </p:cNvPr>
          <p:cNvSpPr txBox="1">
            <a:spLocks noGrp="1"/>
          </p:cNvSpPr>
          <p:nvPr>
            <p:ph type="title"/>
          </p:nvPr>
        </p:nvSpPr>
        <p:spPr>
          <a:xfrm>
            <a:off x="442913" y="243569"/>
            <a:ext cx="9056851" cy="617518"/>
          </a:xfrm>
          <a:prstGeom prst="rect">
            <a:avLst/>
          </a:prstGeom>
        </p:spPr>
        <p:txBody>
          <a:bodyPr vert="horz" lIns="91440" tIns="45720" rIns="91440" bIns="45720" rtlCol="0" anchor="ctr">
            <a:normAutofit/>
          </a:bodyPr>
          <a:lstStyle>
            <a:defPPr>
              <a:defRPr lang="zh-CN"/>
            </a:defPPr>
            <a:lvl1pPr>
              <a:lnSpc>
                <a:spcPct val="90000"/>
              </a:lnSpc>
              <a:spcBef>
                <a:spcPct val="0"/>
              </a:spcBef>
              <a:buNone/>
              <a:defRPr kumimoji="1" sz="2400" b="1" baseline="0">
                <a:solidFill>
                  <a:schemeClr val="accent1"/>
                </a:solidFill>
                <a:latin typeface="Arial" panose="020B0604020202020204" pitchFamily="34" charset="0"/>
                <a:ea typeface="微软雅黑" panose="020B0503020204020204" pitchFamily="34" charset="-122"/>
                <a:cs typeface="+mn-ea"/>
              </a:defRPr>
            </a:lvl1pPr>
          </a:lstStyle>
          <a:p>
            <a:r>
              <a:rPr lang="en-US" altLang="zh-CN" dirty="0"/>
              <a:t>3.4.3 </a:t>
            </a:r>
            <a:r>
              <a:rPr lang="zh-CN" altLang="en-US" dirty="0"/>
              <a:t> </a:t>
            </a:r>
            <a:r>
              <a:rPr lang="en-US" altLang="zh-CN" dirty="0"/>
              <a:t> </a:t>
            </a:r>
            <a:r>
              <a:rPr lang="zh-CN" altLang="en-US" dirty="0"/>
              <a:t>协程</a:t>
            </a:r>
            <a:endParaRPr lang="zh-CN" altLang="zh-CN" dirty="0"/>
          </a:p>
        </p:txBody>
      </p:sp>
      <p:sp>
        <p:nvSpPr>
          <p:cNvPr id="6" name="文本框 5">
            <a:extLst>
              <a:ext uri="{FF2B5EF4-FFF2-40B4-BE49-F238E27FC236}">
                <a16:creationId xmlns:a16="http://schemas.microsoft.com/office/drawing/2014/main" id="{19587E19-7F28-D4BA-C7CD-2B543BBA80B1}"/>
              </a:ext>
            </a:extLst>
          </p:cNvPr>
          <p:cNvSpPr txBox="1"/>
          <p:nvPr/>
        </p:nvSpPr>
        <p:spPr>
          <a:xfrm>
            <a:off x="809625" y="1251262"/>
            <a:ext cx="10572750" cy="4893647"/>
          </a:xfrm>
          <a:prstGeom prst="rect">
            <a:avLst/>
          </a:prstGeom>
          <a:noFill/>
        </p:spPr>
        <p:txBody>
          <a:bodyPr wrap="square">
            <a:spAutoFit/>
          </a:bodyPr>
          <a:lstStyle/>
          <a:p>
            <a:pPr indent="304800" algn="just"/>
            <a:r>
              <a:rPr lang="zh-CN" altLang="en-US"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提出原因：</a:t>
            </a:r>
            <a:endParaRPr lang="en-US"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当线程数量非常多的时候</a:t>
            </a:r>
            <a:r>
              <a:rPr lang="zh-CN" altLang="en-US" sz="2400" kern="1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系统线程会占用非常多的内存空间</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过多的线程切换会占用大量的系统时间</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en-US"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解决方法：</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协程机制</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协程是运行在线程之上的轻量级线程</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当一个协程执行完成后，让另一个协程运行在当前线程之上</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协程并没有增加线程数量</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只是在线程的基础之上通过</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分时复用</a:t>
            </a:r>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的方式运行多个协程</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协程的</a:t>
            </a:r>
            <a:r>
              <a:rPr lang="zh-CN" altLang="zh-CN" sz="2400" b="1" kern="100" dirty="0">
                <a:solidFill>
                  <a:srgbClr val="9A0001"/>
                </a:solidFill>
                <a:effectLst/>
                <a:latin typeface="微软雅黑" panose="020B0503020204020204" pitchFamily="34" charset="-122"/>
                <a:ea typeface="微软雅黑" panose="020B0503020204020204" pitchFamily="34" charset="-122"/>
                <a:cs typeface="Times New Roman" panose="02020603050405020304" pitchFamily="18" charset="0"/>
              </a:rPr>
              <a:t>切换在用户态完成</a:t>
            </a:r>
            <a:endParaRPr lang="en-US"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endParaRPr>
          </a:p>
          <a:p>
            <a:pPr indent="304800" algn="just"/>
            <a:r>
              <a:rPr lang="zh-CN" altLang="zh-CN" sz="2400" kern="100" dirty="0">
                <a:effectLst/>
                <a:latin typeface="微软雅黑" panose="020B0503020204020204" pitchFamily="34" charset="-122"/>
                <a:ea typeface="微软雅黑" panose="020B0503020204020204" pitchFamily="34" charset="-122"/>
                <a:cs typeface="Times New Roman" panose="02020603050405020304" pitchFamily="18" charset="0"/>
              </a:rPr>
              <a:t>切换的代价比线程从用户态到内核态的代价小很多</a:t>
            </a:r>
          </a:p>
        </p:txBody>
      </p:sp>
      <p:sp>
        <p:nvSpPr>
          <p:cNvPr id="4" name="灯片编号占位符 2">
            <a:extLst>
              <a:ext uri="{FF2B5EF4-FFF2-40B4-BE49-F238E27FC236}">
                <a16:creationId xmlns:a16="http://schemas.microsoft.com/office/drawing/2014/main" id="{463D1CB6-8600-4AC3-AAD2-1BC951C966F3}"/>
              </a:ext>
            </a:extLst>
          </p:cNvPr>
          <p:cNvSpPr>
            <a:spLocks noGrp="1"/>
          </p:cNvSpPr>
          <p:nvPr>
            <p:ph type="sldNum" sz="quarter" idx="4"/>
          </p:nvPr>
        </p:nvSpPr>
        <p:spPr>
          <a:xfrm>
            <a:off x="9005791" y="6394353"/>
            <a:ext cx="2743200" cy="292196"/>
          </a:xfrm>
        </p:spPr>
        <p:txBody>
          <a:bodyPr/>
          <a:lstStyle/>
          <a:p>
            <a:r>
              <a:rPr lang="en-US" altLang="zh-CN"/>
              <a:t>&lt; </a:t>
            </a:r>
            <a:fld id="{A548B57D-AE10-4CF7-A9DF-59FEFA91B28E}" type="slidenum">
              <a:rPr lang="zh-CN" altLang="en-US" smtClean="0"/>
              <a:pPr/>
              <a:t>55</a:t>
            </a:fld>
            <a:r>
              <a:rPr lang="zh-CN" altLang="en-US"/>
              <a:t> </a:t>
            </a:r>
            <a:r>
              <a:rPr lang="en-US" altLang="zh-CN"/>
              <a:t>&gt;</a:t>
            </a:r>
            <a:endParaRPr lang="zh-CN" altLang="en-US" dirty="0"/>
          </a:p>
        </p:txBody>
      </p:sp>
    </p:spTree>
    <p:extLst>
      <p:ext uri="{BB962C8B-B14F-4D97-AF65-F5344CB8AC3E}">
        <p14:creationId xmlns:p14="http://schemas.microsoft.com/office/powerpoint/2010/main" val="2785224399"/>
      </p:ext>
    </p:extLst>
  </p:cSld>
  <p:clrMapOvr>
    <a:masterClrMapping/>
  </p:clrMapOvr>
</p:sld>
</file>

<file path=ppt/theme/theme1.xml><?xml version="1.0" encoding="utf-8"?>
<a:theme xmlns:a="http://schemas.openxmlformats.org/drawingml/2006/main" name="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_OfficePLUS">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entury Gothic">
      <a:majorFont>
        <a:latin typeface="Century Gothic" panose="020F030202020403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F03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themeOverride>
</file>

<file path=docProps/app.xml><?xml version="1.0" encoding="utf-8"?>
<Properties xmlns="http://schemas.openxmlformats.org/officeDocument/2006/extended-properties" xmlns:vt="http://schemas.openxmlformats.org/officeDocument/2006/docPropsVTypes">
  <Template/>
  <TotalTime>5702</TotalTime>
  <Words>4932</Words>
  <Application>Microsoft Office PowerPoint</Application>
  <PresentationFormat>宽屏</PresentationFormat>
  <Paragraphs>744</Paragraphs>
  <Slides>55</Slides>
  <Notes>43</Notes>
  <HiddenSlides>0</HiddenSlides>
  <MMClips>0</MMClips>
  <ScaleCrop>false</ScaleCrop>
  <HeadingPairs>
    <vt:vector size="6" baseType="variant">
      <vt:variant>
        <vt:lpstr>已用的字体</vt:lpstr>
      </vt:variant>
      <vt:variant>
        <vt:i4>4</vt:i4>
      </vt:variant>
      <vt:variant>
        <vt:lpstr>主题</vt:lpstr>
      </vt:variant>
      <vt:variant>
        <vt:i4>3</vt:i4>
      </vt:variant>
      <vt:variant>
        <vt:lpstr>幻灯片标题</vt:lpstr>
      </vt:variant>
      <vt:variant>
        <vt:i4>55</vt:i4>
      </vt:variant>
    </vt:vector>
  </HeadingPairs>
  <TitlesOfParts>
    <vt:vector size="62" baseType="lpstr">
      <vt:lpstr>等线</vt:lpstr>
      <vt:lpstr>微软雅黑</vt:lpstr>
      <vt:lpstr>Arial</vt:lpstr>
      <vt:lpstr>Times New Roman</vt:lpstr>
      <vt:lpstr>自定义设计方案</vt:lpstr>
      <vt:lpstr>1_自定义设计方案</vt:lpstr>
      <vt:lpstr>1_OfficePLUS</vt:lpstr>
      <vt:lpstr>PowerPoint 演示文稿</vt:lpstr>
      <vt:lpstr>学习目标</vt:lpstr>
      <vt:lpstr>教师导读</vt:lpstr>
      <vt:lpstr>PowerPoint 演示文稿</vt:lpstr>
      <vt:lpstr>PowerPoint 演示文稿</vt:lpstr>
      <vt:lpstr>3.1.1   进程定义</vt:lpstr>
      <vt:lpstr>3.1.1   进程定义</vt:lpstr>
      <vt:lpstr>可再入程序</vt:lpstr>
      <vt:lpstr>进程的特征</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3.2.1  进程控制</vt:lpstr>
      <vt:lpstr>3.2.1  进程控制</vt:lpstr>
      <vt:lpstr>3.2.2  Linux操作系统有关进程控制的系统调用</vt:lpstr>
      <vt:lpstr>3.2.2  Linux操作系统有关进程控制的系统调用</vt:lpstr>
      <vt:lpstr>3.2.2  Linux操作系统有关进程控制的系统调用</vt:lpstr>
      <vt:lpstr>3.2.2  Linux操作系统有关进程控制的系统调用</vt:lpstr>
      <vt:lpstr>3.2.2  Linux操作系统有关进程控制的系统调用</vt:lpstr>
      <vt:lpstr>PowerPoint 演示文稿</vt:lpstr>
      <vt:lpstr>3.3.1  线程的引入</vt:lpstr>
      <vt:lpstr>3.3.1  线程的引入</vt:lpstr>
      <vt:lpstr>3.3.1  线程的引入</vt:lpstr>
      <vt:lpstr>3.3.1  线程的引入</vt:lpstr>
      <vt:lpstr>3.3.2   线程的组成</vt:lpstr>
      <vt:lpstr>3.3.2   线程的组成</vt:lpstr>
      <vt:lpstr>3.3.3   线程与进程的关系</vt:lpstr>
      <vt:lpstr>3.3.3   线程与进程的关系</vt:lpstr>
      <vt:lpstr>3.3.3   线程与进程的关系</vt:lpstr>
      <vt:lpstr>3.3.3   线程与进程的关系</vt:lpstr>
      <vt:lpstr>PowerPoint 演示文稿</vt:lpstr>
      <vt:lpstr>3.4.1   线程的实现方式</vt:lpstr>
      <vt:lpstr>3.4.1   线程的实现方式</vt:lpstr>
      <vt:lpstr>3.4.1   线程的实现方式</vt:lpstr>
      <vt:lpstr>3.4.1   线程的实现方式</vt:lpstr>
      <vt:lpstr>3.4.1   线程的实现方式</vt:lpstr>
      <vt:lpstr>3.4.1   线程的实现方式</vt:lpstr>
      <vt:lpstr>3.4.1   线程的实现方式</vt:lpstr>
      <vt:lpstr>3.4.2   Pthread线程包 </vt:lpstr>
      <vt:lpstr>3.4.2   Pthread线程包 </vt:lpstr>
      <vt:lpstr>3.4.2   Pthread线程包 </vt:lpstr>
      <vt:lpstr>3.4.3   协程</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cp:lastModifiedBy>陈 肯</cp:lastModifiedBy>
  <cp:revision>484</cp:revision>
  <dcterms:created xsi:type="dcterms:W3CDTF">2018-12-09T14:29:24Z</dcterms:created>
  <dcterms:modified xsi:type="dcterms:W3CDTF">2023-09-10T11:04:58Z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Nuaxnuy@DESKTOP-GLORKB7</vt:lpwstr>
  </property>
  <property fmtid="{D5CDD505-2E9C-101B-9397-08002B2CF9AE}" pid="5" name="MSIP_Label_f42aa342-8706-4288-bd11-ebb85995028c_SetDate">
    <vt:lpwstr>2019-04-13T09:21:34.3521271Z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8ba33e4d-f70c-4f8a-80c4-7b79b430a7ab</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ies>
</file>