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svg" ContentType="image/svg+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slideLayouts/slideLayout42.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70" r:id="rId2"/>
    <p:sldMasterId id="2147483691" r:id="rId3"/>
  </p:sldMasterIdLst>
  <p:notesMasterIdLst>
    <p:notesMasterId r:id="rId106"/>
  </p:notesMasterIdLst>
  <p:sldIdLst>
    <p:sldId id="635" r:id="rId4"/>
    <p:sldId id="689" r:id="rId5"/>
    <p:sldId id="645" r:id="rId6"/>
    <p:sldId id="644" r:id="rId7"/>
    <p:sldId id="640" r:id="rId8"/>
    <p:sldId id="652" r:id="rId9"/>
    <p:sldId id="700" r:id="rId10"/>
    <p:sldId id="701" r:id="rId11"/>
    <p:sldId id="702" r:id="rId12"/>
    <p:sldId id="703" r:id="rId13"/>
    <p:sldId id="704" r:id="rId14"/>
    <p:sldId id="705" r:id="rId15"/>
    <p:sldId id="706" r:id="rId16"/>
    <p:sldId id="708" r:id="rId17"/>
    <p:sldId id="709" r:id="rId18"/>
    <p:sldId id="711" r:id="rId19"/>
    <p:sldId id="712" r:id="rId20"/>
    <p:sldId id="713" r:id="rId21"/>
    <p:sldId id="714" r:id="rId22"/>
    <p:sldId id="715" r:id="rId23"/>
    <p:sldId id="716" r:id="rId24"/>
    <p:sldId id="717" r:id="rId25"/>
    <p:sldId id="718" r:id="rId26"/>
    <p:sldId id="719" r:id="rId27"/>
    <p:sldId id="653" r:id="rId28"/>
    <p:sldId id="721" r:id="rId29"/>
    <p:sldId id="722" r:id="rId30"/>
    <p:sldId id="727" r:id="rId31"/>
    <p:sldId id="728" r:id="rId32"/>
    <p:sldId id="729" r:id="rId33"/>
    <p:sldId id="730" r:id="rId34"/>
    <p:sldId id="731" r:id="rId35"/>
    <p:sldId id="732" r:id="rId36"/>
    <p:sldId id="733" r:id="rId37"/>
    <p:sldId id="734" r:id="rId38"/>
    <p:sldId id="735" r:id="rId39"/>
    <p:sldId id="736" r:id="rId40"/>
    <p:sldId id="737" r:id="rId41"/>
    <p:sldId id="742" r:id="rId42"/>
    <p:sldId id="738" r:id="rId43"/>
    <p:sldId id="739" r:id="rId44"/>
    <p:sldId id="740" r:id="rId45"/>
    <p:sldId id="741" r:id="rId46"/>
    <p:sldId id="743" r:id="rId47"/>
    <p:sldId id="744" r:id="rId48"/>
    <p:sldId id="745" r:id="rId49"/>
    <p:sldId id="746" r:id="rId50"/>
    <p:sldId id="747" r:id="rId51"/>
    <p:sldId id="748" r:id="rId52"/>
    <p:sldId id="749" r:id="rId53"/>
    <p:sldId id="750" r:id="rId54"/>
    <p:sldId id="751" r:id="rId55"/>
    <p:sldId id="752" r:id="rId56"/>
    <p:sldId id="753" r:id="rId57"/>
    <p:sldId id="754" r:id="rId58"/>
    <p:sldId id="755" r:id="rId59"/>
    <p:sldId id="756" r:id="rId60"/>
    <p:sldId id="757" r:id="rId61"/>
    <p:sldId id="758" r:id="rId62"/>
    <p:sldId id="759" r:id="rId63"/>
    <p:sldId id="760" r:id="rId64"/>
    <p:sldId id="761" r:id="rId65"/>
    <p:sldId id="762" r:id="rId66"/>
    <p:sldId id="764" r:id="rId67"/>
    <p:sldId id="655" r:id="rId68"/>
    <p:sldId id="765" r:id="rId69"/>
    <p:sldId id="766" r:id="rId70"/>
    <p:sldId id="767" r:id="rId71"/>
    <p:sldId id="768" r:id="rId72"/>
    <p:sldId id="769" r:id="rId73"/>
    <p:sldId id="770" r:id="rId74"/>
    <p:sldId id="771" r:id="rId75"/>
    <p:sldId id="774" r:id="rId76"/>
    <p:sldId id="772" r:id="rId77"/>
    <p:sldId id="775" r:id="rId78"/>
    <p:sldId id="656" r:id="rId79"/>
    <p:sldId id="776" r:id="rId80"/>
    <p:sldId id="777" r:id="rId81"/>
    <p:sldId id="691" r:id="rId82"/>
    <p:sldId id="778" r:id="rId83"/>
    <p:sldId id="779" r:id="rId84"/>
    <p:sldId id="780" r:id="rId85"/>
    <p:sldId id="781" r:id="rId86"/>
    <p:sldId id="782" r:id="rId87"/>
    <p:sldId id="783" r:id="rId88"/>
    <p:sldId id="784" r:id="rId89"/>
    <p:sldId id="791" r:id="rId90"/>
    <p:sldId id="792" r:id="rId91"/>
    <p:sldId id="793" r:id="rId92"/>
    <p:sldId id="794" r:id="rId93"/>
    <p:sldId id="795" r:id="rId94"/>
    <p:sldId id="692" r:id="rId95"/>
    <p:sldId id="786" r:id="rId96"/>
    <p:sldId id="787" r:id="rId97"/>
    <p:sldId id="788" r:id="rId98"/>
    <p:sldId id="789" r:id="rId99"/>
    <p:sldId id="790" r:id="rId100"/>
    <p:sldId id="693" r:id="rId101"/>
    <p:sldId id="694" r:id="rId102"/>
    <p:sldId id="695" r:id="rId103"/>
    <p:sldId id="696" r:id="rId104"/>
    <p:sldId id="624" r:id="rId105"/>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635"/>
            <p14:sldId id="689"/>
            <p14:sldId id="645"/>
            <p14:sldId id="644"/>
            <p14:sldId id="640"/>
            <p14:sldId id="652"/>
            <p14:sldId id="700"/>
            <p14:sldId id="701"/>
            <p14:sldId id="702"/>
            <p14:sldId id="703"/>
            <p14:sldId id="704"/>
            <p14:sldId id="705"/>
            <p14:sldId id="706"/>
            <p14:sldId id="708"/>
            <p14:sldId id="709"/>
            <p14:sldId id="711"/>
            <p14:sldId id="712"/>
            <p14:sldId id="713"/>
            <p14:sldId id="714"/>
            <p14:sldId id="715"/>
            <p14:sldId id="716"/>
            <p14:sldId id="717"/>
            <p14:sldId id="718"/>
            <p14:sldId id="719"/>
            <p14:sldId id="653"/>
            <p14:sldId id="721"/>
            <p14:sldId id="722"/>
            <p14:sldId id="727"/>
            <p14:sldId id="728"/>
            <p14:sldId id="729"/>
            <p14:sldId id="730"/>
            <p14:sldId id="731"/>
            <p14:sldId id="732"/>
            <p14:sldId id="733"/>
            <p14:sldId id="734"/>
            <p14:sldId id="735"/>
            <p14:sldId id="736"/>
            <p14:sldId id="737"/>
            <p14:sldId id="742"/>
            <p14:sldId id="738"/>
            <p14:sldId id="739"/>
            <p14:sldId id="740"/>
            <p14:sldId id="741"/>
            <p14:sldId id="743"/>
            <p14:sldId id="744"/>
            <p14:sldId id="745"/>
            <p14:sldId id="746"/>
            <p14:sldId id="747"/>
            <p14:sldId id="748"/>
            <p14:sldId id="749"/>
            <p14:sldId id="750"/>
            <p14:sldId id="751"/>
            <p14:sldId id="752"/>
            <p14:sldId id="753"/>
            <p14:sldId id="754"/>
            <p14:sldId id="755"/>
            <p14:sldId id="756"/>
            <p14:sldId id="757"/>
            <p14:sldId id="758"/>
            <p14:sldId id="759"/>
            <p14:sldId id="760"/>
            <p14:sldId id="761"/>
            <p14:sldId id="762"/>
            <p14:sldId id="764"/>
            <p14:sldId id="655"/>
            <p14:sldId id="765"/>
            <p14:sldId id="766"/>
            <p14:sldId id="767"/>
            <p14:sldId id="768"/>
            <p14:sldId id="769"/>
            <p14:sldId id="770"/>
            <p14:sldId id="771"/>
            <p14:sldId id="774"/>
            <p14:sldId id="772"/>
            <p14:sldId id="775"/>
            <p14:sldId id="656"/>
            <p14:sldId id="776"/>
            <p14:sldId id="777"/>
            <p14:sldId id="691"/>
            <p14:sldId id="778"/>
            <p14:sldId id="779"/>
            <p14:sldId id="780"/>
            <p14:sldId id="781"/>
            <p14:sldId id="782"/>
            <p14:sldId id="783"/>
            <p14:sldId id="784"/>
            <p14:sldId id="791"/>
            <p14:sldId id="792"/>
            <p14:sldId id="793"/>
            <p14:sldId id="794"/>
            <p14:sldId id="795"/>
            <p14:sldId id="692"/>
            <p14:sldId id="786"/>
            <p14:sldId id="787"/>
            <p14:sldId id="788"/>
            <p14:sldId id="789"/>
            <p14:sldId id="790"/>
            <p14:sldId id="693"/>
            <p14:sldId id="694"/>
            <p14:sldId id="695"/>
            <p14:sldId id="696"/>
            <p14:sldId id="624"/>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404040"/>
    <a:srgbClr val="BFBFBF"/>
    <a:srgbClr val="CEAB6E"/>
    <a:srgbClr val="A6A6A6"/>
    <a:srgbClr val="B1B1B1"/>
    <a:srgbClr val="063771"/>
    <a:srgbClr val="222A35"/>
    <a:srgbClr val="A23341"/>
    <a:srgbClr val="DCDCD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7155" autoAdjust="0"/>
    <p:restoredTop sz="96580" autoAdjust="0"/>
  </p:normalViewPr>
  <p:slideViewPr>
    <p:cSldViewPr snapToGrid="0">
      <p:cViewPr varScale="1">
        <p:scale>
          <a:sx n="81" d="100"/>
          <a:sy n="81" d="100"/>
        </p:scale>
        <p:origin x="91" y="149"/>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6" Type="http://schemas.openxmlformats.org/officeDocument/2006/relationships/slide" Target="slides/slide13.xml"/><Relationship Id="rId107" Type="http://schemas.openxmlformats.org/officeDocument/2006/relationships/commentAuthors" Target="commentAuthors.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presProps" Target="presProps.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notesMaster" Target="notesMasters/notesMaster1.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viewProps" Target="viewProps.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theme" Target="theme/theme1.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2023/9/9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14</a:t>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15</a:t>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16</a:t>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17</a:t>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18</a:t>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19</a:t>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20</a:t>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21</a:t>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22</a:t>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23</a:t>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24</a:t>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26</a:t>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32</a:t>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33</a:t>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34</a:t>
            </a:fld>
            <a:endParaRPr lang="zh-CN"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35</a:t>
            </a:fld>
            <a:endParaRPr lang="zh-CN"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36</a:t>
            </a:fld>
            <a:endParaRPr lang="zh-CN" alt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37</a:t>
            </a:fld>
            <a:endParaRPr lang="zh-CN" alt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38</a:t>
            </a:fld>
            <a:endParaRPr lang="zh-CN" alt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39</a:t>
            </a:fld>
            <a:endParaRPr lang="zh-CN"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40</a:t>
            </a:fld>
            <a:endParaRPr lang="zh-CN"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41</a:t>
            </a:fld>
            <a:endParaRPr lang="zh-CN"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42</a:t>
            </a:fld>
            <a:endParaRPr lang="zh-CN" alt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43</a:t>
            </a:fld>
            <a:endParaRPr lang="zh-CN" alt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44</a:t>
            </a:fld>
            <a:endParaRPr lang="zh-CN" alt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45</a:t>
            </a:fld>
            <a:endParaRPr lang="zh-CN" alt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46</a:t>
            </a:fld>
            <a:endParaRPr lang="zh-CN" alt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47</a:t>
            </a:fld>
            <a:endParaRPr lang="zh-CN" alt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48</a:t>
            </a:fld>
            <a:endParaRPr lang="zh-CN" alt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49</a:t>
            </a:fld>
            <a:endParaRPr lang="zh-CN"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50</a:t>
            </a:fld>
            <a:endParaRPr lang="zh-CN" alt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51</a:t>
            </a:fld>
            <a:endParaRPr lang="zh-CN" alt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52</a:t>
            </a:fld>
            <a:endParaRPr lang="zh-CN" alt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53</a:t>
            </a:fld>
            <a:endParaRPr lang="zh-CN" alt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54</a:t>
            </a:fld>
            <a:endParaRPr lang="zh-CN" alt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55</a:t>
            </a:fld>
            <a:endParaRPr lang="zh-CN" alt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56</a:t>
            </a:fld>
            <a:endParaRPr lang="zh-CN" alt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57</a:t>
            </a:fld>
            <a:endParaRPr lang="zh-CN" alt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58</a:t>
            </a:fld>
            <a:endParaRPr lang="zh-CN" alt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59</a:t>
            </a:fld>
            <a:endParaRPr lang="zh-CN" alt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60</a:t>
            </a:fld>
            <a:endParaRPr lang="zh-CN" alt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61</a:t>
            </a:fld>
            <a:endParaRPr lang="zh-CN" alt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62</a:t>
            </a:fld>
            <a:endParaRPr lang="zh-CN" alt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63</a:t>
            </a:fld>
            <a:endParaRPr lang="zh-CN" alt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64</a:t>
            </a:fld>
            <a:endParaRPr lang="zh-CN" alt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65</a:t>
            </a:fld>
            <a:endParaRPr lang="zh-CN" alt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66</a:t>
            </a:fld>
            <a:endParaRPr lang="zh-CN" alt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67</a:t>
            </a:fld>
            <a:endParaRPr lang="zh-CN" alt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68</a:t>
            </a:fld>
            <a:endParaRPr lang="zh-CN" alt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69</a:t>
            </a:fld>
            <a:endParaRPr lang="zh-CN" alt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70</a:t>
            </a:fld>
            <a:endParaRPr lang="zh-CN" alt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71</a:t>
            </a:fld>
            <a:endParaRPr lang="zh-CN" alt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72</a:t>
            </a:fld>
            <a:endParaRPr lang="zh-CN" alt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73</a:t>
            </a:fld>
            <a:endParaRPr lang="zh-CN" alt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74</a:t>
            </a:fld>
            <a:endParaRPr lang="zh-CN" alt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75</a:t>
            </a:fld>
            <a:endParaRPr lang="zh-CN" alt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76</a:t>
            </a:fld>
            <a:endParaRPr lang="zh-CN" alt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77</a:t>
            </a:fld>
            <a:endParaRPr lang="zh-CN" altLang="en-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78</a:t>
            </a:fld>
            <a:endParaRPr lang="zh-CN" alt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79</a:t>
            </a:fld>
            <a:endParaRPr lang="zh-CN" alt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80</a:t>
            </a:fld>
            <a:endParaRPr lang="zh-CN" altLang="en-US"/>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81</a:t>
            </a:fld>
            <a:endParaRPr lang="zh-CN" alt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82</a:t>
            </a:fld>
            <a:endParaRPr lang="zh-CN" alt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83</a:t>
            </a:fld>
            <a:endParaRPr lang="zh-CN" alt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84</a:t>
            </a:fld>
            <a:endParaRPr lang="zh-CN" alt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85</a:t>
            </a:fld>
            <a:endParaRPr lang="zh-CN" alt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86</a:t>
            </a:fld>
            <a:endParaRPr lang="zh-CN" alt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87</a:t>
            </a:fld>
            <a:endParaRPr lang="zh-CN" altLang="en-US"/>
          </a:p>
        </p:txBody>
      </p:sp>
    </p:spTree>
    <p:extLst>
      <p:ext uri="{BB962C8B-B14F-4D97-AF65-F5344CB8AC3E}">
        <p14:creationId xmlns:p14="http://schemas.microsoft.com/office/powerpoint/2010/main" val="117985848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88</a:t>
            </a:fld>
            <a:endParaRPr lang="zh-CN" altLang="en-US"/>
          </a:p>
        </p:txBody>
      </p:sp>
    </p:spTree>
    <p:extLst>
      <p:ext uri="{BB962C8B-B14F-4D97-AF65-F5344CB8AC3E}">
        <p14:creationId xmlns:p14="http://schemas.microsoft.com/office/powerpoint/2010/main" val="314498873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89</a:t>
            </a:fld>
            <a:endParaRPr lang="zh-CN" altLang="en-US"/>
          </a:p>
        </p:txBody>
      </p:sp>
    </p:spTree>
    <p:extLst>
      <p:ext uri="{BB962C8B-B14F-4D97-AF65-F5344CB8AC3E}">
        <p14:creationId xmlns:p14="http://schemas.microsoft.com/office/powerpoint/2010/main" val="209288547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90</a:t>
            </a:fld>
            <a:endParaRPr lang="zh-CN" altLang="en-US"/>
          </a:p>
        </p:txBody>
      </p:sp>
    </p:spTree>
    <p:extLst>
      <p:ext uri="{BB962C8B-B14F-4D97-AF65-F5344CB8AC3E}">
        <p14:creationId xmlns:p14="http://schemas.microsoft.com/office/powerpoint/2010/main" val="281961884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91</a:t>
            </a:fld>
            <a:endParaRPr lang="zh-CN" altLang="en-US"/>
          </a:p>
        </p:txBody>
      </p:sp>
    </p:spTree>
    <p:extLst>
      <p:ext uri="{BB962C8B-B14F-4D97-AF65-F5344CB8AC3E}">
        <p14:creationId xmlns:p14="http://schemas.microsoft.com/office/powerpoint/2010/main" val="113164360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92</a:t>
            </a:fld>
            <a:endParaRPr lang="zh-CN" alt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93</a:t>
            </a:fld>
            <a:endParaRPr lang="zh-CN" altLang="en-US"/>
          </a:p>
        </p:txBody>
      </p:sp>
    </p:spTree>
    <p:extLst>
      <p:ext uri="{BB962C8B-B14F-4D97-AF65-F5344CB8AC3E}">
        <p14:creationId xmlns:p14="http://schemas.microsoft.com/office/powerpoint/2010/main" val="34090358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94</a:t>
            </a:fld>
            <a:endParaRPr lang="zh-CN" altLang="en-US"/>
          </a:p>
        </p:txBody>
      </p:sp>
    </p:spTree>
    <p:extLst>
      <p:ext uri="{BB962C8B-B14F-4D97-AF65-F5344CB8AC3E}">
        <p14:creationId xmlns:p14="http://schemas.microsoft.com/office/powerpoint/2010/main" val="60949051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95</a:t>
            </a:fld>
            <a:endParaRPr lang="zh-CN" altLang="en-US"/>
          </a:p>
        </p:txBody>
      </p:sp>
    </p:spTree>
    <p:extLst>
      <p:ext uri="{BB962C8B-B14F-4D97-AF65-F5344CB8AC3E}">
        <p14:creationId xmlns:p14="http://schemas.microsoft.com/office/powerpoint/2010/main" val="349624426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96</a:t>
            </a:fld>
            <a:endParaRPr lang="zh-CN" altLang="en-US"/>
          </a:p>
        </p:txBody>
      </p:sp>
    </p:spTree>
    <p:extLst>
      <p:ext uri="{BB962C8B-B14F-4D97-AF65-F5344CB8AC3E}">
        <p14:creationId xmlns:p14="http://schemas.microsoft.com/office/powerpoint/2010/main" val="7175846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97</a:t>
            </a:fld>
            <a:endParaRPr lang="zh-CN" altLang="en-US"/>
          </a:p>
        </p:txBody>
      </p:sp>
    </p:spTree>
    <p:extLst>
      <p:ext uri="{BB962C8B-B14F-4D97-AF65-F5344CB8AC3E}">
        <p14:creationId xmlns:p14="http://schemas.microsoft.com/office/powerpoint/2010/main" val="155961015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98</a:t>
            </a:fld>
            <a:endParaRPr lang="zh-CN" altLang="en-US"/>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99</a:t>
            </a:fld>
            <a:endParaRPr lang="zh-CN" altLang="en-US"/>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100</a:t>
            </a:fld>
            <a:endParaRPr lang="zh-CN" alt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101</a:t>
            </a:fld>
            <a:endParaRPr lang="zh-CN" altLang="en-US"/>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102</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18.xml"/><Relationship Id="rId1" Type="http://schemas.openxmlformats.org/officeDocument/2006/relationships/slideLayout" Target="../slideLayouts/slideLayout8.xml"/><Relationship Id="rId4" Type="http://schemas.openxmlformats.org/officeDocument/2006/relationships/image" Target="../media/image8.wmf"/></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14.png"/><Relationship Id="rId7" Type="http://schemas.openxmlformats.org/officeDocument/2006/relationships/image" Target="../media/image18.png"/><Relationship Id="rId2" Type="http://schemas.openxmlformats.org/officeDocument/2006/relationships/notesSlide" Target="../notesSlides/notesSlide50.xml"/><Relationship Id="rId1" Type="http://schemas.openxmlformats.org/officeDocument/2006/relationships/slideLayout" Target="../slideLayouts/slideLayout8.xml"/><Relationship Id="rId6" Type="http://schemas.openxmlformats.org/officeDocument/2006/relationships/image" Target="../media/image17.png"/><Relationship Id="rId5" Type="http://schemas.openxmlformats.org/officeDocument/2006/relationships/image" Target="../media/image16.png"/><Relationship Id="rId10" Type="http://schemas.openxmlformats.org/officeDocument/2006/relationships/image" Target="../media/image21.png"/><Relationship Id="rId4" Type="http://schemas.openxmlformats.org/officeDocument/2006/relationships/image" Target="../media/image15.png"/><Relationship Id="rId9" Type="http://schemas.openxmlformats.org/officeDocument/2006/relationships/image" Target="../media/image20.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8.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8.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8.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8.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8.xml"/></Relationships>
</file>

<file path=ppt/slides/_rels/slide6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65.xml"/><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8.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8.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8.xml"/></Relationships>
</file>

<file path=ppt/slides/_rels/slide7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6.xml"/><Relationship Id="rId1" Type="http://schemas.openxmlformats.org/officeDocument/2006/relationships/slideLayout" Target="../slideLayouts/slideLayout1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8.xml"/></Relationships>
</file>

<file path=ppt/slides/_rels/slide7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79.xml"/><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8.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8.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8.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8.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8.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8.xml"/></Relationships>
</file>

<file path=ppt/slides/_rels/slide8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87.xml"/><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8.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8.xml"/></Relationships>
</file>

<file path=ppt/slides/_rels/slide9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92.xml"/><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8.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8.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4" name="矩形 3"/>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 name="组合 1"/>
          <p:cNvGrpSpPr/>
          <p:nvPr/>
        </p:nvGrpSpPr>
        <p:grpSpPr>
          <a:xfrm>
            <a:off x="4725954" y="5800885"/>
            <a:ext cx="2670502" cy="772222"/>
            <a:chOff x="402390" y="1112544"/>
            <a:chExt cx="3373279" cy="975442"/>
          </a:xfrm>
        </p:grpSpPr>
        <p:grpSp>
          <p:nvGrpSpPr>
            <p:cNvPr id="10" name="组合 9"/>
            <p:cNvGrpSpPr/>
            <p:nvPr/>
          </p:nvGrpSpPr>
          <p:grpSpPr>
            <a:xfrm>
              <a:off x="1577355" y="1930744"/>
              <a:ext cx="2136277" cy="157242"/>
              <a:chOff x="4616246" y="3878362"/>
              <a:chExt cx="5571416" cy="410087"/>
            </a:xfrm>
            <a:solidFill>
              <a:schemeClr val="tx1">
                <a:alpha val="80000"/>
              </a:schemeClr>
            </a:solidFill>
          </p:grpSpPr>
          <p:sp>
            <p:nvSpPr>
              <p:cNvPr id="5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1630792" y="1180217"/>
              <a:ext cx="2144877" cy="612998"/>
              <a:chOff x="4606634" y="2048989"/>
              <a:chExt cx="5593843" cy="1598699"/>
            </a:xfrm>
            <a:solidFill>
              <a:schemeClr val="accent1">
                <a:alpha val="80000"/>
              </a:schemeClr>
            </a:solidFill>
          </p:grpSpPr>
          <p:sp>
            <p:nvSpPr>
              <p:cNvPr id="40"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6" name="组合 15"/>
            <p:cNvGrpSpPr/>
            <p:nvPr/>
          </p:nvGrpSpPr>
          <p:grpSpPr>
            <a:xfrm>
              <a:off x="402390" y="1112544"/>
              <a:ext cx="960649" cy="958410"/>
              <a:chOff x="2105799" y="20055838"/>
              <a:chExt cx="6748090" cy="6732363"/>
            </a:xfrm>
            <a:solidFill>
              <a:schemeClr val="accent1">
                <a:alpha val="80000"/>
              </a:schemeClr>
            </a:solidFill>
          </p:grpSpPr>
          <p:sp>
            <p:nvSpPr>
              <p:cNvPr id="1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12" name="文本框 11"/>
          <p:cNvSpPr txBox="1"/>
          <p:nvPr/>
        </p:nvSpPr>
        <p:spPr>
          <a:xfrm>
            <a:off x="641985" y="2299970"/>
            <a:ext cx="10887075" cy="1198880"/>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lang="en-US" altLang="zh-CN" sz="7200" spc="200" dirty="0">
                <a:solidFill>
                  <a:srgbClr val="9A0001"/>
                </a:solidFill>
                <a:latin typeface="+mj-ea"/>
                <a:ea typeface="+mj-ea"/>
                <a:cs typeface="+mn-ea"/>
                <a:sym typeface="Arial" panose="020B0604020202020204" pitchFamily="34" charset="0"/>
              </a:rPr>
              <a:t>2</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操作系统运行环境</a:t>
            </a:r>
          </a:p>
        </p:txBody>
      </p:sp>
      <p:cxnSp>
        <p:nvCxnSpPr>
          <p:cNvPr id="6" name="直接连接符 5"/>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zh-CN" altLang="en-US" dirty="0">
                <a:sym typeface="Arial" panose="020B0604020202020204" pitchFamily="34" charset="0"/>
              </a:rPr>
              <a:t>学习目标</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00" name="文本框 99"/>
          <p:cNvSpPr txBox="1"/>
          <p:nvPr/>
        </p:nvSpPr>
        <p:spPr>
          <a:xfrm>
            <a:off x="443230" y="1118870"/>
            <a:ext cx="11190605" cy="5077460"/>
          </a:xfrm>
          <a:prstGeom prst="rect">
            <a:avLst/>
          </a:prstGeom>
          <a:noFill/>
          <a:ln w="9525">
            <a:noFill/>
          </a:ln>
        </p:spPr>
        <p:txBody>
          <a:bodyPr wrap="square">
            <a:spAutoFit/>
          </a:bodyPr>
          <a:lstStyle/>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1</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理解</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与操作系统相关的计算机硬件系统基本概念</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2</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理解</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内核态与用户态的区别</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3</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掌握</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重要寄存器的作用</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4</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理解</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中断</a:t>
            </a:r>
            <a:r>
              <a:rPr lang="en-US"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异常的概念和分类</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5</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掌握</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中断</a:t>
            </a:r>
            <a:r>
              <a:rPr lang="en-US"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异常处理过程</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6</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掌握</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中断响应过程和中断处理程序工作过程</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7</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分析</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特定体系结构的中断响应过程</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8</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分析</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特定操作系统下系统调用的工作过程</a:t>
            </a:r>
            <a:endParaRPr lang="en-US" sz="2400" b="0" dirty="0">
              <a:latin typeface="微软雅黑" panose="020B0503020204020204" pitchFamily="34" charset="-122"/>
              <a:ea typeface="微软雅黑" panose="020B0503020204020204" pitchFamily="34" charset="-122"/>
              <a:cs typeface="微软雅黑" panose="020B0503020204020204" pitchFamily="34" charset="-122"/>
            </a:endParaRPr>
          </a:p>
          <a:p>
            <a:pPr indent="0" fontAlgn="auto">
              <a:lnSpc>
                <a:spcPct val="150000"/>
              </a:lnSpc>
            </a:pPr>
            <a:r>
              <a:rPr lang="en-US" sz="2400" b="0" dirty="0">
                <a:latin typeface="微软雅黑" panose="020B0503020204020204" pitchFamily="34" charset="-122"/>
                <a:ea typeface="微软雅黑" panose="020B0503020204020204" pitchFamily="34" charset="-122"/>
                <a:cs typeface="微软雅黑" panose="020B0503020204020204" pitchFamily="34" charset="-122"/>
              </a:rPr>
              <a:t>9</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a:t>
            </a:r>
            <a:r>
              <a:rPr lang="zh-CN" sz="2400" b="0" dirty="0">
                <a:solidFill>
                  <a:srgbClr val="9A0001"/>
                </a:solidFill>
                <a:latin typeface="微软雅黑" panose="020B0503020204020204" pitchFamily="34" charset="-122"/>
                <a:ea typeface="微软雅黑" panose="020B0503020204020204" pitchFamily="34" charset="-122"/>
                <a:cs typeface="微软雅黑" panose="020B0503020204020204" pitchFamily="34" charset="-122"/>
              </a:rPr>
              <a:t>运用</a:t>
            </a:r>
            <a:r>
              <a:rPr lang="zh-CN" sz="2400" b="0" dirty="0">
                <a:latin typeface="微软雅黑" panose="020B0503020204020204" pitchFamily="34" charset="-122"/>
                <a:ea typeface="微软雅黑" panose="020B0503020204020204" pitchFamily="34" charset="-122"/>
                <a:cs typeface="微软雅黑" panose="020B0503020204020204" pitchFamily="34" charset="-122"/>
              </a:rPr>
              <a:t>典型系统调用进程编程</a:t>
            </a:r>
            <a:endParaRPr lang="zh-CN" altLang="en-US" sz="2400" b="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3" name="文本框 2">
            <a:extLst>
              <a:ext uri="{FF2B5EF4-FFF2-40B4-BE49-F238E27FC236}">
                <a16:creationId xmlns:a16="http://schemas.microsoft.com/office/drawing/2014/main" id="{E199CA14-2E7B-9F09-D5F4-39072FCAF0EE}"/>
              </a:ext>
            </a:extLst>
          </p:cNvPr>
          <p:cNvSpPr txBox="1"/>
          <p:nvPr/>
        </p:nvSpPr>
        <p:spPr>
          <a:xfrm>
            <a:off x="7924800" y="5676900"/>
            <a:ext cx="3365500" cy="461665"/>
          </a:xfrm>
          <a:prstGeom prst="rect">
            <a:avLst/>
          </a:prstGeom>
          <a:noFill/>
        </p:spPr>
        <p:txBody>
          <a:bodyPr wrap="square" rtlCol="0">
            <a:spAutoFit/>
          </a:bodyPr>
          <a:lstStyle/>
          <a:p>
            <a:pPr algn="ctr"/>
            <a:r>
              <a:rPr lang="zh-CN" altLang="en-US" sz="2400" dirty="0">
                <a:latin typeface="Arial" panose="020B0604020202020204" pitchFamily="34" charset="0"/>
                <a:ea typeface="微软雅黑" panose="020B0503020204020204" pitchFamily="34" charset="-122"/>
                <a:cs typeface="+mn-ea"/>
                <a:sym typeface="Arial" panose="020B0604020202020204" pitchFamily="34" charset="0"/>
              </a:rPr>
              <a:t>建议学时：</a:t>
            </a:r>
            <a:r>
              <a:rPr lang="en-US" altLang="zh-CN" sz="24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400" dirty="0">
                <a:latin typeface="Arial" panose="020B0604020202020204" pitchFamily="34" charset="0"/>
                <a:ea typeface="微软雅黑" panose="020B0503020204020204" pitchFamily="34" charset="-122"/>
                <a:cs typeface="+mn-ea"/>
                <a:sym typeface="Arial" panose="020B0604020202020204" pitchFamily="34" charset="0"/>
              </a:rPr>
              <a:t>学时</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4" name="文本框 3"/>
          <p:cNvSpPr txBox="1"/>
          <p:nvPr/>
        </p:nvSpPr>
        <p:spPr>
          <a:xfrm>
            <a:off x="5876999" y="1180224"/>
            <a:ext cx="7295104" cy="4994910"/>
          </a:xfrm>
          <a:prstGeom prst="rect">
            <a:avLst/>
          </a:prstGeom>
          <a:noFill/>
        </p:spPr>
        <p:txBody>
          <a:bodyPr wrap="square" rtlCol="0">
            <a:spAutoFit/>
          </a:bodyPr>
          <a:lstStyle/>
          <a:p>
            <a:pPr fontAlgn="auto">
              <a:lnSpc>
                <a:spcPts val="4780"/>
              </a:lnSpc>
            </a:pPr>
            <a:r>
              <a:rPr lang="en-US" altLang="zh-CN" sz="2400" dirty="0">
                <a:latin typeface="+mn-ea"/>
                <a:cs typeface="+mn-ea"/>
                <a:sym typeface="Arial" panose="020B0604020202020204" pitchFamily="34" charset="0"/>
              </a:rPr>
              <a:t>2.1  计算机系统的层次结构</a:t>
            </a:r>
          </a:p>
          <a:p>
            <a:pPr fontAlgn="auto">
              <a:lnSpc>
                <a:spcPts val="4780"/>
              </a:lnSpc>
            </a:pPr>
            <a:r>
              <a:rPr lang="en-US" altLang="zh-CN" sz="2400" dirty="0">
                <a:latin typeface="+mn-ea"/>
                <a:cs typeface="+mn-ea"/>
                <a:sym typeface="Arial" panose="020B0604020202020204" pitchFamily="34" charset="0"/>
              </a:rPr>
              <a:t>2.2  中央处理器（CPU）</a:t>
            </a:r>
          </a:p>
          <a:p>
            <a:pPr fontAlgn="auto">
              <a:lnSpc>
                <a:spcPts val="4780"/>
              </a:lnSpc>
            </a:pPr>
            <a:r>
              <a:rPr lang="en-US" altLang="zh-CN" sz="2400" dirty="0">
                <a:latin typeface="+mn-ea"/>
                <a:cs typeface="+mn-ea"/>
                <a:sym typeface="Arial" panose="020B0604020202020204" pitchFamily="34" charset="0"/>
              </a:rPr>
              <a:t>2.3  存储系统</a:t>
            </a:r>
          </a:p>
          <a:p>
            <a:pPr fontAlgn="auto">
              <a:lnSpc>
                <a:spcPts val="4780"/>
              </a:lnSpc>
            </a:pPr>
            <a:r>
              <a:rPr lang="en-US" altLang="zh-CN" sz="2400" dirty="0">
                <a:latin typeface="+mn-ea"/>
                <a:cs typeface="+mn-ea"/>
                <a:sym typeface="Arial" panose="020B0604020202020204" pitchFamily="34" charset="0"/>
              </a:rPr>
              <a:t>2.4  中断机制</a:t>
            </a:r>
          </a:p>
          <a:p>
            <a:pPr fontAlgn="auto">
              <a:lnSpc>
                <a:spcPts val="4780"/>
              </a:lnSpc>
            </a:pPr>
            <a:r>
              <a:rPr lang="en-US" altLang="zh-CN" sz="2400" dirty="0">
                <a:latin typeface="+mn-ea"/>
                <a:cs typeface="+mn-ea"/>
                <a:sym typeface="Arial" panose="020B0604020202020204" pitchFamily="34" charset="0"/>
              </a:rPr>
              <a:t>2.5  I／O技术</a:t>
            </a:r>
          </a:p>
          <a:p>
            <a:pPr fontAlgn="auto">
              <a:lnSpc>
                <a:spcPts val="4780"/>
              </a:lnSpc>
            </a:pPr>
            <a:r>
              <a:rPr lang="en-US" altLang="zh-CN" sz="2400" dirty="0">
                <a:latin typeface="+mn-ea"/>
                <a:cs typeface="+mn-ea"/>
                <a:sym typeface="Arial" panose="020B0604020202020204" pitchFamily="34" charset="0"/>
              </a:rPr>
              <a:t>2.6  时钟</a:t>
            </a:r>
          </a:p>
          <a:p>
            <a:pPr fontAlgn="auto">
              <a:lnSpc>
                <a:spcPts val="4780"/>
              </a:lnSpc>
            </a:pPr>
            <a:r>
              <a:rPr lang="en-US" altLang="zh-CN" sz="2400" dirty="0">
                <a:latin typeface="+mn-ea"/>
                <a:cs typeface="+mn-ea"/>
                <a:sym typeface="Arial" panose="020B0604020202020204" pitchFamily="34" charset="0"/>
              </a:rPr>
              <a:t>2.7  系统调用</a:t>
            </a:r>
          </a:p>
          <a:p>
            <a:pPr fontAlgn="auto">
              <a:lnSpc>
                <a:spcPts val="4780"/>
              </a:lnSpc>
            </a:pPr>
            <a:r>
              <a:rPr lang="en-US" altLang="zh-CN" sz="2400" dirty="0">
                <a:latin typeface="+mn-ea"/>
                <a:cs typeface="+mn-ea"/>
                <a:sym typeface="Arial" panose="020B0604020202020204" pitchFamily="34" charset="0"/>
              </a:rPr>
              <a:t>2.8  本章小结</a:t>
            </a:r>
          </a:p>
        </p:txBody>
      </p:sp>
      <p:grpSp>
        <p:nvGrpSpPr>
          <p:cNvPr id="113" name="组合 112"/>
          <p:cNvGrpSpPr/>
          <p:nvPr/>
        </p:nvGrpSpPr>
        <p:grpSpPr>
          <a:xfrm>
            <a:off x="5877069" y="1331648"/>
            <a:ext cx="6155369" cy="4499679"/>
            <a:chOff x="5650374" y="1507952"/>
            <a:chExt cx="6155369" cy="4499679"/>
          </a:xfrm>
        </p:grpSpPr>
        <p:sp>
          <p:nvSpPr>
            <p:cNvPr id="160" name="矩形 159"/>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7" name="矩形 156"/>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2" name="矩形 151"/>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8" name="矩形 147"/>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19" name="组合 118"/>
            <p:cNvGrpSpPr/>
            <p:nvPr/>
          </p:nvGrpSpPr>
          <p:grpSpPr>
            <a:xfrm>
              <a:off x="7954667" y="1507952"/>
              <a:ext cx="3851076" cy="3842096"/>
              <a:chOff x="2105799" y="20055838"/>
              <a:chExt cx="6748090" cy="6732363"/>
            </a:xfrm>
            <a:solidFill>
              <a:schemeClr val="bg1">
                <a:alpha val="2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7" name="Freeform 71"/>
              <p:cNvSpPr>
                <a:spLocks noEditPoints="1"/>
              </p:cNvSpPr>
              <p:nvPr/>
            </p:nvSpPr>
            <p:spPr bwMode="auto">
              <a:xfrm>
                <a:off x="3199022" y="2114119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121" name="矩形 120"/>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cxnSp>
        <p:nvCxnSpPr>
          <p:cNvPr id="166" name="直接连接符 165"/>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p:cNvGrpSpPr/>
          <p:nvPr/>
        </p:nvGrpSpPr>
        <p:grpSpPr>
          <a:xfrm>
            <a:off x="1910563" y="2728434"/>
            <a:ext cx="3222172" cy="1564449"/>
            <a:chOff x="1042609" y="2403083"/>
            <a:chExt cx="3222172" cy="1564449"/>
          </a:xfrm>
        </p:grpSpPr>
        <p:sp>
          <p:nvSpPr>
            <p:cNvPr id="168" name="文本框 167"/>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目录</a:t>
              </a:r>
            </a:p>
          </p:txBody>
        </p:sp>
        <p:sp>
          <p:nvSpPr>
            <p:cNvPr id="169" name="文本框 168"/>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p:cNvPicPr>
            <a:picLocks noChangeAspect="1"/>
          </p:cNvPicPr>
          <p:nvPr/>
        </p:nvPicPr>
        <p:blipFill>
          <a:blip r:embed="rId3"/>
          <a:stretch>
            <a:fillRect/>
          </a:stretch>
        </p:blipFill>
        <p:spPr>
          <a:xfrm>
            <a:off x="0" y="0"/>
            <a:ext cx="12192000" cy="6858000"/>
          </a:xfrm>
          <a:prstGeom prst="rect">
            <a:avLst/>
          </a:prstGeom>
        </p:spPr>
      </p:pic>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4" name="文本框 3"/>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等腰三角形 6"/>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1" name="组合 90"/>
          <p:cNvGrpSpPr/>
          <p:nvPr/>
        </p:nvGrpSpPr>
        <p:grpSpPr>
          <a:xfrm>
            <a:off x="6774186" y="2658742"/>
            <a:ext cx="3526265" cy="1568450"/>
            <a:chOff x="6566813" y="2528855"/>
            <a:chExt cx="3526265" cy="1568450"/>
          </a:xfrm>
        </p:grpSpPr>
        <p:sp>
          <p:nvSpPr>
            <p:cNvPr id="8" name="文本框 7"/>
            <p:cNvSpPr txBox="1"/>
            <p:nvPr/>
          </p:nvSpPr>
          <p:spPr>
            <a:xfrm>
              <a:off x="6566813" y="2528855"/>
              <a:ext cx="3526265" cy="156845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计算机系统的层次结构</a:t>
              </a: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组合 35"/>
          <p:cNvGrpSpPr/>
          <p:nvPr/>
        </p:nvGrpSpPr>
        <p:grpSpPr>
          <a:xfrm>
            <a:off x="10093078" y="291782"/>
            <a:ext cx="1512002" cy="444892"/>
            <a:chOff x="9556201" y="498129"/>
            <a:chExt cx="1993881" cy="586680"/>
          </a:xfrm>
        </p:grpSpPr>
        <p:grpSp>
          <p:nvGrpSpPr>
            <p:cNvPr id="37" name="组合 36"/>
            <p:cNvGrpSpPr/>
            <p:nvPr userDrawn="1"/>
          </p:nvGrpSpPr>
          <p:grpSpPr>
            <a:xfrm>
              <a:off x="10239376" y="968937"/>
              <a:ext cx="1307697" cy="96254"/>
              <a:chOff x="4616246" y="3878362"/>
              <a:chExt cx="5571416" cy="410087"/>
            </a:xfrm>
            <a:solidFill>
              <a:schemeClr val="tx1">
                <a:alpha val="80000"/>
              </a:schemeClr>
            </a:solidFill>
          </p:grpSpPr>
          <p:sp>
            <p:nvSpPr>
              <p:cNvPr id="75"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6"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组合 37"/>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组合 38"/>
            <p:cNvGrpSpPr/>
            <p:nvPr userDrawn="1"/>
          </p:nvGrpSpPr>
          <p:grpSpPr>
            <a:xfrm>
              <a:off x="9556201" y="498129"/>
              <a:ext cx="588050" cy="586680"/>
              <a:chOff x="2105799" y="20055838"/>
              <a:chExt cx="6748090" cy="6732363"/>
            </a:xfrm>
            <a:solidFill>
              <a:schemeClr val="accent1">
                <a:alpha val="80000"/>
              </a:schemeClr>
            </a:solidFill>
          </p:grpSpPr>
          <p:sp>
            <p:nvSpPr>
              <p:cNvPr id="4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zh-CN" altLang="en-US" dirty="0">
                <a:sym typeface="Arial" panose="020B0604020202020204" pitchFamily="34" charset="0"/>
              </a:rPr>
              <a:t>计算机系统的层次结构</a:t>
            </a:r>
          </a:p>
        </p:txBody>
      </p:sp>
      <p:sp>
        <p:nvSpPr>
          <p:cNvPr id="2" name="灯片编号占位符 1"/>
          <p:cNvSpPr>
            <a:spLocks noGrp="1"/>
          </p:cNvSpPr>
          <p:nvPr>
            <p:ph type="sldNum" sz="quarter" idx="4"/>
          </p:nvPr>
        </p:nvSpPr>
        <p:spPr>
          <a:xfrm>
            <a:off x="9005791" y="6403145"/>
            <a:ext cx="2743200" cy="292196"/>
          </a:xfrm>
        </p:spPr>
        <p:txBody>
          <a:bodyPr/>
          <a:lstStyle/>
          <a:p>
            <a:r>
              <a:rPr lang="en-US" altLang="zh-CN" sz="1800">
                <a:sym typeface="Arial" panose="020B0604020202020204" pitchFamily="34" charset="0"/>
              </a:rPr>
              <a:t>&lt; </a:t>
            </a:r>
            <a:fld id="{A548B57D-AE10-4CF7-A9DF-59FEFA91B28E}" type="slidenum">
              <a:rPr lang="zh-CN" altLang="en-US" sz="1800" smtClean="0">
                <a:sym typeface="Arial" panose="020B0604020202020204" pitchFamily="34" charset="0"/>
              </a:rPr>
              <a:t>5</a:t>
            </a:fld>
            <a:r>
              <a:rPr lang="zh-CN" altLang="en-US" sz="1800">
                <a:sym typeface="Arial" panose="020B0604020202020204" pitchFamily="34" charset="0"/>
              </a:rPr>
              <a:t> </a:t>
            </a:r>
            <a:r>
              <a:rPr lang="en-US" altLang="zh-CN" sz="1800">
                <a:sym typeface="Arial" panose="020B0604020202020204" pitchFamily="34" charset="0"/>
              </a:rPr>
              <a:t>&gt;</a:t>
            </a:r>
            <a:endParaRPr lang="zh-CN" altLang="en-US" sz="1800" dirty="0">
              <a:sym typeface="Arial" panose="020B0604020202020204" pitchFamily="34" charset="0"/>
            </a:endParaRPr>
          </a:p>
        </p:txBody>
      </p:sp>
      <p:sp>
        <p:nvSpPr>
          <p:cNvPr id="4" name="矩形 3"/>
          <p:cNvSpPr/>
          <p:nvPr/>
        </p:nvSpPr>
        <p:spPr>
          <a:xfrm>
            <a:off x="5191760" y="4975762"/>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文本框 4"/>
          <p:cNvSpPr txBox="1"/>
          <p:nvPr/>
        </p:nvSpPr>
        <p:spPr>
          <a:xfrm>
            <a:off x="5191760" y="5005411"/>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硬件系统</a:t>
            </a:r>
          </a:p>
        </p:txBody>
      </p:sp>
      <p:sp>
        <p:nvSpPr>
          <p:cNvPr id="38" name="矩形 37"/>
          <p:cNvSpPr/>
          <p:nvPr/>
        </p:nvSpPr>
        <p:spPr>
          <a:xfrm>
            <a:off x="5178425" y="4262022"/>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文本框 38"/>
          <p:cNvSpPr txBox="1"/>
          <p:nvPr/>
        </p:nvSpPr>
        <p:spPr>
          <a:xfrm>
            <a:off x="5178425" y="4291671"/>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软件系统</a:t>
            </a:r>
          </a:p>
        </p:txBody>
      </p:sp>
      <p:sp>
        <p:nvSpPr>
          <p:cNvPr id="40" name="矩形 39"/>
          <p:cNvSpPr/>
          <p:nvPr/>
        </p:nvSpPr>
        <p:spPr>
          <a:xfrm>
            <a:off x="5191125" y="5806977"/>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5191125" y="5811861"/>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中断机制</a:t>
            </a:r>
          </a:p>
        </p:txBody>
      </p:sp>
      <p:sp>
        <p:nvSpPr>
          <p:cNvPr id="42" name="矩形 41"/>
          <p:cNvSpPr/>
          <p:nvPr/>
        </p:nvSpPr>
        <p:spPr>
          <a:xfrm>
            <a:off x="7586345" y="5806977"/>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文本框 42"/>
          <p:cNvSpPr txBox="1"/>
          <p:nvPr/>
        </p:nvSpPr>
        <p:spPr>
          <a:xfrm>
            <a:off x="7586345" y="5836626"/>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I／O技术</a:t>
            </a:r>
          </a:p>
        </p:txBody>
      </p:sp>
      <p:sp>
        <p:nvSpPr>
          <p:cNvPr id="46" name="矩形 45"/>
          <p:cNvSpPr/>
          <p:nvPr/>
        </p:nvSpPr>
        <p:spPr>
          <a:xfrm>
            <a:off x="9982200" y="5807612"/>
            <a:ext cx="203136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p:cNvSpPr txBox="1"/>
          <p:nvPr/>
        </p:nvSpPr>
        <p:spPr>
          <a:xfrm>
            <a:off x="9982200" y="5837261"/>
            <a:ext cx="2031365"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时钟</a:t>
            </a:r>
          </a:p>
        </p:txBody>
      </p:sp>
      <p:sp>
        <p:nvSpPr>
          <p:cNvPr id="48" name="矩形 47"/>
          <p:cNvSpPr/>
          <p:nvPr/>
        </p:nvSpPr>
        <p:spPr>
          <a:xfrm>
            <a:off x="2795270" y="3500022"/>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文本框 48"/>
          <p:cNvSpPr txBox="1"/>
          <p:nvPr/>
        </p:nvSpPr>
        <p:spPr>
          <a:xfrm>
            <a:off x="2795270" y="3504906"/>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系统软件</a:t>
            </a:r>
          </a:p>
        </p:txBody>
      </p:sp>
      <p:sp>
        <p:nvSpPr>
          <p:cNvPr id="50" name="矩形 49"/>
          <p:cNvSpPr/>
          <p:nvPr/>
        </p:nvSpPr>
        <p:spPr>
          <a:xfrm>
            <a:off x="5190490" y="3500022"/>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p:cNvSpPr txBox="1"/>
          <p:nvPr/>
        </p:nvSpPr>
        <p:spPr>
          <a:xfrm>
            <a:off x="5190490" y="3529671"/>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支撑软件</a:t>
            </a:r>
          </a:p>
        </p:txBody>
      </p:sp>
      <p:sp>
        <p:nvSpPr>
          <p:cNvPr id="52" name="矩形 51"/>
          <p:cNvSpPr/>
          <p:nvPr/>
        </p:nvSpPr>
        <p:spPr>
          <a:xfrm>
            <a:off x="7586345" y="3500657"/>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文本框 52"/>
          <p:cNvSpPr txBox="1"/>
          <p:nvPr/>
        </p:nvSpPr>
        <p:spPr>
          <a:xfrm>
            <a:off x="7829233" y="3617995"/>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应用软件</a:t>
            </a:r>
          </a:p>
        </p:txBody>
      </p:sp>
      <p:sp>
        <p:nvSpPr>
          <p:cNvPr id="54" name="矩形 53"/>
          <p:cNvSpPr/>
          <p:nvPr/>
        </p:nvSpPr>
        <p:spPr>
          <a:xfrm>
            <a:off x="2837180" y="5795547"/>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文本框 54"/>
          <p:cNvSpPr txBox="1"/>
          <p:nvPr/>
        </p:nvSpPr>
        <p:spPr>
          <a:xfrm>
            <a:off x="2837180" y="5800431"/>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存储系统</a:t>
            </a:r>
          </a:p>
        </p:txBody>
      </p:sp>
      <p:sp>
        <p:nvSpPr>
          <p:cNvPr id="56" name="矩形 55"/>
          <p:cNvSpPr/>
          <p:nvPr/>
        </p:nvSpPr>
        <p:spPr>
          <a:xfrm>
            <a:off x="400050" y="5808247"/>
            <a:ext cx="217614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文本框 56"/>
          <p:cNvSpPr txBox="1"/>
          <p:nvPr/>
        </p:nvSpPr>
        <p:spPr>
          <a:xfrm>
            <a:off x="400050" y="5813131"/>
            <a:ext cx="217678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中央处理器</a:t>
            </a:r>
          </a:p>
        </p:txBody>
      </p:sp>
      <p:cxnSp>
        <p:nvCxnSpPr>
          <p:cNvPr id="58" name="直接连接符 57"/>
          <p:cNvCxnSpPr>
            <a:cxnSpLocks/>
            <a:stCxn id="4" idx="2"/>
            <a:endCxn id="57" idx="0"/>
          </p:cNvCxnSpPr>
          <p:nvPr/>
        </p:nvCxnSpPr>
        <p:spPr>
          <a:xfrm flipH="1">
            <a:off x="1488440" y="5448837"/>
            <a:ext cx="4791393" cy="3642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直接连接符 58"/>
          <p:cNvCxnSpPr>
            <a:cxnSpLocks/>
            <a:stCxn id="4" idx="2"/>
            <a:endCxn id="55" idx="0"/>
          </p:cNvCxnSpPr>
          <p:nvPr/>
        </p:nvCxnSpPr>
        <p:spPr>
          <a:xfrm flipH="1">
            <a:off x="3925570" y="5448837"/>
            <a:ext cx="2354263" cy="3515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直接连接符 59"/>
          <p:cNvCxnSpPr>
            <a:endCxn id="41" idx="0"/>
          </p:cNvCxnSpPr>
          <p:nvPr/>
        </p:nvCxnSpPr>
        <p:spPr>
          <a:xfrm>
            <a:off x="6276975" y="5478486"/>
            <a:ext cx="2540" cy="3333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直接连接符 60"/>
          <p:cNvCxnSpPr>
            <a:cxnSpLocks/>
            <a:endCxn id="42" idx="0"/>
          </p:cNvCxnSpPr>
          <p:nvPr/>
        </p:nvCxnSpPr>
        <p:spPr>
          <a:xfrm>
            <a:off x="6280150" y="5418703"/>
            <a:ext cx="2394268" cy="3882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直接连接符 61"/>
          <p:cNvCxnSpPr>
            <a:cxnSpLocks/>
          </p:cNvCxnSpPr>
          <p:nvPr/>
        </p:nvCxnSpPr>
        <p:spPr>
          <a:xfrm>
            <a:off x="6198076" y="5435356"/>
            <a:ext cx="4798378" cy="37465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直接箭头连接符 64"/>
          <p:cNvCxnSpPr>
            <a:stCxn id="5" idx="0"/>
            <a:endCxn id="39" idx="2"/>
          </p:cNvCxnSpPr>
          <p:nvPr/>
        </p:nvCxnSpPr>
        <p:spPr>
          <a:xfrm flipH="1" flipV="1">
            <a:off x="6266815" y="4661003"/>
            <a:ext cx="13335" cy="34440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6" name="直接箭头连接符 65"/>
          <p:cNvCxnSpPr>
            <a:cxnSpLocks/>
            <a:stCxn id="39" idx="0"/>
            <a:endCxn id="48" idx="2"/>
          </p:cNvCxnSpPr>
          <p:nvPr/>
        </p:nvCxnSpPr>
        <p:spPr>
          <a:xfrm flipH="1" flipV="1">
            <a:off x="3883343" y="3973097"/>
            <a:ext cx="2383472" cy="31857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7" name="直接箭头连接符 66"/>
          <p:cNvCxnSpPr>
            <a:cxnSpLocks/>
            <a:endCxn id="50" idx="2"/>
          </p:cNvCxnSpPr>
          <p:nvPr/>
        </p:nvCxnSpPr>
        <p:spPr>
          <a:xfrm flipH="1" flipV="1">
            <a:off x="6278563" y="3973097"/>
            <a:ext cx="5397" cy="35159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8" name="直接箭头连接符 67"/>
          <p:cNvCxnSpPr>
            <a:cxnSpLocks/>
            <a:stCxn id="39" idx="0"/>
          </p:cNvCxnSpPr>
          <p:nvPr/>
        </p:nvCxnSpPr>
        <p:spPr>
          <a:xfrm flipV="1">
            <a:off x="6266815" y="3974952"/>
            <a:ext cx="2409667" cy="31671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9" name="矩形 68"/>
          <p:cNvSpPr/>
          <p:nvPr/>
        </p:nvSpPr>
        <p:spPr>
          <a:xfrm>
            <a:off x="181610" y="2658647"/>
            <a:ext cx="1715770" cy="459740"/>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文本框 69"/>
          <p:cNvSpPr txBox="1"/>
          <p:nvPr/>
        </p:nvSpPr>
        <p:spPr>
          <a:xfrm>
            <a:off x="181610" y="2711399"/>
            <a:ext cx="171577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操作系统</a:t>
            </a:r>
          </a:p>
        </p:txBody>
      </p:sp>
      <p:sp>
        <p:nvSpPr>
          <p:cNvPr id="71" name="矩形 70"/>
          <p:cNvSpPr/>
          <p:nvPr/>
        </p:nvSpPr>
        <p:spPr>
          <a:xfrm>
            <a:off x="2328545" y="2658647"/>
            <a:ext cx="1426210" cy="459740"/>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文本框 71"/>
          <p:cNvSpPr txBox="1"/>
          <p:nvPr/>
        </p:nvSpPr>
        <p:spPr>
          <a:xfrm>
            <a:off x="2253615" y="2712034"/>
            <a:ext cx="1556385"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编译系统</a:t>
            </a:r>
          </a:p>
        </p:txBody>
      </p:sp>
      <p:sp>
        <p:nvSpPr>
          <p:cNvPr id="73" name="矩形 72"/>
          <p:cNvSpPr/>
          <p:nvPr/>
        </p:nvSpPr>
        <p:spPr>
          <a:xfrm>
            <a:off x="4166235" y="2645947"/>
            <a:ext cx="1384935" cy="473075"/>
          </a:xfrm>
          <a:prstGeom prst="rect">
            <a:avLst/>
          </a:prstGeom>
          <a:noFill/>
          <a:ln>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文本框 73"/>
          <p:cNvSpPr txBox="1"/>
          <p:nvPr/>
        </p:nvSpPr>
        <p:spPr>
          <a:xfrm>
            <a:off x="4166235" y="2710764"/>
            <a:ext cx="1384935"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数据库</a:t>
            </a:r>
          </a:p>
        </p:txBody>
      </p:sp>
      <p:sp>
        <p:nvSpPr>
          <p:cNvPr id="75" name="圆角矩形 74"/>
          <p:cNvSpPr/>
          <p:nvPr/>
        </p:nvSpPr>
        <p:spPr>
          <a:xfrm>
            <a:off x="172085" y="1817272"/>
            <a:ext cx="2081530" cy="711200"/>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文本框 75"/>
          <p:cNvSpPr txBox="1"/>
          <p:nvPr/>
        </p:nvSpPr>
        <p:spPr>
          <a:xfrm>
            <a:off x="-464820" y="1882724"/>
            <a:ext cx="3294380" cy="646331"/>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Windows、UNIX</a:t>
            </a:r>
          </a:p>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或Linux等</a:t>
            </a:r>
          </a:p>
        </p:txBody>
      </p:sp>
      <p:sp>
        <p:nvSpPr>
          <p:cNvPr id="77" name="圆角矩形 76"/>
          <p:cNvSpPr/>
          <p:nvPr/>
        </p:nvSpPr>
        <p:spPr>
          <a:xfrm>
            <a:off x="2369185" y="1811557"/>
            <a:ext cx="1556385" cy="716915"/>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文本框 77"/>
          <p:cNvSpPr txBox="1"/>
          <p:nvPr/>
        </p:nvSpPr>
        <p:spPr>
          <a:xfrm>
            <a:off x="2456180" y="1874469"/>
            <a:ext cx="1428115" cy="646331"/>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C/C++、</a:t>
            </a:r>
          </a:p>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VB语言等</a:t>
            </a:r>
          </a:p>
        </p:txBody>
      </p:sp>
      <p:sp>
        <p:nvSpPr>
          <p:cNvPr id="80" name="圆角矩形 79"/>
          <p:cNvSpPr/>
          <p:nvPr/>
        </p:nvSpPr>
        <p:spPr>
          <a:xfrm>
            <a:off x="4034790" y="1821717"/>
            <a:ext cx="1826260" cy="711200"/>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文本框 80"/>
          <p:cNvSpPr txBox="1"/>
          <p:nvPr/>
        </p:nvSpPr>
        <p:spPr>
          <a:xfrm>
            <a:off x="4034790" y="1864309"/>
            <a:ext cx="1936115" cy="646331"/>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SQL、Oracle、Sybase等</a:t>
            </a:r>
          </a:p>
        </p:txBody>
      </p:sp>
      <p:cxnSp>
        <p:nvCxnSpPr>
          <p:cNvPr id="83" name="直接箭头连接符 82"/>
          <p:cNvCxnSpPr>
            <a:cxnSpLocks/>
          </p:cNvCxnSpPr>
          <p:nvPr/>
        </p:nvCxnSpPr>
        <p:spPr>
          <a:xfrm flipH="1" flipV="1">
            <a:off x="1039495" y="3098315"/>
            <a:ext cx="2844165" cy="4241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84" name="直接箭头连接符 83"/>
          <p:cNvCxnSpPr>
            <a:cxnSpLocks/>
          </p:cNvCxnSpPr>
          <p:nvPr/>
        </p:nvCxnSpPr>
        <p:spPr>
          <a:xfrm flipH="1" flipV="1">
            <a:off x="3031808" y="3098950"/>
            <a:ext cx="851852" cy="42354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85" name="直接箭头连接符 84"/>
          <p:cNvCxnSpPr>
            <a:cxnSpLocks/>
          </p:cNvCxnSpPr>
          <p:nvPr/>
        </p:nvCxnSpPr>
        <p:spPr>
          <a:xfrm flipV="1">
            <a:off x="3883660" y="3097680"/>
            <a:ext cx="975043" cy="42481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7" name="圆角矩形 86"/>
          <p:cNvSpPr/>
          <p:nvPr/>
        </p:nvSpPr>
        <p:spPr>
          <a:xfrm>
            <a:off x="6052185" y="1817272"/>
            <a:ext cx="2545080" cy="1303020"/>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文本框 87"/>
          <p:cNvSpPr txBox="1"/>
          <p:nvPr/>
        </p:nvSpPr>
        <p:spPr>
          <a:xfrm>
            <a:off x="6052185" y="1859621"/>
            <a:ext cx="2545715" cy="1200329"/>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网络通信程序、多媒体支持软件、硬件接口程序、实用软件工具以及软件开发工具</a:t>
            </a:r>
          </a:p>
        </p:txBody>
      </p:sp>
      <p:cxnSp>
        <p:nvCxnSpPr>
          <p:cNvPr id="89" name="直接箭头连接符 88"/>
          <p:cNvCxnSpPr>
            <a:cxnSpLocks/>
          </p:cNvCxnSpPr>
          <p:nvPr/>
        </p:nvCxnSpPr>
        <p:spPr>
          <a:xfrm flipV="1">
            <a:off x="6278880" y="3077534"/>
            <a:ext cx="1046163" cy="46972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0" name="圆角矩形 89"/>
          <p:cNvSpPr/>
          <p:nvPr/>
        </p:nvSpPr>
        <p:spPr>
          <a:xfrm>
            <a:off x="8910320" y="1817272"/>
            <a:ext cx="2191385" cy="715645"/>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文本框 90"/>
          <p:cNvSpPr txBox="1"/>
          <p:nvPr/>
        </p:nvSpPr>
        <p:spPr>
          <a:xfrm>
            <a:off x="8910320" y="1894789"/>
            <a:ext cx="2192020" cy="369332"/>
          </a:xfrm>
          <a:prstGeom prst="rect">
            <a:avLst/>
          </a:prstGeom>
          <a:noFill/>
        </p:spPr>
        <p:txBody>
          <a:bodyPr wrap="square" rtlCol="0">
            <a:spAutoFit/>
          </a:bodyPr>
          <a:lstStyle/>
          <a:p>
            <a:pPr algn="ctr"/>
            <a:r>
              <a:rPr lang="zh-CN" altLang="en-US" dirty="0">
                <a:latin typeface="Arial" panose="020B0604020202020204" pitchFamily="34" charset="0"/>
                <a:ea typeface="微软雅黑" panose="020B0503020204020204" pitchFamily="34" charset="-122"/>
                <a:cs typeface="+mn-ea"/>
                <a:sym typeface="Arial" panose="020B0604020202020204" pitchFamily="34" charset="0"/>
              </a:rPr>
              <a:t>多种多样的软件</a:t>
            </a:r>
          </a:p>
        </p:txBody>
      </p:sp>
      <p:cxnSp>
        <p:nvCxnSpPr>
          <p:cNvPr id="92" name="直接箭头连接符 91"/>
          <p:cNvCxnSpPr>
            <a:cxnSpLocks/>
          </p:cNvCxnSpPr>
          <p:nvPr/>
        </p:nvCxnSpPr>
        <p:spPr>
          <a:xfrm flipV="1">
            <a:off x="8674735" y="2550501"/>
            <a:ext cx="1331278" cy="99738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3" name="文本框 92"/>
          <p:cNvSpPr txBox="1"/>
          <p:nvPr/>
        </p:nvSpPr>
        <p:spPr>
          <a:xfrm>
            <a:off x="450215" y="1121312"/>
            <a:ext cx="10619105" cy="369332"/>
          </a:xfrm>
          <a:prstGeom prst="rect">
            <a:avLst/>
          </a:prstGeom>
          <a:noFill/>
        </p:spPr>
        <p:txBody>
          <a:bodyPr wrap="square" rtlCol="0">
            <a:spAutoFit/>
          </a:bodyPr>
          <a:lstStyle/>
          <a:p>
            <a:pPr algn="l"/>
            <a:r>
              <a:rPr lang="zh-CN" altLang="en-US" dirty="0">
                <a:latin typeface="Arial" panose="020B0604020202020204" pitchFamily="34" charset="0"/>
                <a:ea typeface="微软雅黑" panose="020B0503020204020204" pitchFamily="34" charset="-122"/>
                <a:cs typeface="+mn-ea"/>
                <a:sym typeface="Arial" panose="020B0604020202020204" pitchFamily="34" charset="0"/>
              </a:rPr>
              <a:t>所有的子系统都可以包括在硬件（子）系统和软件（子）系统这两个层次中</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6" name="组合 5"/>
          <p:cNvGrpSpPr/>
          <p:nvPr/>
        </p:nvGrpSpPr>
        <p:grpSpPr>
          <a:xfrm>
            <a:off x="10177780" y="329882"/>
            <a:ext cx="1512002" cy="444892"/>
            <a:chOff x="9556201" y="498129"/>
            <a:chExt cx="1993881" cy="586680"/>
          </a:xfrm>
        </p:grpSpPr>
        <p:grpSp>
          <p:nvGrpSpPr>
            <p:cNvPr id="7" name="组合 6"/>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组合 7"/>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-2</a:t>
            </a:r>
            <a:r>
              <a:rPr lang="zh-CN" altLang="en-US" dirty="0">
                <a:latin typeface="Arial" panose="020B0604020202020204" pitchFamily="34" charset="0"/>
                <a:ea typeface="微软雅黑" panose="020B0503020204020204" pitchFamily="34" charset="-122"/>
                <a:sym typeface="Arial" panose="020B0604020202020204" pitchFamily="34" charset="0"/>
              </a:rPr>
              <a:t>：北京大学图书馆</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p:nvGrpSpPr>
        <p:grpSpPr>
          <a:xfrm>
            <a:off x="6774186" y="2658742"/>
            <a:ext cx="3526265" cy="1568450"/>
            <a:chOff x="6566813" y="2528855"/>
            <a:chExt cx="3526265" cy="1568450"/>
          </a:xfrm>
        </p:grpSpPr>
        <p:sp>
          <p:nvSpPr>
            <p:cNvPr id="67" name="文本框 66"/>
            <p:cNvSpPr txBox="1"/>
            <p:nvPr/>
          </p:nvSpPr>
          <p:spPr>
            <a:xfrm>
              <a:off x="6566813" y="2528855"/>
              <a:ext cx="3526265" cy="156845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2913" y="1023740"/>
            <a:ext cx="9056687" cy="381629"/>
          </a:xfrm>
        </p:spPr>
        <p:txBody>
          <a:bodyPr>
            <a:normAutofit fontScale="97500"/>
          </a:bodyPr>
          <a:lstStyle/>
          <a:p>
            <a:r>
              <a:rPr lang="en-US" altLang="zh-CN" dirty="0">
                <a:sym typeface="+mn-ea"/>
              </a:rPr>
              <a:t>CPU</a:t>
            </a:r>
            <a:r>
              <a:rPr lang="zh-CN" altLang="en-US" dirty="0">
                <a:sym typeface="+mn-ea"/>
              </a:rPr>
              <a:t>的构成与基本工作方式</a:t>
            </a:r>
            <a:endParaRPr lang="zh-CN" altLang="en-US" dirty="0"/>
          </a:p>
        </p:txBody>
      </p:sp>
      <p:sp>
        <p:nvSpPr>
          <p:cNvPr id="29" name="Shape 1794"/>
          <p:cNvSpPr/>
          <p:nvPr/>
        </p:nvSpPr>
        <p:spPr>
          <a:xfrm>
            <a:off x="2539361" y="2978743"/>
            <a:ext cx="1995392" cy="621146"/>
          </a:xfrm>
          <a:prstGeom prst="roundRect">
            <a:avLst>
              <a:gd name="adj" fmla="val 50000"/>
            </a:avLst>
          </a:prstGeom>
          <a:solidFill>
            <a:srgbClr val="9A0001"/>
          </a:solidFill>
          <a:ln w="12700">
            <a:miter lim="400000"/>
          </a:ln>
        </p:spPr>
        <p:txBody>
          <a:bodyPr lIns="20090" tIns="20090" rIns="20090" bIns="20090" anchor="ctr"/>
          <a:lstStyle/>
          <a:p>
            <a:pPr marL="0" marR="0" lvl="0" indent="0" defTabSz="914400" eaLnBrk="1" fontAlgn="base" latinLnBrk="0" hangingPunct="1">
              <a:lnSpc>
                <a:spcPct val="120000"/>
              </a:lnSpc>
              <a:spcBef>
                <a:spcPct val="0"/>
              </a:spcBef>
              <a:spcAft>
                <a:spcPct val="0"/>
              </a:spcAft>
              <a:buClrTx/>
              <a:buSzTx/>
              <a:buFontTx/>
              <a:buNone/>
              <a:defRPr/>
            </a:pPr>
            <a:endParaRPr kumimoji="0" sz="24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Shape 1796"/>
          <p:cNvSpPr/>
          <p:nvPr/>
        </p:nvSpPr>
        <p:spPr>
          <a:xfrm>
            <a:off x="4714430" y="2978743"/>
            <a:ext cx="1995392" cy="621146"/>
          </a:xfrm>
          <a:prstGeom prst="roundRect">
            <a:avLst>
              <a:gd name="adj" fmla="val 50000"/>
            </a:avLst>
          </a:prstGeom>
          <a:solidFill>
            <a:schemeClr val="bg1">
              <a:lumMod val="50000"/>
            </a:schemeClr>
          </a:solidFill>
          <a:ln w="12700">
            <a:miter lim="400000"/>
          </a:ln>
        </p:spPr>
        <p:txBody>
          <a:bodyPr lIns="20090" tIns="20090" rIns="20090" bIns="20090" anchor="ctr"/>
          <a:lstStyle/>
          <a:p>
            <a:pPr marL="0" marR="0" lvl="0" indent="0" defTabSz="914400" eaLnBrk="1" fontAlgn="base" latinLnBrk="0" hangingPunct="1">
              <a:lnSpc>
                <a:spcPct val="120000"/>
              </a:lnSpc>
              <a:spcBef>
                <a:spcPct val="0"/>
              </a:spcBef>
              <a:spcAft>
                <a:spcPct val="0"/>
              </a:spcAft>
              <a:buClrTx/>
              <a:buSzTx/>
              <a:buFontTx/>
              <a:buNone/>
              <a:defRPr/>
            </a:pPr>
            <a:endParaRPr kumimoji="0" sz="24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Shape 1798"/>
          <p:cNvSpPr/>
          <p:nvPr/>
        </p:nvSpPr>
        <p:spPr>
          <a:xfrm>
            <a:off x="6874207" y="2978743"/>
            <a:ext cx="1995392" cy="621146"/>
          </a:xfrm>
          <a:prstGeom prst="roundRect">
            <a:avLst>
              <a:gd name="adj" fmla="val 50000"/>
            </a:avLst>
          </a:prstGeom>
          <a:solidFill>
            <a:schemeClr val="bg1">
              <a:lumMod val="50000"/>
            </a:schemeClr>
          </a:solidFill>
          <a:ln w="12700">
            <a:miter lim="400000"/>
          </a:ln>
        </p:spPr>
        <p:txBody>
          <a:bodyPr lIns="20090" tIns="20090" rIns="20090" bIns="20090" anchor="ctr"/>
          <a:lstStyle/>
          <a:p>
            <a:pPr marL="0" marR="0" lvl="0" indent="0" defTabSz="914400" eaLnBrk="1" fontAlgn="base" latinLnBrk="0" hangingPunct="1">
              <a:lnSpc>
                <a:spcPct val="120000"/>
              </a:lnSpc>
              <a:spcBef>
                <a:spcPct val="0"/>
              </a:spcBef>
              <a:spcAft>
                <a:spcPct val="0"/>
              </a:spcAft>
              <a:buClrTx/>
              <a:buSzTx/>
              <a:buFontTx/>
              <a:buNone/>
              <a:defRPr/>
            </a:pPr>
            <a:endParaRPr kumimoji="0" sz="24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Shape 1800"/>
          <p:cNvSpPr/>
          <p:nvPr/>
        </p:nvSpPr>
        <p:spPr>
          <a:xfrm>
            <a:off x="9006606" y="2978743"/>
            <a:ext cx="1995392" cy="621146"/>
          </a:xfrm>
          <a:prstGeom prst="roundRect">
            <a:avLst>
              <a:gd name="adj" fmla="val 50000"/>
            </a:avLst>
          </a:prstGeom>
          <a:solidFill>
            <a:srgbClr val="9A0001"/>
          </a:solidFill>
          <a:ln w="12700">
            <a:miter lim="400000"/>
          </a:ln>
        </p:spPr>
        <p:txBody>
          <a:bodyPr lIns="20090" tIns="20090" rIns="20090" bIns="20090" anchor="ctr"/>
          <a:lstStyle/>
          <a:p>
            <a:pPr marL="0" marR="0" lvl="0" indent="0" defTabSz="914400" eaLnBrk="1" fontAlgn="base" latinLnBrk="0" hangingPunct="1">
              <a:lnSpc>
                <a:spcPct val="120000"/>
              </a:lnSpc>
              <a:spcBef>
                <a:spcPct val="0"/>
              </a:spcBef>
              <a:spcAft>
                <a:spcPct val="0"/>
              </a:spcAft>
              <a:buClrTx/>
              <a:buSzTx/>
              <a:buFontTx/>
              <a:buNone/>
              <a:defRPr/>
            </a:pPr>
            <a:endParaRPr kumimoji="0" sz="24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Shape 1802"/>
          <p:cNvSpPr/>
          <p:nvPr/>
        </p:nvSpPr>
        <p:spPr>
          <a:xfrm>
            <a:off x="5759450" y="1410335"/>
            <a:ext cx="1995170" cy="614045"/>
          </a:xfrm>
          <a:prstGeom prst="roundRect">
            <a:avLst>
              <a:gd name="adj" fmla="val 50000"/>
            </a:avLst>
          </a:prstGeom>
          <a:solidFill>
            <a:schemeClr val="accent1"/>
          </a:solidFill>
          <a:ln w="12700">
            <a:miter lim="400000"/>
          </a:ln>
        </p:spPr>
        <p:txBody>
          <a:bodyPr lIns="20090" tIns="20090" rIns="20090" bIns="20090" anchor="ctr"/>
          <a:lstStyle/>
          <a:p>
            <a:pPr marL="0" marR="0" lvl="0" indent="0" defTabSz="914400" eaLnBrk="1" fontAlgn="base" latinLnBrk="0" hangingPunct="1">
              <a:lnSpc>
                <a:spcPct val="120000"/>
              </a:lnSpc>
              <a:spcBef>
                <a:spcPct val="0"/>
              </a:spcBef>
              <a:spcAft>
                <a:spcPct val="0"/>
              </a:spcAft>
              <a:buClrTx/>
              <a:buSzTx/>
              <a:buFontTx/>
              <a:buNone/>
              <a:defRPr/>
            </a:pPr>
            <a:endParaRPr kumimoji="0" lang="en-US" sz="24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Text Placeholder 3"/>
          <p:cNvSpPr txBox="1"/>
          <p:nvPr/>
        </p:nvSpPr>
        <p:spPr>
          <a:xfrm>
            <a:off x="4722605" y="3073792"/>
            <a:ext cx="1979038" cy="431051"/>
          </a:xfrm>
          <a:prstGeom prst="rect">
            <a:avLst/>
          </a:prstGeom>
        </p:spPr>
        <p:txBody>
          <a:bodyPr anchor="ct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base">
              <a:lnSpc>
                <a:spcPct val="120000"/>
              </a:lnSpc>
              <a:spcAft>
                <a:spcPct val="0"/>
              </a:spcAft>
              <a:buFont typeface="Arial" panose="020B0604020202020204" pitchFamily="34" charset="0"/>
              <a:buNone/>
            </a:pPr>
            <a:r>
              <a:rPr lang="zh-CN" altLang="en-US" sz="20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控制器</a:t>
            </a:r>
          </a:p>
        </p:txBody>
      </p:sp>
      <p:sp>
        <p:nvSpPr>
          <p:cNvPr id="38" name="Text Placeholder 3"/>
          <p:cNvSpPr txBox="1"/>
          <p:nvPr/>
        </p:nvSpPr>
        <p:spPr>
          <a:xfrm>
            <a:off x="6882380" y="3073792"/>
            <a:ext cx="1979038" cy="431051"/>
          </a:xfrm>
          <a:prstGeom prst="rect">
            <a:avLst/>
          </a:prstGeom>
        </p:spPr>
        <p:txBody>
          <a:bodyPr vert="horz" lIns="0" tIns="0" rIns="0" bIns="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base">
              <a:lnSpc>
                <a:spcPct val="120000"/>
              </a:lnSpc>
              <a:spcAft>
                <a:spcPct val="0"/>
              </a:spcAft>
            </a:pPr>
            <a:r>
              <a:rPr lang="zh-CN" altLang="en-US" sz="20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寄存器</a:t>
            </a:r>
          </a:p>
        </p:txBody>
      </p:sp>
      <p:sp>
        <p:nvSpPr>
          <p:cNvPr id="39" name="Text Placeholder 3"/>
          <p:cNvSpPr txBox="1"/>
          <p:nvPr/>
        </p:nvSpPr>
        <p:spPr>
          <a:xfrm>
            <a:off x="9014780" y="3073792"/>
            <a:ext cx="1979038" cy="431051"/>
          </a:xfrm>
          <a:prstGeom prst="rect">
            <a:avLst/>
          </a:prstGeom>
        </p:spPr>
        <p:txBody>
          <a:bodyPr vert="horz" lIns="0" tIns="0" rIns="0" bIns="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base">
              <a:lnSpc>
                <a:spcPct val="120000"/>
              </a:lnSpc>
              <a:spcAft>
                <a:spcPct val="0"/>
              </a:spcAft>
            </a:pPr>
            <a:r>
              <a:rPr lang="zh-CN" altLang="en-US" sz="20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高速缓存</a:t>
            </a:r>
          </a:p>
        </p:txBody>
      </p:sp>
      <p:sp>
        <p:nvSpPr>
          <p:cNvPr id="40" name="Text Placeholder 3"/>
          <p:cNvSpPr txBox="1"/>
          <p:nvPr/>
        </p:nvSpPr>
        <p:spPr>
          <a:xfrm>
            <a:off x="2564095" y="3073792"/>
            <a:ext cx="1979038" cy="431051"/>
          </a:xfrm>
          <a:prstGeom prst="rect">
            <a:avLst/>
          </a:prstGeom>
        </p:spPr>
        <p:txBody>
          <a:bodyPr vert="horz" lIns="0" tIns="0" rIns="0" bIns="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base">
              <a:lnSpc>
                <a:spcPct val="120000"/>
              </a:lnSpc>
              <a:spcAft>
                <a:spcPct val="0"/>
              </a:spcAft>
            </a:pPr>
            <a:r>
              <a:rPr lang="zh-CN" altLang="en-US" sz="20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运算器</a:t>
            </a:r>
          </a:p>
        </p:txBody>
      </p:sp>
      <p:sp>
        <p:nvSpPr>
          <p:cNvPr id="41" name="Text Placeholder 3"/>
          <p:cNvSpPr txBox="1"/>
          <p:nvPr/>
        </p:nvSpPr>
        <p:spPr>
          <a:xfrm>
            <a:off x="9514635" y="3579510"/>
            <a:ext cx="1979038" cy="431051"/>
          </a:xfrm>
          <a:prstGeom prst="rect">
            <a:avLst/>
          </a:prstGeom>
        </p:spPr>
        <p:txBody>
          <a:bodyPr vert="horz" lIns="0" tIns="0" rIns="0" bIns="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base">
              <a:lnSpc>
                <a:spcPct val="120000"/>
              </a:lnSpc>
              <a:spcAft>
                <a:spcPct val="0"/>
              </a:spcAft>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点击输入内容</a:t>
            </a:r>
            <a:endParaRPr lang="en-GB"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 name="Text Placeholder 3"/>
          <p:cNvSpPr txBox="1"/>
          <p:nvPr/>
        </p:nvSpPr>
        <p:spPr>
          <a:xfrm>
            <a:off x="5779135" y="1501140"/>
            <a:ext cx="1979295" cy="425450"/>
          </a:xfrm>
          <a:prstGeom prst="rect">
            <a:avLst/>
          </a:prstGeom>
        </p:spPr>
        <p:txBody>
          <a:bodyPr anchor="ct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base">
              <a:lnSpc>
                <a:spcPct val="120000"/>
              </a:lnSpc>
              <a:spcAft>
                <a:spcPct val="0"/>
              </a:spcAft>
              <a:buFont typeface="Arial" panose="020B0604020202020204" pitchFamily="34" charset="0"/>
              <a:buNone/>
            </a:pPr>
            <a:r>
              <a:rPr lang="en-US" altLang="zh-CN" sz="20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CPU</a:t>
            </a:r>
          </a:p>
        </p:txBody>
      </p:sp>
      <p:sp>
        <p:nvSpPr>
          <p:cNvPr id="14" name="圆角矩形 13"/>
          <p:cNvSpPr/>
          <p:nvPr/>
        </p:nvSpPr>
        <p:spPr>
          <a:xfrm>
            <a:off x="2579370" y="4178935"/>
            <a:ext cx="1925955" cy="126809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指令中的算术和逻辑运算</a:t>
            </a:r>
          </a:p>
        </p:txBody>
      </p:sp>
      <p:sp>
        <p:nvSpPr>
          <p:cNvPr id="17" name="圆角矩形 16"/>
          <p:cNvSpPr/>
          <p:nvPr/>
        </p:nvSpPr>
        <p:spPr>
          <a:xfrm>
            <a:off x="4785995" y="4142740"/>
            <a:ext cx="1889760" cy="1341120"/>
          </a:xfrm>
          <a:prstGeom prst="round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取指令、维护CPU状态、CPU与内存的交互</a:t>
            </a:r>
          </a:p>
        </p:txBody>
      </p:sp>
      <p:sp>
        <p:nvSpPr>
          <p:cNvPr id="18" name="圆角矩形 17"/>
          <p:cNvSpPr/>
          <p:nvPr/>
        </p:nvSpPr>
        <p:spPr>
          <a:xfrm>
            <a:off x="6908800" y="4105910"/>
            <a:ext cx="1913890" cy="1414145"/>
          </a:xfrm>
          <a:prstGeom prst="round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指令的过程中暂存数据、地址以及指令信息</a:t>
            </a:r>
          </a:p>
        </p:txBody>
      </p:sp>
      <p:sp>
        <p:nvSpPr>
          <p:cNvPr id="19" name="圆角矩形 18"/>
          <p:cNvSpPr/>
          <p:nvPr/>
        </p:nvSpPr>
        <p:spPr>
          <a:xfrm>
            <a:off x="9102090" y="4104640"/>
            <a:ext cx="1892300" cy="139128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匹配高速指令处理和低速内存访问</a:t>
            </a:r>
          </a:p>
        </p:txBody>
      </p:sp>
      <p:cxnSp>
        <p:nvCxnSpPr>
          <p:cNvPr id="20" name="直接箭头连接符 19"/>
          <p:cNvCxnSpPr>
            <a:endCxn id="29" idx="0"/>
          </p:cNvCxnSpPr>
          <p:nvPr/>
        </p:nvCxnSpPr>
        <p:spPr>
          <a:xfrm flipH="1">
            <a:off x="3536950" y="2019935"/>
            <a:ext cx="3199130" cy="9588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直接箭头连接符 20"/>
          <p:cNvCxnSpPr>
            <a:endCxn id="30" idx="0"/>
          </p:cNvCxnSpPr>
          <p:nvPr/>
        </p:nvCxnSpPr>
        <p:spPr>
          <a:xfrm flipH="1">
            <a:off x="5711825" y="2019935"/>
            <a:ext cx="1024255" cy="9588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2" name="直接箭头连接符 21"/>
          <p:cNvCxnSpPr>
            <a:stCxn id="33" idx="2"/>
            <a:endCxn id="31" idx="0"/>
          </p:cNvCxnSpPr>
          <p:nvPr/>
        </p:nvCxnSpPr>
        <p:spPr>
          <a:xfrm>
            <a:off x="6757035" y="2024380"/>
            <a:ext cx="1115060" cy="95440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3" name="直接箭头连接符 22"/>
          <p:cNvCxnSpPr>
            <a:stCxn id="33" idx="2"/>
            <a:endCxn id="32" idx="0"/>
          </p:cNvCxnSpPr>
          <p:nvPr/>
        </p:nvCxnSpPr>
        <p:spPr>
          <a:xfrm>
            <a:off x="6757035" y="2024380"/>
            <a:ext cx="3247390" cy="95440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圆角矩形 41"/>
          <p:cNvSpPr/>
          <p:nvPr/>
        </p:nvSpPr>
        <p:spPr>
          <a:xfrm>
            <a:off x="2618105" y="5677535"/>
            <a:ext cx="1950720" cy="66802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计算核心</a:t>
            </a:r>
          </a:p>
        </p:txBody>
      </p:sp>
      <p:sp>
        <p:nvSpPr>
          <p:cNvPr id="43" name="圆角矩形 42"/>
          <p:cNvSpPr/>
          <p:nvPr/>
        </p:nvSpPr>
        <p:spPr>
          <a:xfrm>
            <a:off x="4824730" y="5677535"/>
            <a:ext cx="1913890" cy="670560"/>
          </a:xfrm>
          <a:prstGeom prst="round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访问速度最快</a:t>
            </a:r>
          </a:p>
        </p:txBody>
      </p:sp>
      <p:sp>
        <p:nvSpPr>
          <p:cNvPr id="44" name="圆角矩形 43"/>
          <p:cNvSpPr/>
          <p:nvPr/>
        </p:nvSpPr>
        <p:spPr>
          <a:xfrm>
            <a:off x="6947535" y="5688965"/>
            <a:ext cx="1938655" cy="660400"/>
          </a:xfrm>
          <a:prstGeom prst="round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造价高、容量小</a:t>
            </a:r>
          </a:p>
        </p:txBody>
      </p:sp>
      <p:sp>
        <p:nvSpPr>
          <p:cNvPr id="45" name="圆角矩形 44"/>
          <p:cNvSpPr/>
          <p:nvPr/>
        </p:nvSpPr>
        <p:spPr>
          <a:xfrm>
            <a:off x="9140825" y="5652135"/>
            <a:ext cx="1917065" cy="68453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a:t>快于内存、慢于寄存器</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724267" y="1266900"/>
            <a:ext cx="9056687" cy="381629"/>
          </a:xfrm>
        </p:spPr>
        <p:txBody>
          <a:bodyPr>
            <a:noAutofit/>
          </a:bodyPr>
          <a:lstStyle/>
          <a:p>
            <a:pPr marL="0" indent="0">
              <a:buNone/>
            </a:pPr>
            <a:r>
              <a:rPr lang="zh-CN" altLang="en-US" sz="2400" dirty="0"/>
              <a:t>处理器中的寄存器</a:t>
            </a:r>
          </a:p>
        </p:txBody>
      </p:sp>
      <p:sp>
        <p:nvSpPr>
          <p:cNvPr id="2" name="文本占位符 8"/>
          <p:cNvSpPr>
            <a:spLocks noGrp="1"/>
          </p:cNvSpPr>
          <p:nvPr/>
        </p:nvSpPr>
        <p:spPr>
          <a:xfrm>
            <a:off x="1567815" y="1859827"/>
            <a:ext cx="9056370" cy="143065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提供了一定的存储能力</a:t>
            </a:r>
          </a:p>
          <a:p>
            <a:pPr fontAlgn="auto">
              <a:lnSpc>
                <a:spcPct val="100000"/>
              </a:lnSpc>
            </a:pPr>
            <a:r>
              <a:rPr lang="zh-CN" altLang="en-US" b="0" dirty="0"/>
              <a:t>速度比主存储器快得多</a:t>
            </a:r>
          </a:p>
          <a:p>
            <a:pPr fontAlgn="auto">
              <a:lnSpc>
                <a:spcPct val="100000"/>
              </a:lnSpc>
            </a:pPr>
            <a:r>
              <a:rPr lang="zh-CN" altLang="en-US" b="0" dirty="0"/>
              <a:t>造价很高，存储容量一般都很小</a:t>
            </a:r>
          </a:p>
        </p:txBody>
      </p:sp>
      <p:sp>
        <p:nvSpPr>
          <p:cNvPr id="4" name="文本占位符 8"/>
          <p:cNvSpPr>
            <a:spLocks noGrp="1"/>
          </p:cNvSpPr>
          <p:nvPr/>
        </p:nvSpPr>
        <p:spPr>
          <a:xfrm>
            <a:off x="1567815" y="3528966"/>
            <a:ext cx="11092815" cy="30854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用户可见寄存器：高级语言编译器分配并使用，减少程序访问主存储器的次数</a:t>
            </a:r>
          </a:p>
          <a:p>
            <a:pPr fontAlgn="auto">
              <a:lnSpc>
                <a:spcPct val="100000"/>
              </a:lnSpc>
            </a:pPr>
            <a:r>
              <a:rPr lang="zh-CN" altLang="en-US" b="0" dirty="0"/>
              <a:t>控制和状态寄存器：用于控制处理器操作。由特权操作系统代码使用</a:t>
            </a:r>
          </a:p>
        </p:txBody>
      </p:sp>
      <p:sp>
        <p:nvSpPr>
          <p:cNvPr id="5" name="文本框 4">
            <a:extLst>
              <a:ext uri="{FF2B5EF4-FFF2-40B4-BE49-F238E27FC236}">
                <a16:creationId xmlns:a16="http://schemas.microsoft.com/office/drawing/2014/main" id="{FB51425B-CFCB-DE09-2463-31408A86E648}"/>
              </a:ext>
            </a:extLst>
          </p:cNvPr>
          <p:cNvSpPr txBox="1"/>
          <p:nvPr/>
        </p:nvSpPr>
        <p:spPr>
          <a:xfrm>
            <a:off x="724267" y="3912549"/>
            <a:ext cx="6097464" cy="461665"/>
          </a:xfrm>
          <a:prstGeom prst="rect">
            <a:avLst/>
          </a:prstGeom>
          <a:noFill/>
        </p:spPr>
        <p:txBody>
          <a:bodyPr wrap="square">
            <a:spAutoFit/>
          </a:bodyPr>
          <a:lstStyle/>
          <a:p>
            <a:pPr marL="0" indent="0" fontAlgn="auto">
              <a:lnSpc>
                <a:spcPct val="100000"/>
              </a:lnSpc>
              <a:buNone/>
            </a:pPr>
            <a:r>
              <a:rPr lang="zh-CN" altLang="en-US" sz="2400" b="1" dirty="0">
                <a:solidFill>
                  <a:schemeClr val="tx1">
                    <a:lumMod val="75000"/>
                    <a:lumOff val="25000"/>
                  </a:schemeClr>
                </a:solidFill>
                <a:latin typeface="+mn-ea"/>
                <a:cs typeface="+mn-ea"/>
              </a:rPr>
              <a:t>两类寄存器</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706846" y="1409950"/>
            <a:ext cx="9056687" cy="381629"/>
          </a:xfrm>
        </p:spPr>
        <p:txBody>
          <a:bodyPr>
            <a:noAutofit/>
          </a:bodyPr>
          <a:lstStyle/>
          <a:p>
            <a:pPr marL="0" indent="0">
              <a:buNone/>
            </a:pPr>
            <a:r>
              <a:rPr lang="zh-CN" altLang="en-US" sz="2400" dirty="0"/>
              <a:t>用户可见寄存器</a:t>
            </a:r>
          </a:p>
        </p:txBody>
      </p:sp>
      <p:sp>
        <p:nvSpPr>
          <p:cNvPr id="2" name="文本占位符 8"/>
          <p:cNvSpPr>
            <a:spLocks noGrp="1"/>
          </p:cNvSpPr>
          <p:nvPr/>
        </p:nvSpPr>
        <p:spPr>
          <a:xfrm>
            <a:off x="1682946" y="1203325"/>
            <a:ext cx="10922000" cy="445135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机器语言直接引用</a:t>
            </a:r>
          </a:p>
          <a:p>
            <a:pPr fontAlgn="auto">
              <a:lnSpc>
                <a:spcPct val="150000"/>
              </a:lnSpc>
            </a:pPr>
            <a:r>
              <a:rPr lang="zh-CN" altLang="en-US" b="0" dirty="0"/>
              <a:t>包括数据寄存器、地址寄存器以及条件码寄存器</a:t>
            </a:r>
          </a:p>
          <a:p>
            <a:pPr fontAlgn="auto">
              <a:lnSpc>
                <a:spcPct val="150000"/>
              </a:lnSpc>
            </a:pPr>
            <a:r>
              <a:rPr lang="zh-CN" altLang="en-US" b="0" dirty="0"/>
              <a:t>又称为通用寄存器，用于各种算术逻辑指令和访存指令</a:t>
            </a:r>
          </a:p>
          <a:p>
            <a:pPr fontAlgn="auto">
              <a:lnSpc>
                <a:spcPct val="150000"/>
              </a:lnSpc>
            </a:pPr>
            <a:r>
              <a:rPr lang="zh-CN" altLang="en-US" b="0" dirty="0"/>
              <a:t>地址寄存器用于存储数据及指令的地址，用于某种特定方式的寻址</a:t>
            </a:r>
          </a:p>
          <a:p>
            <a:pPr fontAlgn="auto">
              <a:lnSpc>
                <a:spcPct val="150000"/>
              </a:lnSpc>
            </a:pPr>
            <a:r>
              <a:rPr lang="zh-CN" altLang="en-US" b="0" dirty="0"/>
              <a:t>条件码寄存器保存CPU操作结果的各种标记位、符号等等</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750644" y="1188726"/>
            <a:ext cx="9056687" cy="381629"/>
          </a:xfrm>
        </p:spPr>
        <p:txBody>
          <a:bodyPr>
            <a:noAutofit/>
          </a:bodyPr>
          <a:lstStyle/>
          <a:p>
            <a:pPr marL="0" indent="0">
              <a:buNone/>
            </a:pPr>
            <a:r>
              <a:rPr sz="2400" dirty="0">
                <a:sym typeface="+mn-ea"/>
              </a:rPr>
              <a:t>控制和状态寄存器</a:t>
            </a:r>
            <a:endParaRPr lang="zh-CN" altLang="en-US" sz="2400" dirty="0"/>
          </a:p>
        </p:txBody>
      </p:sp>
      <p:sp>
        <p:nvSpPr>
          <p:cNvPr id="2" name="文本占位符 8"/>
          <p:cNvSpPr>
            <a:spLocks noGrp="1"/>
          </p:cNvSpPr>
          <p:nvPr/>
        </p:nvSpPr>
        <p:spPr>
          <a:xfrm>
            <a:off x="1568645" y="1571625"/>
            <a:ext cx="10922000" cy="170624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用于控制处理器的操作</a:t>
            </a:r>
          </a:p>
          <a:p>
            <a:pPr fontAlgn="auto">
              <a:lnSpc>
                <a:spcPct val="100000"/>
              </a:lnSpc>
            </a:pPr>
            <a:r>
              <a:rPr lang="zh-CN" altLang="en-US" b="0" dirty="0"/>
              <a:t>大部分对于用户是不可见的</a:t>
            </a:r>
          </a:p>
          <a:p>
            <a:pPr fontAlgn="auto">
              <a:lnSpc>
                <a:spcPct val="100000"/>
              </a:lnSpc>
            </a:pPr>
            <a:r>
              <a:rPr lang="zh-CN" altLang="en-US" b="0" dirty="0"/>
              <a:t>一部分可以在某种特权模式（由操作系统使用）下访问</a:t>
            </a:r>
          </a:p>
        </p:txBody>
      </p:sp>
      <p:sp>
        <p:nvSpPr>
          <p:cNvPr id="3" name="文本占位符 8"/>
          <p:cNvSpPr>
            <a:spLocks noGrp="1"/>
          </p:cNvSpPr>
          <p:nvPr/>
        </p:nvSpPr>
        <p:spPr>
          <a:xfrm>
            <a:off x="1568645" y="3439111"/>
            <a:ext cx="10922000" cy="279400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程序计数器（PC：ProgramCounter），记录将要取出的指令的地址</a:t>
            </a:r>
          </a:p>
          <a:p>
            <a:pPr fontAlgn="auto">
              <a:lnSpc>
                <a:spcPct val="100000"/>
              </a:lnSpc>
            </a:pPr>
            <a:r>
              <a:rPr lang="zh-CN" altLang="en-US" b="0" dirty="0"/>
              <a:t>指令寄存器（IR：InstructionRegister），包含最近取出的指令</a:t>
            </a:r>
          </a:p>
          <a:p>
            <a:pPr fontAlgn="auto">
              <a:lnSpc>
                <a:spcPct val="100000"/>
              </a:lnSpc>
            </a:pPr>
            <a:r>
              <a:rPr lang="zh-CN" altLang="en-US" b="0" dirty="0"/>
              <a:t>程序状态字（PSW：ProgramStatusWord），记录处理器的运行模式信息等</a:t>
            </a:r>
          </a:p>
        </p:txBody>
      </p:sp>
      <p:sp>
        <p:nvSpPr>
          <p:cNvPr id="5" name="文本框 4">
            <a:extLst>
              <a:ext uri="{FF2B5EF4-FFF2-40B4-BE49-F238E27FC236}">
                <a16:creationId xmlns:a16="http://schemas.microsoft.com/office/drawing/2014/main" id="{932518E6-D558-F35E-D0EB-8F1DCD63661E}"/>
              </a:ext>
            </a:extLst>
          </p:cNvPr>
          <p:cNvSpPr txBox="1"/>
          <p:nvPr/>
        </p:nvSpPr>
        <p:spPr>
          <a:xfrm>
            <a:off x="750644" y="3516896"/>
            <a:ext cx="6246934" cy="461665"/>
          </a:xfrm>
          <a:prstGeom prst="rect">
            <a:avLst/>
          </a:prstGeom>
          <a:noFill/>
        </p:spPr>
        <p:txBody>
          <a:bodyPr wrap="square">
            <a:spAutoFit/>
          </a:bodyPr>
          <a:lstStyle/>
          <a:p>
            <a:pPr marL="0" indent="0" fontAlgn="auto">
              <a:lnSpc>
                <a:spcPct val="100000"/>
              </a:lnSpc>
              <a:buNone/>
            </a:pPr>
            <a:r>
              <a:rPr lang="zh-CN" altLang="en-US" sz="2400" b="1" dirty="0">
                <a:solidFill>
                  <a:schemeClr val="tx1">
                    <a:lumMod val="75000"/>
                    <a:lumOff val="25000"/>
                  </a:schemeClr>
                </a:solidFill>
                <a:latin typeface="+mn-ea"/>
                <a:cs typeface="+mn-ea"/>
              </a:rPr>
              <a:t>常见的控制和状态寄存器</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3077" y="1064266"/>
            <a:ext cx="9056687" cy="381629"/>
          </a:xfrm>
        </p:spPr>
        <p:txBody>
          <a:bodyPr>
            <a:noAutofit/>
          </a:bodyPr>
          <a:lstStyle/>
          <a:p>
            <a:pPr marL="0" indent="0">
              <a:buNone/>
            </a:pPr>
            <a:r>
              <a:rPr sz="2400" dirty="0">
                <a:sym typeface="+mn-ea"/>
              </a:rPr>
              <a:t>指令执行的基本过程</a:t>
            </a:r>
          </a:p>
        </p:txBody>
      </p:sp>
      <p:sp>
        <p:nvSpPr>
          <p:cNvPr id="2" name="文本占位符 8"/>
          <p:cNvSpPr>
            <a:spLocks noGrp="1"/>
          </p:cNvSpPr>
          <p:nvPr/>
        </p:nvSpPr>
        <p:spPr>
          <a:xfrm>
            <a:off x="1117282" y="1840549"/>
            <a:ext cx="10922000" cy="267779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lang="zh-CN" altLang="en-US" b="0" dirty="0"/>
              <a:t>两个步骤：</a:t>
            </a:r>
          </a:p>
          <a:p>
            <a:pPr fontAlgn="auto">
              <a:lnSpc>
                <a:spcPct val="100000"/>
              </a:lnSpc>
            </a:pPr>
            <a:r>
              <a:rPr lang="zh-CN" altLang="en-US" b="0" dirty="0"/>
              <a:t>        先从存储器中读取一条指令</a:t>
            </a:r>
          </a:p>
          <a:p>
            <a:pPr fontAlgn="auto">
              <a:lnSpc>
                <a:spcPct val="100000"/>
              </a:lnSpc>
            </a:pPr>
            <a:r>
              <a:rPr lang="zh-CN" altLang="en-US" b="0" dirty="0"/>
              <a:t>        然后解释并执行这条指令</a:t>
            </a:r>
          </a:p>
          <a:p>
            <a:pPr marL="0" indent="0" fontAlgn="auto">
              <a:lnSpc>
                <a:spcPct val="100000"/>
              </a:lnSpc>
              <a:buNone/>
            </a:pPr>
            <a:r>
              <a:rPr lang="en-US" altLang="zh-CN" b="0" dirty="0"/>
              <a:t>   </a:t>
            </a:r>
          </a:p>
          <a:p>
            <a:pPr marL="0" indent="0" fontAlgn="auto">
              <a:lnSpc>
                <a:spcPct val="100000"/>
              </a:lnSpc>
              <a:buNone/>
            </a:pPr>
            <a:r>
              <a:rPr lang="zh-CN" altLang="en-US" b="0" dirty="0"/>
              <a:t>一个这样的单条指令处理过程称为一个</a:t>
            </a:r>
            <a:r>
              <a:rPr lang="zh-CN" altLang="en-US" dirty="0"/>
              <a:t>指令周期</a:t>
            </a:r>
          </a:p>
          <a:p>
            <a:pPr marL="0" indent="0" fontAlgn="auto">
              <a:lnSpc>
                <a:spcPct val="100000"/>
              </a:lnSpc>
              <a:buNone/>
            </a:pPr>
            <a:r>
              <a:rPr lang="en-US" altLang="zh-CN" b="0" dirty="0"/>
              <a:t>   	</a:t>
            </a:r>
            <a:r>
              <a:rPr lang="en-US" altLang="zh-CN" b="0" dirty="0" err="1"/>
              <a:t>程序的执行就是由不断取指令和执行指令的指令周期组成的</a:t>
            </a:r>
            <a:endParaRPr lang="en-US" altLang="zh-CN" b="0" dirty="0"/>
          </a:p>
          <a:p>
            <a:pPr marL="0" indent="0" fontAlgn="auto">
              <a:lnSpc>
                <a:spcPct val="100000"/>
              </a:lnSpc>
              <a:buNone/>
            </a:pPr>
            <a:r>
              <a:rPr lang="en-US" altLang="zh-CN" b="0" dirty="0"/>
              <a:t>   	</a:t>
            </a:r>
            <a:r>
              <a:rPr lang="en-US" altLang="zh-CN" b="0" dirty="0" err="1"/>
              <a:t>仅当关机</a:t>
            </a:r>
            <a:r>
              <a:rPr lang="en-US" altLang="zh-CN" b="0" dirty="0"/>
              <a:t>、</a:t>
            </a:r>
            <a:r>
              <a:rPr b="0" dirty="0"/>
              <a:t>出错</a:t>
            </a:r>
            <a:r>
              <a:rPr lang="en-US" altLang="zh-CN" b="0" dirty="0" err="1"/>
              <a:t>或者遇到停机指令时，程序才会停止</a:t>
            </a:r>
            <a:endParaRPr lang="en-US" altLang="zh-CN" b="0" dirty="0"/>
          </a:p>
        </p:txBody>
      </p:sp>
      <p:cxnSp>
        <p:nvCxnSpPr>
          <p:cNvPr id="5" name="肘形连接符 4"/>
          <p:cNvCxnSpPr/>
          <p:nvPr/>
        </p:nvCxnSpPr>
        <p:spPr>
          <a:xfrm rot="16200000" flipH="1" flipV="1">
            <a:off x="5410687" y="2877820"/>
            <a:ext cx="77470" cy="5077460"/>
          </a:xfrm>
          <a:prstGeom prst="bentConnector3">
            <a:avLst>
              <a:gd name="adj1" fmla="val -672131"/>
            </a:avLst>
          </a:prstGeom>
          <a:ln>
            <a:solidFill>
              <a:srgbClr val="404040"/>
            </a:solidFill>
            <a:tailEnd type="arrow"/>
          </a:ln>
        </p:spPr>
        <p:style>
          <a:lnRef idx="1">
            <a:schemeClr val="accent1"/>
          </a:lnRef>
          <a:fillRef idx="0">
            <a:schemeClr val="accent1"/>
          </a:fillRef>
          <a:effectRef idx="0">
            <a:schemeClr val="accent1"/>
          </a:effectRef>
          <a:fontRef idx="minor">
            <a:schemeClr val="tx1"/>
          </a:fontRef>
        </p:style>
      </p:cxnSp>
      <p:sp>
        <p:nvSpPr>
          <p:cNvPr id="6" name="圆角矩形 5"/>
          <p:cNvSpPr/>
          <p:nvPr/>
        </p:nvSpPr>
        <p:spPr>
          <a:xfrm>
            <a:off x="1259692" y="5401945"/>
            <a:ext cx="1390015" cy="585470"/>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p:cNvSpPr txBox="1"/>
          <p:nvPr/>
        </p:nvSpPr>
        <p:spPr>
          <a:xfrm>
            <a:off x="1558142" y="5459095"/>
            <a:ext cx="792480" cy="460375"/>
          </a:xfrm>
          <a:prstGeom prst="rect">
            <a:avLst/>
          </a:prstGeom>
          <a:noFill/>
        </p:spPr>
        <p:txBody>
          <a:bodyPr wrap="none" rtlCol="0">
            <a:spAutoFit/>
          </a:bodyPr>
          <a:lstStyle/>
          <a:p>
            <a:pPr algn="ctr"/>
            <a:r>
              <a:rPr lang="zh-CN" altLang="en-US" sz="2400" dirty="0">
                <a:latin typeface="Arial" panose="020B0604020202020204" pitchFamily="34" charset="0"/>
                <a:ea typeface="微软雅黑" panose="020B0503020204020204" pitchFamily="34" charset="-122"/>
                <a:cs typeface="+mn-ea"/>
                <a:sym typeface="Arial" panose="020B0604020202020204" pitchFamily="34" charset="0"/>
              </a:rPr>
              <a:t>开始</a:t>
            </a:r>
          </a:p>
        </p:txBody>
      </p:sp>
      <p:sp>
        <p:nvSpPr>
          <p:cNvPr id="8" name="圆角矩形 7"/>
          <p:cNvSpPr/>
          <p:nvPr/>
        </p:nvSpPr>
        <p:spPr>
          <a:xfrm>
            <a:off x="9360387" y="5396230"/>
            <a:ext cx="1390015" cy="585470"/>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文本框 10"/>
          <p:cNvSpPr txBox="1"/>
          <p:nvPr/>
        </p:nvSpPr>
        <p:spPr>
          <a:xfrm>
            <a:off x="9672172" y="5436870"/>
            <a:ext cx="792480" cy="460375"/>
          </a:xfrm>
          <a:prstGeom prst="rect">
            <a:avLst/>
          </a:prstGeom>
          <a:noFill/>
        </p:spPr>
        <p:txBody>
          <a:bodyPr wrap="none" rtlCol="0">
            <a:spAutoFit/>
          </a:bodyPr>
          <a:lstStyle/>
          <a:p>
            <a:pPr algn="ctr"/>
            <a:r>
              <a:rPr lang="zh-CN" altLang="en-US" sz="2400" dirty="0">
                <a:latin typeface="Arial" panose="020B0604020202020204" pitchFamily="34" charset="0"/>
                <a:ea typeface="微软雅黑" panose="020B0503020204020204" pitchFamily="34" charset="-122"/>
                <a:cs typeface="+mn-ea"/>
                <a:sym typeface="Arial" panose="020B0604020202020204" pitchFamily="34" charset="0"/>
              </a:rPr>
              <a:t>开始</a:t>
            </a:r>
          </a:p>
        </p:txBody>
      </p:sp>
      <p:sp>
        <p:nvSpPr>
          <p:cNvPr id="12" name="矩形 11"/>
          <p:cNvSpPr/>
          <p:nvPr/>
        </p:nvSpPr>
        <p:spPr>
          <a:xfrm>
            <a:off x="3247242" y="5365750"/>
            <a:ext cx="2267585" cy="6578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p:cNvSpPr txBox="1"/>
          <p:nvPr/>
        </p:nvSpPr>
        <p:spPr>
          <a:xfrm>
            <a:off x="3374877" y="5467985"/>
            <a:ext cx="2011680" cy="460375"/>
          </a:xfrm>
          <a:prstGeom prst="rect">
            <a:avLst/>
          </a:prstGeom>
          <a:noFill/>
        </p:spPr>
        <p:txBody>
          <a:bodyPr wrap="none" rtlCol="0">
            <a:spAutoFit/>
          </a:bodyPr>
          <a:lstStyle/>
          <a:p>
            <a:pPr algn="ctr"/>
            <a:r>
              <a:rPr lang="zh-CN" altLang="en-US" sz="2400" dirty="0">
                <a:latin typeface="Arial" panose="020B0604020202020204" pitchFamily="34" charset="0"/>
                <a:ea typeface="微软雅黑" panose="020B0503020204020204" pitchFamily="34" charset="-122"/>
                <a:cs typeface="+mn-ea"/>
                <a:sym typeface="Arial" panose="020B0604020202020204" pitchFamily="34" charset="0"/>
              </a:rPr>
              <a:t>取下一条指令</a:t>
            </a:r>
          </a:p>
        </p:txBody>
      </p:sp>
      <p:sp>
        <p:nvSpPr>
          <p:cNvPr id="14" name="矩形 13"/>
          <p:cNvSpPr/>
          <p:nvPr/>
        </p:nvSpPr>
        <p:spPr>
          <a:xfrm>
            <a:off x="6459707" y="5369560"/>
            <a:ext cx="2267585" cy="6578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6892142" y="5471795"/>
            <a:ext cx="1402080" cy="460375"/>
          </a:xfrm>
          <a:prstGeom prst="rect">
            <a:avLst/>
          </a:prstGeom>
          <a:noFill/>
        </p:spPr>
        <p:txBody>
          <a:bodyPr wrap="none" rtlCol="0">
            <a:spAutoFit/>
          </a:bodyPr>
          <a:lstStyle/>
          <a:p>
            <a:pPr algn="ctr"/>
            <a:r>
              <a:rPr lang="zh-CN" altLang="en-US" sz="2400" dirty="0">
                <a:latin typeface="Arial" panose="020B0604020202020204" pitchFamily="34" charset="0"/>
                <a:ea typeface="微软雅黑" panose="020B0503020204020204" pitchFamily="34" charset="-122"/>
                <a:cs typeface="+mn-ea"/>
                <a:sym typeface="Arial" panose="020B0604020202020204" pitchFamily="34" charset="0"/>
              </a:rPr>
              <a:t>执行指令</a:t>
            </a:r>
          </a:p>
        </p:txBody>
      </p:sp>
      <p:cxnSp>
        <p:nvCxnSpPr>
          <p:cNvPr id="17" name="直接箭头连接符 16"/>
          <p:cNvCxnSpPr>
            <a:stCxn id="6" idx="3"/>
            <a:endCxn id="12" idx="1"/>
          </p:cNvCxnSpPr>
          <p:nvPr/>
        </p:nvCxnSpPr>
        <p:spPr>
          <a:xfrm>
            <a:off x="2649707" y="5694680"/>
            <a:ext cx="59753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a:stCxn id="12" idx="3"/>
            <a:endCxn id="14" idx="1"/>
          </p:cNvCxnSpPr>
          <p:nvPr/>
        </p:nvCxnSpPr>
        <p:spPr>
          <a:xfrm>
            <a:off x="5514827" y="5694680"/>
            <a:ext cx="944880" cy="381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a:stCxn id="14" idx="3"/>
            <a:endCxn id="8" idx="1"/>
          </p:cNvCxnSpPr>
          <p:nvPr/>
        </p:nvCxnSpPr>
        <p:spPr>
          <a:xfrm flipV="1">
            <a:off x="8727292" y="5688965"/>
            <a:ext cx="633095" cy="952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3149452" y="4826635"/>
            <a:ext cx="2451100" cy="398780"/>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取指周期</a:t>
            </a:r>
          </a:p>
        </p:txBody>
      </p:sp>
      <p:sp>
        <p:nvSpPr>
          <p:cNvPr id="21" name="文本框 20"/>
          <p:cNvSpPr txBox="1"/>
          <p:nvPr/>
        </p:nvSpPr>
        <p:spPr>
          <a:xfrm>
            <a:off x="6345407" y="4814570"/>
            <a:ext cx="2206625" cy="398780"/>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执行周期</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618924" y="1714024"/>
            <a:ext cx="9056687" cy="381629"/>
          </a:xfrm>
        </p:spPr>
        <p:txBody>
          <a:bodyPr>
            <a:noAutofit/>
          </a:bodyPr>
          <a:lstStyle/>
          <a:p>
            <a:pPr marL="0" indent="0">
              <a:buNone/>
            </a:pPr>
            <a:r>
              <a:rPr sz="2400" dirty="0">
                <a:sym typeface="+mn-ea"/>
              </a:rPr>
              <a:t>指令执行的基本过程</a:t>
            </a:r>
          </a:p>
        </p:txBody>
      </p:sp>
      <p:sp>
        <p:nvSpPr>
          <p:cNvPr id="2" name="文本占位符 8"/>
          <p:cNvSpPr>
            <a:spLocks noGrp="1"/>
          </p:cNvSpPr>
          <p:nvPr/>
        </p:nvSpPr>
        <p:spPr>
          <a:xfrm>
            <a:off x="1155407" y="2298735"/>
            <a:ext cx="10922000" cy="267779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en-US" altLang="zh-CN" b="0" dirty="0"/>
              <a:t>1.</a:t>
            </a:r>
            <a:r>
              <a:rPr lang="zh-CN" altLang="en-US" b="0" dirty="0"/>
              <a:t>每个取值周期先从存储器中读取一条指令</a:t>
            </a:r>
          </a:p>
          <a:p>
            <a:pPr marL="0" indent="0" fontAlgn="auto">
              <a:lnSpc>
                <a:spcPct val="150000"/>
              </a:lnSpc>
              <a:buNone/>
            </a:pPr>
            <a:r>
              <a:rPr lang="en-US" altLang="zh-CN" b="0" dirty="0"/>
              <a:t>2.</a:t>
            </a:r>
            <a:r>
              <a:rPr lang="zh-CN" altLang="en-US" b="0" dirty="0"/>
              <a:t>在取指令完成后，根据指令类别将程序计数器的值变成下一条指令的地址，通常是自增1</a:t>
            </a:r>
            <a:r>
              <a:rPr lang="en-US" altLang="zh-CN" b="0" dirty="0"/>
              <a:t> </a:t>
            </a:r>
          </a:p>
          <a:p>
            <a:pPr marL="0" indent="0" fontAlgn="auto">
              <a:lnSpc>
                <a:spcPct val="150000"/>
              </a:lnSpc>
              <a:buNone/>
            </a:pPr>
            <a:r>
              <a:rPr lang="en-US" altLang="zh-CN" b="0" dirty="0"/>
              <a:t>3.取到的指令被放在处理器的指令寄存器中</a:t>
            </a:r>
          </a:p>
          <a:p>
            <a:pPr marL="0" indent="0" fontAlgn="auto">
              <a:lnSpc>
                <a:spcPct val="150000"/>
              </a:lnSpc>
              <a:buNone/>
            </a:pPr>
            <a:r>
              <a:rPr lang="en-US" altLang="zh-CN" b="0" dirty="0"/>
              <a:t>4.处理器解释并执行</a:t>
            </a:r>
            <a:r>
              <a:rPr b="0" dirty="0"/>
              <a:t>命令</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856152" y="1608434"/>
            <a:ext cx="9056687" cy="381629"/>
          </a:xfrm>
        </p:spPr>
        <p:txBody>
          <a:bodyPr>
            <a:noAutofit/>
          </a:bodyPr>
          <a:lstStyle/>
          <a:p>
            <a:pPr marL="0" indent="0">
              <a:buNone/>
            </a:pPr>
            <a:r>
              <a:rPr sz="2400" dirty="0">
                <a:sym typeface="+mn-ea"/>
              </a:rPr>
              <a:t>五类指令</a:t>
            </a:r>
          </a:p>
        </p:txBody>
      </p:sp>
      <p:sp>
        <p:nvSpPr>
          <p:cNvPr id="2" name="文本占位符 8"/>
          <p:cNvSpPr>
            <a:spLocks noGrp="1"/>
          </p:cNvSpPr>
          <p:nvPr/>
        </p:nvSpPr>
        <p:spPr>
          <a:xfrm>
            <a:off x="1595022" y="2066241"/>
            <a:ext cx="10922000" cy="35807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dirty="0"/>
              <a:t>访问存储器指令</a:t>
            </a:r>
            <a:r>
              <a:rPr lang="zh-CN" altLang="en-US" b="0" dirty="0"/>
              <a:t>：负责处理器和存储器之间的数据传送</a:t>
            </a:r>
          </a:p>
          <a:p>
            <a:pPr fontAlgn="auto">
              <a:lnSpc>
                <a:spcPct val="150000"/>
              </a:lnSpc>
            </a:pPr>
            <a:r>
              <a:rPr dirty="0"/>
              <a:t>I/O指令</a:t>
            </a:r>
            <a:r>
              <a:rPr lang="zh-CN" altLang="en-US" b="0" dirty="0"/>
              <a:t>：</a:t>
            </a:r>
            <a:r>
              <a:rPr b="0" dirty="0"/>
              <a:t>负责处理器和I/O模块之间的数据传送和命令发送</a:t>
            </a:r>
          </a:p>
          <a:p>
            <a:pPr fontAlgn="auto">
              <a:lnSpc>
                <a:spcPct val="150000"/>
              </a:lnSpc>
            </a:pPr>
            <a:r>
              <a:rPr lang="en-US" altLang="zh-CN" dirty="0" err="1"/>
              <a:t>算术逻辑指令</a:t>
            </a:r>
            <a:r>
              <a:rPr b="0" dirty="0"/>
              <a:t>（</a:t>
            </a:r>
            <a:r>
              <a:rPr lang="en-US" altLang="zh-CN" b="0" dirty="0" err="1"/>
              <a:t>数据处理指令</a:t>
            </a:r>
            <a:r>
              <a:rPr b="0" dirty="0"/>
              <a:t>）</a:t>
            </a:r>
            <a:r>
              <a:rPr lang="zh-CN" altLang="en-US" b="0" dirty="0"/>
              <a:t>：</a:t>
            </a:r>
            <a:r>
              <a:rPr lang="en-US" altLang="zh-CN" b="0" dirty="0" err="1"/>
              <a:t>用以执行有关数据的算术和逻辑操作</a:t>
            </a:r>
            <a:endParaRPr lang="en-US" altLang="zh-CN" b="0" dirty="0"/>
          </a:p>
          <a:p>
            <a:pPr fontAlgn="auto">
              <a:lnSpc>
                <a:spcPct val="150000"/>
              </a:lnSpc>
            </a:pPr>
            <a:r>
              <a:rPr dirty="0"/>
              <a:t>控制转移指令</a:t>
            </a:r>
            <a:r>
              <a:rPr lang="zh-CN" altLang="en-US" b="0" dirty="0"/>
              <a:t>：</a:t>
            </a:r>
            <a:r>
              <a:rPr b="0" dirty="0"/>
              <a:t>这种指令可以指定一个新的指令的执行起点</a:t>
            </a:r>
          </a:p>
          <a:p>
            <a:pPr fontAlgn="auto">
              <a:lnSpc>
                <a:spcPct val="150000"/>
              </a:lnSpc>
            </a:pPr>
            <a:r>
              <a:rPr dirty="0"/>
              <a:t>处理器控制指令</a:t>
            </a:r>
            <a:r>
              <a:rPr lang="zh-CN" altLang="en-US" b="0" dirty="0"/>
              <a:t>：</a:t>
            </a:r>
            <a:r>
              <a:rPr b="0" dirty="0"/>
              <a:t>这种指令用于修改处理器状态，改变处理器工作方式</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715639" y="1234613"/>
            <a:ext cx="9056687" cy="381629"/>
          </a:xfrm>
        </p:spPr>
        <p:txBody>
          <a:bodyPr>
            <a:noAutofit/>
          </a:bodyPr>
          <a:lstStyle/>
          <a:p>
            <a:pPr marL="0" indent="0">
              <a:buNone/>
            </a:pPr>
            <a:r>
              <a:rPr sz="2400" dirty="0">
                <a:sym typeface="+mn-ea"/>
              </a:rPr>
              <a:t>实例</a:t>
            </a:r>
          </a:p>
        </p:txBody>
      </p:sp>
      <p:sp>
        <p:nvSpPr>
          <p:cNvPr id="2" name="文本占位符 8"/>
          <p:cNvSpPr>
            <a:spLocks noGrp="1"/>
          </p:cNvSpPr>
          <p:nvPr/>
        </p:nvSpPr>
        <p:spPr>
          <a:xfrm>
            <a:off x="1049582" y="1752208"/>
            <a:ext cx="10028726" cy="135001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如下面一段汇编程序，它将3340h地址单元的一个数自增1，假设那个地址的内容是35，这段程序执行以后，它变成了36。这个程序需要三条指令完成，包括三个取指周期和三个执行周期。</a:t>
            </a:r>
          </a:p>
        </p:txBody>
      </p:sp>
      <p:sp>
        <p:nvSpPr>
          <p:cNvPr id="6" name="文本框 5"/>
          <p:cNvSpPr txBox="1"/>
          <p:nvPr/>
        </p:nvSpPr>
        <p:spPr>
          <a:xfrm>
            <a:off x="2655875" y="3562353"/>
            <a:ext cx="6534785" cy="1938992"/>
          </a:xfrm>
          <a:prstGeom prst="rect">
            <a:avLst/>
          </a:prstGeom>
          <a:noFill/>
        </p:spPr>
        <p:txBody>
          <a:bodyPr wrap="square" rtlCol="0">
            <a:spAutoFit/>
          </a:bodyPr>
          <a:lstStyle/>
          <a:p>
            <a:pPr algn="l"/>
            <a:r>
              <a:rPr lang="zh-CN" altLang="en-US" sz="2400"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rPr>
              <a:t>地址			指令</a:t>
            </a:r>
            <a:endParaRPr lang="en-US" altLang="zh-CN" sz="2400"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endParaRPr>
          </a:p>
          <a:p>
            <a:pPr algn="l"/>
            <a:endParaRPr lang="zh-CN" altLang="en-US" sz="2400"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endParaRPr>
          </a:p>
          <a:p>
            <a:pPr algn="l"/>
            <a:r>
              <a:rPr lang="zh-CN" altLang="en-US" sz="2400"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rPr>
              <a:t>2000h：	MOVE	     [3340h],	R1</a:t>
            </a:r>
          </a:p>
          <a:p>
            <a:pPr algn="l"/>
            <a:r>
              <a:rPr lang="zh-CN" altLang="en-US" sz="2400"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rPr>
              <a:t>2004h：	ADD	     R1,		1</a:t>
            </a:r>
          </a:p>
          <a:p>
            <a:pPr algn="l"/>
            <a:r>
              <a:rPr lang="zh-CN" altLang="en-US" sz="2400"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rPr>
              <a:t>2008h：	MOVE	     R1,		[3340h]</a:t>
            </a:r>
          </a:p>
        </p:txBody>
      </p:sp>
      <p:sp>
        <p:nvSpPr>
          <p:cNvPr id="3" name="矩形: 圆角 2">
            <a:extLst>
              <a:ext uri="{FF2B5EF4-FFF2-40B4-BE49-F238E27FC236}">
                <a16:creationId xmlns:a16="http://schemas.microsoft.com/office/drawing/2014/main" id="{EA8CDB86-C4AF-9AD1-453D-7B19251DA841}"/>
              </a:ext>
            </a:extLst>
          </p:cNvPr>
          <p:cNvSpPr/>
          <p:nvPr/>
        </p:nvSpPr>
        <p:spPr>
          <a:xfrm>
            <a:off x="2497015" y="3429000"/>
            <a:ext cx="6172200" cy="2329962"/>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724267" y="1177791"/>
            <a:ext cx="9056687" cy="381629"/>
          </a:xfrm>
        </p:spPr>
        <p:txBody>
          <a:bodyPr>
            <a:noAutofit/>
          </a:bodyPr>
          <a:lstStyle/>
          <a:p>
            <a:pPr marL="0" indent="0">
              <a:buNone/>
            </a:pPr>
            <a:r>
              <a:rPr sz="2400" dirty="0">
                <a:sym typeface="+mn-ea"/>
              </a:rPr>
              <a:t>实例</a:t>
            </a:r>
          </a:p>
        </p:txBody>
      </p:sp>
      <p:sp>
        <p:nvSpPr>
          <p:cNvPr id="2" name="文本占位符 8"/>
          <p:cNvSpPr>
            <a:spLocks noGrp="1"/>
          </p:cNvSpPr>
          <p:nvPr/>
        </p:nvSpPr>
        <p:spPr>
          <a:xfrm>
            <a:off x="1041107" y="1305341"/>
            <a:ext cx="10922000" cy="1732463"/>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假设程序计数器PC正指向2000h地址处的指令，执行过程如下面的描述：</a:t>
            </a:r>
          </a:p>
          <a:p>
            <a:pPr marL="0" indent="0" fontAlgn="auto">
              <a:lnSpc>
                <a:spcPct val="100000"/>
              </a:lnSpc>
              <a:buNone/>
            </a:pPr>
            <a:endParaRPr lang="zh-CN" altLang="en-US" b="0" dirty="0"/>
          </a:p>
        </p:txBody>
      </p:sp>
      <p:sp>
        <p:nvSpPr>
          <p:cNvPr id="4" name="文本框 3">
            <a:extLst>
              <a:ext uri="{FF2B5EF4-FFF2-40B4-BE49-F238E27FC236}">
                <a16:creationId xmlns:a16="http://schemas.microsoft.com/office/drawing/2014/main" id="{8063C65E-B624-F3FB-0CAA-8B5C46254F64}"/>
              </a:ext>
            </a:extLst>
          </p:cNvPr>
          <p:cNvSpPr txBox="1"/>
          <p:nvPr/>
        </p:nvSpPr>
        <p:spPr>
          <a:xfrm>
            <a:off x="1630069" y="2286885"/>
            <a:ext cx="9520824" cy="3730765"/>
          </a:xfrm>
          <a:prstGeom prst="rect">
            <a:avLst/>
          </a:prstGeom>
          <a:noFill/>
        </p:spPr>
        <p:txBody>
          <a:bodyPr wrap="square">
            <a:spAutoFit/>
          </a:bodyPr>
          <a:lstStyle/>
          <a:p>
            <a:pPr marL="457200" indent="-457200" fontAlgn="auto">
              <a:lnSpc>
                <a:spcPct val="150000"/>
              </a:lnSpc>
              <a:buAutoNum type="arabicPeriod"/>
            </a:pPr>
            <a:r>
              <a:rPr lang="zh-CN" altLang="en-US" sz="2000" b="0" dirty="0">
                <a:solidFill>
                  <a:srgbClr val="404040"/>
                </a:solidFill>
              </a:rPr>
              <a:t>PC中第一条指令的地址2000h，指令MOVE被送入指令寄存器IR中，同时PC自增一个指令的长度，取指之后PC为2004h</a:t>
            </a:r>
          </a:p>
          <a:p>
            <a:pPr marL="0" indent="0" fontAlgn="auto">
              <a:lnSpc>
                <a:spcPct val="150000"/>
              </a:lnSpc>
              <a:buNone/>
            </a:pPr>
            <a:r>
              <a:rPr lang="zh-CN" altLang="en-US" sz="2000" b="0" dirty="0">
                <a:solidFill>
                  <a:srgbClr val="404040"/>
                </a:solidFill>
              </a:rPr>
              <a:t>2</a:t>
            </a:r>
            <a:r>
              <a:rPr lang="en-US" altLang="zh-CN" sz="2000" b="0" dirty="0">
                <a:solidFill>
                  <a:srgbClr val="404040"/>
                </a:solidFill>
              </a:rPr>
              <a:t>. </a:t>
            </a:r>
            <a:r>
              <a:rPr lang="zh-CN" altLang="en-US" sz="2000" b="0" dirty="0">
                <a:solidFill>
                  <a:srgbClr val="404040"/>
                </a:solidFill>
              </a:rPr>
              <a:t>IR中存放着指令的编码，经过译码处理器发现这是一条访问内存的指令，把立即</a:t>
            </a:r>
            <a:endParaRPr lang="en-US" altLang="zh-CN" sz="2000" b="0" dirty="0">
              <a:solidFill>
                <a:srgbClr val="404040"/>
              </a:solidFill>
            </a:endParaRPr>
          </a:p>
          <a:p>
            <a:pPr marL="0" indent="0" fontAlgn="auto">
              <a:lnSpc>
                <a:spcPct val="150000"/>
              </a:lnSpc>
              <a:buNone/>
            </a:pPr>
            <a:r>
              <a:rPr lang="en-US" altLang="zh-CN" sz="2000" dirty="0">
                <a:solidFill>
                  <a:srgbClr val="404040"/>
                </a:solidFill>
              </a:rPr>
              <a:t>      </a:t>
            </a:r>
            <a:r>
              <a:rPr lang="zh-CN" altLang="en-US" sz="2000" b="0" dirty="0">
                <a:solidFill>
                  <a:srgbClr val="404040"/>
                </a:solidFill>
              </a:rPr>
              <a:t>数3340h所指定的地址中的数据取到通用寄存器R1中</a:t>
            </a:r>
          </a:p>
          <a:p>
            <a:pPr marL="0" indent="0" fontAlgn="auto">
              <a:lnSpc>
                <a:spcPct val="150000"/>
              </a:lnSpc>
              <a:buNone/>
            </a:pPr>
            <a:r>
              <a:rPr lang="zh-CN" altLang="en-US" sz="2000" b="0" dirty="0">
                <a:solidFill>
                  <a:srgbClr val="404040"/>
                </a:solidFill>
              </a:rPr>
              <a:t>3</a:t>
            </a:r>
            <a:r>
              <a:rPr lang="en-US" altLang="zh-CN" sz="2000" b="0" dirty="0">
                <a:solidFill>
                  <a:srgbClr val="404040"/>
                </a:solidFill>
              </a:rPr>
              <a:t>. </a:t>
            </a:r>
            <a:r>
              <a:rPr lang="zh-CN" altLang="en-US" sz="2000" b="0" dirty="0">
                <a:solidFill>
                  <a:srgbClr val="404040"/>
                </a:solidFill>
              </a:rPr>
              <a:t>CPU又从PC地址为2004h处取出指令ADD到IR中，PC变为2008h</a:t>
            </a:r>
          </a:p>
          <a:p>
            <a:pPr marL="0" indent="0" fontAlgn="auto">
              <a:lnSpc>
                <a:spcPct val="150000"/>
              </a:lnSpc>
              <a:buNone/>
            </a:pPr>
            <a:r>
              <a:rPr lang="zh-CN" altLang="en-US" sz="2000" b="0" dirty="0">
                <a:solidFill>
                  <a:srgbClr val="404040"/>
                </a:solidFill>
              </a:rPr>
              <a:t>4</a:t>
            </a:r>
            <a:r>
              <a:rPr lang="en-US" altLang="zh-CN" sz="2000" b="0" dirty="0">
                <a:solidFill>
                  <a:srgbClr val="404040"/>
                </a:solidFill>
              </a:rPr>
              <a:t>. </a:t>
            </a:r>
            <a:r>
              <a:rPr lang="zh-CN" altLang="en-US" sz="2000" b="0" dirty="0">
                <a:solidFill>
                  <a:srgbClr val="404040"/>
                </a:solidFill>
              </a:rPr>
              <a:t>CPU根据指令将R1寄存器和立即数1相加</a:t>
            </a:r>
          </a:p>
          <a:p>
            <a:pPr marL="0" indent="0" fontAlgn="auto">
              <a:lnSpc>
                <a:spcPct val="150000"/>
              </a:lnSpc>
              <a:buNone/>
            </a:pPr>
            <a:r>
              <a:rPr lang="zh-CN" altLang="en-US" sz="2000" b="0" dirty="0">
                <a:solidFill>
                  <a:srgbClr val="404040"/>
                </a:solidFill>
              </a:rPr>
              <a:t>5</a:t>
            </a:r>
            <a:r>
              <a:rPr lang="en-US" altLang="zh-CN" sz="2000" b="0" dirty="0">
                <a:solidFill>
                  <a:srgbClr val="404040"/>
                </a:solidFill>
              </a:rPr>
              <a:t>. </a:t>
            </a:r>
            <a:r>
              <a:rPr lang="zh-CN" altLang="en-US" sz="2000" b="0" dirty="0">
                <a:solidFill>
                  <a:srgbClr val="404040"/>
                </a:solidFill>
              </a:rPr>
              <a:t>2008h处的访存指令MOVE被取到IR中，PC变为200Ah</a:t>
            </a:r>
          </a:p>
          <a:p>
            <a:pPr marL="0" indent="0" fontAlgn="auto">
              <a:lnSpc>
                <a:spcPct val="150000"/>
              </a:lnSpc>
              <a:buNone/>
            </a:pPr>
            <a:r>
              <a:rPr lang="zh-CN" altLang="en-US" sz="2000" b="0" dirty="0">
                <a:solidFill>
                  <a:srgbClr val="404040"/>
                </a:solidFill>
              </a:rPr>
              <a:t>6</a:t>
            </a:r>
            <a:r>
              <a:rPr lang="en-US" altLang="zh-CN" sz="2000" b="0" dirty="0">
                <a:solidFill>
                  <a:srgbClr val="404040"/>
                </a:solidFill>
              </a:rPr>
              <a:t>. </a:t>
            </a:r>
            <a:r>
              <a:rPr lang="zh-CN" altLang="en-US" sz="2000" b="0" dirty="0">
                <a:solidFill>
                  <a:srgbClr val="404040"/>
                </a:solidFill>
              </a:rPr>
              <a:t>R1寄存器内容被传送到内存地址为3340h的双字存储单元中</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2913" y="1196661"/>
            <a:ext cx="9056687" cy="381629"/>
          </a:xfrm>
        </p:spPr>
        <p:txBody>
          <a:bodyPr>
            <a:noAutofit/>
          </a:bodyPr>
          <a:lstStyle/>
          <a:p>
            <a:pPr marL="0" indent="0">
              <a:buNone/>
            </a:pPr>
            <a:r>
              <a:rPr sz="2400" dirty="0">
                <a:sym typeface="+mn-ea"/>
              </a:rPr>
              <a:t>特权指令和非特权指令</a:t>
            </a:r>
          </a:p>
        </p:txBody>
      </p:sp>
      <p:sp>
        <p:nvSpPr>
          <p:cNvPr id="2" name="文本占位符 8"/>
          <p:cNvSpPr>
            <a:spLocks noGrp="1"/>
          </p:cNvSpPr>
          <p:nvPr/>
        </p:nvSpPr>
        <p:spPr>
          <a:xfrm>
            <a:off x="891638" y="1701382"/>
            <a:ext cx="10922000" cy="129222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dirty="0"/>
              <a:t>特权指令：      </a:t>
            </a:r>
            <a:r>
              <a:rPr lang="zh-CN" altLang="en-US" b="0" dirty="0"/>
              <a:t>只能由操作系统使用的指令</a:t>
            </a:r>
          </a:p>
          <a:p>
            <a:pPr fontAlgn="auto">
              <a:lnSpc>
                <a:spcPct val="100000"/>
              </a:lnSpc>
            </a:pPr>
            <a:endParaRPr lang="en-US" altLang="zh-CN" b="0" dirty="0"/>
          </a:p>
        </p:txBody>
      </p:sp>
      <p:sp>
        <p:nvSpPr>
          <p:cNvPr id="4" name="文本框 3">
            <a:extLst>
              <a:ext uri="{FF2B5EF4-FFF2-40B4-BE49-F238E27FC236}">
                <a16:creationId xmlns:a16="http://schemas.microsoft.com/office/drawing/2014/main" id="{FFF3E8D4-6442-C3DF-C750-941DD7C45645}"/>
              </a:ext>
            </a:extLst>
          </p:cNvPr>
          <p:cNvSpPr txBox="1"/>
          <p:nvPr/>
        </p:nvSpPr>
        <p:spPr>
          <a:xfrm>
            <a:off x="1427555" y="2583512"/>
            <a:ext cx="10160707" cy="2807948"/>
          </a:xfrm>
          <a:prstGeom prst="rect">
            <a:avLst/>
          </a:prstGeom>
          <a:noFill/>
        </p:spPr>
        <p:txBody>
          <a:bodyPr wrap="square">
            <a:spAutoFit/>
          </a:bodyPr>
          <a:lstStyle/>
          <a:p>
            <a:pPr marL="342900" indent="-342900" fontAlgn="auto">
              <a:lnSpc>
                <a:spcPct val="150000"/>
              </a:lnSpc>
              <a:buFont typeface="Arial" panose="020B0604020202020204" pitchFamily="34" charset="0"/>
              <a:buChar char="•"/>
            </a:pPr>
            <a:r>
              <a:rPr lang="zh-CN" altLang="en-US" sz="2000" b="0" dirty="0">
                <a:solidFill>
                  <a:srgbClr val="404040"/>
                </a:solidFill>
                <a:latin typeface="+mn-ea"/>
              </a:rPr>
              <a:t>使用多道程序设计技术的计算机的指令系统必须区分为特权指令和非特权指令 </a:t>
            </a:r>
          </a:p>
          <a:p>
            <a:pPr marL="342900" indent="-342900" fontAlgn="auto">
              <a:lnSpc>
                <a:spcPct val="150000"/>
              </a:lnSpc>
              <a:buFont typeface="Arial" panose="020B0604020202020204" pitchFamily="34" charset="0"/>
              <a:buChar char="•"/>
            </a:pPr>
            <a:r>
              <a:rPr lang="zh-CN" altLang="en-US" sz="2000" b="0" dirty="0">
                <a:solidFill>
                  <a:srgbClr val="404040"/>
                </a:solidFill>
                <a:latin typeface="+mn-ea"/>
              </a:rPr>
              <a:t>使用特权指令，一般将引起一次处理器状态的切换</a:t>
            </a:r>
          </a:p>
          <a:p>
            <a:pPr marL="342900" indent="-342900" fontAlgn="auto">
              <a:lnSpc>
                <a:spcPct val="150000"/>
              </a:lnSpc>
              <a:buFont typeface="Arial" panose="020B0604020202020204" pitchFamily="34" charset="0"/>
              <a:buChar char="•"/>
            </a:pPr>
            <a:r>
              <a:rPr lang="zh-CN" altLang="en-US" sz="2000" b="0" dirty="0">
                <a:solidFill>
                  <a:srgbClr val="404040"/>
                </a:solidFill>
                <a:latin typeface="+mn-ea"/>
              </a:rPr>
              <a:t>       处理器通过特殊的机制，将处理器状态切换到操作系统运行的特权状态</a:t>
            </a:r>
          </a:p>
          <a:p>
            <a:pPr marL="342900" indent="-342900" fontAlgn="auto">
              <a:lnSpc>
                <a:spcPct val="150000"/>
              </a:lnSpc>
              <a:buFont typeface="Arial" panose="020B0604020202020204" pitchFamily="34" charset="0"/>
              <a:buChar char="•"/>
            </a:pPr>
            <a:r>
              <a:rPr lang="zh-CN" altLang="en-US" sz="2000" b="0" dirty="0">
                <a:solidFill>
                  <a:srgbClr val="404040"/>
                </a:solidFill>
                <a:latin typeface="+mn-ea"/>
              </a:rPr>
              <a:t>       然后将处理权移交给操作系统中的一段特殊代码，这一个过程称为陷入</a:t>
            </a:r>
          </a:p>
          <a:p>
            <a:pPr marL="342900" indent="-342900" fontAlgn="auto">
              <a:lnSpc>
                <a:spcPct val="150000"/>
              </a:lnSpc>
              <a:buFont typeface="Arial" panose="020B0604020202020204" pitchFamily="34" charset="0"/>
              <a:buChar char="•"/>
            </a:pPr>
            <a:r>
              <a:rPr lang="zh-CN" altLang="en-US" sz="2000" b="0" dirty="0">
                <a:solidFill>
                  <a:srgbClr val="404040"/>
                </a:solidFill>
                <a:latin typeface="+mn-ea"/>
              </a:rPr>
              <a:t>处理器解释并执行命令</a:t>
            </a:r>
          </a:p>
          <a:p>
            <a:pPr marL="342900" indent="-342900" fontAlgn="auto">
              <a:lnSpc>
                <a:spcPct val="150000"/>
              </a:lnSpc>
              <a:buFont typeface="Arial" panose="020B0604020202020204" pitchFamily="34" charset="0"/>
              <a:buChar char="•"/>
            </a:pPr>
            <a:r>
              <a:rPr lang="en-US" altLang="zh-CN" sz="2000" b="0" dirty="0">
                <a:solidFill>
                  <a:srgbClr val="404040"/>
                </a:solidFill>
                <a:latin typeface="+mn-ea"/>
              </a:rPr>
              <a:t>CPU</a:t>
            </a:r>
            <a:r>
              <a:rPr lang="zh-CN" altLang="en-US" sz="2000" b="0" dirty="0">
                <a:solidFill>
                  <a:srgbClr val="404040"/>
                </a:solidFill>
                <a:latin typeface="+mn-ea"/>
              </a:rPr>
              <a:t>如何知道当前运行的是操作系统还是一般应用软件，则有赖于处理器状态的标识</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2913" y="1297946"/>
            <a:ext cx="9056687" cy="381629"/>
          </a:xfrm>
        </p:spPr>
        <p:txBody>
          <a:bodyPr>
            <a:noAutofit/>
          </a:bodyPr>
          <a:lstStyle/>
          <a:p>
            <a:pPr marL="0" indent="0">
              <a:buNone/>
            </a:pPr>
            <a:r>
              <a:rPr sz="2400" dirty="0">
                <a:sym typeface="+mn-ea"/>
              </a:rPr>
              <a:t>处理器的状态</a:t>
            </a:r>
          </a:p>
        </p:txBody>
      </p:sp>
      <p:sp>
        <p:nvSpPr>
          <p:cNvPr id="2" name="文本占位符 8"/>
          <p:cNvSpPr>
            <a:spLocks noGrp="1"/>
          </p:cNvSpPr>
          <p:nvPr/>
        </p:nvSpPr>
        <p:spPr>
          <a:xfrm>
            <a:off x="826991" y="1821794"/>
            <a:ext cx="10922000" cy="3754071"/>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根据程序对资源和指令的使用权限而将处理器设置为不同状态</a:t>
            </a:r>
          </a:p>
          <a:p>
            <a:pPr fontAlgn="auto">
              <a:lnSpc>
                <a:spcPct val="150000"/>
              </a:lnSpc>
            </a:pPr>
            <a:r>
              <a:rPr b="0" dirty="0"/>
              <a:t>多数系统将处理器工作状态划分为内核态和用户态</a:t>
            </a:r>
          </a:p>
          <a:p>
            <a:pPr fontAlgn="auto">
              <a:lnSpc>
                <a:spcPct val="150000"/>
              </a:lnSpc>
            </a:pPr>
            <a:r>
              <a:rPr dirty="0"/>
              <a:t>内核态：</a:t>
            </a:r>
            <a:r>
              <a:rPr b="0" dirty="0"/>
              <a:t>一般指操作系统管理程序运行的状态，具有较高的特权级别，又称为管态、特权态、系统态或核心态</a:t>
            </a:r>
          </a:p>
          <a:p>
            <a:pPr fontAlgn="auto">
              <a:lnSpc>
                <a:spcPct val="150000"/>
              </a:lnSpc>
            </a:pPr>
            <a:r>
              <a:rPr dirty="0"/>
              <a:t>用户态：</a:t>
            </a:r>
            <a:r>
              <a:rPr b="0" dirty="0"/>
              <a:t>一般指用户程序运行时的状态，具有较低的特权级别，又称为目态、普通态</a:t>
            </a:r>
          </a:p>
          <a:p>
            <a:pPr fontAlgn="auto">
              <a:lnSpc>
                <a:spcPct val="150000"/>
              </a:lnSpc>
            </a:pPr>
            <a:r>
              <a:rPr b="0" dirty="0"/>
              <a:t>还有些系统将处理器工作状态划分多个系统状态，例如核心状态，管理状态和用户程序状态（又称目标状态）三种</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583590" y="1220759"/>
            <a:ext cx="9056687" cy="381629"/>
          </a:xfrm>
        </p:spPr>
        <p:txBody>
          <a:bodyPr>
            <a:noAutofit/>
          </a:bodyPr>
          <a:lstStyle/>
          <a:p>
            <a:pPr marL="0" indent="0">
              <a:buNone/>
            </a:pPr>
            <a:r>
              <a:rPr sz="2400" dirty="0">
                <a:sym typeface="+mn-ea"/>
              </a:rPr>
              <a:t>实例</a:t>
            </a:r>
          </a:p>
        </p:txBody>
      </p:sp>
      <p:sp>
        <p:nvSpPr>
          <p:cNvPr id="2" name="文本占位符 8"/>
          <p:cNvSpPr>
            <a:spLocks noGrp="1"/>
          </p:cNvSpPr>
          <p:nvPr/>
        </p:nvSpPr>
        <p:spPr>
          <a:xfrm>
            <a:off x="1058692" y="1436578"/>
            <a:ext cx="10922000" cy="316674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英特尔公司出品的x86系列处理器提供四个特权级别，特权环：R0、R1、R2和R3）</a:t>
            </a:r>
          </a:p>
          <a:p>
            <a:pPr fontAlgn="auto">
              <a:lnSpc>
                <a:spcPct val="100000"/>
              </a:lnSpc>
            </a:pPr>
            <a:r>
              <a:rPr lang="zh-CN" altLang="en-US" b="0" dirty="0"/>
              <a:t>        从R0到R3特权能力依次降低</a:t>
            </a:r>
          </a:p>
          <a:p>
            <a:pPr fontAlgn="auto">
              <a:lnSpc>
                <a:spcPct val="100000"/>
              </a:lnSpc>
            </a:pPr>
            <a:r>
              <a:rPr lang="zh-CN" altLang="en-US" b="0" dirty="0"/>
              <a:t>        R0相当于双状态系统的内核态</a:t>
            </a:r>
          </a:p>
          <a:p>
            <a:pPr fontAlgn="auto">
              <a:lnSpc>
                <a:spcPct val="100000"/>
              </a:lnSpc>
            </a:pPr>
            <a:r>
              <a:rPr lang="zh-CN" altLang="en-US" b="0" dirty="0"/>
              <a:t>        R3相当于用户态</a:t>
            </a:r>
          </a:p>
          <a:p>
            <a:pPr fontAlgn="auto">
              <a:lnSpc>
                <a:spcPct val="100000"/>
              </a:lnSpc>
            </a:pPr>
            <a:r>
              <a:rPr lang="zh-CN" altLang="en-US" b="0" dirty="0"/>
              <a:t>        而R1和R2则介于两者之间，它们能够运行的指令集合具有包含关系</a:t>
            </a:r>
          </a:p>
        </p:txBody>
      </p:sp>
      <p:graphicFrame>
        <p:nvGraphicFramePr>
          <p:cNvPr id="3" name="对象 -2147482624"/>
          <p:cNvGraphicFramePr>
            <a:graphicFrameLocks noChangeAspect="1"/>
          </p:cNvGraphicFramePr>
          <p:nvPr>
            <p:extLst>
              <p:ext uri="{D42A27DB-BD31-4B8C-83A1-F6EECF244321}">
                <p14:modId xmlns:p14="http://schemas.microsoft.com/office/powerpoint/2010/main" val="2371149178"/>
              </p:ext>
            </p:extLst>
          </p:nvPr>
        </p:nvGraphicFramePr>
        <p:xfrm>
          <a:off x="3648076" y="4514245"/>
          <a:ext cx="4273794" cy="716225"/>
        </p:xfrm>
        <a:graphic>
          <a:graphicData uri="http://schemas.openxmlformats.org/presentationml/2006/ole">
            <mc:AlternateContent xmlns:mc="http://schemas.openxmlformats.org/markup-compatibility/2006">
              <mc:Choice xmlns:v="urn:schemas-microsoft-com:vml" Requires="v">
                <p:oleObj r:id="rId3" imgW="1372870" imgH="228600" progId="Equation.3">
                  <p:embed/>
                </p:oleObj>
              </mc:Choice>
              <mc:Fallback>
                <p:oleObj r:id="rId3" imgW="1372870" imgH="228600" progId="Equation.3">
                  <p:embed/>
                  <p:pic>
                    <p:nvPicPr>
                      <p:cNvPr id="0" name="图片 3075"/>
                      <p:cNvPicPr/>
                      <p:nvPr/>
                    </p:nvPicPr>
                    <p:blipFill>
                      <a:blip r:embed="rId4"/>
                      <a:stretch>
                        <a:fillRect/>
                      </a:stretch>
                    </p:blipFill>
                    <p:spPr>
                      <a:xfrm>
                        <a:off x="3648076" y="4514245"/>
                        <a:ext cx="4273794" cy="716225"/>
                      </a:xfrm>
                      <a:prstGeom prst="rect">
                        <a:avLst/>
                      </a:prstGeom>
                      <a:noFill/>
                      <a:ln w="38100">
                        <a:noFill/>
                        <a:miter/>
                      </a:ln>
                    </p:spPr>
                  </p:pic>
                </p:oleObj>
              </mc:Fallback>
            </mc:AlternateContent>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671513" y="1183456"/>
            <a:ext cx="9056687" cy="381629"/>
          </a:xfrm>
        </p:spPr>
        <p:txBody>
          <a:bodyPr>
            <a:noAutofit/>
          </a:bodyPr>
          <a:lstStyle/>
          <a:p>
            <a:pPr marL="0" indent="0">
              <a:buNone/>
            </a:pPr>
            <a:r>
              <a:rPr sz="2400" dirty="0">
                <a:sym typeface="+mn-ea"/>
              </a:rPr>
              <a:t>实例</a:t>
            </a:r>
          </a:p>
        </p:txBody>
      </p:sp>
      <p:sp>
        <p:nvSpPr>
          <p:cNvPr id="2" name="文本占位符 8"/>
          <p:cNvSpPr>
            <a:spLocks noGrp="1"/>
          </p:cNvSpPr>
          <p:nvPr/>
        </p:nvSpPr>
        <p:spPr>
          <a:xfrm>
            <a:off x="961975" y="1183456"/>
            <a:ext cx="10922000" cy="502031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lang="zh-CN" altLang="en-US" b="0" dirty="0"/>
              <a:t>各个级别有保护性检查（例如地址校验、I/O限制），特权级别之间的转换方式也不尽相同</a:t>
            </a:r>
          </a:p>
          <a:p>
            <a:pPr marL="0" indent="0" fontAlgn="auto">
              <a:lnSpc>
                <a:spcPct val="100000"/>
              </a:lnSpc>
              <a:buNone/>
            </a:pPr>
            <a:r>
              <a:rPr lang="zh-CN" altLang="en-US" b="0" dirty="0"/>
              <a:t>四个级别被设计成运行不同类别的程序：</a:t>
            </a:r>
          </a:p>
          <a:p>
            <a:pPr marL="0" indent="0" fontAlgn="auto">
              <a:lnSpc>
                <a:spcPct val="100000"/>
              </a:lnSpc>
            </a:pPr>
            <a:r>
              <a:rPr lang="zh-CN" altLang="en-US" b="0" dirty="0"/>
              <a:t>      R0运行操作系统核心代码</a:t>
            </a:r>
          </a:p>
          <a:p>
            <a:pPr marL="0" indent="0" fontAlgn="auto">
              <a:lnSpc>
                <a:spcPct val="100000"/>
              </a:lnSpc>
            </a:pPr>
            <a:r>
              <a:rPr lang="zh-CN" altLang="en-US" b="0" dirty="0"/>
              <a:t>      R1运行关键设备驱动程序和I/O处理例程</a:t>
            </a:r>
          </a:p>
          <a:p>
            <a:pPr marL="0" indent="0" fontAlgn="auto">
              <a:lnSpc>
                <a:spcPct val="100000"/>
              </a:lnSpc>
            </a:pPr>
            <a:r>
              <a:rPr lang="zh-CN" altLang="en-US" b="0" dirty="0"/>
              <a:t>      R2运行其它受保护的共享代码，例如语言系统运行环境</a:t>
            </a:r>
          </a:p>
          <a:p>
            <a:pPr marL="0" indent="0" fontAlgn="auto">
              <a:lnSpc>
                <a:spcPct val="100000"/>
              </a:lnSpc>
            </a:pPr>
            <a:r>
              <a:rPr lang="zh-CN" altLang="en-US" b="0" dirty="0"/>
              <a:t>      R3运行各种用户程序</a:t>
            </a:r>
          </a:p>
          <a:p>
            <a:pPr marL="0" indent="0" fontAlgn="auto">
              <a:lnSpc>
                <a:spcPct val="100000"/>
              </a:lnSpc>
            </a:pPr>
            <a:endParaRPr lang="zh-CN" altLang="en-US" sz="2400" b="0" dirty="0"/>
          </a:p>
          <a:p>
            <a:pPr marL="0" indent="0" fontAlgn="auto">
              <a:lnSpc>
                <a:spcPct val="100000"/>
              </a:lnSpc>
              <a:buNone/>
            </a:pPr>
            <a:r>
              <a:rPr lang="zh-CN" altLang="en-US" b="0" dirty="0"/>
              <a:t>现有的基于x86处理器的操作系统，包括多数的UNIX系统、Linux及Windows系列大都只用到了R0和R3两个特权级别</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2913" y="1183228"/>
            <a:ext cx="9056687" cy="381629"/>
          </a:xfrm>
        </p:spPr>
        <p:txBody>
          <a:bodyPr>
            <a:noAutofit/>
          </a:bodyPr>
          <a:lstStyle/>
          <a:p>
            <a:pPr marL="0" indent="0">
              <a:buNone/>
            </a:pPr>
            <a:r>
              <a:rPr sz="2400" dirty="0">
                <a:sym typeface="+mn-ea"/>
              </a:rPr>
              <a:t>内核态与用户态的差别</a:t>
            </a:r>
          </a:p>
        </p:txBody>
      </p:sp>
      <p:sp>
        <p:nvSpPr>
          <p:cNvPr id="2" name="文本占位符 8"/>
          <p:cNvSpPr>
            <a:spLocks noGrp="1"/>
          </p:cNvSpPr>
          <p:nvPr/>
        </p:nvSpPr>
        <p:spPr>
          <a:xfrm>
            <a:off x="2070100" y="1374043"/>
            <a:ext cx="10922000" cy="502031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en-US" altLang="zh-CN" b="0" dirty="0">
                <a:solidFill>
                  <a:srgbClr val="404040"/>
                </a:solidFill>
              </a:rPr>
              <a:t>——  </a:t>
            </a:r>
            <a:r>
              <a:rPr lang="zh-CN" altLang="en-US" b="0" dirty="0">
                <a:solidFill>
                  <a:srgbClr val="404040"/>
                </a:solidFill>
              </a:rPr>
              <a:t>当处理器处于内核态时：</a:t>
            </a:r>
          </a:p>
          <a:p>
            <a:pPr marL="457200" lvl="1" indent="0">
              <a:lnSpc>
                <a:spcPts val="2400"/>
              </a:lnSpc>
            </a:pPr>
            <a:r>
              <a:rPr lang="zh-CN" altLang="en-US" sz="2000" b="0" dirty="0">
                <a:solidFill>
                  <a:srgbClr val="404040"/>
                </a:solidFill>
              </a:rPr>
              <a:t>  全部指令（包括特权指令）可以执行</a:t>
            </a:r>
          </a:p>
          <a:p>
            <a:pPr marL="457200" lvl="1" indent="0">
              <a:lnSpc>
                <a:spcPts val="2400"/>
              </a:lnSpc>
            </a:pPr>
            <a:r>
              <a:rPr lang="zh-CN" altLang="en-US" sz="2000" b="0" dirty="0">
                <a:solidFill>
                  <a:srgbClr val="404040"/>
                </a:solidFill>
              </a:rPr>
              <a:t>  可使用所有资源</a:t>
            </a:r>
          </a:p>
          <a:p>
            <a:pPr marL="457200" lvl="1" indent="0">
              <a:lnSpc>
                <a:spcPts val="2400"/>
              </a:lnSpc>
            </a:pPr>
            <a:r>
              <a:rPr lang="zh-CN" altLang="en-US" sz="2000" b="0" dirty="0">
                <a:solidFill>
                  <a:srgbClr val="404040"/>
                </a:solidFill>
              </a:rPr>
              <a:t>  具有改变处理器状态的能力</a:t>
            </a:r>
          </a:p>
          <a:p>
            <a:pPr marL="0" indent="0" fontAlgn="auto">
              <a:lnSpc>
                <a:spcPct val="150000"/>
              </a:lnSpc>
              <a:buNone/>
            </a:pPr>
            <a:r>
              <a:rPr lang="en-US" altLang="zh-CN" b="0" dirty="0">
                <a:solidFill>
                  <a:srgbClr val="404040"/>
                </a:solidFill>
              </a:rPr>
              <a:t>——  </a:t>
            </a:r>
            <a:r>
              <a:rPr b="0" dirty="0">
                <a:solidFill>
                  <a:srgbClr val="404040"/>
                </a:solidFill>
                <a:sym typeface="+mn-ea"/>
              </a:rPr>
              <a:t>当处理器处于用户态时：</a:t>
            </a:r>
            <a:endParaRPr lang="zh-CN" altLang="en-US" b="0" dirty="0">
              <a:solidFill>
                <a:srgbClr val="404040"/>
              </a:solidFill>
            </a:endParaRPr>
          </a:p>
          <a:p>
            <a:pPr marL="457200" lvl="1" indent="0">
              <a:lnSpc>
                <a:spcPts val="2400"/>
              </a:lnSpc>
            </a:pPr>
            <a:r>
              <a:rPr lang="en-US" sz="2000" b="0" dirty="0">
                <a:solidFill>
                  <a:srgbClr val="404040"/>
                </a:solidFill>
                <a:sym typeface="+mn-ea"/>
              </a:rPr>
              <a:t>  </a:t>
            </a:r>
            <a:r>
              <a:rPr sz="2000" b="0" dirty="0" err="1">
                <a:solidFill>
                  <a:srgbClr val="404040"/>
                </a:solidFill>
                <a:sym typeface="+mn-ea"/>
              </a:rPr>
              <a:t>只有非特权指令能执行</a:t>
            </a:r>
            <a:endParaRPr sz="2000" b="0" dirty="0">
              <a:solidFill>
                <a:srgbClr val="404040"/>
              </a:solidFill>
              <a:sym typeface="+mn-ea"/>
            </a:endParaRPr>
          </a:p>
          <a:p>
            <a:pPr marL="0" indent="0" fontAlgn="auto">
              <a:lnSpc>
                <a:spcPts val="2400"/>
              </a:lnSpc>
            </a:pPr>
            <a:endParaRPr lang="zh-CN" altLang="en-US" b="0" dirty="0">
              <a:solidFill>
                <a:srgbClr val="404040"/>
              </a:solidFill>
            </a:endParaRPr>
          </a:p>
          <a:p>
            <a:pPr fontAlgn="auto">
              <a:lnSpc>
                <a:spcPts val="2400"/>
              </a:lnSpc>
              <a:buFont typeface="Arial" panose="020B0604020202020204" pitchFamily="34" charset="0"/>
              <a:buChar char="•"/>
            </a:pPr>
            <a:r>
              <a:rPr lang="zh-CN" altLang="en-US" b="0" dirty="0">
                <a:solidFill>
                  <a:srgbClr val="404040"/>
                </a:solidFill>
              </a:rPr>
              <a:t>特权级别不同，可以运行的指令集合也不相同</a:t>
            </a:r>
          </a:p>
          <a:p>
            <a:pPr fontAlgn="auto">
              <a:lnSpc>
                <a:spcPts val="2400"/>
              </a:lnSpc>
              <a:buFont typeface="Arial" panose="020B0604020202020204" pitchFamily="34" charset="0"/>
              <a:buChar char="•"/>
            </a:pPr>
            <a:r>
              <a:rPr lang="zh-CN" altLang="en-US" b="0" dirty="0">
                <a:solidFill>
                  <a:srgbClr val="404040"/>
                </a:solidFill>
              </a:rPr>
              <a:t>特权级别越高，可以运行的指令集合也越大</a:t>
            </a:r>
          </a:p>
          <a:p>
            <a:pPr fontAlgn="auto">
              <a:lnSpc>
                <a:spcPts val="2400"/>
              </a:lnSpc>
              <a:buFont typeface="Arial" panose="020B0604020202020204" pitchFamily="34" charset="0"/>
              <a:buChar char="•"/>
            </a:pPr>
            <a:r>
              <a:rPr lang="zh-CN" altLang="en-US" b="0" dirty="0">
                <a:solidFill>
                  <a:srgbClr val="404040"/>
                </a:solidFill>
              </a:rPr>
              <a:t>高特权级别对应的可运行指令集合包含低特权级</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3077" y="1439898"/>
            <a:ext cx="9056687" cy="381629"/>
          </a:xfrm>
        </p:spPr>
        <p:txBody>
          <a:bodyPr>
            <a:noAutofit/>
          </a:bodyPr>
          <a:lstStyle/>
          <a:p>
            <a:pPr marL="0" indent="0">
              <a:buNone/>
            </a:pPr>
            <a:r>
              <a:rPr sz="2400" dirty="0">
                <a:sym typeface="+mn-ea"/>
              </a:rPr>
              <a:t>CPU状态的转换</a:t>
            </a:r>
          </a:p>
        </p:txBody>
      </p:sp>
      <p:sp>
        <p:nvSpPr>
          <p:cNvPr id="2" name="文本占位符 8"/>
          <p:cNvSpPr>
            <a:spLocks noGrp="1"/>
          </p:cNvSpPr>
          <p:nvPr/>
        </p:nvSpPr>
        <p:spPr>
          <a:xfrm>
            <a:off x="1507099" y="1837337"/>
            <a:ext cx="10922000" cy="35807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用户态到内核态的转换</a:t>
            </a:r>
          </a:p>
          <a:p>
            <a:pPr marL="0" indent="0" fontAlgn="auto">
              <a:lnSpc>
                <a:spcPct val="150000"/>
              </a:lnSpc>
              <a:buNone/>
            </a:pPr>
            <a:r>
              <a:rPr lang="en-US" altLang="zh-CN" b="0" dirty="0"/>
              <a:t>         </a:t>
            </a:r>
            <a:r>
              <a:rPr lang="zh-CN" altLang="en-US" b="0" dirty="0"/>
              <a:t>其转换的唯一途径是通过中断</a:t>
            </a:r>
            <a:br>
              <a:rPr lang="zh-CN" altLang="en-US" b="0" dirty="0"/>
            </a:br>
            <a:endParaRPr lang="en-US" altLang="zh-CN" b="0" dirty="0"/>
          </a:p>
          <a:p>
            <a:pPr fontAlgn="auto">
              <a:lnSpc>
                <a:spcPct val="150000"/>
              </a:lnSpc>
            </a:pPr>
            <a:r>
              <a:rPr b="0" dirty="0"/>
              <a:t>内核态到用户态的转换</a:t>
            </a:r>
          </a:p>
          <a:p>
            <a:pPr marL="0" indent="0" fontAlgn="auto">
              <a:lnSpc>
                <a:spcPct val="150000"/>
              </a:lnSpc>
              <a:buNone/>
            </a:pPr>
            <a:r>
              <a:rPr lang="en-US" altLang="zh-CN" b="0" dirty="0"/>
              <a:t>         </a:t>
            </a:r>
            <a:r>
              <a:rPr b="0" dirty="0"/>
              <a:t>可通过设置PSW指令（修改程序状态字）实现</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2913" y="1398024"/>
            <a:ext cx="9056687" cy="381629"/>
          </a:xfrm>
        </p:spPr>
        <p:txBody>
          <a:bodyPr>
            <a:noAutofit/>
          </a:bodyPr>
          <a:lstStyle/>
          <a:p>
            <a:pPr marL="0" indent="0">
              <a:buNone/>
            </a:pPr>
            <a:r>
              <a:rPr sz="2400" dirty="0">
                <a:sym typeface="+mn-ea"/>
              </a:rPr>
              <a:t>限制用户程序执行特权指令</a:t>
            </a:r>
          </a:p>
        </p:txBody>
      </p:sp>
      <p:sp>
        <p:nvSpPr>
          <p:cNvPr id="2" name="文本占位符 8"/>
          <p:cNvSpPr>
            <a:spLocks noGrp="1"/>
          </p:cNvSpPr>
          <p:nvPr/>
        </p:nvSpPr>
        <p:spPr>
          <a:xfrm>
            <a:off x="891638" y="1398024"/>
            <a:ext cx="10922000" cy="420941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用户程序中不能使用特权指令</a:t>
            </a:r>
          </a:p>
          <a:p>
            <a:pPr fontAlgn="auto">
              <a:lnSpc>
                <a:spcPct val="150000"/>
              </a:lnSpc>
            </a:pPr>
            <a:r>
              <a:rPr lang="zh-CN" altLang="en-US" b="0" dirty="0"/>
              <a:t>当用户程序占用CPU时，应让CPU在用户态下工作</a:t>
            </a:r>
          </a:p>
          <a:p>
            <a:pPr fontAlgn="auto">
              <a:lnSpc>
                <a:spcPct val="150000"/>
              </a:lnSpc>
            </a:pPr>
            <a:r>
              <a:rPr lang="zh-CN" altLang="en-US" b="0" dirty="0"/>
              <a:t>若此刻有特权指令，则CPU将拒绝执行该指令，并形成一个“非法操作”事件</a:t>
            </a:r>
          </a:p>
          <a:p>
            <a:pPr fontAlgn="auto">
              <a:lnSpc>
                <a:spcPct val="150000"/>
              </a:lnSpc>
            </a:pPr>
            <a:r>
              <a:rPr lang="zh-CN" altLang="en-US" b="0" dirty="0"/>
              <a:t>中断机制识别到事件后，转交操作系统处理，由操作系统通知用户“程序中有非法指令”</a:t>
            </a:r>
            <a:br>
              <a:rPr lang="zh-CN" altLang="en-US" sz="2400" b="0" dirty="0"/>
            </a:br>
            <a:endParaRPr sz="2400" b="0"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443077" y="1341663"/>
            <a:ext cx="9056687" cy="381629"/>
          </a:xfrm>
        </p:spPr>
        <p:txBody>
          <a:bodyPr>
            <a:noAutofit/>
          </a:bodyPr>
          <a:lstStyle/>
          <a:p>
            <a:pPr marL="0" indent="0">
              <a:buNone/>
            </a:pPr>
            <a:r>
              <a:rPr sz="2400" dirty="0">
                <a:sym typeface="+mn-ea"/>
              </a:rPr>
              <a:t>程序状态字PSW</a:t>
            </a:r>
          </a:p>
        </p:txBody>
      </p:sp>
      <p:sp>
        <p:nvSpPr>
          <p:cNvPr id="2" name="文本占位符 8"/>
          <p:cNvSpPr>
            <a:spLocks noGrp="1"/>
          </p:cNvSpPr>
          <p:nvPr/>
        </p:nvSpPr>
        <p:spPr>
          <a:xfrm>
            <a:off x="971132" y="1087063"/>
            <a:ext cx="10922000" cy="420941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300000"/>
              </a:lnSpc>
              <a:buNone/>
            </a:pPr>
            <a:r>
              <a:rPr lang="zh-CN" altLang="en-US" b="0" dirty="0">
                <a:solidFill>
                  <a:srgbClr val="404040"/>
                </a:solidFill>
              </a:rPr>
              <a:t>程序状态字的作用是指示处理器状态，用程序计数器来指示下一条要执行的指令，包括：</a:t>
            </a:r>
          </a:p>
          <a:p>
            <a:pPr lvl="1">
              <a:lnSpc>
                <a:spcPct val="150000"/>
              </a:lnSpc>
            </a:pPr>
            <a:r>
              <a:rPr lang="zh-CN" altLang="en-US" sz="2000" b="0" dirty="0">
                <a:solidFill>
                  <a:srgbClr val="404040"/>
                </a:solidFill>
              </a:rPr>
              <a:t> CPU的工作状态代码——指明当前CPU的工作状态是内核态还是用户态</a:t>
            </a:r>
          </a:p>
          <a:p>
            <a:pPr lvl="1">
              <a:lnSpc>
                <a:spcPct val="150000"/>
              </a:lnSpc>
            </a:pPr>
            <a:r>
              <a:rPr lang="zh-CN" altLang="en-US" sz="2000" b="0" dirty="0">
                <a:solidFill>
                  <a:srgbClr val="404040"/>
                </a:solidFill>
              </a:rPr>
              <a:t> 条件码——反映指令执行后的结果特征</a:t>
            </a:r>
          </a:p>
          <a:p>
            <a:pPr lvl="1">
              <a:lnSpc>
                <a:spcPct val="150000"/>
              </a:lnSpc>
            </a:pPr>
            <a:r>
              <a:rPr lang="zh-CN" altLang="en-US" sz="2000" b="0" dirty="0">
                <a:solidFill>
                  <a:srgbClr val="404040"/>
                </a:solidFill>
              </a:rPr>
              <a:t> 中断屏蔽码——指出是否允许中断</a:t>
            </a:r>
            <a:br>
              <a:rPr lang="zh-CN" altLang="en-US" sz="2800" b="0" dirty="0"/>
            </a:br>
            <a:endParaRPr sz="2800" b="0"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kumimoji="0" lang="en-US" altLang="zh-CN" sz="24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中央处理器（CPU</a:t>
            </a:r>
            <a:r>
              <a:rPr kumimoji="0" lang="en-US" altLang="zh-CN"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a:t>
            </a:r>
            <a:endParaRPr lang="zh-CN" altLang="en-US" dirty="0">
              <a:sym typeface="Arial" panose="020B0604020202020204" pitchFamily="34" charset="0"/>
            </a:endParaRPr>
          </a:p>
        </p:txBody>
      </p:sp>
      <p:sp>
        <p:nvSpPr>
          <p:cNvPr id="9" name="文本占位符 8"/>
          <p:cNvSpPr>
            <a:spLocks noGrp="1"/>
          </p:cNvSpPr>
          <p:nvPr>
            <p:ph type="body" sz="quarter" idx="10"/>
          </p:nvPr>
        </p:nvSpPr>
        <p:spPr>
          <a:xfrm>
            <a:off x="628650" y="1205821"/>
            <a:ext cx="9056687" cy="381629"/>
          </a:xfrm>
        </p:spPr>
        <p:txBody>
          <a:bodyPr>
            <a:noAutofit/>
          </a:bodyPr>
          <a:lstStyle/>
          <a:p>
            <a:pPr marL="0" indent="0">
              <a:buNone/>
            </a:pPr>
            <a:r>
              <a:rPr sz="2400" dirty="0">
                <a:sym typeface="+mn-ea"/>
              </a:rPr>
              <a:t>实例</a:t>
            </a:r>
          </a:p>
        </p:txBody>
      </p:sp>
      <p:sp>
        <p:nvSpPr>
          <p:cNvPr id="2" name="文本占位符 8"/>
          <p:cNvSpPr>
            <a:spLocks noGrp="1"/>
          </p:cNvSpPr>
          <p:nvPr/>
        </p:nvSpPr>
        <p:spPr>
          <a:xfrm>
            <a:off x="1270000" y="1332304"/>
            <a:ext cx="10922000" cy="135001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00000"/>
              </a:lnSpc>
            </a:pPr>
            <a:r>
              <a:rPr lang="zh-CN" altLang="en-US" b="0" dirty="0"/>
              <a:t>以微处理器系列的对应程序状态字寄存器中包含若干标志位为例</a:t>
            </a:r>
          </a:p>
        </p:txBody>
      </p:sp>
      <p:pic>
        <p:nvPicPr>
          <p:cNvPr id="1426276402" name="图片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1932495" y="2719257"/>
            <a:ext cx="7429145" cy="1056701"/>
          </a:xfrm>
          <a:prstGeom prst="rect">
            <a:avLst/>
          </a:prstGeom>
          <a:noFill/>
        </p:spPr>
      </p:pic>
      <p:sp>
        <p:nvSpPr>
          <p:cNvPr id="6" name="文本框 5"/>
          <p:cNvSpPr txBox="1"/>
          <p:nvPr/>
        </p:nvSpPr>
        <p:spPr>
          <a:xfrm>
            <a:off x="1514532" y="3812901"/>
            <a:ext cx="11068050" cy="2264402"/>
          </a:xfrm>
          <a:prstGeom prst="rect">
            <a:avLst/>
          </a:prstGeom>
          <a:noFill/>
        </p:spPr>
        <p:txBody>
          <a:bodyPr wrap="square" rtlCol="0">
            <a:spAutoFit/>
          </a:bodyPr>
          <a:lstStyle/>
          <a:p>
            <a:pPr algn="l">
              <a:lnSpc>
                <a:spcPct val="150000"/>
              </a:lnSpc>
            </a:pPr>
            <a:r>
              <a:rPr lang="zh-CN" altLang="en-US" sz="1600" dirty="0">
                <a:latin typeface="Arial" panose="020B0604020202020204" pitchFamily="34" charset="0"/>
                <a:ea typeface="微软雅黑" panose="020B0503020204020204" pitchFamily="34" charset="-122"/>
                <a:cs typeface="+mn-ea"/>
                <a:sym typeface="Arial" panose="020B0604020202020204" pitchFamily="34" charset="0"/>
              </a:rPr>
              <a:t>CF：进位标志位</a:t>
            </a: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1600" dirty="0">
                <a:latin typeface="Arial" panose="020B0604020202020204" pitchFamily="34" charset="0"/>
                <a:ea typeface="微软雅黑" panose="020B0503020204020204" pitchFamily="34" charset="-122"/>
                <a:cs typeface="+mn-ea"/>
                <a:sym typeface="Arial" panose="020B0604020202020204" pitchFamily="34" charset="0"/>
              </a:rPr>
              <a:t>ZF：结果为零标志位</a:t>
            </a: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1600" dirty="0">
                <a:latin typeface="Arial" panose="020B0604020202020204" pitchFamily="34" charset="0"/>
                <a:ea typeface="微软雅黑" panose="020B0503020204020204" pitchFamily="34" charset="-122"/>
                <a:cs typeface="+mn-ea"/>
                <a:sym typeface="Arial" panose="020B0604020202020204" pitchFamily="34" charset="0"/>
              </a:rPr>
              <a:t>SF：符号标志位</a:t>
            </a: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1600" dirty="0">
                <a:latin typeface="Arial" panose="020B0604020202020204" pitchFamily="34" charset="0"/>
                <a:ea typeface="微软雅黑" panose="020B0503020204020204" pitchFamily="34" charset="-122"/>
                <a:cs typeface="+mn-ea"/>
                <a:sym typeface="Arial" panose="020B0604020202020204" pitchFamily="34" charset="0"/>
              </a:rPr>
              <a:t>OF：溢出标志位</a:t>
            </a:r>
          </a:p>
          <a:p>
            <a:pPr algn="l">
              <a:lnSpc>
                <a:spcPct val="150000"/>
              </a:lnSpc>
            </a:pP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            ——  </a:t>
            </a:r>
            <a:r>
              <a:rPr lang="zh-CN" altLang="en-US" sz="1600" dirty="0">
                <a:latin typeface="Arial" panose="020B0604020202020204" pitchFamily="34" charset="0"/>
                <a:ea typeface="微软雅黑" panose="020B0503020204020204" pitchFamily="34" charset="-122"/>
                <a:cs typeface="+mn-ea"/>
                <a:sym typeface="Arial" panose="020B0604020202020204" pitchFamily="34" charset="0"/>
              </a:rPr>
              <a:t>几乎所有计算机的PSW中都有与这四个标志位类似的标志位，可称为标准条件位</a:t>
            </a:r>
          </a:p>
          <a:p>
            <a:pPr algn="l" fontAlgn="auto">
              <a:lnSpc>
                <a:spcPct val="150000"/>
              </a:lnSpc>
            </a:pPr>
            <a:r>
              <a:rPr lang="zh-CN" altLang="en-US" sz="1600" dirty="0">
                <a:latin typeface="Arial" panose="020B0604020202020204" pitchFamily="34" charset="0"/>
                <a:ea typeface="微软雅黑" panose="020B0503020204020204" pitchFamily="34" charset="-122"/>
                <a:cs typeface="+mn-ea"/>
                <a:sym typeface="Arial" panose="020B0604020202020204" pitchFamily="34" charset="0"/>
              </a:rPr>
              <a:t>TF：陷阱标志位</a:t>
            </a: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    IF：中断使能（中断屏蔽）标志位    </a:t>
            </a:r>
          </a:p>
          <a:p>
            <a:pPr algn="l" fontAlgn="auto">
              <a:lnSpc>
                <a:spcPct val="150000"/>
              </a:lnSpc>
            </a:pP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VIF：虚拟中断标志位    VIP：虚拟中断待决标志位</a:t>
            </a:r>
          </a:p>
          <a:p>
            <a:pPr algn="l">
              <a:lnSpc>
                <a:spcPct val="150000"/>
              </a:lnSpc>
            </a:pP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            ——  </a:t>
            </a:r>
            <a:r>
              <a:rPr lang="en-US" altLang="zh-CN" sz="1600" dirty="0" err="1">
                <a:latin typeface="Arial" panose="020B0604020202020204" pitchFamily="34" charset="0"/>
                <a:ea typeface="微软雅黑" panose="020B0503020204020204" pitchFamily="34" charset="-122"/>
                <a:cs typeface="+mn-ea"/>
                <a:sym typeface="Arial" panose="020B0604020202020204" pitchFamily="34" charset="0"/>
              </a:rPr>
              <a:t>VIF和VIP用于支持对一类可屏蔽的硬件中断处理</a:t>
            </a:r>
            <a:endParaRPr lang="en-US" altLang="zh-CN" sz="1600" dirty="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1600" dirty="0">
                <a:latin typeface="Arial" panose="020B0604020202020204" pitchFamily="34" charset="0"/>
                <a:ea typeface="微软雅黑" panose="020B0503020204020204" pitchFamily="34" charset="-122"/>
                <a:cs typeface="+mn-ea"/>
                <a:sym typeface="Arial" panose="020B0604020202020204" pitchFamily="34" charset="0"/>
              </a:rPr>
              <a:t>IOPL：IO特权级别</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9" name="组合 8"/>
          <p:cNvGrpSpPr/>
          <p:nvPr/>
        </p:nvGrpSpPr>
        <p:grpSpPr>
          <a:xfrm>
            <a:off x="10177780" y="329882"/>
            <a:ext cx="1512002" cy="444892"/>
            <a:chOff x="9556201" y="498129"/>
            <a:chExt cx="1993881" cy="586680"/>
          </a:xfrm>
        </p:grpSpPr>
        <p:grpSp>
          <p:nvGrpSpPr>
            <p:cNvPr id="11" name="组合 10"/>
            <p:cNvGrpSpPr/>
            <p:nvPr userDrawn="1"/>
          </p:nvGrpSpPr>
          <p:grpSpPr>
            <a:xfrm>
              <a:off x="10239376" y="968937"/>
              <a:ext cx="1307697" cy="96254"/>
              <a:chOff x="4616246" y="3878362"/>
              <a:chExt cx="5571416" cy="410087"/>
            </a:xfrm>
            <a:solidFill>
              <a:schemeClr val="tx1">
                <a:alpha val="80000"/>
              </a:schemeClr>
            </a:solidFill>
          </p:grpSpPr>
          <p:sp>
            <p:nvSpPr>
              <p:cNvPr id="49"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p:cNvGrpSpPr/>
            <p:nvPr userDrawn="1"/>
          </p:nvGrpSpPr>
          <p:grpSpPr>
            <a:xfrm>
              <a:off x="10237120" y="539555"/>
              <a:ext cx="1312962" cy="375239"/>
              <a:chOff x="4606634" y="2048989"/>
              <a:chExt cx="5593843" cy="1598699"/>
            </a:xfrm>
            <a:solidFill>
              <a:schemeClr val="accent1">
                <a:alpha val="80000"/>
              </a:schemeClr>
            </a:solidFill>
          </p:grpSpPr>
          <p:sp>
            <p:nvSpPr>
              <p:cNvPr id="37"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9556201" y="498129"/>
              <a:ext cx="588050" cy="586680"/>
              <a:chOff x="2105799" y="20055838"/>
              <a:chExt cx="6748090" cy="6732363"/>
            </a:xfrm>
            <a:solidFill>
              <a:schemeClr val="accent1">
                <a:alpha val="80000"/>
              </a:schemeClr>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5"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-3</a:t>
            </a:r>
            <a:r>
              <a:rPr lang="zh-CN" altLang="en-US" dirty="0">
                <a:latin typeface="Arial" panose="020B0604020202020204" pitchFamily="34" charset="0"/>
                <a:ea typeface="微软雅黑" panose="020B0503020204020204" pitchFamily="34" charset="-122"/>
                <a:sym typeface="Arial" panose="020B0604020202020204" pitchFamily="34" charset="0"/>
              </a:rPr>
              <a:t>：西门华表</a:t>
            </a:r>
          </a:p>
        </p:txBody>
      </p:sp>
      <p:grpSp>
        <p:nvGrpSpPr>
          <p:cNvPr id="66" name="组合 65"/>
          <p:cNvGrpSpPr/>
          <p:nvPr/>
        </p:nvGrpSpPr>
        <p:grpSpPr>
          <a:xfrm>
            <a:off x="528706" y="867990"/>
            <a:ext cx="2433027" cy="0"/>
            <a:chOff x="7460343" y="1311756"/>
            <a:chExt cx="2433027" cy="0"/>
          </a:xfrm>
        </p:grpSpPr>
        <p:cxnSp>
          <p:nvCxnSpPr>
            <p:cNvPr id="67" name="直接连接符 66"/>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6774186" y="2658742"/>
            <a:ext cx="3526265" cy="1107921"/>
            <a:chOff x="6566813" y="2528855"/>
            <a:chExt cx="3526265" cy="1107921"/>
          </a:xfrm>
        </p:grpSpPr>
        <p:sp>
          <p:nvSpPr>
            <p:cNvPr id="5" name="文本框 4"/>
            <p:cNvSpPr txBox="1"/>
            <p:nvPr/>
          </p:nvSpPr>
          <p:spPr>
            <a:xfrm>
              <a:off x="6566813" y="2528855"/>
              <a:ext cx="352626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存储系统</a:t>
              </a:r>
            </a:p>
          </p:txBody>
        </p:sp>
        <p:sp>
          <p:nvSpPr>
            <p:cNvPr id="6" name="文本框 5"/>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796575" y="2751038"/>
            <a:ext cx="3458058" cy="922020"/>
            <a:chOff x="872775" y="2487402"/>
            <a:chExt cx="3458058" cy="922020"/>
          </a:xfrm>
        </p:grpSpPr>
        <p:sp>
          <p:nvSpPr>
            <p:cNvPr id="8" name="文本框 7"/>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2" name="文本占位符 8"/>
          <p:cNvSpPr>
            <a:spLocks noGrp="1"/>
          </p:cNvSpPr>
          <p:nvPr/>
        </p:nvSpPr>
        <p:spPr>
          <a:xfrm>
            <a:off x="1574446" y="1225550"/>
            <a:ext cx="10982325" cy="440690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中央处理器能直接访问的唯一的存储空间是主存储器</a:t>
            </a:r>
          </a:p>
          <a:p>
            <a:pPr fontAlgn="auto">
              <a:lnSpc>
                <a:spcPct val="150000"/>
              </a:lnSpc>
            </a:pPr>
            <a:r>
              <a:rPr lang="zh-CN" altLang="en-US" b="0" dirty="0"/>
              <a:t>作业必须把它的程序和数据存放在主存储器中才能运行</a:t>
            </a:r>
          </a:p>
          <a:p>
            <a:pPr fontAlgn="auto">
              <a:lnSpc>
                <a:spcPct val="150000"/>
              </a:lnSpc>
            </a:pPr>
            <a:r>
              <a:rPr lang="zh-CN" altLang="en-US" b="0" dirty="0"/>
              <a:t>多道程序系统，就会有若干个程序和相关的数据要放到主存储器中</a:t>
            </a:r>
          </a:p>
          <a:p>
            <a:pPr fontAlgn="auto">
              <a:lnSpc>
                <a:spcPct val="150000"/>
              </a:lnSpc>
            </a:pPr>
            <a:r>
              <a:rPr lang="zh-CN" altLang="en-US" b="0" dirty="0"/>
              <a:t>操作系统要管理、保护这些程序和数据，使它们不至于受到破坏，互相影响</a:t>
            </a:r>
            <a:endParaRPr lang="en-US" altLang="zh-CN" b="0" dirty="0"/>
          </a:p>
          <a:p>
            <a:pPr fontAlgn="auto">
              <a:lnSpc>
                <a:spcPct val="150000"/>
              </a:lnSpc>
            </a:pPr>
            <a:r>
              <a:rPr lang="zh-CN" altLang="en-US" b="0" dirty="0"/>
              <a:t>操作系统本身也要存放在主存储器中并运行</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537345" y="1615062"/>
            <a:ext cx="9056687" cy="381629"/>
          </a:xfrm>
        </p:spPr>
        <p:txBody>
          <a:bodyPr>
            <a:noAutofit/>
          </a:bodyPr>
          <a:lstStyle/>
          <a:p>
            <a:pPr marL="0" indent="0">
              <a:buNone/>
            </a:pPr>
            <a:r>
              <a:rPr lang="zh-CN" altLang="en-US" sz="2400" dirty="0"/>
              <a:t>存储器的类型</a:t>
            </a:r>
          </a:p>
        </p:txBody>
      </p:sp>
      <p:sp>
        <p:nvSpPr>
          <p:cNvPr id="2" name="文本占位符 8"/>
          <p:cNvSpPr>
            <a:spLocks noGrp="1"/>
          </p:cNvSpPr>
          <p:nvPr/>
        </p:nvSpPr>
        <p:spPr>
          <a:xfrm>
            <a:off x="1546166" y="1504219"/>
            <a:ext cx="10982325" cy="440690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200000"/>
              </a:lnSpc>
              <a:buNone/>
            </a:pPr>
            <a:r>
              <a:rPr lang="zh-CN" altLang="en-US" b="0" dirty="0"/>
              <a:t>两类存储器：读写型的存储器，只读型的存储器</a:t>
            </a:r>
          </a:p>
          <a:p>
            <a:pPr marL="0" indent="0" fontAlgn="auto">
              <a:lnSpc>
                <a:spcPct val="200000"/>
              </a:lnSpc>
              <a:buNone/>
            </a:pPr>
            <a:r>
              <a:rPr lang="zh-CN" altLang="en-US" b="0" dirty="0"/>
              <a:t>读写型的存储器</a:t>
            </a:r>
          </a:p>
          <a:p>
            <a:pPr fontAlgn="auto">
              <a:lnSpc>
                <a:spcPct val="200000"/>
              </a:lnSpc>
            </a:pPr>
            <a:r>
              <a:rPr lang="zh-CN" altLang="en-US" b="0" dirty="0"/>
              <a:t>     把数据存入任一地址单元，在以后把数据读出来，或者重新存入</a:t>
            </a:r>
            <a:endParaRPr lang="en-US" altLang="zh-CN" b="0" dirty="0"/>
          </a:p>
          <a:p>
            <a:pPr fontAlgn="auto">
              <a:lnSpc>
                <a:spcPct val="200000"/>
              </a:lnSpc>
            </a:pPr>
            <a:r>
              <a:rPr lang="zh-CN" altLang="en-US" b="0" dirty="0"/>
              <a:t>     RAM主要用作存放随机存取的程序的数据</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574889" y="1217029"/>
            <a:ext cx="9056687" cy="381629"/>
          </a:xfrm>
        </p:spPr>
        <p:txBody>
          <a:bodyPr>
            <a:noAutofit/>
          </a:bodyPr>
          <a:lstStyle/>
          <a:p>
            <a:pPr marL="0" indent="0">
              <a:buNone/>
            </a:pPr>
            <a:r>
              <a:rPr lang="zh-CN" altLang="en-US" sz="2400" dirty="0"/>
              <a:t>存储器的类型</a:t>
            </a:r>
          </a:p>
        </p:txBody>
      </p:sp>
      <p:sp>
        <p:nvSpPr>
          <p:cNvPr id="2" name="文本占位符 8"/>
          <p:cNvSpPr>
            <a:spLocks noGrp="1"/>
          </p:cNvSpPr>
          <p:nvPr/>
        </p:nvSpPr>
        <p:spPr>
          <a:xfrm>
            <a:off x="961705" y="1217029"/>
            <a:ext cx="10982325" cy="49428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zh-CN" altLang="en-US" b="0" dirty="0"/>
              <a:t>只读型的存储器</a:t>
            </a:r>
          </a:p>
          <a:p>
            <a:pPr fontAlgn="auto">
              <a:lnSpc>
                <a:spcPct val="100000"/>
              </a:lnSpc>
            </a:pPr>
            <a:r>
              <a:rPr lang="zh-CN" altLang="en-US" b="0" dirty="0"/>
              <a:t>只能从其中读取数据，但不能随意地用普通的方法向其中写入数据</a:t>
            </a:r>
          </a:p>
          <a:p>
            <a:pPr fontAlgn="auto">
              <a:lnSpc>
                <a:spcPct val="100000"/>
              </a:lnSpc>
            </a:pPr>
            <a:r>
              <a:rPr lang="zh-CN" altLang="en-US" b="0" dirty="0"/>
              <a:t>称为只读存储器（ROM：Read OnlyMemory）</a:t>
            </a:r>
          </a:p>
          <a:p>
            <a:pPr marL="0" indent="0" fontAlgn="auto">
              <a:lnSpc>
                <a:spcPct val="150000"/>
              </a:lnSpc>
              <a:buNone/>
            </a:pPr>
            <a:r>
              <a:rPr lang="zh-CN" altLang="en-US" b="0" dirty="0"/>
              <a:t>变型：PROM和EPROM</a:t>
            </a:r>
          </a:p>
          <a:p>
            <a:pPr fontAlgn="auto">
              <a:lnSpc>
                <a:spcPct val="100000"/>
              </a:lnSpc>
            </a:pPr>
            <a:r>
              <a:rPr lang="zh-CN" altLang="en-US" b="0" dirty="0"/>
              <a:t>PROM一种可编程的只读存储器，可由用户使用特殊PROM写入器向其中写入数据</a:t>
            </a:r>
          </a:p>
          <a:p>
            <a:pPr fontAlgn="auto">
              <a:lnSpc>
                <a:spcPct val="100000"/>
              </a:lnSpc>
            </a:pPr>
            <a:r>
              <a:rPr lang="zh-CN" altLang="en-US" b="0" dirty="0"/>
              <a:t>EPROM是可用特殊的紫外线光照射擦去信息位，然后使用特殊EPROM写入器写入数据</a:t>
            </a:r>
          </a:p>
          <a:p>
            <a:pPr marL="0" indent="0" fontAlgn="auto">
              <a:lnSpc>
                <a:spcPct val="100000"/>
              </a:lnSpc>
              <a:buNone/>
            </a:pPr>
            <a:endParaRPr lang="en-US" altLang="zh-CN" b="0" dirty="0"/>
          </a:p>
          <a:p>
            <a:pPr marL="0" indent="0" fontAlgn="auto">
              <a:lnSpc>
                <a:spcPct val="100000"/>
              </a:lnSpc>
              <a:buNone/>
            </a:pPr>
            <a:r>
              <a:rPr lang="zh-CN" altLang="en-US" b="0" dirty="0"/>
              <a:t>在微型计算机中，一些常驻内存的模块以微程序形式固化在ROM中，如BIOS和CBASIC解释程序</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537345" y="1759835"/>
            <a:ext cx="9056687" cy="381629"/>
          </a:xfrm>
        </p:spPr>
        <p:txBody>
          <a:bodyPr>
            <a:noAutofit/>
          </a:bodyPr>
          <a:lstStyle/>
          <a:p>
            <a:pPr marL="0" indent="0">
              <a:buNone/>
            </a:pPr>
            <a:r>
              <a:rPr lang="zh-CN" altLang="en-US" sz="2400" dirty="0"/>
              <a:t>存储分块</a:t>
            </a:r>
          </a:p>
        </p:txBody>
      </p:sp>
      <p:sp>
        <p:nvSpPr>
          <p:cNvPr id="2" name="文本占位符 8"/>
          <p:cNvSpPr>
            <a:spLocks noGrp="1"/>
          </p:cNvSpPr>
          <p:nvPr/>
        </p:nvSpPr>
        <p:spPr>
          <a:xfrm>
            <a:off x="980558" y="1432175"/>
            <a:ext cx="10982325" cy="440690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存储的最小单位称为“二进位”，它包含的信息为0或1</a:t>
            </a:r>
          </a:p>
          <a:p>
            <a:pPr fontAlgn="auto">
              <a:lnSpc>
                <a:spcPct val="150000"/>
              </a:lnSpc>
            </a:pPr>
            <a:r>
              <a:rPr lang="zh-CN" altLang="en-US" b="0" dirty="0"/>
              <a:t>最小编址单位是字节，一个字节一般包含八个二进位</a:t>
            </a:r>
          </a:p>
          <a:p>
            <a:pPr fontAlgn="auto">
              <a:lnSpc>
                <a:spcPct val="150000"/>
              </a:lnSpc>
            </a:pPr>
            <a:r>
              <a:rPr lang="zh-CN" altLang="en-US" b="0" dirty="0"/>
              <a:t>1024个字节称为1KB，1024个1KB称为1MB，1024个1MB称为1GB，等等</a:t>
            </a:r>
          </a:p>
          <a:p>
            <a:pPr fontAlgn="auto">
              <a:lnSpc>
                <a:spcPct val="150000"/>
              </a:lnSpc>
            </a:pPr>
            <a:r>
              <a:rPr lang="zh-CN" altLang="en-US" b="0" dirty="0"/>
              <a:t>为简化对存储器的分配和管理，不少计算机系统中把存储器分成块，被称为一个物理页块</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443077" y="1323273"/>
            <a:ext cx="9056687" cy="381629"/>
          </a:xfrm>
        </p:spPr>
        <p:txBody>
          <a:bodyPr>
            <a:noAutofit/>
          </a:bodyPr>
          <a:lstStyle/>
          <a:p>
            <a:pPr marL="0" indent="0">
              <a:buNone/>
            </a:pPr>
            <a:r>
              <a:rPr lang="zh-CN" altLang="en-US" sz="2400" dirty="0"/>
              <a:t>存储器的层次结构</a:t>
            </a:r>
          </a:p>
        </p:txBody>
      </p:sp>
      <p:sp>
        <p:nvSpPr>
          <p:cNvPr id="2" name="文本占位符 8"/>
          <p:cNvSpPr>
            <a:spLocks noGrp="1"/>
          </p:cNvSpPr>
          <p:nvPr/>
        </p:nvSpPr>
        <p:spPr>
          <a:xfrm>
            <a:off x="1565019" y="1799086"/>
            <a:ext cx="10982325" cy="440690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lang="zh-CN" altLang="en-US" b="0" dirty="0"/>
              <a:t>存储系统的设计主要考虑三个问题：容量、速度和成本</a:t>
            </a:r>
          </a:p>
          <a:p>
            <a:pPr fontAlgn="auto">
              <a:lnSpc>
                <a:spcPct val="100000"/>
              </a:lnSpc>
            </a:pPr>
            <a:r>
              <a:rPr lang="zh-CN" altLang="en-US" b="0" dirty="0"/>
              <a:t>      容量：需求一般来说是无止境的</a:t>
            </a:r>
          </a:p>
          <a:p>
            <a:pPr fontAlgn="auto">
              <a:lnSpc>
                <a:spcPct val="100000"/>
              </a:lnSpc>
            </a:pPr>
            <a:r>
              <a:rPr lang="zh-CN" altLang="en-US" b="0" dirty="0"/>
              <a:t>      速度：能匹配处理器的速度</a:t>
            </a:r>
          </a:p>
          <a:p>
            <a:pPr fontAlgn="auto">
              <a:lnSpc>
                <a:spcPct val="100000"/>
              </a:lnSpc>
            </a:pPr>
            <a:r>
              <a:rPr lang="zh-CN" altLang="en-US" b="0" dirty="0"/>
              <a:t>      成本：其他部件相比应该在一个合适的范围之内</a:t>
            </a:r>
          </a:p>
          <a:p>
            <a:pPr marL="0" indent="0" fontAlgn="auto">
              <a:lnSpc>
                <a:spcPct val="100000"/>
              </a:lnSpc>
              <a:buNone/>
            </a:pPr>
            <a:endParaRPr lang="zh-CN" altLang="en-US" b="0" dirty="0"/>
          </a:p>
          <a:p>
            <a:pPr marL="0" indent="0" fontAlgn="auto">
              <a:lnSpc>
                <a:spcPct val="100000"/>
              </a:lnSpc>
              <a:buNone/>
            </a:pPr>
            <a:r>
              <a:rPr lang="zh-CN" altLang="en-US" b="0" dirty="0"/>
              <a:t>三个目标不可能同时达到最优，需要作权衡</a:t>
            </a:r>
          </a:p>
          <a:p>
            <a:pPr marL="0" indent="0" fontAlgn="auto">
              <a:lnSpc>
                <a:spcPct val="100000"/>
              </a:lnSpc>
            </a:pPr>
            <a:r>
              <a:rPr lang="en-US" altLang="zh-CN" b="0" dirty="0"/>
              <a:t>        </a:t>
            </a:r>
            <a:r>
              <a:rPr lang="zh-CN" altLang="en-US" b="0" dirty="0"/>
              <a:t>存取速度越快，平均每比特价格越高，容量越小</a:t>
            </a:r>
          </a:p>
          <a:p>
            <a:pPr marL="0" indent="0" fontAlgn="auto">
              <a:lnSpc>
                <a:spcPct val="100000"/>
              </a:lnSpc>
            </a:pPr>
            <a:r>
              <a:rPr lang="en-US" altLang="zh-CN" b="0" dirty="0"/>
              <a:t>        </a:t>
            </a:r>
            <a:r>
              <a:rPr lang="zh-CN" altLang="en-US" b="0" dirty="0"/>
              <a:t>存取速度越慢，平均每比特价格越低，同时容量也增大</a:t>
            </a:r>
          </a:p>
          <a:p>
            <a:pPr marL="0" indent="0" fontAlgn="auto">
              <a:lnSpc>
                <a:spcPct val="100000"/>
              </a:lnSpc>
              <a:buNone/>
            </a:pPr>
            <a:endParaRPr lang="zh-CN" altLang="en-US" sz="2400" b="0"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443077" y="1200425"/>
            <a:ext cx="9056687" cy="381629"/>
          </a:xfrm>
        </p:spPr>
        <p:txBody>
          <a:bodyPr>
            <a:noAutofit/>
          </a:bodyPr>
          <a:lstStyle/>
          <a:p>
            <a:pPr marL="0" indent="0">
              <a:buNone/>
            </a:pPr>
            <a:r>
              <a:rPr lang="zh-CN" altLang="en-US" sz="2400" dirty="0"/>
              <a:t>存储器的层次结构</a:t>
            </a:r>
          </a:p>
        </p:txBody>
      </p:sp>
      <p:sp>
        <p:nvSpPr>
          <p:cNvPr id="2" name="文本占位符 8"/>
          <p:cNvSpPr>
            <a:spLocks noGrp="1"/>
          </p:cNvSpPr>
          <p:nvPr/>
        </p:nvSpPr>
        <p:spPr>
          <a:xfrm>
            <a:off x="766666" y="1641150"/>
            <a:ext cx="10982325" cy="139192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lang="zh-CN" altLang="en-US" b="0" dirty="0"/>
              <a:t>采用层次化的存储体系结构解决权衡问题：容量、速度和成本</a:t>
            </a:r>
          </a:p>
          <a:p>
            <a:pPr fontAlgn="auto">
              <a:lnSpc>
                <a:spcPct val="100000"/>
              </a:lnSpc>
            </a:pPr>
            <a:r>
              <a:rPr lang="zh-CN" altLang="en-US" b="0" dirty="0"/>
              <a:t>沿层次下降时，每比特的价格将下降，容量将增大，速度将变慢而处理器的访问频率也将下降</a:t>
            </a:r>
          </a:p>
        </p:txBody>
      </p:sp>
      <p:pic>
        <p:nvPicPr>
          <p:cNvPr id="154" name="图片 2" descr="2-2"/>
          <p:cNvPicPr>
            <a:picLocks noChangeAspect="1" noChangeArrowheads="1"/>
          </p:cNvPicPr>
          <p:nvPr/>
        </p:nvPicPr>
        <p:blipFill>
          <a:blip r:embed="rId3">
            <a:extLst>
              <a:ext uri="{28A0092B-C50C-407E-A947-70E740481C1C}">
                <a14:useLocalDpi xmlns:a14="http://schemas.microsoft.com/office/drawing/2010/main" val="0"/>
              </a:ext>
            </a:extLst>
          </a:blip>
          <a:srcRect l="16064" r="5487" b="25687"/>
          <a:stretch>
            <a:fillRect/>
          </a:stretch>
        </p:blipFill>
        <p:spPr>
          <a:xfrm>
            <a:off x="3421929" y="2725664"/>
            <a:ext cx="4527471" cy="3207313"/>
          </a:xfrm>
          <a:prstGeom prst="rect">
            <a:avLst/>
          </a:prstGeom>
          <a:noFill/>
          <a:ln>
            <a:noFill/>
          </a:ln>
        </p:spPr>
      </p:pic>
      <p:sp>
        <p:nvSpPr>
          <p:cNvPr id="3" name="文本框 2"/>
          <p:cNvSpPr txBox="1"/>
          <p:nvPr/>
        </p:nvSpPr>
        <p:spPr>
          <a:xfrm>
            <a:off x="1086233" y="5973036"/>
            <a:ext cx="10019533" cy="381258"/>
          </a:xfrm>
          <a:prstGeom prst="rect">
            <a:avLst/>
          </a:prstGeom>
          <a:noFill/>
        </p:spPr>
        <p:txBody>
          <a:bodyPr wrap="square" rtlCol="0">
            <a:spAutoFit/>
          </a:bodyPr>
          <a:lstStyle/>
          <a:p>
            <a:pPr algn="l" fontAlgn="auto">
              <a:lnSpc>
                <a:spcPct val="130000"/>
              </a:lnSpc>
              <a:spcBef>
                <a:spcPts val="1000"/>
              </a:spcBef>
              <a:buClrTx/>
              <a:buSzTx/>
              <a:buFont typeface="Arial" panose="020B0604020202020204" pitchFamily="34" charset="0"/>
            </a:pPr>
            <a:r>
              <a:rPr lang="zh-CN" altLang="en-US" sz="1600" dirty="0">
                <a:solidFill>
                  <a:schemeClr val="tx1">
                    <a:lumMod val="75000"/>
                    <a:lumOff val="25000"/>
                  </a:schemeClr>
                </a:solidFill>
                <a:latin typeface="+mn-ea"/>
                <a:cs typeface="+mn-ea"/>
                <a:sym typeface="Arial" panose="020B0604020202020204" pitchFamily="34" charset="0"/>
              </a:rPr>
              <a:t>较小较贵而快速的存储设备由较大较便宜而慢速的存储设备作后盾，通过对访问频率的控制来提高系统效能</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442913" y="1424638"/>
            <a:ext cx="9056687" cy="381629"/>
          </a:xfrm>
        </p:spPr>
        <p:txBody>
          <a:bodyPr>
            <a:noAutofit/>
          </a:bodyPr>
          <a:lstStyle/>
          <a:p>
            <a:pPr marL="0" indent="0">
              <a:buNone/>
            </a:pPr>
            <a:r>
              <a:rPr lang="zh-CN" altLang="en-US" sz="2400" dirty="0"/>
              <a:t>存储访问局部性原理</a:t>
            </a:r>
          </a:p>
        </p:txBody>
      </p:sp>
      <p:sp>
        <p:nvSpPr>
          <p:cNvPr id="2" name="文本占位符 8"/>
          <p:cNvSpPr>
            <a:spLocks noGrp="1"/>
          </p:cNvSpPr>
          <p:nvPr/>
        </p:nvSpPr>
        <p:spPr>
          <a:xfrm>
            <a:off x="1017948" y="1518538"/>
            <a:ext cx="10982325" cy="440690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zh-CN" altLang="en-US" b="0" dirty="0"/>
              <a:t>提高存储系统效能的关键在于程序存储访问局部性原理</a:t>
            </a:r>
          </a:p>
          <a:p>
            <a:pPr fontAlgn="auto">
              <a:lnSpc>
                <a:spcPct val="150000"/>
              </a:lnSpc>
            </a:pPr>
            <a:r>
              <a:rPr lang="zh-CN" altLang="en-US" b="0" dirty="0"/>
              <a:t>      程序执行时，有很多的循环和子调用，这样的程序段会重复存取相同的指令集合</a:t>
            </a:r>
          </a:p>
          <a:p>
            <a:pPr fontAlgn="auto">
              <a:lnSpc>
                <a:spcPct val="150000"/>
              </a:lnSpc>
            </a:pPr>
            <a:r>
              <a:rPr lang="zh-CN" altLang="en-US" b="0" dirty="0"/>
              <a:t>      数据存取也有类似的局部性，它们在较短的时间内能稳定在一个局部区域</a:t>
            </a:r>
          </a:p>
          <a:p>
            <a:pPr fontAlgn="auto">
              <a:lnSpc>
                <a:spcPct val="150000"/>
              </a:lnSpc>
            </a:pPr>
            <a:r>
              <a:rPr lang="zh-CN" altLang="en-US" b="0" dirty="0"/>
              <a:t>      处理器也主要和存储器的这个局部打交道</a:t>
            </a:r>
          </a:p>
          <a:p>
            <a:pPr fontAlgn="auto">
              <a:lnSpc>
                <a:spcPct val="150000"/>
              </a:lnSpc>
            </a:pPr>
            <a:r>
              <a:rPr lang="zh-CN" altLang="en-US" b="0" dirty="0"/>
              <a:t>      在经过一段时间以后，使用到的代码和数据的集合会改变</a:t>
            </a:r>
          </a:p>
          <a:p>
            <a:pPr fontAlgn="auto">
              <a:lnSpc>
                <a:spcPct val="100000"/>
              </a:lnSpc>
            </a:pPr>
            <a:endParaRPr lang="zh-CN" altLang="en-US" sz="2400" b="0" dirty="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dirty="0">
                <a:sym typeface="+mn-ea"/>
              </a:rPr>
              <a:t>存储系统</a:t>
            </a:r>
          </a:p>
        </p:txBody>
      </p:sp>
      <p:sp>
        <p:nvSpPr>
          <p:cNvPr id="9" name="文本占位符 8"/>
          <p:cNvSpPr>
            <a:spLocks noGrp="1"/>
          </p:cNvSpPr>
          <p:nvPr>
            <p:ph type="body" sz="quarter" idx="10"/>
          </p:nvPr>
        </p:nvSpPr>
        <p:spPr>
          <a:xfrm>
            <a:off x="443077" y="1212678"/>
            <a:ext cx="9056687" cy="381629"/>
          </a:xfrm>
        </p:spPr>
        <p:txBody>
          <a:bodyPr>
            <a:noAutofit/>
          </a:bodyPr>
          <a:lstStyle/>
          <a:p>
            <a:pPr marL="0" indent="0">
              <a:buNone/>
            </a:pPr>
            <a:r>
              <a:rPr lang="zh-CN" altLang="en-US" sz="2400" dirty="0"/>
              <a:t>多级存储的体系结构</a:t>
            </a:r>
          </a:p>
        </p:txBody>
      </p:sp>
      <p:sp>
        <p:nvSpPr>
          <p:cNvPr id="2" name="文本占位符 8"/>
          <p:cNvSpPr>
            <a:spLocks noGrp="1"/>
          </p:cNvSpPr>
          <p:nvPr/>
        </p:nvSpPr>
        <p:spPr>
          <a:xfrm>
            <a:off x="839155" y="1403492"/>
            <a:ext cx="10982325" cy="4749978"/>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zh-CN" altLang="en-US" b="0" dirty="0">
                <a:solidFill>
                  <a:srgbClr val="404040"/>
                </a:solidFill>
              </a:rPr>
              <a:t>原则：存取级别较低的存储器的比率小于存取级别较高的存储器的比率</a:t>
            </a:r>
          </a:p>
          <a:p>
            <a:pPr lvl="1">
              <a:lnSpc>
                <a:spcPct val="100000"/>
              </a:lnSpc>
            </a:pPr>
            <a:r>
              <a:rPr lang="zh-CN" altLang="en-US" sz="2000" b="0" dirty="0">
                <a:solidFill>
                  <a:srgbClr val="404040"/>
                </a:solidFill>
              </a:rPr>
              <a:t>             第I级包含1KB，存取时间为0.1μs</a:t>
            </a:r>
          </a:p>
          <a:p>
            <a:pPr lvl="1">
              <a:lnSpc>
                <a:spcPct val="100000"/>
              </a:lnSpc>
            </a:pPr>
            <a:r>
              <a:rPr lang="zh-CN" altLang="en-US" sz="2000" b="0" dirty="0">
                <a:solidFill>
                  <a:srgbClr val="404040"/>
                </a:solidFill>
              </a:rPr>
              <a:t>             第II级包含1MB，存取时间为1μs</a:t>
            </a:r>
          </a:p>
          <a:p>
            <a:pPr lvl="1">
              <a:lnSpc>
                <a:spcPct val="100000"/>
              </a:lnSpc>
            </a:pPr>
            <a:r>
              <a:rPr lang="zh-CN" altLang="en-US" sz="2000" b="0" dirty="0">
                <a:solidFill>
                  <a:srgbClr val="404040"/>
                </a:solidFill>
              </a:rPr>
              <a:t>             处理器直接存取I级中的内容</a:t>
            </a:r>
          </a:p>
          <a:p>
            <a:pPr lvl="1">
              <a:lnSpc>
                <a:spcPct val="100000"/>
              </a:lnSpc>
            </a:pPr>
            <a:r>
              <a:rPr lang="en-US" sz="2000" b="0" dirty="0">
                <a:solidFill>
                  <a:srgbClr val="404040"/>
                </a:solidFill>
                <a:sym typeface="+mn-ea"/>
              </a:rPr>
              <a:t>             </a:t>
            </a:r>
            <a:r>
              <a:rPr sz="2000" b="0" dirty="0" err="1">
                <a:solidFill>
                  <a:srgbClr val="404040"/>
                </a:solidFill>
                <a:sym typeface="+mn-ea"/>
              </a:rPr>
              <a:t>II级</a:t>
            </a:r>
            <a:r>
              <a:rPr lang="zh-CN" altLang="en-US" sz="2000" b="0" dirty="0">
                <a:solidFill>
                  <a:srgbClr val="404040"/>
                </a:solidFill>
              </a:rPr>
              <a:t>首先被转移到I级，然后再由处理器存取</a:t>
            </a:r>
          </a:p>
          <a:p>
            <a:pPr marL="0" indent="0" fontAlgn="auto">
              <a:lnSpc>
                <a:spcPct val="150000"/>
              </a:lnSpc>
              <a:buNone/>
            </a:pPr>
            <a:r>
              <a:rPr lang="zh-CN" altLang="en-US" b="0" dirty="0">
                <a:solidFill>
                  <a:srgbClr val="404040"/>
                </a:solidFill>
              </a:rPr>
              <a:t>假定用于确定这个内容所在位置的时间可以忽略，如果处理器在I级存储器中发现存取对象的概率是95%，那么平均访问时间为：</a:t>
            </a:r>
          </a:p>
          <a:p>
            <a:pPr marL="0" indent="0" algn="ctr" fontAlgn="auto">
              <a:lnSpc>
                <a:spcPct val="100000"/>
              </a:lnSpc>
              <a:buNone/>
            </a:pPr>
            <a:r>
              <a:rPr lang="zh-CN" altLang="en-US" b="0" dirty="0">
                <a:solidFill>
                  <a:srgbClr val="404040"/>
                </a:solidFill>
              </a:rPr>
              <a:t>(0.95)(0.1μs)+(0.05)(0.1μs+1μs)=0.15μs</a:t>
            </a:r>
          </a:p>
          <a:p>
            <a:pPr marL="0" indent="0" algn="ctr" fontAlgn="auto">
              <a:lnSpc>
                <a:spcPct val="100000"/>
              </a:lnSpc>
              <a:buNone/>
            </a:pPr>
            <a:r>
              <a:rPr lang="zh-CN" altLang="en-US" b="0" dirty="0">
                <a:solidFill>
                  <a:srgbClr val="404040"/>
                </a:solidFill>
              </a:rPr>
              <a:t>结果是非常接近I级存储的存取时间</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688010" y="1264300"/>
            <a:ext cx="9056687" cy="381629"/>
          </a:xfrm>
        </p:spPr>
        <p:txBody>
          <a:bodyPr>
            <a:noAutofit/>
          </a:bodyPr>
          <a:lstStyle/>
          <a:p>
            <a:pPr marL="0" indent="0">
              <a:buNone/>
            </a:pPr>
            <a:r>
              <a:rPr lang="zh-CN" altLang="en-US" sz="2400" dirty="0"/>
              <a:t>多级存储的体系结构</a:t>
            </a:r>
          </a:p>
        </p:txBody>
      </p:sp>
      <p:sp>
        <p:nvSpPr>
          <p:cNvPr id="2" name="文本占位符 8"/>
          <p:cNvSpPr>
            <a:spLocks noGrp="1"/>
          </p:cNvSpPr>
          <p:nvPr/>
        </p:nvSpPr>
        <p:spPr>
          <a:xfrm>
            <a:off x="443230" y="1524000"/>
            <a:ext cx="10982325" cy="96012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endParaRPr lang="zh-CN" altLang="en-US" sz="2400" b="0"/>
          </a:p>
        </p:txBody>
      </p:sp>
      <p:grpSp>
        <p:nvGrpSpPr>
          <p:cNvPr id="135" name="Group 5"/>
          <p:cNvGrpSpPr/>
          <p:nvPr/>
        </p:nvGrpSpPr>
        <p:grpSpPr>
          <a:xfrm>
            <a:off x="1711325" y="1798320"/>
            <a:ext cx="7089775" cy="4009054"/>
            <a:chOff x="2421" y="1987"/>
            <a:chExt cx="6760" cy="4287"/>
          </a:xfrm>
        </p:grpSpPr>
        <p:grpSp>
          <p:nvGrpSpPr>
            <p:cNvPr id="136" name="Group 6"/>
            <p:cNvGrpSpPr/>
            <p:nvPr/>
          </p:nvGrpSpPr>
          <p:grpSpPr>
            <a:xfrm>
              <a:off x="2421" y="1987"/>
              <a:ext cx="6760" cy="4287"/>
              <a:chOff x="2421" y="1987"/>
              <a:chExt cx="6760" cy="4287"/>
            </a:xfrm>
          </p:grpSpPr>
          <p:grpSp>
            <p:nvGrpSpPr>
              <p:cNvPr id="138" name="Group 7"/>
              <p:cNvGrpSpPr/>
              <p:nvPr/>
            </p:nvGrpSpPr>
            <p:grpSpPr>
              <a:xfrm>
                <a:off x="2421" y="1987"/>
                <a:ext cx="6760" cy="4231"/>
                <a:chOff x="2421" y="1987"/>
                <a:chExt cx="6760" cy="4231"/>
              </a:xfrm>
            </p:grpSpPr>
            <p:cxnSp>
              <p:nvCxnSpPr>
                <p:cNvPr id="139" name="Line 8"/>
                <p:cNvCxnSpPr>
                  <a:cxnSpLocks noChangeShapeType="1"/>
                </p:cNvCxnSpPr>
                <p:nvPr/>
              </p:nvCxnSpPr>
              <p:spPr bwMode="auto">
                <a:xfrm>
                  <a:off x="3150" y="1987"/>
                  <a:ext cx="0" cy="3679"/>
                </a:xfrm>
                <a:prstGeom prst="line">
                  <a:avLst/>
                </a:prstGeom>
                <a:noFill/>
                <a:ln w="19050">
                  <a:solidFill>
                    <a:srgbClr val="000000"/>
                  </a:solidFill>
                  <a:round/>
                </a:ln>
              </p:spPr>
            </p:cxnSp>
            <p:cxnSp>
              <p:nvCxnSpPr>
                <p:cNvPr id="140" name="Line 9"/>
                <p:cNvCxnSpPr>
                  <a:cxnSpLocks noChangeShapeType="1"/>
                </p:cNvCxnSpPr>
                <p:nvPr/>
              </p:nvCxnSpPr>
              <p:spPr bwMode="auto">
                <a:xfrm>
                  <a:off x="3150" y="5666"/>
                  <a:ext cx="5718" cy="0"/>
                </a:xfrm>
                <a:prstGeom prst="line">
                  <a:avLst/>
                </a:prstGeom>
                <a:noFill/>
                <a:ln w="19050">
                  <a:solidFill>
                    <a:srgbClr val="000000"/>
                  </a:solidFill>
                  <a:round/>
                </a:ln>
              </p:spPr>
            </p:cxnSp>
            <p:sp>
              <p:nvSpPr>
                <p:cNvPr id="141" name="Text Box 10"/>
                <p:cNvSpPr txBox="1">
                  <a:spLocks noChangeArrowheads="1"/>
                </p:cNvSpPr>
                <p:nvPr/>
              </p:nvSpPr>
              <p:spPr bwMode="auto">
                <a:xfrm>
                  <a:off x="3045" y="5667"/>
                  <a:ext cx="624" cy="551"/>
                </a:xfrm>
                <a:prstGeom prst="rect">
                  <a:avLst/>
                </a:prstGeom>
                <a:noFill/>
                <a:ln>
                  <a:noFill/>
                </a:ln>
              </p:spPr>
              <p:txBody>
                <a:bodyPr rot="0" vert="horz" wrap="square" lIns="91440" tIns="45720" rIns="91440" bIns="45720" anchor="t" anchorCtr="0" upright="1">
                  <a:noAutofit/>
                </a:bodyPr>
                <a:lstStyle/>
                <a:p>
                  <a:pPr algn="just"/>
                  <a:r>
                    <a:rPr lang="en-US" altLang="zh-CN" sz="2000" kern="100">
                      <a:latin typeface="Times New Roman" panose="02020603050405020304"/>
                      <a:ea typeface="宋体" panose="02010600030101010101" pitchFamily="2" charset="-122"/>
                      <a:cs typeface="Times New Roman" panose="02020603050405020304"/>
                      <a:sym typeface="Times New Roman" panose="02020603050405020304"/>
                    </a:rPr>
                    <a:t>0</a:t>
                  </a:r>
                </a:p>
              </p:txBody>
            </p:sp>
            <p:sp>
              <p:nvSpPr>
                <p:cNvPr id="142" name="Text Box 11"/>
                <p:cNvSpPr txBox="1">
                  <a:spLocks noChangeArrowheads="1"/>
                </p:cNvSpPr>
                <p:nvPr/>
              </p:nvSpPr>
              <p:spPr bwMode="auto">
                <a:xfrm>
                  <a:off x="8557" y="5667"/>
                  <a:ext cx="624" cy="551"/>
                </a:xfrm>
                <a:prstGeom prst="rect">
                  <a:avLst/>
                </a:prstGeom>
                <a:noFill/>
                <a:ln>
                  <a:noFill/>
                </a:ln>
              </p:spPr>
              <p:txBody>
                <a:bodyPr rot="0" vert="horz" wrap="square" lIns="91440" tIns="45720" rIns="91440" bIns="45720" anchor="t" anchorCtr="0" upright="1">
                  <a:noAutofit/>
                </a:bodyPr>
                <a:lstStyle/>
                <a:p>
                  <a:pPr algn="just"/>
                  <a:r>
                    <a:rPr lang="en-US" altLang="zh-CN" sz="2000" kern="100">
                      <a:latin typeface="Times New Roman" panose="02020603050405020304"/>
                      <a:ea typeface="宋体" panose="02010600030101010101" pitchFamily="2" charset="-122"/>
                      <a:cs typeface="Times New Roman" panose="02020603050405020304"/>
                      <a:sym typeface="Times New Roman" panose="02020603050405020304"/>
                    </a:rPr>
                    <a:t>1</a:t>
                  </a:r>
                </a:p>
              </p:txBody>
            </p:sp>
            <p:sp>
              <p:nvSpPr>
                <p:cNvPr id="143" name="Text Box 12"/>
                <p:cNvSpPr txBox="1">
                  <a:spLocks noChangeArrowheads="1"/>
                </p:cNvSpPr>
                <p:nvPr/>
              </p:nvSpPr>
              <p:spPr bwMode="auto">
                <a:xfrm>
                  <a:off x="2629" y="4930"/>
                  <a:ext cx="624" cy="551"/>
                </a:xfrm>
                <a:prstGeom prst="rect">
                  <a:avLst/>
                </a:prstGeom>
                <a:noFill/>
                <a:ln>
                  <a:noFill/>
                </a:ln>
              </p:spPr>
              <p:txBody>
                <a:bodyPr rot="0" vert="horz" wrap="square" lIns="91440" tIns="45720" rIns="91440" bIns="45720" anchor="t" anchorCtr="0" upright="1">
                  <a:noAutofit/>
                </a:bodyPr>
                <a:lstStyle/>
                <a:p>
                  <a:pPr algn="just"/>
                  <a:r>
                    <a:rPr lang="en-US" altLang="zh-CN" sz="2000" kern="100">
                      <a:latin typeface="Times New Roman" panose="02020603050405020304"/>
                      <a:ea typeface="宋体" panose="02010600030101010101" pitchFamily="2" charset="-122"/>
                      <a:cs typeface="Times New Roman" panose="02020603050405020304"/>
                      <a:sym typeface="Times New Roman" panose="02020603050405020304"/>
                    </a:rPr>
                    <a:t>T</a:t>
                  </a:r>
                  <a:r>
                    <a:rPr lang="en-US" altLang="zh-CN" sz="2000" kern="100" baseline="-25000">
                      <a:latin typeface="Times New Roman" panose="02020603050405020304"/>
                      <a:ea typeface="宋体" panose="02010600030101010101" pitchFamily="2" charset="-122"/>
                      <a:cs typeface="Times New Roman" panose="02020603050405020304"/>
                      <a:sym typeface="Times New Roman" panose="02020603050405020304"/>
                    </a:rPr>
                    <a:t>1</a:t>
                  </a:r>
                </a:p>
              </p:txBody>
            </p:sp>
            <p:sp>
              <p:nvSpPr>
                <p:cNvPr id="144" name="Text Box 13"/>
                <p:cNvSpPr txBox="1">
                  <a:spLocks noChangeArrowheads="1"/>
                </p:cNvSpPr>
                <p:nvPr/>
              </p:nvSpPr>
              <p:spPr bwMode="auto">
                <a:xfrm>
                  <a:off x="2421" y="2171"/>
                  <a:ext cx="936" cy="551"/>
                </a:xfrm>
                <a:prstGeom prst="rect">
                  <a:avLst/>
                </a:prstGeom>
                <a:noFill/>
                <a:ln>
                  <a:noFill/>
                </a:ln>
              </p:spPr>
              <p:txBody>
                <a:bodyPr rot="0" vert="horz" wrap="square" lIns="91440" tIns="45720" rIns="91440" bIns="45720" anchor="t" anchorCtr="0" upright="1">
                  <a:noAutofit/>
                </a:bodyPr>
                <a:lstStyle/>
                <a:p>
                  <a:pPr algn="just"/>
                  <a:r>
                    <a:rPr lang="en-US" altLang="zh-CN" sz="2000" kern="100">
                      <a:latin typeface="Times New Roman" panose="02020603050405020304"/>
                      <a:ea typeface="宋体" panose="02010600030101010101" pitchFamily="2" charset="-122"/>
                      <a:cs typeface="Times New Roman" panose="02020603050405020304"/>
                      <a:sym typeface="Times New Roman" panose="02020603050405020304"/>
                    </a:rPr>
                    <a:t>T</a:t>
                  </a:r>
                  <a:r>
                    <a:rPr lang="en-US" altLang="zh-CN" sz="2000" kern="100" baseline="-25000">
                      <a:latin typeface="Times New Roman" panose="02020603050405020304"/>
                      <a:ea typeface="宋体" panose="02010600030101010101" pitchFamily="2" charset="-122"/>
                      <a:cs typeface="Times New Roman" panose="02020603050405020304"/>
                      <a:sym typeface="Times New Roman" panose="02020603050405020304"/>
                    </a:rPr>
                    <a:t>1</a:t>
                  </a:r>
                  <a:r>
                    <a:rPr lang="en-US" altLang="zh-CN" sz="2000" kern="100">
                      <a:latin typeface="Times New Roman" panose="02020603050405020304"/>
                      <a:ea typeface="宋体" panose="02010600030101010101" pitchFamily="2" charset="-122"/>
                      <a:cs typeface="Times New Roman" panose="02020603050405020304"/>
                      <a:sym typeface="Times New Roman" panose="02020603050405020304"/>
                    </a:rPr>
                    <a:t>+T</a:t>
                  </a:r>
                  <a:r>
                    <a:rPr lang="en-US" altLang="zh-CN" sz="2000" kern="100" baseline="-25000">
                      <a:latin typeface="Times New Roman" panose="02020603050405020304"/>
                      <a:ea typeface="宋体" panose="02010600030101010101" pitchFamily="2" charset="-122"/>
                      <a:cs typeface="Times New Roman" panose="02020603050405020304"/>
                      <a:sym typeface="Times New Roman" panose="02020603050405020304"/>
                    </a:rPr>
                    <a:t>2</a:t>
                  </a:r>
                </a:p>
              </p:txBody>
            </p:sp>
            <p:cxnSp>
              <p:nvCxnSpPr>
                <p:cNvPr id="145" name="Line 14"/>
                <p:cNvCxnSpPr>
                  <a:cxnSpLocks noChangeShapeType="1"/>
                </p:cNvCxnSpPr>
                <p:nvPr/>
              </p:nvCxnSpPr>
              <p:spPr bwMode="auto">
                <a:xfrm>
                  <a:off x="3149" y="5114"/>
                  <a:ext cx="104" cy="0"/>
                </a:xfrm>
                <a:prstGeom prst="line">
                  <a:avLst/>
                </a:prstGeom>
                <a:noFill/>
                <a:ln w="19050">
                  <a:solidFill>
                    <a:srgbClr val="000000"/>
                  </a:solidFill>
                  <a:round/>
                </a:ln>
              </p:spPr>
            </p:cxnSp>
            <p:cxnSp>
              <p:nvCxnSpPr>
                <p:cNvPr id="146" name="Line 15"/>
                <p:cNvCxnSpPr>
                  <a:cxnSpLocks noChangeShapeType="1"/>
                </p:cNvCxnSpPr>
                <p:nvPr/>
              </p:nvCxnSpPr>
              <p:spPr bwMode="auto">
                <a:xfrm>
                  <a:off x="3149" y="2354"/>
                  <a:ext cx="104" cy="0"/>
                </a:xfrm>
                <a:prstGeom prst="line">
                  <a:avLst/>
                </a:prstGeom>
                <a:noFill/>
                <a:ln w="19050">
                  <a:solidFill>
                    <a:srgbClr val="000000"/>
                  </a:solidFill>
                  <a:round/>
                </a:ln>
              </p:spPr>
            </p:cxnSp>
            <p:cxnSp>
              <p:nvCxnSpPr>
                <p:cNvPr id="147" name="Line 16"/>
                <p:cNvCxnSpPr>
                  <a:cxnSpLocks noChangeShapeType="1"/>
                </p:cNvCxnSpPr>
                <p:nvPr/>
              </p:nvCxnSpPr>
              <p:spPr bwMode="auto">
                <a:xfrm flipH="1" flipV="1">
                  <a:off x="8735" y="5552"/>
                  <a:ext cx="8" cy="114"/>
                </a:xfrm>
                <a:prstGeom prst="line">
                  <a:avLst/>
                </a:prstGeom>
                <a:noFill/>
                <a:ln w="19050">
                  <a:solidFill>
                    <a:srgbClr val="000000"/>
                  </a:solidFill>
                  <a:round/>
                </a:ln>
              </p:spPr>
            </p:cxnSp>
          </p:grpSp>
          <p:cxnSp>
            <p:nvCxnSpPr>
              <p:cNvPr id="148" name="Line 17"/>
              <p:cNvCxnSpPr>
                <a:cxnSpLocks noChangeShapeType="1"/>
              </p:cNvCxnSpPr>
              <p:nvPr/>
            </p:nvCxnSpPr>
            <p:spPr bwMode="auto">
              <a:xfrm>
                <a:off x="3149" y="2354"/>
                <a:ext cx="5616" cy="2760"/>
              </a:xfrm>
              <a:prstGeom prst="line">
                <a:avLst/>
              </a:prstGeom>
              <a:noFill/>
              <a:ln w="38100">
                <a:solidFill>
                  <a:srgbClr val="000000"/>
                </a:solidFill>
                <a:round/>
              </a:ln>
            </p:spPr>
          </p:cxnSp>
          <p:sp>
            <p:nvSpPr>
              <p:cNvPr id="149" name="Text Box 18"/>
              <p:cNvSpPr txBox="1">
                <a:spLocks noChangeArrowheads="1"/>
              </p:cNvSpPr>
              <p:nvPr/>
            </p:nvSpPr>
            <p:spPr bwMode="auto">
              <a:xfrm>
                <a:off x="4494" y="5722"/>
                <a:ext cx="3479" cy="552"/>
              </a:xfrm>
              <a:prstGeom prst="rect">
                <a:avLst/>
              </a:prstGeom>
              <a:noFill/>
              <a:ln>
                <a:noFill/>
              </a:ln>
            </p:spPr>
            <p:txBody>
              <a:bodyPr rot="0" vert="horz" wrap="square" lIns="91440" tIns="45720" rIns="91440" bIns="45720" anchor="t" anchorCtr="0" upright="1">
                <a:noAutofit/>
              </a:bodyPr>
              <a:lstStyle/>
              <a:p>
                <a:pPr algn="just"/>
                <a:r>
                  <a:rPr lang="en-US" altLang="zh-CN" kern="100" dirty="0" err="1">
                    <a:latin typeface="+mn-ea"/>
                    <a:cs typeface="Times New Roman" panose="02020603050405020304"/>
                    <a:sym typeface="Times New Roman" panose="02020603050405020304"/>
                  </a:rPr>
                  <a:t>仅仅涉及I级的存取部分的比例</a:t>
                </a:r>
                <a:endParaRPr lang="en-US" altLang="zh-CN" kern="100" dirty="0">
                  <a:latin typeface="+mn-ea"/>
                  <a:cs typeface="Times New Roman" panose="02020603050405020304"/>
                  <a:sym typeface="Times New Roman" panose="02020603050405020304"/>
                </a:endParaRPr>
              </a:p>
            </p:txBody>
          </p:sp>
          <p:sp>
            <p:nvSpPr>
              <p:cNvPr id="150" name="Rectangle 19"/>
              <p:cNvSpPr>
                <a:spLocks noChangeArrowheads="1"/>
              </p:cNvSpPr>
              <p:nvPr/>
            </p:nvSpPr>
            <p:spPr bwMode="auto">
              <a:xfrm rot="16200000">
                <a:off x="1761" y="3900"/>
                <a:ext cx="2448" cy="432"/>
              </a:xfrm>
              <a:prstGeom prst="rect">
                <a:avLst/>
              </a:prstGeom>
              <a:noFill/>
              <a:ln>
                <a:noFill/>
              </a:ln>
            </p:spPr>
            <p:txBody>
              <a:bodyPr rot="0" vert="horz" wrap="square" lIns="91440" tIns="45720" rIns="91440" bIns="45720" anchor="t" anchorCtr="0" upright="1">
                <a:noAutofit/>
              </a:bodyPr>
              <a:lstStyle/>
              <a:p>
                <a:pPr algn="just"/>
                <a:r>
                  <a:rPr lang="en-US" altLang="zh-CN" kern="100" dirty="0" err="1">
                    <a:latin typeface="+mn-ea"/>
                    <a:cs typeface="Times New Roman" panose="02020603050405020304"/>
                    <a:sym typeface="Times New Roman" panose="02020603050405020304"/>
                  </a:rPr>
                  <a:t>平均存取时间</a:t>
                </a:r>
                <a:endParaRPr lang="en-US" altLang="zh-CN" kern="100" dirty="0">
                  <a:latin typeface="+mn-ea"/>
                  <a:cs typeface="Times New Roman" panose="02020603050405020304"/>
                  <a:sym typeface="Times New Roman" panose="02020603050405020304"/>
                </a:endParaRPr>
              </a:p>
            </p:txBody>
          </p:sp>
        </p:grpSp>
        <p:cxnSp>
          <p:nvCxnSpPr>
            <p:cNvPr id="151" name="Line 20"/>
            <p:cNvCxnSpPr>
              <a:cxnSpLocks noChangeShapeType="1"/>
            </p:cNvCxnSpPr>
            <p:nvPr/>
          </p:nvCxnSpPr>
          <p:spPr bwMode="auto">
            <a:xfrm>
              <a:off x="3161" y="5113"/>
              <a:ext cx="5589" cy="1"/>
            </a:xfrm>
            <a:prstGeom prst="line">
              <a:avLst/>
            </a:prstGeom>
            <a:noFill/>
            <a:ln w="9525">
              <a:solidFill>
                <a:srgbClr val="000000"/>
              </a:solidFill>
              <a:prstDash val="dash"/>
              <a:round/>
            </a:ln>
          </p:spPr>
        </p:cxnSp>
        <p:cxnSp>
          <p:nvCxnSpPr>
            <p:cNvPr id="152" name="Line 21"/>
            <p:cNvCxnSpPr>
              <a:cxnSpLocks noChangeShapeType="1"/>
            </p:cNvCxnSpPr>
            <p:nvPr/>
          </p:nvCxnSpPr>
          <p:spPr bwMode="auto">
            <a:xfrm>
              <a:off x="8735" y="5128"/>
              <a:ext cx="1" cy="522"/>
            </a:xfrm>
            <a:prstGeom prst="line">
              <a:avLst/>
            </a:prstGeom>
            <a:noFill/>
            <a:ln w="9525">
              <a:solidFill>
                <a:srgbClr val="000000"/>
              </a:solidFill>
              <a:prstDash val="dash"/>
              <a:round/>
            </a:ln>
          </p:spPr>
        </p:cxnSp>
      </p:grpSp>
      <p:sp>
        <p:nvSpPr>
          <p:cNvPr id="3" name="文本框 2"/>
          <p:cNvSpPr txBox="1"/>
          <p:nvPr/>
        </p:nvSpPr>
        <p:spPr>
          <a:xfrm>
            <a:off x="3900805" y="5826760"/>
            <a:ext cx="3484880" cy="398780"/>
          </a:xfrm>
          <a:prstGeom prst="rect">
            <a:avLst/>
          </a:prstGeom>
          <a:noFill/>
        </p:spPr>
        <p:txBody>
          <a:bodyPr wrap="non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一个简单二级存储系统的性能</a:t>
            </a:r>
          </a:p>
        </p:txBody>
      </p:sp>
      <p:sp>
        <p:nvSpPr>
          <p:cNvPr id="4" name="文本框 3"/>
          <p:cNvSpPr txBox="1"/>
          <p:nvPr/>
        </p:nvSpPr>
        <p:spPr>
          <a:xfrm>
            <a:off x="6096000" y="2644600"/>
            <a:ext cx="4056380" cy="873957"/>
          </a:xfrm>
          <a:prstGeom prst="rect">
            <a:avLst/>
          </a:prstGeom>
          <a:noFill/>
        </p:spPr>
        <p:txBody>
          <a:bodyPr wrap="square" rtlCol="0">
            <a:spAutoFit/>
          </a:bodyPr>
          <a:lstStyle/>
          <a:p>
            <a:pPr algn="l">
              <a:lnSpc>
                <a:spcPct val="150000"/>
              </a:lnSpc>
            </a:pPr>
            <a:r>
              <a:rPr lang="zh-CN" altLang="en-US"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rPr>
              <a:t>T1是I级存储器的存取时间</a:t>
            </a:r>
          </a:p>
          <a:p>
            <a:pPr algn="l">
              <a:lnSpc>
                <a:spcPct val="150000"/>
              </a:lnSpc>
            </a:pPr>
            <a:r>
              <a:rPr lang="zh-CN" altLang="en-US" dirty="0">
                <a:solidFill>
                  <a:srgbClr val="404040"/>
                </a:solidFill>
                <a:latin typeface="Arial" panose="020B0604020202020204" pitchFamily="34" charset="0"/>
                <a:ea typeface="微软雅黑" panose="020B0503020204020204" pitchFamily="34" charset="-122"/>
                <a:cs typeface="+mn-ea"/>
                <a:sym typeface="Arial" panose="020B0604020202020204" pitchFamily="34" charset="0"/>
              </a:rPr>
              <a:t>T2是II级存储器的存取时间</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557213" y="1467655"/>
            <a:ext cx="9056687" cy="381629"/>
          </a:xfrm>
        </p:spPr>
        <p:txBody>
          <a:bodyPr>
            <a:noAutofit/>
          </a:bodyPr>
          <a:lstStyle/>
          <a:p>
            <a:pPr marL="0" indent="0">
              <a:buNone/>
            </a:pPr>
            <a:r>
              <a:rPr lang="zh-CN" altLang="en-US" sz="2400" dirty="0"/>
              <a:t>存储保护</a:t>
            </a:r>
          </a:p>
        </p:txBody>
      </p:sp>
      <p:sp>
        <p:nvSpPr>
          <p:cNvPr id="2" name="文本占位符 8"/>
          <p:cNvSpPr>
            <a:spLocks noGrp="1"/>
          </p:cNvSpPr>
          <p:nvPr/>
        </p:nvSpPr>
        <p:spPr>
          <a:xfrm>
            <a:off x="1435969" y="1095883"/>
            <a:ext cx="10982325" cy="483743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zh-CN" altLang="en-US" b="0" dirty="0"/>
              <a:t>对主存中的信息加以保护，使操作系统不被破坏，是其正确运行的基本条件之一</a:t>
            </a:r>
            <a:endParaRPr lang="en-US" altLang="zh-CN" b="0" dirty="0"/>
          </a:p>
          <a:p>
            <a:pPr marL="0" indent="0" fontAlgn="auto">
              <a:lnSpc>
                <a:spcPct val="150000"/>
              </a:lnSpc>
              <a:buNone/>
            </a:pPr>
            <a:endParaRPr lang="zh-CN" altLang="en-US" b="0" dirty="0"/>
          </a:p>
          <a:p>
            <a:pPr marL="0" indent="0" fontAlgn="auto">
              <a:lnSpc>
                <a:spcPct val="150000"/>
              </a:lnSpc>
              <a:buNone/>
            </a:pPr>
            <a:r>
              <a:rPr lang="zh-CN" altLang="en-US" b="0" dirty="0"/>
              <a:t>要实现存储保护，必须要有硬件的支持</a:t>
            </a:r>
          </a:p>
          <a:p>
            <a:pPr fontAlgn="auto">
              <a:lnSpc>
                <a:spcPct val="150000"/>
              </a:lnSpc>
            </a:pPr>
            <a:r>
              <a:rPr lang="zh-CN" altLang="en-US" b="0" dirty="0"/>
              <a:t>     界地址寄存器（界限寄存器）</a:t>
            </a:r>
          </a:p>
          <a:p>
            <a:pPr fontAlgn="auto">
              <a:lnSpc>
                <a:spcPct val="150000"/>
              </a:lnSpc>
            </a:pPr>
            <a:r>
              <a:rPr lang="zh-CN" altLang="en-US" b="0" dirty="0"/>
              <a:t>     存储键</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443077" y="1320754"/>
            <a:ext cx="9056687" cy="381629"/>
          </a:xfrm>
        </p:spPr>
        <p:txBody>
          <a:bodyPr>
            <a:noAutofit/>
          </a:bodyPr>
          <a:lstStyle/>
          <a:p>
            <a:pPr marL="0" indent="0">
              <a:buNone/>
            </a:pPr>
            <a:r>
              <a:rPr lang="zh-CN" altLang="en-US" sz="2400" dirty="0"/>
              <a:t>界地址寄存器（界限寄存器）</a:t>
            </a:r>
          </a:p>
        </p:txBody>
      </p:sp>
      <p:sp>
        <p:nvSpPr>
          <p:cNvPr id="2" name="文本占位符 8"/>
          <p:cNvSpPr>
            <a:spLocks noGrp="1"/>
          </p:cNvSpPr>
          <p:nvPr/>
        </p:nvSpPr>
        <p:spPr>
          <a:xfrm>
            <a:off x="766598" y="1352314"/>
            <a:ext cx="10982325" cy="483743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       界地址寄存器是被广泛使用的一种存储保护技术</a:t>
            </a:r>
          </a:p>
          <a:p>
            <a:pPr fontAlgn="auto">
              <a:lnSpc>
                <a:spcPct val="150000"/>
              </a:lnSpc>
            </a:pPr>
            <a:r>
              <a:rPr lang="zh-CN" altLang="en-US" b="0" dirty="0"/>
              <a:t>       这种机制比较简单，易于实现</a:t>
            </a:r>
          </a:p>
          <a:p>
            <a:pPr marL="0" indent="0" fontAlgn="auto">
              <a:lnSpc>
                <a:spcPct val="150000"/>
              </a:lnSpc>
              <a:buNone/>
            </a:pPr>
            <a:r>
              <a:rPr lang="zh-CN" altLang="en-US" b="0" dirty="0"/>
              <a:t>实现方法：</a:t>
            </a:r>
          </a:p>
          <a:p>
            <a:pPr fontAlgn="auto">
              <a:lnSpc>
                <a:spcPct val="150000"/>
              </a:lnSpc>
            </a:pPr>
            <a:r>
              <a:rPr lang="zh-CN" altLang="en-US" b="0" dirty="0"/>
              <a:t>       设置一对界限寄存器来存放作业的下限和上限地址</a:t>
            </a:r>
          </a:p>
          <a:p>
            <a:pPr fontAlgn="auto">
              <a:lnSpc>
                <a:spcPct val="150000"/>
              </a:lnSpc>
            </a:pPr>
            <a:r>
              <a:rPr lang="zh-CN" altLang="en-US" b="0" dirty="0"/>
              <a:t>       也可将一个寄存器作为基址寄存器，另一寄存器作为限长寄存器</a:t>
            </a:r>
          </a:p>
          <a:p>
            <a:pPr fontAlgn="auto">
              <a:lnSpc>
                <a:spcPct val="150000"/>
              </a:lnSpc>
            </a:pPr>
            <a:r>
              <a:rPr lang="zh-CN" altLang="en-US" b="0" dirty="0"/>
              <a:t>       访问主存时，硬件自动判断是否越界</a:t>
            </a:r>
          </a:p>
          <a:p>
            <a:pPr fontAlgn="auto">
              <a:lnSpc>
                <a:spcPct val="150000"/>
              </a:lnSpc>
            </a:pPr>
            <a:r>
              <a:rPr lang="zh-CN" altLang="en-US" b="0" dirty="0"/>
              <a:t>       如果未越界，则按此地址访问主存，否则将产生程序中断——越界中断或存储保护中断</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697437" y="1230001"/>
            <a:ext cx="9056687" cy="381629"/>
          </a:xfrm>
        </p:spPr>
        <p:txBody>
          <a:bodyPr>
            <a:noAutofit/>
          </a:bodyPr>
          <a:lstStyle/>
          <a:p>
            <a:pPr marL="0" indent="0">
              <a:buNone/>
            </a:pPr>
            <a:r>
              <a:rPr lang="zh-CN" altLang="en-US" sz="2400" dirty="0"/>
              <a:t>界地址寄存器（界限寄存器）</a:t>
            </a:r>
          </a:p>
        </p:txBody>
      </p:sp>
      <p:sp>
        <p:nvSpPr>
          <p:cNvPr id="2" name="文本占位符 8"/>
          <p:cNvSpPr>
            <a:spLocks noGrp="1"/>
          </p:cNvSpPr>
          <p:nvPr/>
        </p:nvSpPr>
        <p:spPr>
          <a:xfrm>
            <a:off x="-1976534" y="5294395"/>
            <a:ext cx="10982325" cy="46037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00000"/>
              </a:lnSpc>
              <a:buNone/>
            </a:pPr>
            <a:r>
              <a:rPr lang="zh-CN" altLang="en-US" b="0" dirty="0"/>
              <a:t>界地址寄存器存储保护技术</a:t>
            </a:r>
          </a:p>
        </p:txBody>
      </p:sp>
      <p:pic>
        <p:nvPicPr>
          <p:cNvPr id="134" name="图片 22"/>
          <p:cNvPicPr>
            <a:picLocks noChangeAspect="1" noChangeArrowheads="1"/>
          </p:cNvPicPr>
          <p:nvPr/>
        </p:nvPicPr>
        <p:blipFill>
          <a:blip r:embed="rId3">
            <a:extLst>
              <a:ext uri="{28A0092B-C50C-407E-A947-70E740481C1C}">
                <a14:useLocalDpi xmlns:a14="http://schemas.microsoft.com/office/drawing/2010/main" val="0"/>
              </a:ext>
            </a:extLst>
          </a:blip>
          <a:srcRect t="310" b="310"/>
          <a:stretch>
            <a:fillRect/>
          </a:stretch>
        </p:blipFill>
        <p:spPr>
          <a:xfrm>
            <a:off x="861011" y="1980544"/>
            <a:ext cx="4829216" cy="3155466"/>
          </a:xfrm>
          <a:prstGeom prst="rect">
            <a:avLst/>
          </a:prstGeom>
          <a:noFill/>
          <a:ln>
            <a:noFill/>
          </a:ln>
        </p:spPr>
      </p:pic>
      <p:sp>
        <p:nvSpPr>
          <p:cNvPr id="4" name="对话气泡: 矩形 3">
            <a:extLst>
              <a:ext uri="{FF2B5EF4-FFF2-40B4-BE49-F238E27FC236}">
                <a16:creationId xmlns:a16="http://schemas.microsoft.com/office/drawing/2014/main" id="{18C466C8-E3CA-507B-E8B9-619228A72A58}"/>
              </a:ext>
            </a:extLst>
          </p:cNvPr>
          <p:cNvSpPr/>
          <p:nvPr/>
        </p:nvSpPr>
        <p:spPr>
          <a:xfrm>
            <a:off x="6527260" y="2315183"/>
            <a:ext cx="4912468" cy="846306"/>
          </a:xfrm>
          <a:prstGeom prst="wedgeRectCallout">
            <a:avLst>
              <a:gd name="adj1" fmla="val -75940"/>
              <a:gd name="adj2" fmla="val 107328"/>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0" dirty="0">
                <a:solidFill>
                  <a:sysClr val="windowText" lastClr="000000"/>
                </a:solidFill>
              </a:rPr>
              <a:t>访问主存时，</a:t>
            </a:r>
            <a:r>
              <a:rPr lang="zh-CN" altLang="en-US" dirty="0">
                <a:solidFill>
                  <a:sysClr val="windowText" lastClr="000000"/>
                </a:solidFill>
              </a:rPr>
              <a:t>界地址寄存器</a:t>
            </a:r>
            <a:r>
              <a:rPr lang="zh-CN" altLang="en-US" b="0" dirty="0">
                <a:solidFill>
                  <a:sysClr val="windowText" lastClr="000000"/>
                </a:solidFill>
              </a:rPr>
              <a:t>自动判断是否越界，</a:t>
            </a:r>
            <a:r>
              <a:rPr lang="zh-CN" altLang="en-US" dirty="0">
                <a:solidFill>
                  <a:sysClr val="windowText" lastClr="000000"/>
                </a:solidFill>
              </a:rPr>
              <a:t>越界时将产生程序中断</a:t>
            </a:r>
          </a:p>
        </p:txBody>
      </p:sp>
      <p:sp>
        <p:nvSpPr>
          <p:cNvPr id="5" name="对话气泡: 矩形 4">
            <a:extLst>
              <a:ext uri="{FF2B5EF4-FFF2-40B4-BE49-F238E27FC236}">
                <a16:creationId xmlns:a16="http://schemas.microsoft.com/office/drawing/2014/main" id="{61ED304C-3957-10EA-B0D0-625749602D9E}"/>
              </a:ext>
            </a:extLst>
          </p:cNvPr>
          <p:cNvSpPr/>
          <p:nvPr/>
        </p:nvSpPr>
        <p:spPr>
          <a:xfrm>
            <a:off x="6501775" y="4128298"/>
            <a:ext cx="4912468" cy="846306"/>
          </a:xfrm>
          <a:prstGeom prst="wedgeRectCallout">
            <a:avLst>
              <a:gd name="adj1" fmla="val -75742"/>
              <a:gd name="adj2" fmla="val -39799"/>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0" dirty="0">
                <a:solidFill>
                  <a:sysClr val="windowText" lastClr="000000"/>
                </a:solidFill>
              </a:rPr>
              <a:t>访问主存时，</a:t>
            </a:r>
            <a:r>
              <a:rPr lang="zh-CN" altLang="en-US" dirty="0">
                <a:solidFill>
                  <a:sysClr val="windowText" lastClr="000000"/>
                </a:solidFill>
              </a:rPr>
              <a:t>界地址寄存器</a:t>
            </a:r>
            <a:r>
              <a:rPr lang="zh-CN" altLang="en-US" b="0" dirty="0">
                <a:solidFill>
                  <a:sysClr val="windowText" lastClr="000000"/>
                </a:solidFill>
              </a:rPr>
              <a:t>自动判断是否越界，未越界则按该地址访问主存</a:t>
            </a:r>
            <a:endParaRPr lang="zh-CN" altLang="en-US" dirty="0">
              <a:solidFill>
                <a:sysClr val="windowText" lastClr="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lstStyle/>
          <a:p>
            <a:r>
              <a:rPr>
                <a:sym typeface="+mn-ea"/>
              </a:rPr>
              <a:t>存储系统</a:t>
            </a:r>
          </a:p>
        </p:txBody>
      </p:sp>
      <p:sp>
        <p:nvSpPr>
          <p:cNvPr id="9" name="文本占位符 8"/>
          <p:cNvSpPr>
            <a:spLocks noGrp="1"/>
          </p:cNvSpPr>
          <p:nvPr>
            <p:ph type="body" sz="quarter" idx="10"/>
          </p:nvPr>
        </p:nvSpPr>
        <p:spPr>
          <a:xfrm>
            <a:off x="961387" y="1366560"/>
            <a:ext cx="9056687" cy="381629"/>
          </a:xfrm>
        </p:spPr>
        <p:txBody>
          <a:bodyPr>
            <a:noAutofit/>
          </a:bodyPr>
          <a:lstStyle/>
          <a:p>
            <a:pPr marL="0" indent="0">
              <a:buNone/>
            </a:pPr>
            <a:r>
              <a:rPr lang="zh-CN" altLang="en-US" sz="2400" dirty="0"/>
              <a:t>存储键</a:t>
            </a:r>
          </a:p>
        </p:txBody>
      </p:sp>
      <p:sp>
        <p:nvSpPr>
          <p:cNvPr id="2" name="文本占位符 8"/>
          <p:cNvSpPr>
            <a:spLocks noGrp="1"/>
          </p:cNvSpPr>
          <p:nvPr/>
        </p:nvSpPr>
        <p:spPr>
          <a:xfrm>
            <a:off x="1320208" y="1195390"/>
            <a:ext cx="10982325" cy="483743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每个存储块都有与其相关的存储保护键，附加在每个存储块上</a:t>
            </a:r>
          </a:p>
          <a:p>
            <a:pPr fontAlgn="auto">
              <a:lnSpc>
                <a:spcPct val="150000"/>
              </a:lnSpc>
            </a:pPr>
            <a:r>
              <a:rPr lang="zh-CN" altLang="en-US" b="0" dirty="0"/>
              <a:t>当一个用户作业进入主存时，操作系统分给它一个唯一的存储键号</a:t>
            </a:r>
          </a:p>
          <a:p>
            <a:pPr fontAlgn="auto">
              <a:lnSpc>
                <a:spcPct val="150000"/>
              </a:lnSpc>
            </a:pPr>
            <a:r>
              <a:rPr lang="zh-CN" altLang="en-US" b="0" dirty="0"/>
              <a:t>将分配给该作业的各存储块的存储键，也设置成同样的键号</a:t>
            </a:r>
          </a:p>
          <a:p>
            <a:pPr fontAlgn="auto">
              <a:lnSpc>
                <a:spcPct val="150000"/>
              </a:lnSpc>
            </a:pPr>
            <a:r>
              <a:rPr lang="zh-CN" altLang="en-US" b="0" dirty="0"/>
              <a:t>当该作业运行时，操作系统同时将该作业的存储键号存放到程序状态字的存储键钥匙域中</a:t>
            </a:r>
          </a:p>
          <a:p>
            <a:pPr fontAlgn="auto">
              <a:lnSpc>
                <a:spcPct val="150000"/>
              </a:lnSpc>
            </a:pPr>
            <a:r>
              <a:rPr lang="zh-CN" altLang="en-US" b="0" dirty="0"/>
              <a:t>每当CPU访问主存时，都将对主存块的存储键与PSW中的钥匙进行比较</a:t>
            </a:r>
          </a:p>
          <a:p>
            <a:pPr fontAlgn="auto">
              <a:lnSpc>
                <a:spcPct val="150000"/>
              </a:lnSpc>
            </a:pPr>
            <a:r>
              <a:rPr lang="zh-CN" altLang="en-US" b="0" dirty="0"/>
              <a:t>如果相匹配，则允许访问，否则，拒绝并报警</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3"/>
          <a:stretch>
            <a:fillRect/>
          </a:stretch>
        </p:blipFill>
        <p:spPr>
          <a:xfrm>
            <a:off x="0" y="0"/>
            <a:ext cx="12192000" cy="6858000"/>
          </a:xfrm>
          <a:prstGeom prst="rect">
            <a:avLst/>
          </a:prstGeom>
        </p:spPr>
      </p:pic>
      <p:grpSp>
        <p:nvGrpSpPr>
          <p:cNvPr id="11" name="组合 10"/>
          <p:cNvGrpSpPr/>
          <p:nvPr/>
        </p:nvGrpSpPr>
        <p:grpSpPr>
          <a:xfrm>
            <a:off x="10177780" y="329882"/>
            <a:ext cx="1512002" cy="444892"/>
            <a:chOff x="9556201" y="498129"/>
            <a:chExt cx="1993881" cy="586680"/>
          </a:xfrm>
        </p:grpSpPr>
        <p:grpSp>
          <p:nvGrpSpPr>
            <p:cNvPr id="12" name="组合 11"/>
            <p:cNvGrpSpPr/>
            <p:nvPr userDrawn="1"/>
          </p:nvGrpSpPr>
          <p:grpSpPr>
            <a:xfrm>
              <a:off x="10239376" y="968937"/>
              <a:ext cx="1307697" cy="96254"/>
              <a:chOff x="4616246" y="3878362"/>
              <a:chExt cx="5571416" cy="410087"/>
            </a:xfrm>
            <a:solidFill>
              <a:schemeClr val="tx1">
                <a:alpha val="80000"/>
              </a:schemeClr>
            </a:solidFill>
          </p:grpSpPr>
          <p:sp>
            <p:nvSpPr>
              <p:cNvPr id="5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9556201" y="498129"/>
              <a:ext cx="588050" cy="586680"/>
              <a:chOff x="2105799" y="20055838"/>
              <a:chExt cx="6748090" cy="6732363"/>
            </a:xfrm>
            <a:solidFill>
              <a:schemeClr val="accent1">
                <a:alpha val="80000"/>
              </a:schemeClr>
            </a:solidFill>
          </p:grpSpPr>
          <p:sp>
            <p:nvSpPr>
              <p:cNvPr id="1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6"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-4</a:t>
            </a:r>
            <a:r>
              <a:rPr lang="zh-CN" altLang="en-US" dirty="0">
                <a:latin typeface="Arial" panose="020B0604020202020204" pitchFamily="34" charset="0"/>
                <a:ea typeface="微软雅黑" panose="020B0503020204020204" pitchFamily="34" charset="-122"/>
                <a:sym typeface="Arial" panose="020B0604020202020204" pitchFamily="34" charset="0"/>
              </a:rPr>
              <a:t>：未名湖</a:t>
            </a:r>
          </a:p>
        </p:txBody>
      </p:sp>
      <p:grpSp>
        <p:nvGrpSpPr>
          <p:cNvPr id="67" name="组合 66"/>
          <p:cNvGrpSpPr/>
          <p:nvPr/>
        </p:nvGrpSpPr>
        <p:grpSpPr>
          <a:xfrm>
            <a:off x="528706" y="867990"/>
            <a:ext cx="2433027" cy="0"/>
            <a:chOff x="7460343" y="1311756"/>
            <a:chExt cx="2433027" cy="0"/>
          </a:xfrm>
        </p:grpSpPr>
        <p:cxnSp>
          <p:nvCxnSpPr>
            <p:cNvPr id="68" name="直接连接符 6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6774186" y="2658742"/>
            <a:ext cx="3526265" cy="1107921"/>
            <a:chOff x="6566813" y="2528855"/>
            <a:chExt cx="3526265" cy="1107921"/>
          </a:xfrm>
        </p:grpSpPr>
        <p:sp>
          <p:nvSpPr>
            <p:cNvPr id="8" name="文本框 7"/>
            <p:cNvSpPr txBox="1"/>
            <p:nvPr/>
          </p:nvSpPr>
          <p:spPr>
            <a:xfrm>
              <a:off x="6566813" y="2528855"/>
              <a:ext cx="352626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中断机制</a:t>
              </a: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763588" y="1666730"/>
            <a:ext cx="9056687" cy="381629"/>
          </a:xfrm>
        </p:spPr>
        <p:txBody>
          <a:bodyPr>
            <a:noAutofit/>
          </a:bodyPr>
          <a:lstStyle/>
          <a:p>
            <a:pPr marL="0" indent="0">
              <a:buNone/>
            </a:pPr>
            <a:r>
              <a:rPr lang="zh-CN" altLang="en-US" sz="2400" dirty="0"/>
              <a:t>中断机制</a:t>
            </a:r>
          </a:p>
        </p:txBody>
      </p:sp>
      <p:sp>
        <p:nvSpPr>
          <p:cNvPr id="2" name="文本占位符 8"/>
          <p:cNvSpPr>
            <a:spLocks noGrp="1"/>
          </p:cNvSpPr>
          <p:nvPr/>
        </p:nvSpPr>
        <p:spPr>
          <a:xfrm>
            <a:off x="1481530" y="1010285"/>
            <a:ext cx="10982325" cy="483743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中断机制是操作系统中极为重要的一个部分</a:t>
            </a:r>
          </a:p>
          <a:p>
            <a:pPr fontAlgn="auto">
              <a:lnSpc>
                <a:spcPct val="150000"/>
              </a:lnSpc>
            </a:pPr>
            <a:r>
              <a:rPr lang="zh-CN" altLang="en-US" b="0" dirty="0"/>
              <a:t>操作系统在管理输入输出设备，处理外部事件时，都需要中断机制处理</a:t>
            </a:r>
          </a:p>
          <a:p>
            <a:pPr fontAlgn="auto">
              <a:lnSpc>
                <a:spcPct val="150000"/>
              </a:lnSpc>
            </a:pPr>
            <a:r>
              <a:rPr lang="zh-CN" altLang="en-US" b="0" dirty="0"/>
              <a:t>中断机制的实现必须依靠相关的硬件支持</a:t>
            </a:r>
          </a:p>
          <a:p>
            <a:pPr fontAlgn="auto">
              <a:lnSpc>
                <a:spcPct val="150000"/>
              </a:lnSpc>
            </a:pPr>
            <a:r>
              <a:rPr lang="zh-CN" altLang="en-US" b="0" dirty="0"/>
              <a:t>中断的实现是硬件中断装置和相应的中断处理软件共同完成的</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653591" y="1607879"/>
            <a:ext cx="9056687" cy="381629"/>
          </a:xfrm>
        </p:spPr>
        <p:txBody>
          <a:bodyPr>
            <a:noAutofit/>
          </a:bodyPr>
          <a:lstStyle/>
          <a:p>
            <a:pPr marL="0" indent="0">
              <a:buNone/>
            </a:pPr>
            <a:r>
              <a:rPr lang="zh-CN" altLang="en-US" sz="2400" dirty="0"/>
              <a:t>中断的定义</a:t>
            </a:r>
          </a:p>
        </p:txBody>
      </p:sp>
      <p:sp>
        <p:nvSpPr>
          <p:cNvPr id="2" name="文本占位符 8"/>
          <p:cNvSpPr>
            <a:spLocks noGrp="1"/>
          </p:cNvSpPr>
          <p:nvPr/>
        </p:nvSpPr>
        <p:spPr>
          <a:xfrm>
            <a:off x="1445346" y="1185951"/>
            <a:ext cx="10093063"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中断是CPU对系统中或系统外发生的异步事件的响应</a:t>
            </a:r>
          </a:p>
          <a:p>
            <a:pPr fontAlgn="auto">
              <a:lnSpc>
                <a:spcPct val="150000"/>
              </a:lnSpc>
            </a:pPr>
            <a:r>
              <a:rPr lang="zh-CN" altLang="en-US" b="0" dirty="0"/>
              <a:t>异步事件是指无一定时序关系的随机发生的事件 </a:t>
            </a:r>
            <a:endParaRPr lang="en-US" altLang="zh-CN" b="0" dirty="0"/>
          </a:p>
          <a:p>
            <a:pPr fontAlgn="auto">
              <a:lnSpc>
                <a:spcPct val="150000"/>
              </a:lnSpc>
            </a:pPr>
            <a:r>
              <a:rPr lang="zh-CN" altLang="en-US" b="0" dirty="0"/>
              <a:t>当发生某个异步事件后，中断处理器对当前程序的执行，而转去处理该异步事件，处理完了之后，处理器再转回原程序的中断点继续执行</a:t>
            </a:r>
          </a:p>
          <a:p>
            <a:pPr fontAlgn="auto">
              <a:lnSpc>
                <a:spcPct val="100000"/>
              </a:lnSpc>
            </a:pPr>
            <a:endParaRPr lang="zh-CN" altLang="en-US" sz="2400" b="0" dirty="0"/>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968075" y="1167500"/>
            <a:ext cx="9056687" cy="381629"/>
          </a:xfrm>
        </p:spPr>
        <p:txBody>
          <a:bodyPr>
            <a:noAutofit/>
          </a:bodyPr>
          <a:lstStyle/>
          <a:p>
            <a:pPr marL="0" indent="0">
              <a:buNone/>
            </a:pPr>
            <a:r>
              <a:rPr lang="zh-CN" altLang="en-US" sz="2400" dirty="0"/>
              <a:t>中断的概念和定义</a:t>
            </a:r>
          </a:p>
        </p:txBody>
      </p:sp>
      <p:sp>
        <p:nvSpPr>
          <p:cNvPr id="2" name="矩形 1">
            <a:extLst>
              <a:ext uri="{FF2B5EF4-FFF2-40B4-BE49-F238E27FC236}">
                <a16:creationId xmlns:a16="http://schemas.microsoft.com/office/drawing/2014/main" id="{BFAE000D-0A01-FD7D-48FC-C5A6558A7A40}"/>
              </a:ext>
            </a:extLst>
          </p:cNvPr>
          <p:cNvSpPr/>
          <p:nvPr/>
        </p:nvSpPr>
        <p:spPr>
          <a:xfrm>
            <a:off x="3278222" y="2456054"/>
            <a:ext cx="1712068" cy="3054485"/>
          </a:xfrm>
          <a:prstGeom prst="rect">
            <a:avLst/>
          </a:prstGeom>
          <a:ln w="19050"/>
        </p:spPr>
        <p:style>
          <a:lnRef idx="2">
            <a:schemeClr val="dk1"/>
          </a:lnRef>
          <a:fillRef idx="1">
            <a:schemeClr val="lt1"/>
          </a:fillRef>
          <a:effectRef idx="0">
            <a:schemeClr val="dk1"/>
          </a:effectRef>
          <a:fontRef idx="minor">
            <a:schemeClr val="dk1"/>
          </a:fontRef>
        </p:style>
        <p:txBody>
          <a:bodyPr rtlCol="0" anchor="ctr"/>
          <a:lstStyle/>
          <a:p>
            <a:pPr algn="ctr"/>
            <a:endParaRPr lang="zh-CN" altLang="en-US"/>
          </a:p>
        </p:txBody>
      </p:sp>
      <p:sp>
        <p:nvSpPr>
          <p:cNvPr id="3" name="矩形 2">
            <a:extLst>
              <a:ext uri="{FF2B5EF4-FFF2-40B4-BE49-F238E27FC236}">
                <a16:creationId xmlns:a16="http://schemas.microsoft.com/office/drawing/2014/main" id="{EDD61833-9617-FDEE-81E0-60AF8A51B3AE}"/>
              </a:ext>
            </a:extLst>
          </p:cNvPr>
          <p:cNvSpPr/>
          <p:nvPr/>
        </p:nvSpPr>
        <p:spPr>
          <a:xfrm>
            <a:off x="6595352" y="3065654"/>
            <a:ext cx="1712068" cy="1238655"/>
          </a:xfrm>
          <a:prstGeom prst="rect">
            <a:avLst/>
          </a:prstGeom>
          <a:ln w="19050"/>
        </p:spPr>
        <p:style>
          <a:lnRef idx="2">
            <a:schemeClr val="dk1"/>
          </a:lnRef>
          <a:fillRef idx="1">
            <a:schemeClr val="lt1"/>
          </a:fillRef>
          <a:effectRef idx="0">
            <a:schemeClr val="dk1"/>
          </a:effectRef>
          <a:fontRef idx="minor">
            <a:schemeClr val="dk1"/>
          </a:fontRef>
        </p:style>
        <p:txBody>
          <a:bodyPr rtlCol="0" anchor="ctr"/>
          <a:lstStyle/>
          <a:p>
            <a:pPr algn="ctr"/>
            <a:endParaRPr lang="zh-CN" altLang="en-US"/>
          </a:p>
        </p:txBody>
      </p:sp>
      <p:cxnSp>
        <p:nvCxnSpPr>
          <p:cNvPr id="5" name="直接连接符 4">
            <a:extLst>
              <a:ext uri="{FF2B5EF4-FFF2-40B4-BE49-F238E27FC236}">
                <a16:creationId xmlns:a16="http://schemas.microsoft.com/office/drawing/2014/main" id="{63596BD2-FF6B-9C30-B510-6DB9846E5F36}"/>
              </a:ext>
            </a:extLst>
          </p:cNvPr>
          <p:cNvCxnSpPr>
            <a:cxnSpLocks/>
          </p:cNvCxnSpPr>
          <p:nvPr/>
        </p:nvCxnSpPr>
        <p:spPr>
          <a:xfrm>
            <a:off x="3278222" y="2864616"/>
            <a:ext cx="1712068" cy="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 name="直接连接符 6">
            <a:extLst>
              <a:ext uri="{FF2B5EF4-FFF2-40B4-BE49-F238E27FC236}">
                <a16:creationId xmlns:a16="http://schemas.microsoft.com/office/drawing/2014/main" id="{4589A190-2323-01EA-74C2-272CFF34D5DC}"/>
              </a:ext>
            </a:extLst>
          </p:cNvPr>
          <p:cNvCxnSpPr>
            <a:cxnSpLocks/>
          </p:cNvCxnSpPr>
          <p:nvPr/>
        </p:nvCxnSpPr>
        <p:spPr>
          <a:xfrm>
            <a:off x="3278222" y="3795229"/>
            <a:ext cx="1712068" cy="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id="{43798AA6-2843-B75E-006D-DA25D42C825D}"/>
              </a:ext>
            </a:extLst>
          </p:cNvPr>
          <p:cNvCxnSpPr>
            <a:cxnSpLocks/>
          </p:cNvCxnSpPr>
          <p:nvPr/>
        </p:nvCxnSpPr>
        <p:spPr>
          <a:xfrm>
            <a:off x="3278222" y="4155152"/>
            <a:ext cx="1712068" cy="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11" name="直接连接符 10">
            <a:extLst>
              <a:ext uri="{FF2B5EF4-FFF2-40B4-BE49-F238E27FC236}">
                <a16:creationId xmlns:a16="http://schemas.microsoft.com/office/drawing/2014/main" id="{705AD844-C746-C8B1-4107-A1C20FAEEFA1}"/>
              </a:ext>
            </a:extLst>
          </p:cNvPr>
          <p:cNvCxnSpPr>
            <a:cxnSpLocks/>
          </p:cNvCxnSpPr>
          <p:nvPr/>
        </p:nvCxnSpPr>
        <p:spPr>
          <a:xfrm>
            <a:off x="6603059" y="3445033"/>
            <a:ext cx="1712068" cy="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sp>
        <p:nvSpPr>
          <p:cNvPr id="12" name="文本框 11">
            <a:extLst>
              <a:ext uri="{FF2B5EF4-FFF2-40B4-BE49-F238E27FC236}">
                <a16:creationId xmlns:a16="http://schemas.microsoft.com/office/drawing/2014/main" id="{7A85276B-D01A-6FF4-60F2-CD52985F80A5}"/>
              </a:ext>
            </a:extLst>
          </p:cNvPr>
          <p:cNvSpPr txBox="1"/>
          <p:nvPr/>
        </p:nvSpPr>
        <p:spPr>
          <a:xfrm>
            <a:off x="3528962" y="1981943"/>
            <a:ext cx="1210588" cy="400110"/>
          </a:xfrm>
          <a:prstGeom prst="rect">
            <a:avLst/>
          </a:prstGeom>
          <a:noFill/>
        </p:spPr>
        <p:txBody>
          <a:bodyPr wrap="non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用户程序</a:t>
            </a:r>
          </a:p>
        </p:txBody>
      </p:sp>
      <p:sp>
        <p:nvSpPr>
          <p:cNvPr id="13" name="文本框 12">
            <a:extLst>
              <a:ext uri="{FF2B5EF4-FFF2-40B4-BE49-F238E27FC236}">
                <a16:creationId xmlns:a16="http://schemas.microsoft.com/office/drawing/2014/main" id="{2D626BFC-F232-6455-CCE1-AD6D82605F7B}"/>
              </a:ext>
            </a:extLst>
          </p:cNvPr>
          <p:cNvSpPr txBox="1"/>
          <p:nvPr/>
        </p:nvSpPr>
        <p:spPr>
          <a:xfrm>
            <a:off x="6595352" y="1961135"/>
            <a:ext cx="1789272" cy="400110"/>
          </a:xfrm>
          <a:prstGeom prst="rect">
            <a:avLst/>
          </a:prstGeom>
          <a:noFill/>
        </p:spPr>
        <p:txBody>
          <a:bodyPr wrap="non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中断处理程序</a:t>
            </a:r>
          </a:p>
        </p:txBody>
      </p:sp>
      <p:sp>
        <p:nvSpPr>
          <p:cNvPr id="14" name="文本框 13">
            <a:extLst>
              <a:ext uri="{FF2B5EF4-FFF2-40B4-BE49-F238E27FC236}">
                <a16:creationId xmlns:a16="http://schemas.microsoft.com/office/drawing/2014/main" id="{76013583-8C1F-C1E0-54EC-2231C311A27C}"/>
              </a:ext>
            </a:extLst>
          </p:cNvPr>
          <p:cNvSpPr txBox="1"/>
          <p:nvPr/>
        </p:nvSpPr>
        <p:spPr>
          <a:xfrm>
            <a:off x="2890848" y="2255999"/>
            <a:ext cx="327333" cy="400110"/>
          </a:xfrm>
          <a:prstGeom prst="rect">
            <a:avLst/>
          </a:prstGeom>
          <a:noFill/>
        </p:spPr>
        <p:txBody>
          <a:bodyPr wrap="none" rtlCol="0">
            <a:spAutoFit/>
          </a:bodyPr>
          <a:lstStyle/>
          <a:p>
            <a:pPr algn="ct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文本框 14">
            <a:extLst>
              <a:ext uri="{FF2B5EF4-FFF2-40B4-BE49-F238E27FC236}">
                <a16:creationId xmlns:a16="http://schemas.microsoft.com/office/drawing/2014/main" id="{C50E4CE5-169D-1E17-3644-868584CC44C6}"/>
              </a:ext>
            </a:extLst>
          </p:cNvPr>
          <p:cNvSpPr txBox="1"/>
          <p:nvPr/>
        </p:nvSpPr>
        <p:spPr>
          <a:xfrm>
            <a:off x="2891684" y="2665544"/>
            <a:ext cx="327333" cy="400110"/>
          </a:xfrm>
          <a:prstGeom prst="rect">
            <a:avLst/>
          </a:prstGeom>
          <a:noFill/>
        </p:spPr>
        <p:txBody>
          <a:bodyPr wrap="none" rtlCol="0">
            <a:spAutoFit/>
          </a:bodyPr>
          <a:lstStyle/>
          <a:p>
            <a:pPr algn="ct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文本框 16">
            <a:extLst>
              <a:ext uri="{FF2B5EF4-FFF2-40B4-BE49-F238E27FC236}">
                <a16:creationId xmlns:a16="http://schemas.microsoft.com/office/drawing/2014/main" id="{4B437A25-1245-DC72-8130-5976085DB177}"/>
              </a:ext>
            </a:extLst>
          </p:cNvPr>
          <p:cNvSpPr txBox="1"/>
          <p:nvPr/>
        </p:nvSpPr>
        <p:spPr>
          <a:xfrm>
            <a:off x="2903307" y="3602470"/>
            <a:ext cx="242375" cy="400110"/>
          </a:xfrm>
          <a:prstGeom prst="rect">
            <a:avLst/>
          </a:prstGeom>
          <a:noFill/>
        </p:spPr>
        <p:txBody>
          <a:bodyPr wrap="none" rtlCol="0">
            <a:spAutoFit/>
          </a:bodyPr>
          <a:lstStyle/>
          <a:p>
            <a:pPr algn="ct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文本框 17">
            <a:extLst>
              <a:ext uri="{FF2B5EF4-FFF2-40B4-BE49-F238E27FC236}">
                <a16:creationId xmlns:a16="http://schemas.microsoft.com/office/drawing/2014/main" id="{35AF1805-C89D-21E1-59A2-E52FE786AE37}"/>
              </a:ext>
            </a:extLst>
          </p:cNvPr>
          <p:cNvSpPr txBox="1"/>
          <p:nvPr/>
        </p:nvSpPr>
        <p:spPr>
          <a:xfrm>
            <a:off x="2767998" y="4012015"/>
            <a:ext cx="534122" cy="400110"/>
          </a:xfrm>
          <a:prstGeom prst="rect">
            <a:avLst/>
          </a:prstGeom>
          <a:noFill/>
        </p:spPr>
        <p:txBody>
          <a:bodyPr wrap="none" rtlCol="0">
            <a:spAutoFit/>
          </a:bodyPr>
          <a:lstStyle/>
          <a:p>
            <a:pPr algn="ct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i+1</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文本框 18">
            <a:extLst>
              <a:ext uri="{FF2B5EF4-FFF2-40B4-BE49-F238E27FC236}">
                <a16:creationId xmlns:a16="http://schemas.microsoft.com/office/drawing/2014/main" id="{560D7EDE-3533-47D8-3362-71BF67110D1C}"/>
              </a:ext>
            </a:extLst>
          </p:cNvPr>
          <p:cNvSpPr txBox="1"/>
          <p:nvPr/>
        </p:nvSpPr>
        <p:spPr>
          <a:xfrm>
            <a:off x="2935296" y="5290390"/>
            <a:ext cx="312906" cy="400110"/>
          </a:xfrm>
          <a:prstGeom prst="rect">
            <a:avLst/>
          </a:prstGeom>
          <a:noFill/>
        </p:spPr>
        <p:txBody>
          <a:bodyPr wrap="none" rtlCol="0">
            <a:spAutoFit/>
          </a:bodyPr>
          <a:lstStyle/>
          <a:p>
            <a:pPr algn="ct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k</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21" name="连接符: 肘形 20">
            <a:extLst>
              <a:ext uri="{FF2B5EF4-FFF2-40B4-BE49-F238E27FC236}">
                <a16:creationId xmlns:a16="http://schemas.microsoft.com/office/drawing/2014/main" id="{0105A6CE-CD20-53EB-9A57-48D674BAC8AC}"/>
              </a:ext>
            </a:extLst>
          </p:cNvPr>
          <p:cNvCxnSpPr>
            <a:endCxn id="3" idx="0"/>
          </p:cNvCxnSpPr>
          <p:nvPr/>
        </p:nvCxnSpPr>
        <p:spPr>
          <a:xfrm flipV="1">
            <a:off x="4990290" y="3065654"/>
            <a:ext cx="2461096" cy="729575"/>
          </a:xfrm>
          <a:prstGeom prst="bentConnector4">
            <a:avLst>
              <a:gd name="adj1" fmla="val 32609"/>
              <a:gd name="adj2" fmla="val 131333"/>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23" name="连接符: 肘形 22">
            <a:extLst>
              <a:ext uri="{FF2B5EF4-FFF2-40B4-BE49-F238E27FC236}">
                <a16:creationId xmlns:a16="http://schemas.microsoft.com/office/drawing/2014/main" id="{46244A56-7256-64F2-8E2E-6DA6AA63F74E}"/>
              </a:ext>
            </a:extLst>
          </p:cNvPr>
          <p:cNvCxnSpPr>
            <a:stCxn id="3" idx="2"/>
          </p:cNvCxnSpPr>
          <p:nvPr/>
        </p:nvCxnSpPr>
        <p:spPr>
          <a:xfrm rot="5400000" flipH="1">
            <a:off x="6146259" y="2999183"/>
            <a:ext cx="149157" cy="2461096"/>
          </a:xfrm>
          <a:prstGeom prst="bentConnector4">
            <a:avLst>
              <a:gd name="adj1" fmla="val -264133"/>
              <a:gd name="adj2" fmla="val 67390"/>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26" name="对话气泡: 矩形 25">
            <a:extLst>
              <a:ext uri="{FF2B5EF4-FFF2-40B4-BE49-F238E27FC236}">
                <a16:creationId xmlns:a16="http://schemas.microsoft.com/office/drawing/2014/main" id="{DED7F580-4E00-90F9-D7FB-55F59E794934}"/>
              </a:ext>
            </a:extLst>
          </p:cNvPr>
          <p:cNvSpPr/>
          <p:nvPr/>
        </p:nvSpPr>
        <p:spPr>
          <a:xfrm>
            <a:off x="5286954" y="4913909"/>
            <a:ext cx="1459148" cy="535833"/>
          </a:xfrm>
          <a:prstGeom prst="wedgeRectCallout">
            <a:avLst>
              <a:gd name="adj1" fmla="val -188922"/>
              <a:gd name="adj2" fmla="val -246898"/>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ysClr val="windowText" lastClr="000000"/>
                </a:solidFill>
              </a:rPr>
              <a:t>中断发生处</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3" grpId="0"/>
      <p:bldP spid="26"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917698" y="1483311"/>
            <a:ext cx="9056687" cy="381629"/>
          </a:xfrm>
        </p:spPr>
        <p:txBody>
          <a:bodyPr>
            <a:noAutofit/>
          </a:bodyPr>
          <a:lstStyle/>
          <a:p>
            <a:pPr marL="0" indent="0">
              <a:buNone/>
            </a:pPr>
            <a:r>
              <a:rPr lang="zh-CN" altLang="en-US" sz="2400" dirty="0"/>
              <a:t>中断的作用</a:t>
            </a:r>
          </a:p>
        </p:txBody>
      </p:sp>
      <p:sp>
        <p:nvSpPr>
          <p:cNvPr id="2" name="文本占位符 8"/>
          <p:cNvSpPr>
            <a:spLocks noGrp="1"/>
          </p:cNvSpPr>
          <p:nvPr/>
        </p:nvSpPr>
        <p:spPr>
          <a:xfrm>
            <a:off x="2127003" y="1467760"/>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t>解决了主机和外设并行工作的问题</a:t>
            </a:r>
          </a:p>
          <a:p>
            <a:pPr fontAlgn="auto">
              <a:lnSpc>
                <a:spcPct val="150000"/>
              </a:lnSpc>
            </a:pPr>
            <a:r>
              <a:rPr lang="zh-CN" altLang="en-US" b="0" dirty="0"/>
              <a:t>消除了因外设的慢速而使得主机等待的现象</a:t>
            </a:r>
          </a:p>
          <a:p>
            <a:pPr fontAlgn="auto">
              <a:lnSpc>
                <a:spcPct val="150000"/>
              </a:lnSpc>
            </a:pPr>
            <a:r>
              <a:rPr lang="zh-CN" altLang="en-US" b="0" dirty="0"/>
              <a:t>为多机操作和实时处理提供了硬件基础</a:t>
            </a:r>
          </a:p>
          <a:p>
            <a:pPr fontAlgn="auto">
              <a:lnSpc>
                <a:spcPct val="150000"/>
              </a:lnSpc>
            </a:pPr>
            <a:r>
              <a:rPr lang="zh-CN" altLang="en-US" b="0" dirty="0"/>
              <a:t>充分发挥处理器的使用效率</a:t>
            </a:r>
          </a:p>
          <a:p>
            <a:pPr fontAlgn="auto">
              <a:lnSpc>
                <a:spcPct val="150000"/>
              </a:lnSpc>
            </a:pPr>
            <a:r>
              <a:rPr lang="zh-CN" altLang="en-US" b="0" dirty="0"/>
              <a:t>提高系统的实时能力</a:t>
            </a:r>
          </a:p>
          <a:p>
            <a:pPr fontAlgn="auto">
              <a:lnSpc>
                <a:spcPct val="100000"/>
              </a:lnSpc>
            </a:pPr>
            <a:endParaRPr lang="zh-CN" altLang="en-US" sz="2400" b="0" dirty="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3077" y="1388524"/>
            <a:ext cx="9056687" cy="381629"/>
          </a:xfrm>
        </p:spPr>
        <p:txBody>
          <a:bodyPr>
            <a:noAutofit/>
          </a:bodyPr>
          <a:lstStyle/>
          <a:p>
            <a:pPr marL="0" indent="0">
              <a:buNone/>
            </a:pPr>
            <a:r>
              <a:rPr lang="zh-CN" altLang="en-US" sz="2400" dirty="0"/>
              <a:t>中断系统的概念</a:t>
            </a:r>
          </a:p>
        </p:txBody>
      </p:sp>
      <p:sp>
        <p:nvSpPr>
          <p:cNvPr id="2" name="文本占位符 8"/>
          <p:cNvSpPr>
            <a:spLocks noGrp="1"/>
          </p:cNvSpPr>
          <p:nvPr/>
        </p:nvSpPr>
        <p:spPr>
          <a:xfrm>
            <a:off x="1223388" y="1337213"/>
            <a:ext cx="10258459"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中断源向处理器发出的请求信号称为</a:t>
            </a:r>
            <a:r>
              <a:rPr dirty="0">
                <a:sym typeface="+mn-ea"/>
              </a:rPr>
              <a:t>中断请求</a:t>
            </a:r>
            <a:endParaRPr lang="zh-CN" altLang="en-US" dirty="0"/>
          </a:p>
          <a:p>
            <a:pPr fontAlgn="auto">
              <a:lnSpc>
                <a:spcPct val="150000"/>
              </a:lnSpc>
            </a:pPr>
            <a:r>
              <a:rPr b="0" dirty="0">
                <a:sym typeface="+mn-ea"/>
              </a:rPr>
              <a:t>处理中断事件的那段程序称为</a:t>
            </a:r>
            <a:r>
              <a:rPr dirty="0">
                <a:sym typeface="+mn-ea"/>
              </a:rPr>
              <a:t>中断处理程序</a:t>
            </a:r>
            <a:endParaRPr lang="zh-CN" altLang="en-US" dirty="0"/>
          </a:p>
          <a:p>
            <a:pPr fontAlgn="auto">
              <a:lnSpc>
                <a:spcPct val="150000"/>
              </a:lnSpc>
            </a:pPr>
            <a:r>
              <a:rPr b="0" dirty="0">
                <a:sym typeface="+mn-ea"/>
              </a:rPr>
              <a:t>发生中断时正在执行的程序的暂停点叫做</a:t>
            </a:r>
            <a:r>
              <a:rPr dirty="0">
                <a:sym typeface="+mn-ea"/>
              </a:rPr>
              <a:t>中断断点</a:t>
            </a:r>
            <a:endParaRPr lang="zh-CN" altLang="en-US" dirty="0"/>
          </a:p>
          <a:p>
            <a:pPr fontAlgn="auto">
              <a:lnSpc>
                <a:spcPct val="150000"/>
              </a:lnSpc>
            </a:pPr>
            <a:r>
              <a:rPr b="0" dirty="0">
                <a:sym typeface="+mn-ea"/>
              </a:rPr>
              <a:t>处理器暂停当前程序转而处理中断的过程称为</a:t>
            </a:r>
            <a:r>
              <a:rPr dirty="0">
                <a:sym typeface="+mn-ea"/>
              </a:rPr>
              <a:t>中断响应</a:t>
            </a:r>
            <a:endParaRPr lang="zh-CN" altLang="en-US" dirty="0"/>
          </a:p>
          <a:p>
            <a:pPr fontAlgn="auto">
              <a:lnSpc>
                <a:spcPct val="150000"/>
              </a:lnSpc>
            </a:pPr>
            <a:r>
              <a:rPr b="0" dirty="0">
                <a:sym typeface="+mn-ea"/>
              </a:rPr>
              <a:t>中断处理结束之后恢复原来程序的执行被称为</a:t>
            </a:r>
            <a:r>
              <a:rPr dirty="0">
                <a:sym typeface="+mn-ea"/>
              </a:rPr>
              <a:t>中断返回</a:t>
            </a:r>
            <a:endParaRPr lang="zh-CN" altLang="en-US" dirty="0"/>
          </a:p>
          <a:p>
            <a:pPr fontAlgn="auto">
              <a:lnSpc>
                <a:spcPct val="150000"/>
              </a:lnSpc>
            </a:pPr>
            <a:r>
              <a:rPr lang="zh-CN" altLang="en-US" b="0" dirty="0"/>
              <a:t>中断源的有序集合一般被称为</a:t>
            </a:r>
            <a:r>
              <a:rPr lang="zh-CN" altLang="en-US" dirty="0"/>
              <a:t>中断字</a:t>
            </a:r>
          </a:p>
          <a:p>
            <a:pPr fontAlgn="auto">
              <a:lnSpc>
                <a:spcPct val="150000"/>
              </a:lnSpc>
            </a:pPr>
            <a:r>
              <a:rPr lang="zh-CN" altLang="en-US" b="0" dirty="0"/>
              <a:t>为使中断装置找到恰当的中断处理程序，设计了中断处理程序入口地址</a:t>
            </a:r>
            <a:r>
              <a:rPr lang="zh-CN" altLang="en-US" dirty="0"/>
              <a:t>中断向量表</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612595" y="1418969"/>
            <a:ext cx="9056687" cy="381629"/>
          </a:xfrm>
        </p:spPr>
        <p:txBody>
          <a:bodyPr>
            <a:noAutofit/>
          </a:bodyPr>
          <a:lstStyle/>
          <a:p>
            <a:pPr marL="0" indent="0">
              <a:buNone/>
            </a:pPr>
            <a:r>
              <a:rPr lang="zh-CN" altLang="en-US" sz="2400" dirty="0"/>
              <a:t>中断的分类</a:t>
            </a:r>
          </a:p>
        </p:txBody>
      </p:sp>
      <p:sp>
        <p:nvSpPr>
          <p:cNvPr id="2" name="文本占位符 8"/>
          <p:cNvSpPr>
            <a:spLocks noGrp="1"/>
          </p:cNvSpPr>
          <p:nvPr/>
        </p:nvSpPr>
        <p:spPr>
          <a:xfrm>
            <a:off x="980558" y="1089031"/>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olidFill>
                  <a:srgbClr val="404040"/>
                </a:solidFill>
                <a:sym typeface="+mn-ea"/>
              </a:rPr>
              <a:t>强迫性中断：程序所不期望发生的，具有随机性</a:t>
            </a:r>
          </a:p>
          <a:p>
            <a:pPr lvl="1">
              <a:lnSpc>
                <a:spcPct val="150000"/>
              </a:lnSpc>
            </a:pPr>
            <a:r>
              <a:rPr sz="2000" b="0" dirty="0" err="1">
                <a:solidFill>
                  <a:srgbClr val="404040"/>
                </a:solidFill>
                <a:sym typeface="+mn-ea"/>
              </a:rPr>
              <a:t>程序性中断：运行程序本身的中断时钟中断</a:t>
            </a:r>
            <a:endParaRPr sz="2000" b="0" dirty="0">
              <a:solidFill>
                <a:srgbClr val="404040"/>
              </a:solidFill>
              <a:sym typeface="+mn-ea"/>
            </a:endParaRPr>
          </a:p>
          <a:p>
            <a:pPr lvl="1">
              <a:lnSpc>
                <a:spcPct val="150000"/>
              </a:lnSpc>
            </a:pPr>
            <a:r>
              <a:rPr sz="2000" b="0" dirty="0">
                <a:solidFill>
                  <a:srgbClr val="404040"/>
                </a:solidFill>
                <a:sym typeface="+mn-ea"/>
              </a:rPr>
              <a:t>输入输出（I/O）中断：由I/O控制器产生</a:t>
            </a:r>
          </a:p>
          <a:p>
            <a:pPr lvl="1">
              <a:lnSpc>
                <a:spcPct val="150000"/>
              </a:lnSpc>
            </a:pPr>
            <a:r>
              <a:rPr sz="2000" b="0" dirty="0">
                <a:solidFill>
                  <a:srgbClr val="404040"/>
                </a:solidFill>
                <a:sym typeface="+mn-ea"/>
              </a:rPr>
              <a:t>控制台中断</a:t>
            </a:r>
          </a:p>
          <a:p>
            <a:pPr lvl="1">
              <a:lnSpc>
                <a:spcPct val="150000"/>
              </a:lnSpc>
            </a:pPr>
            <a:r>
              <a:rPr sz="2000" b="0" dirty="0" err="1">
                <a:solidFill>
                  <a:srgbClr val="404040"/>
                </a:solidFill>
                <a:sym typeface="+mn-ea"/>
              </a:rPr>
              <a:t>硬件故障中断</a:t>
            </a:r>
            <a:endParaRPr b="0" dirty="0">
              <a:solidFill>
                <a:srgbClr val="404040"/>
              </a:solidFill>
              <a:sym typeface="+mn-ea"/>
            </a:endParaRPr>
          </a:p>
          <a:p>
            <a:pPr marL="0" indent="0" fontAlgn="auto">
              <a:lnSpc>
                <a:spcPct val="150000"/>
              </a:lnSpc>
              <a:buNone/>
            </a:pPr>
            <a:r>
              <a:rPr b="0" dirty="0">
                <a:solidFill>
                  <a:srgbClr val="404040"/>
                </a:solidFill>
                <a:sym typeface="+mn-ea"/>
              </a:rPr>
              <a:t>自愿性中断：程序有意安排执行的，通常由访管指令引起</a:t>
            </a:r>
            <a:r>
              <a:rPr lang="zh-CN" altLang="en-US" b="0" dirty="0">
                <a:solidFill>
                  <a:srgbClr val="404040"/>
                </a:solidFill>
                <a:sym typeface="+mn-ea"/>
              </a:rPr>
              <a:t>，</a:t>
            </a:r>
            <a:r>
              <a:rPr b="0" dirty="0">
                <a:solidFill>
                  <a:srgbClr val="404040"/>
                </a:solidFill>
                <a:sym typeface="+mn-ea"/>
              </a:rPr>
              <a:t>目的是要求操作系统提供系统服务</a:t>
            </a:r>
            <a:endParaRPr sz="2400" b="0" dirty="0">
              <a:sym typeface="+mn-ea"/>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537181" y="1219113"/>
            <a:ext cx="9056687" cy="381629"/>
          </a:xfrm>
        </p:spPr>
        <p:txBody>
          <a:bodyPr>
            <a:noAutofit/>
          </a:bodyPr>
          <a:lstStyle/>
          <a:p>
            <a:pPr marL="0" indent="0">
              <a:buNone/>
            </a:pPr>
            <a:r>
              <a:rPr lang="zh-CN" altLang="en-US" sz="2400" dirty="0"/>
              <a:t>中断的其他分类方式</a:t>
            </a:r>
          </a:p>
        </p:txBody>
      </p:sp>
      <p:sp>
        <p:nvSpPr>
          <p:cNvPr id="2" name="文本占位符 8"/>
          <p:cNvSpPr>
            <a:spLocks noGrp="1"/>
          </p:cNvSpPr>
          <p:nvPr/>
        </p:nvSpPr>
        <p:spPr>
          <a:xfrm>
            <a:off x="1329349" y="1337213"/>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olidFill>
                  <a:srgbClr val="404040"/>
                </a:solidFill>
                <a:sym typeface="+mn-ea"/>
              </a:rPr>
              <a:t>异步中断：简称为中断</a:t>
            </a:r>
            <a:r>
              <a:rPr lang="zh-CN" altLang="en-US" b="0" dirty="0">
                <a:solidFill>
                  <a:srgbClr val="404040"/>
                </a:solidFill>
                <a:sym typeface="+mn-ea"/>
              </a:rPr>
              <a:t>，</a:t>
            </a:r>
            <a:r>
              <a:rPr b="0" dirty="0">
                <a:solidFill>
                  <a:srgbClr val="404040"/>
                </a:solidFill>
                <a:sym typeface="+mn-ea"/>
              </a:rPr>
              <a:t>对当前程序而言的外部事件激发的，属于外源性质，具有随机性</a:t>
            </a:r>
          </a:p>
          <a:p>
            <a:pPr lvl="1">
              <a:lnSpc>
                <a:spcPct val="150000"/>
              </a:lnSpc>
            </a:pPr>
            <a:r>
              <a:rPr sz="2000" b="0" dirty="0">
                <a:solidFill>
                  <a:srgbClr val="404040"/>
                </a:solidFill>
                <a:sym typeface="+mn-ea"/>
              </a:rPr>
              <a:t>时钟中断</a:t>
            </a:r>
          </a:p>
          <a:p>
            <a:pPr lvl="1">
              <a:lnSpc>
                <a:spcPct val="150000"/>
              </a:lnSpc>
            </a:pPr>
            <a:r>
              <a:rPr sz="2000" b="0" dirty="0">
                <a:solidFill>
                  <a:srgbClr val="404040"/>
                </a:solidFill>
                <a:sym typeface="+mn-ea"/>
              </a:rPr>
              <a:t>输入输出（I/O）中断</a:t>
            </a:r>
          </a:p>
          <a:p>
            <a:pPr lvl="1">
              <a:lnSpc>
                <a:spcPct val="150000"/>
              </a:lnSpc>
            </a:pPr>
            <a:r>
              <a:rPr sz="2000" b="0" dirty="0">
                <a:solidFill>
                  <a:srgbClr val="404040"/>
                </a:solidFill>
                <a:sym typeface="+mn-ea"/>
              </a:rPr>
              <a:t>控制台中断</a:t>
            </a:r>
          </a:p>
          <a:p>
            <a:pPr lvl="1">
              <a:lnSpc>
                <a:spcPct val="150000"/>
              </a:lnSpc>
            </a:pPr>
            <a:r>
              <a:rPr sz="2000" b="0" dirty="0" err="1">
                <a:solidFill>
                  <a:srgbClr val="404040"/>
                </a:solidFill>
                <a:sym typeface="+mn-ea"/>
              </a:rPr>
              <a:t>硬件故障中断</a:t>
            </a:r>
            <a:endParaRPr lang="zh-CN" altLang="en-US" b="0" dirty="0">
              <a:solidFill>
                <a:srgbClr val="404040"/>
              </a:solidFill>
              <a:sym typeface="+mn-ea"/>
            </a:endParaRPr>
          </a:p>
          <a:p>
            <a:pPr marL="0" indent="0" fontAlgn="auto">
              <a:lnSpc>
                <a:spcPct val="150000"/>
              </a:lnSpc>
              <a:buNone/>
            </a:pPr>
            <a:r>
              <a:rPr b="0" dirty="0">
                <a:solidFill>
                  <a:srgbClr val="404040"/>
                </a:solidFill>
                <a:sym typeface="+mn-ea"/>
              </a:rPr>
              <a:t>同步中断：一般称为异常由当前程序的编码决定，发生的位置可以准确预言</a:t>
            </a:r>
          </a:p>
          <a:p>
            <a:pPr lvl="1">
              <a:lnSpc>
                <a:spcPct val="150000"/>
              </a:lnSpc>
            </a:pPr>
            <a:r>
              <a:rPr sz="2000" b="0" dirty="0">
                <a:solidFill>
                  <a:srgbClr val="404040"/>
                </a:solidFill>
                <a:sym typeface="+mn-ea"/>
              </a:rPr>
              <a:t>程序性中断</a:t>
            </a:r>
          </a:p>
          <a:p>
            <a:pPr lvl="1">
              <a:lnSpc>
                <a:spcPct val="150000"/>
              </a:lnSpc>
            </a:pPr>
            <a:r>
              <a:rPr sz="2000" b="0" dirty="0">
                <a:solidFill>
                  <a:srgbClr val="404040"/>
                </a:solidFill>
                <a:sym typeface="+mn-ea"/>
              </a:rPr>
              <a:t>访管指令异常</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744734" y="1640386"/>
            <a:ext cx="9056687" cy="381629"/>
          </a:xfrm>
        </p:spPr>
        <p:txBody>
          <a:bodyPr>
            <a:noAutofit/>
          </a:bodyPr>
          <a:lstStyle/>
          <a:p>
            <a:pPr marL="0" indent="0">
              <a:buNone/>
            </a:pPr>
            <a:r>
              <a:rPr lang="zh-CN" altLang="en-US" sz="2400" dirty="0"/>
              <a:t>中断系统</a:t>
            </a:r>
          </a:p>
        </p:txBody>
      </p:sp>
      <p:sp>
        <p:nvSpPr>
          <p:cNvPr id="2" name="文本占位符 8"/>
          <p:cNvSpPr>
            <a:spLocks noGrp="1"/>
          </p:cNvSpPr>
          <p:nvPr/>
        </p:nvSpPr>
        <p:spPr>
          <a:xfrm>
            <a:off x="1395791" y="1230368"/>
            <a:ext cx="9680704"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olidFill>
                  <a:srgbClr val="404040"/>
                </a:solidFill>
                <a:sym typeface="+mn-ea"/>
              </a:rPr>
              <a:t>中断系统分为两大组成部分：中断系统的硬件中断装置和软件中断处理程序</a:t>
            </a:r>
          </a:p>
          <a:p>
            <a:pPr marL="0" indent="0" fontAlgn="auto">
              <a:lnSpc>
                <a:spcPct val="150000"/>
              </a:lnSpc>
              <a:buNone/>
            </a:pPr>
            <a:endParaRPr b="0" dirty="0">
              <a:solidFill>
                <a:srgbClr val="404040"/>
              </a:solidFill>
              <a:sym typeface="+mn-ea"/>
            </a:endParaRPr>
          </a:p>
          <a:p>
            <a:pPr fontAlgn="auto">
              <a:lnSpc>
                <a:spcPct val="150000"/>
              </a:lnSpc>
            </a:pPr>
            <a:r>
              <a:rPr b="0" dirty="0">
                <a:solidFill>
                  <a:srgbClr val="404040"/>
                </a:solidFill>
                <a:sym typeface="+mn-ea"/>
              </a:rPr>
              <a:t>硬件中断装置负责捕获中断源发出的中断请求，并响应中断源将处理器控制权移交给特定的中断处理程序</a:t>
            </a:r>
          </a:p>
          <a:p>
            <a:pPr fontAlgn="auto">
              <a:lnSpc>
                <a:spcPct val="150000"/>
              </a:lnSpc>
            </a:pPr>
            <a:r>
              <a:rPr b="0" dirty="0">
                <a:solidFill>
                  <a:srgbClr val="404040"/>
                </a:solidFill>
                <a:sym typeface="+mn-ea"/>
              </a:rPr>
              <a:t>中断处理程序针对中断事件的性质而执行相应的一系列操作</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669321" y="1758494"/>
            <a:ext cx="9056687" cy="381629"/>
          </a:xfrm>
        </p:spPr>
        <p:txBody>
          <a:bodyPr>
            <a:noAutofit/>
          </a:bodyPr>
          <a:lstStyle/>
          <a:p>
            <a:pPr marL="0" indent="0">
              <a:buNone/>
            </a:pPr>
            <a:r>
              <a:rPr lang="zh-CN" altLang="en-US" sz="2400" dirty="0"/>
              <a:t>中断请求的接收</a:t>
            </a:r>
          </a:p>
        </p:txBody>
      </p:sp>
      <p:sp>
        <p:nvSpPr>
          <p:cNvPr id="2" name="文本占位符 8"/>
          <p:cNvSpPr>
            <a:spLocks noGrp="1"/>
          </p:cNvSpPr>
          <p:nvPr/>
        </p:nvSpPr>
        <p:spPr>
          <a:xfrm>
            <a:off x="1473626" y="861087"/>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通过在计算机硬件的中断逻辑线路和中断寄存器实现</a:t>
            </a:r>
          </a:p>
          <a:p>
            <a:pPr fontAlgn="auto">
              <a:lnSpc>
                <a:spcPct val="150000"/>
              </a:lnSpc>
            </a:pPr>
            <a:r>
              <a:rPr b="0" dirty="0">
                <a:sym typeface="+mn-ea"/>
              </a:rPr>
              <a:t>中断逻辑线路接收中断信号，把收到的中断信号寄存在硬件触发器中</a:t>
            </a:r>
          </a:p>
          <a:p>
            <a:pPr fontAlgn="auto">
              <a:lnSpc>
                <a:spcPct val="150000"/>
              </a:lnSpc>
            </a:pPr>
            <a:r>
              <a:rPr b="0" dirty="0">
                <a:sym typeface="+mn-ea"/>
              </a:rPr>
              <a:t>中断逻辑线路中有若干个接受中断信号的触发器</a:t>
            </a:r>
            <a:r>
              <a:rPr lang="zh-CN" altLang="en-US" b="0" dirty="0">
                <a:sym typeface="+mn-ea"/>
              </a:rPr>
              <a:t>，</a:t>
            </a:r>
            <a:r>
              <a:rPr b="0" dirty="0">
                <a:sym typeface="+mn-ea"/>
              </a:rPr>
              <a:t>触发器全体称为</a:t>
            </a:r>
            <a:r>
              <a:rPr dirty="0">
                <a:sym typeface="+mn-ea"/>
              </a:rPr>
              <a:t>中断寄存器</a:t>
            </a:r>
            <a:endParaRPr b="0" dirty="0">
              <a:sym typeface="+mn-ea"/>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3077" y="1119589"/>
            <a:ext cx="9056687" cy="381629"/>
          </a:xfrm>
        </p:spPr>
        <p:txBody>
          <a:bodyPr>
            <a:noAutofit/>
          </a:bodyPr>
          <a:lstStyle/>
          <a:p>
            <a:pPr marL="0" indent="0">
              <a:buNone/>
            </a:pPr>
            <a:r>
              <a:rPr lang="zh-CN" altLang="en-US" sz="2400" dirty="0"/>
              <a:t>中断响应</a:t>
            </a:r>
          </a:p>
        </p:txBody>
      </p:sp>
      <p:sp>
        <p:nvSpPr>
          <p:cNvPr id="2" name="文本占位符 8"/>
          <p:cNvSpPr>
            <a:spLocks noGrp="1"/>
          </p:cNvSpPr>
          <p:nvPr/>
        </p:nvSpPr>
        <p:spPr>
          <a:xfrm>
            <a:off x="766666" y="1374499"/>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何时响应</a:t>
            </a:r>
          </a:p>
          <a:p>
            <a:pPr fontAlgn="auto">
              <a:lnSpc>
                <a:spcPct val="100000"/>
              </a:lnSpc>
            </a:pPr>
            <a:r>
              <a:rPr b="0" dirty="0">
                <a:sym typeface="+mn-ea"/>
              </a:rPr>
              <a:t>       在每条指令执行周期内的最后时刻扫描中断寄存器</a:t>
            </a:r>
          </a:p>
          <a:p>
            <a:pPr marL="0" indent="0" fontAlgn="auto">
              <a:lnSpc>
                <a:spcPct val="100000"/>
              </a:lnSpc>
              <a:buNone/>
            </a:pPr>
            <a:endParaRPr b="0" dirty="0">
              <a:sym typeface="+mn-ea"/>
            </a:endParaRPr>
          </a:p>
          <a:p>
            <a:pPr marL="0" indent="0" fontAlgn="auto">
              <a:lnSpc>
                <a:spcPct val="100000"/>
              </a:lnSpc>
              <a:buNone/>
            </a:pPr>
            <a:r>
              <a:rPr b="0" dirty="0">
                <a:sym typeface="+mn-ea"/>
              </a:rPr>
              <a:t>如何响应</a:t>
            </a:r>
          </a:p>
          <a:p>
            <a:pPr fontAlgn="auto">
              <a:lnSpc>
                <a:spcPct val="100000"/>
              </a:lnSpc>
            </a:pPr>
            <a:r>
              <a:rPr b="0" dirty="0">
                <a:sym typeface="+mn-ea"/>
              </a:rPr>
              <a:t>       保存中断点的程序执行上下文环境在一个专门的系统堆栈中，包括程序状态字PSW、程序   </a:t>
            </a:r>
            <a:endParaRPr lang="en-US" b="0" dirty="0">
              <a:sym typeface="+mn-ea"/>
            </a:endParaRPr>
          </a:p>
          <a:p>
            <a:pPr marL="0" indent="0" fontAlgn="auto">
              <a:lnSpc>
                <a:spcPct val="100000"/>
              </a:lnSpc>
              <a:buNone/>
            </a:pPr>
            <a:r>
              <a:rPr lang="zh-CN" altLang="en-US" b="0" dirty="0">
                <a:sym typeface="+mn-ea"/>
              </a:rPr>
              <a:t>          </a:t>
            </a:r>
            <a:r>
              <a:rPr b="0" dirty="0">
                <a:sym typeface="+mn-ea"/>
              </a:rPr>
              <a:t>计数器PC中的下一条指令位置和一些寄存器的值</a:t>
            </a:r>
          </a:p>
          <a:p>
            <a:pPr fontAlgn="auto">
              <a:lnSpc>
                <a:spcPct val="100000"/>
              </a:lnSpc>
            </a:pPr>
            <a:r>
              <a:rPr b="0" dirty="0">
                <a:sym typeface="+mn-ea"/>
              </a:rPr>
              <a:t>       切换到内核态</a:t>
            </a:r>
          </a:p>
          <a:p>
            <a:pPr fontAlgn="auto">
              <a:lnSpc>
                <a:spcPct val="100000"/>
              </a:lnSpc>
            </a:pPr>
            <a:r>
              <a:rPr b="0" dirty="0">
                <a:sym typeface="+mn-ea"/>
              </a:rPr>
              <a:t>       根据中断向量代号查询中断向量表，获得与该中断源相联系的中断处理程序的入口地址，</a:t>
            </a:r>
            <a:endParaRPr lang="en-US" b="0" dirty="0">
              <a:sym typeface="+mn-ea"/>
            </a:endParaRPr>
          </a:p>
          <a:p>
            <a:pPr marL="0" indent="0" fontAlgn="auto">
              <a:lnSpc>
                <a:spcPct val="100000"/>
              </a:lnSpc>
              <a:buNone/>
            </a:pPr>
            <a:r>
              <a:rPr lang="zh-CN" altLang="en-US" b="0" dirty="0">
                <a:sym typeface="+mn-ea"/>
              </a:rPr>
              <a:t>          </a:t>
            </a:r>
            <a:r>
              <a:rPr b="0" dirty="0">
                <a:sym typeface="+mn-ea"/>
              </a:rPr>
              <a:t>并将PC置成该地址</a:t>
            </a:r>
          </a:p>
          <a:p>
            <a:pPr fontAlgn="auto">
              <a:lnSpc>
                <a:spcPct val="100000"/>
              </a:lnSpc>
            </a:pPr>
            <a:r>
              <a:rPr b="0" dirty="0">
                <a:sym typeface="+mn-ea"/>
              </a:rPr>
              <a:t>       控制权转移到中断处理程序</a:t>
            </a:r>
          </a:p>
          <a:p>
            <a:pPr marL="0" indent="0" fontAlgn="auto">
              <a:lnSpc>
                <a:spcPct val="100000"/>
              </a:lnSpc>
              <a:buNone/>
            </a:pPr>
            <a:endParaRPr sz="2400" b="0" dirty="0">
              <a:sym typeface="+mn-ea"/>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992870"/>
            <a:ext cx="9056687" cy="381629"/>
          </a:xfrm>
        </p:spPr>
        <p:txBody>
          <a:bodyPr>
            <a:noAutofit/>
          </a:bodyPr>
          <a:lstStyle/>
          <a:p>
            <a:pPr marL="0" indent="0">
              <a:buNone/>
            </a:pPr>
            <a:r>
              <a:rPr lang="zh-CN" altLang="en-US" sz="2400"/>
              <a:t>中断响应</a:t>
            </a:r>
          </a:p>
        </p:txBody>
      </p:sp>
      <p:sp>
        <p:nvSpPr>
          <p:cNvPr id="2" name="文本占位符 8"/>
          <p:cNvSpPr>
            <a:spLocks noGrp="1"/>
          </p:cNvSpPr>
          <p:nvPr/>
        </p:nvSpPr>
        <p:spPr>
          <a:xfrm>
            <a:off x="4890135" y="5839291"/>
            <a:ext cx="3204845" cy="62547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中断请求响应过程</a:t>
            </a:r>
          </a:p>
        </p:txBody>
      </p:sp>
      <p:sp>
        <p:nvSpPr>
          <p:cNvPr id="3" name="文本占位符 8"/>
          <p:cNvSpPr>
            <a:spLocks noGrp="1"/>
          </p:cNvSpPr>
          <p:nvPr/>
        </p:nvSpPr>
        <p:spPr>
          <a:xfrm>
            <a:off x="8357870" y="1374775"/>
            <a:ext cx="3390900" cy="50190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①处理器接收中断信号</a:t>
            </a:r>
          </a:p>
          <a:p>
            <a:pPr marL="0" indent="0" fontAlgn="auto">
              <a:lnSpc>
                <a:spcPct val="100000"/>
              </a:lnSpc>
              <a:buNone/>
            </a:pPr>
            <a:r>
              <a:rPr b="0" dirty="0">
                <a:sym typeface="+mn-ea"/>
              </a:rPr>
              <a:t>②保护现场，将中断断点的程序状态字PSW和程序计数器PC值存入系统堆栈</a:t>
            </a:r>
          </a:p>
          <a:p>
            <a:pPr marL="0" indent="0" fontAlgn="auto">
              <a:lnSpc>
                <a:spcPct val="100000"/>
              </a:lnSpc>
              <a:buNone/>
            </a:pPr>
            <a:r>
              <a:rPr b="0" dirty="0">
                <a:sym typeface="+mn-ea"/>
              </a:rPr>
              <a:t>③分析中断向量，取得中断处理程序的入口地址</a:t>
            </a:r>
          </a:p>
          <a:p>
            <a:pPr marL="0" indent="0" fontAlgn="auto">
              <a:lnSpc>
                <a:spcPct val="100000"/>
              </a:lnSpc>
              <a:buNone/>
            </a:pPr>
            <a:r>
              <a:rPr b="0" dirty="0">
                <a:sym typeface="+mn-ea"/>
              </a:rPr>
              <a:t>④将处理器的PC值置为中断处理程序的入口地址</a:t>
            </a:r>
          </a:p>
          <a:p>
            <a:pPr marL="0" indent="0" fontAlgn="auto">
              <a:lnSpc>
                <a:spcPct val="100000"/>
              </a:lnSpc>
              <a:buNone/>
            </a:pPr>
            <a:r>
              <a:rPr b="0" dirty="0">
                <a:sym typeface="+mn-ea"/>
              </a:rPr>
              <a:t>⑤调用中断处理程序</a:t>
            </a:r>
          </a:p>
        </p:txBody>
      </p:sp>
      <p:pic>
        <p:nvPicPr>
          <p:cNvPr id="5" name="图片 4">
            <a:extLst>
              <a:ext uri="{FF2B5EF4-FFF2-40B4-BE49-F238E27FC236}">
                <a16:creationId xmlns:a16="http://schemas.microsoft.com/office/drawing/2014/main" id="{565B9ABD-E554-F8D3-420D-C50563E3DCD5}"/>
              </a:ext>
            </a:extLst>
          </p:cNvPr>
          <p:cNvPicPr>
            <a:picLocks noChangeAspect="1"/>
          </p:cNvPicPr>
          <p:nvPr/>
        </p:nvPicPr>
        <p:blipFill>
          <a:blip r:embed="rId3"/>
          <a:stretch>
            <a:fillRect/>
          </a:stretch>
        </p:blipFill>
        <p:spPr>
          <a:xfrm>
            <a:off x="1044406" y="1449482"/>
            <a:ext cx="1095375" cy="1438275"/>
          </a:xfrm>
          <a:prstGeom prst="rect">
            <a:avLst/>
          </a:prstGeom>
        </p:spPr>
      </p:pic>
      <p:pic>
        <p:nvPicPr>
          <p:cNvPr id="11" name="图片 10">
            <a:extLst>
              <a:ext uri="{FF2B5EF4-FFF2-40B4-BE49-F238E27FC236}">
                <a16:creationId xmlns:a16="http://schemas.microsoft.com/office/drawing/2014/main" id="{0EC83BC8-F0B7-378B-9789-58E4A5630C04}"/>
              </a:ext>
            </a:extLst>
          </p:cNvPr>
          <p:cNvPicPr>
            <a:picLocks noChangeAspect="1"/>
          </p:cNvPicPr>
          <p:nvPr/>
        </p:nvPicPr>
        <p:blipFill>
          <a:blip r:embed="rId4"/>
          <a:stretch>
            <a:fillRect/>
          </a:stretch>
        </p:blipFill>
        <p:spPr>
          <a:xfrm>
            <a:off x="3064213" y="1449482"/>
            <a:ext cx="2013625" cy="1480513"/>
          </a:xfrm>
          <a:prstGeom prst="rect">
            <a:avLst/>
          </a:prstGeom>
        </p:spPr>
      </p:pic>
      <p:pic>
        <p:nvPicPr>
          <p:cNvPr id="15" name="图片 14">
            <a:extLst>
              <a:ext uri="{FF2B5EF4-FFF2-40B4-BE49-F238E27FC236}">
                <a16:creationId xmlns:a16="http://schemas.microsoft.com/office/drawing/2014/main" id="{645ED41A-D2B7-7A74-B3ED-63BF23DD0EE9}"/>
              </a:ext>
            </a:extLst>
          </p:cNvPr>
          <p:cNvPicPr>
            <a:picLocks noChangeAspect="1"/>
          </p:cNvPicPr>
          <p:nvPr/>
        </p:nvPicPr>
        <p:blipFill>
          <a:blip r:embed="rId5"/>
          <a:stretch>
            <a:fillRect/>
          </a:stretch>
        </p:blipFill>
        <p:spPr>
          <a:xfrm>
            <a:off x="1941082" y="3102554"/>
            <a:ext cx="1439119" cy="2910578"/>
          </a:xfrm>
          <a:prstGeom prst="rect">
            <a:avLst/>
          </a:prstGeom>
        </p:spPr>
      </p:pic>
      <p:pic>
        <p:nvPicPr>
          <p:cNvPr id="18" name="图片 17">
            <a:extLst>
              <a:ext uri="{FF2B5EF4-FFF2-40B4-BE49-F238E27FC236}">
                <a16:creationId xmlns:a16="http://schemas.microsoft.com/office/drawing/2014/main" id="{19885779-3888-0FBB-A276-C4113E916456}"/>
              </a:ext>
            </a:extLst>
          </p:cNvPr>
          <p:cNvPicPr>
            <a:picLocks noChangeAspect="1"/>
          </p:cNvPicPr>
          <p:nvPr/>
        </p:nvPicPr>
        <p:blipFill>
          <a:blip r:embed="rId6"/>
          <a:stretch>
            <a:fillRect/>
          </a:stretch>
        </p:blipFill>
        <p:spPr>
          <a:xfrm>
            <a:off x="3998449" y="3101414"/>
            <a:ext cx="1567472" cy="2910578"/>
          </a:xfrm>
          <a:prstGeom prst="rect">
            <a:avLst/>
          </a:prstGeom>
        </p:spPr>
      </p:pic>
      <p:pic>
        <p:nvPicPr>
          <p:cNvPr id="20" name="图片 19">
            <a:extLst>
              <a:ext uri="{FF2B5EF4-FFF2-40B4-BE49-F238E27FC236}">
                <a16:creationId xmlns:a16="http://schemas.microsoft.com/office/drawing/2014/main" id="{C505F0A4-EA7A-6675-8CA1-A91CB2BD64C4}"/>
              </a:ext>
            </a:extLst>
          </p:cNvPr>
          <p:cNvPicPr>
            <a:picLocks noChangeAspect="1"/>
          </p:cNvPicPr>
          <p:nvPr/>
        </p:nvPicPr>
        <p:blipFill>
          <a:blip r:embed="rId7"/>
          <a:stretch>
            <a:fillRect/>
          </a:stretch>
        </p:blipFill>
        <p:spPr>
          <a:xfrm>
            <a:off x="5696086" y="2000126"/>
            <a:ext cx="2507197" cy="2857748"/>
          </a:xfrm>
          <a:prstGeom prst="rect">
            <a:avLst/>
          </a:prstGeom>
        </p:spPr>
      </p:pic>
      <p:pic>
        <p:nvPicPr>
          <p:cNvPr id="22" name="图片 21">
            <a:extLst>
              <a:ext uri="{FF2B5EF4-FFF2-40B4-BE49-F238E27FC236}">
                <a16:creationId xmlns:a16="http://schemas.microsoft.com/office/drawing/2014/main" id="{2DCE9C18-0420-5EF2-0460-0714CF399258}"/>
              </a:ext>
            </a:extLst>
          </p:cNvPr>
          <p:cNvPicPr>
            <a:picLocks noChangeAspect="1"/>
          </p:cNvPicPr>
          <p:nvPr/>
        </p:nvPicPr>
        <p:blipFill>
          <a:blip r:embed="rId8"/>
          <a:stretch>
            <a:fillRect/>
          </a:stretch>
        </p:blipFill>
        <p:spPr>
          <a:xfrm>
            <a:off x="2964923" y="2880105"/>
            <a:ext cx="198137" cy="213378"/>
          </a:xfrm>
          <a:prstGeom prst="rect">
            <a:avLst/>
          </a:prstGeom>
        </p:spPr>
      </p:pic>
      <p:pic>
        <p:nvPicPr>
          <p:cNvPr id="24" name="图片 23">
            <a:extLst>
              <a:ext uri="{FF2B5EF4-FFF2-40B4-BE49-F238E27FC236}">
                <a16:creationId xmlns:a16="http://schemas.microsoft.com/office/drawing/2014/main" id="{2DCB3C75-D08E-F90A-AA91-ABA03285BF5A}"/>
              </a:ext>
            </a:extLst>
          </p:cNvPr>
          <p:cNvPicPr>
            <a:picLocks noChangeAspect="1"/>
          </p:cNvPicPr>
          <p:nvPr/>
        </p:nvPicPr>
        <p:blipFill>
          <a:blip r:embed="rId9"/>
          <a:stretch>
            <a:fillRect/>
          </a:stretch>
        </p:blipFill>
        <p:spPr>
          <a:xfrm>
            <a:off x="4817420" y="1685306"/>
            <a:ext cx="228620" cy="274344"/>
          </a:xfrm>
          <a:prstGeom prst="rect">
            <a:avLst/>
          </a:prstGeom>
        </p:spPr>
      </p:pic>
      <p:pic>
        <p:nvPicPr>
          <p:cNvPr id="26" name="图片 25">
            <a:extLst>
              <a:ext uri="{FF2B5EF4-FFF2-40B4-BE49-F238E27FC236}">
                <a16:creationId xmlns:a16="http://schemas.microsoft.com/office/drawing/2014/main" id="{3AF399C5-4B48-548A-D60C-9DBCE84F4E15}"/>
              </a:ext>
            </a:extLst>
          </p:cNvPr>
          <p:cNvPicPr>
            <a:picLocks noChangeAspect="1"/>
          </p:cNvPicPr>
          <p:nvPr/>
        </p:nvPicPr>
        <p:blipFill>
          <a:blip r:embed="rId10"/>
          <a:stretch>
            <a:fillRect/>
          </a:stretch>
        </p:blipFill>
        <p:spPr>
          <a:xfrm>
            <a:off x="5214055" y="2809947"/>
            <a:ext cx="205758" cy="205758"/>
          </a:xfrm>
          <a:prstGeom prst="rect">
            <a:avLst/>
          </a:prstGeom>
        </p:spPr>
      </p:pic>
      <p:cxnSp>
        <p:nvCxnSpPr>
          <p:cNvPr id="28" name="直接箭头连接符 27">
            <a:extLst>
              <a:ext uri="{FF2B5EF4-FFF2-40B4-BE49-F238E27FC236}">
                <a16:creationId xmlns:a16="http://schemas.microsoft.com/office/drawing/2014/main" id="{9E8CFF30-5B06-712B-516F-0569A4CB7CEE}"/>
              </a:ext>
            </a:extLst>
          </p:cNvPr>
          <p:cNvCxnSpPr>
            <a:cxnSpLocks/>
          </p:cNvCxnSpPr>
          <p:nvPr/>
        </p:nvCxnSpPr>
        <p:spPr>
          <a:xfrm flipV="1">
            <a:off x="2292984" y="2000126"/>
            <a:ext cx="771007" cy="785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7250953B-28CB-A520-BAA2-8B82B17073F9}"/>
              </a:ext>
            </a:extLst>
          </p:cNvPr>
          <p:cNvCxnSpPr>
            <a:cxnSpLocks/>
          </p:cNvCxnSpPr>
          <p:nvPr/>
        </p:nvCxnSpPr>
        <p:spPr>
          <a:xfrm flipH="1">
            <a:off x="2359332" y="2633603"/>
            <a:ext cx="1188828" cy="511189"/>
          </a:xfrm>
          <a:prstGeom prst="straightConnector1">
            <a:avLst/>
          </a:prstGeom>
          <a:ln w="19050">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C84A35F8-4C9B-0133-3CD1-B2E48EA13638}"/>
              </a:ext>
            </a:extLst>
          </p:cNvPr>
          <p:cNvCxnSpPr>
            <a:cxnSpLocks/>
          </p:cNvCxnSpPr>
          <p:nvPr/>
        </p:nvCxnSpPr>
        <p:spPr>
          <a:xfrm flipH="1">
            <a:off x="3091883" y="2642674"/>
            <a:ext cx="1126392" cy="502118"/>
          </a:xfrm>
          <a:prstGeom prst="straightConnector1">
            <a:avLst/>
          </a:prstGeom>
          <a:ln w="19050">
            <a:prstDash val="dash"/>
            <a:tailEnd type="triangle"/>
          </a:ln>
        </p:spPr>
        <p:style>
          <a:lnRef idx="1">
            <a:schemeClr val="accent1"/>
          </a:lnRef>
          <a:fillRef idx="0">
            <a:schemeClr val="accent1"/>
          </a:fillRef>
          <a:effectRef idx="0">
            <a:schemeClr val="accent1"/>
          </a:effectRef>
          <a:fontRef idx="minor">
            <a:schemeClr val="tx1"/>
          </a:fontRef>
        </p:style>
      </p:cxnSp>
      <p:cxnSp>
        <p:nvCxnSpPr>
          <p:cNvPr id="40" name="连接符: 肘形 39">
            <a:extLst>
              <a:ext uri="{FF2B5EF4-FFF2-40B4-BE49-F238E27FC236}">
                <a16:creationId xmlns:a16="http://schemas.microsoft.com/office/drawing/2014/main" id="{A2312CC6-9B58-CF5F-EABF-6888EF20FE91}"/>
              </a:ext>
            </a:extLst>
          </p:cNvPr>
          <p:cNvCxnSpPr>
            <a:endCxn id="18" idx="0"/>
          </p:cNvCxnSpPr>
          <p:nvPr/>
        </p:nvCxnSpPr>
        <p:spPr>
          <a:xfrm rot="16200000" flipH="1">
            <a:off x="3998875" y="2318104"/>
            <a:ext cx="1325954" cy="240665"/>
          </a:xfrm>
          <a:prstGeom prst="bentConnector3">
            <a:avLst>
              <a:gd name="adj1" fmla="val -4020"/>
            </a:avLst>
          </a:prstGeom>
          <a:ln w="19050">
            <a:prstDash val="dash"/>
            <a:tailEnd type="triangle"/>
          </a:ln>
        </p:spPr>
        <p:style>
          <a:lnRef idx="1">
            <a:schemeClr val="accent1"/>
          </a:lnRef>
          <a:fillRef idx="0">
            <a:schemeClr val="accent1"/>
          </a:fillRef>
          <a:effectRef idx="0">
            <a:schemeClr val="accent1"/>
          </a:effectRef>
          <a:fontRef idx="minor">
            <a:schemeClr val="tx1"/>
          </a:fontRef>
        </p:style>
      </p:cxnSp>
      <p:cxnSp>
        <p:nvCxnSpPr>
          <p:cNvPr id="53" name="连接符: 肘形 52">
            <a:extLst>
              <a:ext uri="{FF2B5EF4-FFF2-40B4-BE49-F238E27FC236}">
                <a16:creationId xmlns:a16="http://schemas.microsoft.com/office/drawing/2014/main" id="{8F5B9D01-5870-B7BE-503E-0972A3EBB4ED}"/>
              </a:ext>
            </a:extLst>
          </p:cNvPr>
          <p:cNvCxnSpPr>
            <a:cxnSpLocks/>
          </p:cNvCxnSpPr>
          <p:nvPr/>
        </p:nvCxnSpPr>
        <p:spPr>
          <a:xfrm rot="16200000" flipV="1">
            <a:off x="4327923" y="2564355"/>
            <a:ext cx="1313970" cy="1178985"/>
          </a:xfrm>
          <a:prstGeom prst="bentConnector3">
            <a:avLst>
              <a:gd name="adj1" fmla="val 101033"/>
            </a:avLst>
          </a:prstGeom>
          <a:ln w="19050">
            <a:prstDash val="dash"/>
            <a:tailEnd type="triangle"/>
          </a:ln>
        </p:spPr>
        <p:style>
          <a:lnRef idx="1">
            <a:schemeClr val="accent1"/>
          </a:lnRef>
          <a:fillRef idx="0">
            <a:schemeClr val="accent1"/>
          </a:fillRef>
          <a:effectRef idx="0">
            <a:schemeClr val="accent1"/>
          </a:effectRef>
          <a:fontRef idx="minor">
            <a:schemeClr val="tx1"/>
          </a:fontRef>
        </p:style>
      </p:cxnSp>
      <p:cxnSp>
        <p:nvCxnSpPr>
          <p:cNvPr id="86190541" name="直接连接符 86190540">
            <a:extLst>
              <a:ext uri="{FF2B5EF4-FFF2-40B4-BE49-F238E27FC236}">
                <a16:creationId xmlns:a16="http://schemas.microsoft.com/office/drawing/2014/main" id="{103FA432-6B76-B601-9888-14458FD50477}"/>
              </a:ext>
            </a:extLst>
          </p:cNvPr>
          <p:cNvCxnSpPr/>
          <p:nvPr/>
        </p:nvCxnSpPr>
        <p:spPr>
          <a:xfrm flipH="1">
            <a:off x="5354111" y="3813367"/>
            <a:ext cx="211810" cy="0"/>
          </a:xfrm>
          <a:prstGeom prst="line">
            <a:avLst/>
          </a:prstGeom>
          <a:ln w="19050">
            <a:solidFill>
              <a:srgbClr val="9A0001"/>
            </a:soli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40"/>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6190541"/>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3077" y="1183684"/>
            <a:ext cx="9056687" cy="381629"/>
          </a:xfrm>
        </p:spPr>
        <p:txBody>
          <a:bodyPr>
            <a:noAutofit/>
          </a:bodyPr>
          <a:lstStyle/>
          <a:p>
            <a:pPr marL="0" indent="0">
              <a:buNone/>
            </a:pPr>
            <a:r>
              <a:rPr lang="zh-CN" altLang="en-US" sz="2400" dirty="0"/>
              <a:t>中断响应</a:t>
            </a:r>
          </a:p>
        </p:txBody>
      </p:sp>
      <p:sp>
        <p:nvSpPr>
          <p:cNvPr id="2" name="文本占位符 8"/>
          <p:cNvSpPr>
            <a:spLocks noGrp="1"/>
          </p:cNvSpPr>
          <p:nvPr/>
        </p:nvSpPr>
        <p:spPr>
          <a:xfrm>
            <a:off x="971132" y="1183684"/>
            <a:ext cx="1024676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两个问题：</a:t>
            </a:r>
            <a:endParaRPr lang="en-US" b="0" dirty="0">
              <a:sym typeface="+mn-ea"/>
            </a:endParaRPr>
          </a:p>
          <a:p>
            <a:pPr marL="0" indent="0" fontAlgn="auto">
              <a:lnSpc>
                <a:spcPct val="150000"/>
              </a:lnSpc>
              <a:buNone/>
            </a:pPr>
            <a:r>
              <a:rPr lang="zh-CN" altLang="en-US" b="0" dirty="0">
                <a:sym typeface="+mn-ea"/>
              </a:rPr>
              <a:t>        </a:t>
            </a:r>
            <a:r>
              <a:rPr b="0" dirty="0">
                <a:sym typeface="+mn-ea"/>
              </a:rPr>
              <a:t>一是CPU何时响应中断</a:t>
            </a:r>
            <a:endParaRPr lang="en-US" b="0" dirty="0">
              <a:sym typeface="+mn-ea"/>
            </a:endParaRPr>
          </a:p>
          <a:p>
            <a:pPr marL="0" indent="0" fontAlgn="auto">
              <a:lnSpc>
                <a:spcPct val="150000"/>
              </a:lnSpc>
              <a:buNone/>
            </a:pPr>
            <a:r>
              <a:rPr b="0" dirty="0">
                <a:sym typeface="+mn-ea"/>
              </a:rPr>
              <a:t>        二是如何知道提出中断请求的设备或中断源</a:t>
            </a:r>
            <a:endParaRPr lang="en-US" b="0" dirty="0">
              <a:sym typeface="+mn-ea"/>
            </a:endParaRPr>
          </a:p>
          <a:p>
            <a:pPr marL="0" indent="0" fontAlgn="auto">
              <a:lnSpc>
                <a:spcPct val="150000"/>
              </a:lnSpc>
              <a:buNone/>
            </a:pPr>
            <a:r>
              <a:rPr b="0" dirty="0">
                <a:sym typeface="+mn-ea"/>
              </a:rPr>
              <a:t>解决方法：</a:t>
            </a:r>
          </a:p>
          <a:p>
            <a:pPr fontAlgn="auto">
              <a:lnSpc>
                <a:spcPct val="150000"/>
              </a:lnSpc>
            </a:pPr>
            <a:r>
              <a:rPr b="0" dirty="0">
                <a:sym typeface="+mn-ea"/>
              </a:rPr>
              <a:t>用软件指令去查询各设备接口，但比较费时</a:t>
            </a:r>
          </a:p>
          <a:p>
            <a:pPr fontAlgn="auto">
              <a:lnSpc>
                <a:spcPct val="150000"/>
              </a:lnSpc>
            </a:pPr>
            <a:r>
              <a:rPr b="0" dirty="0">
                <a:sym typeface="+mn-ea"/>
              </a:rPr>
              <a:t>使用“向量中断”硬件设施，CPU接受某优先级较高的中断请求时，该设备接口给处理器发送一个具有唯一性的“中断向量”，以标识该设备</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337213"/>
            <a:ext cx="9056687" cy="381629"/>
          </a:xfrm>
        </p:spPr>
        <p:txBody>
          <a:bodyPr>
            <a:noAutofit/>
          </a:bodyPr>
          <a:lstStyle/>
          <a:p>
            <a:pPr marL="0" indent="0">
              <a:buNone/>
            </a:pPr>
            <a:r>
              <a:rPr lang="zh-CN" altLang="en-US" sz="2400" dirty="0"/>
              <a:t>中断向量表和中断优先级</a:t>
            </a:r>
          </a:p>
        </p:txBody>
      </p:sp>
      <p:sp>
        <p:nvSpPr>
          <p:cNvPr id="2" name="文本占位符 8"/>
          <p:cNvSpPr>
            <a:spLocks noGrp="1"/>
          </p:cNvSpPr>
          <p:nvPr/>
        </p:nvSpPr>
        <p:spPr>
          <a:xfrm>
            <a:off x="974056" y="1337213"/>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中断向量表</a:t>
            </a:r>
          </a:p>
          <a:p>
            <a:pPr fontAlgn="auto">
              <a:lnSpc>
                <a:spcPct val="100000"/>
              </a:lnSpc>
            </a:pPr>
            <a:r>
              <a:rPr b="0" dirty="0">
                <a:sym typeface="+mn-ea"/>
              </a:rPr>
              <a:t>有的机器中，将主存的最低位的128个字保留作为中断向量表，每个中断向量占两个字</a:t>
            </a:r>
          </a:p>
          <a:p>
            <a:pPr fontAlgn="auto">
              <a:lnSpc>
                <a:spcPct val="100000"/>
              </a:lnSpc>
            </a:pPr>
            <a:r>
              <a:rPr b="0" dirty="0">
                <a:sym typeface="+mn-ea"/>
              </a:rPr>
              <a:t>中断请求的设备接口为了标识自己，向处理器发送一个该设备在中断向量表中表目地址指针</a:t>
            </a:r>
          </a:p>
          <a:p>
            <a:pPr marL="0" indent="0" fontAlgn="auto">
              <a:lnSpc>
                <a:spcPct val="100000"/>
              </a:lnSpc>
              <a:buNone/>
            </a:pPr>
            <a:endParaRPr b="0" dirty="0">
              <a:sym typeface="+mn-ea"/>
            </a:endParaRPr>
          </a:p>
          <a:p>
            <a:pPr marL="0" indent="0" fontAlgn="auto">
              <a:lnSpc>
                <a:spcPct val="100000"/>
              </a:lnSpc>
              <a:buNone/>
            </a:pPr>
            <a:r>
              <a:rPr b="0" dirty="0">
                <a:sym typeface="+mn-ea"/>
              </a:rPr>
              <a:t>中断优先级</a:t>
            </a:r>
          </a:p>
          <a:p>
            <a:pPr fontAlgn="auto">
              <a:lnSpc>
                <a:spcPct val="100000"/>
              </a:lnSpc>
            </a:pPr>
            <a:r>
              <a:rPr b="0" dirty="0">
                <a:sym typeface="+mn-ea"/>
              </a:rPr>
              <a:t>以机器故障中断的优先级最高</a:t>
            </a:r>
          </a:p>
          <a:p>
            <a:pPr fontAlgn="auto">
              <a:lnSpc>
                <a:spcPct val="100000"/>
              </a:lnSpc>
            </a:pPr>
            <a:r>
              <a:rPr b="0" dirty="0">
                <a:sym typeface="+mn-ea"/>
              </a:rPr>
              <a:t>程序中断和访问管理程序中断次之</a:t>
            </a:r>
          </a:p>
          <a:p>
            <a:pPr fontAlgn="auto">
              <a:lnSpc>
                <a:spcPct val="100000"/>
              </a:lnSpc>
            </a:pPr>
            <a:r>
              <a:rPr b="0" dirty="0">
                <a:sym typeface="+mn-ea"/>
              </a:rPr>
              <a:t>外部中断更次之</a:t>
            </a:r>
          </a:p>
          <a:p>
            <a:pPr fontAlgn="auto">
              <a:lnSpc>
                <a:spcPct val="100000"/>
              </a:lnSpc>
            </a:pPr>
            <a:r>
              <a:rPr b="0" dirty="0">
                <a:sym typeface="+mn-ea"/>
              </a:rPr>
              <a:t>输入输出的优先级最低</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593742" y="1481594"/>
            <a:ext cx="9056687" cy="381629"/>
          </a:xfrm>
        </p:spPr>
        <p:txBody>
          <a:bodyPr>
            <a:noAutofit/>
          </a:bodyPr>
          <a:lstStyle/>
          <a:p>
            <a:pPr marL="0" indent="0">
              <a:buNone/>
            </a:pPr>
            <a:r>
              <a:rPr lang="zh-CN" altLang="en-US" sz="2400" dirty="0"/>
              <a:t>中断屏蔽</a:t>
            </a:r>
          </a:p>
        </p:txBody>
      </p:sp>
      <p:sp>
        <p:nvSpPr>
          <p:cNvPr id="2" name="文本占位符 8"/>
          <p:cNvSpPr>
            <a:spLocks noGrp="1"/>
          </p:cNvSpPr>
          <p:nvPr/>
        </p:nvSpPr>
        <p:spPr>
          <a:xfrm>
            <a:off x="766666" y="1311911"/>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有时在CPU上运行的程序，不希望其在执行过程中被别的事件所中断，这种情况称为中断屏蔽</a:t>
            </a:r>
          </a:p>
          <a:p>
            <a:pPr fontAlgn="auto">
              <a:lnSpc>
                <a:spcPct val="150000"/>
              </a:lnSpc>
            </a:pPr>
            <a:r>
              <a:rPr b="0" dirty="0">
                <a:sym typeface="+mn-ea"/>
              </a:rPr>
              <a:t>在程序状态字PSW中设置中断屏蔽码以屏蔽某些指定的中断类型</a:t>
            </a:r>
          </a:p>
          <a:p>
            <a:pPr fontAlgn="auto">
              <a:lnSpc>
                <a:spcPct val="150000"/>
              </a:lnSpc>
            </a:pPr>
            <a:r>
              <a:rPr b="0" dirty="0">
                <a:sym typeface="+mn-ea"/>
              </a:rPr>
              <a:t>如果其程序状态字中的中断禁止位建立后，则屏蔽中断</a:t>
            </a:r>
            <a:endParaRPr lang="en-US" b="0" dirty="0">
              <a:sym typeface="+mn-ea"/>
            </a:endParaRPr>
          </a:p>
          <a:p>
            <a:pPr fontAlgn="auto">
              <a:lnSpc>
                <a:spcPct val="150000"/>
              </a:lnSpc>
            </a:pPr>
            <a:r>
              <a:rPr b="0" dirty="0">
                <a:sym typeface="+mn-ea"/>
              </a:rPr>
              <a:t>如果程序状态字中的中断禁止位未建立，则可以接受其中断优先级高于运行程序的中断优先级那些中断</a:t>
            </a:r>
          </a:p>
          <a:p>
            <a:pPr fontAlgn="auto">
              <a:lnSpc>
                <a:spcPct val="150000"/>
              </a:lnSpc>
            </a:pPr>
            <a:r>
              <a:rPr b="0" dirty="0">
                <a:sym typeface="+mn-ea"/>
              </a:rPr>
              <a:t>各设备的接口中也有中断禁止位可用以禁止该设备的中断</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3077" y="1313382"/>
            <a:ext cx="9056687" cy="381629"/>
          </a:xfrm>
        </p:spPr>
        <p:txBody>
          <a:bodyPr>
            <a:noAutofit/>
          </a:bodyPr>
          <a:lstStyle/>
          <a:p>
            <a:pPr marL="0" indent="0">
              <a:buNone/>
            </a:pPr>
            <a:r>
              <a:rPr lang="zh-CN" altLang="en-US" sz="2400"/>
              <a:t>中断处理</a:t>
            </a:r>
          </a:p>
        </p:txBody>
      </p:sp>
      <p:sp>
        <p:nvSpPr>
          <p:cNvPr id="2" name="文本占位符 8"/>
          <p:cNvSpPr>
            <a:spLocks noGrp="1"/>
          </p:cNvSpPr>
          <p:nvPr/>
        </p:nvSpPr>
        <p:spPr>
          <a:xfrm>
            <a:off x="766666" y="992870"/>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典型的处理过程：</a:t>
            </a:r>
            <a:endParaRPr lang="en-US" b="0" dirty="0">
              <a:sym typeface="+mn-ea"/>
            </a:endParaRPr>
          </a:p>
          <a:p>
            <a:pPr>
              <a:lnSpc>
                <a:spcPct val="150000"/>
              </a:lnSpc>
            </a:pPr>
            <a:r>
              <a:rPr lang="en-US" altLang="zh-CN" b="0" dirty="0">
                <a:sym typeface="+mn-ea"/>
              </a:rPr>
              <a:t>1.  </a:t>
            </a:r>
            <a:r>
              <a:rPr b="0" dirty="0">
                <a:sym typeface="+mn-ea"/>
              </a:rPr>
              <a:t>设备给处理器发了一个中断信号</a:t>
            </a:r>
          </a:p>
          <a:p>
            <a:pPr fontAlgn="auto">
              <a:lnSpc>
                <a:spcPct val="150000"/>
              </a:lnSpc>
            </a:pPr>
            <a:r>
              <a:rPr b="0" dirty="0">
                <a:sym typeface="+mn-ea"/>
              </a:rPr>
              <a:t>2．处理器处理完当前指令后响应中断，这个延迟非常短</a:t>
            </a:r>
            <a:endParaRPr lang="en-US" b="0" dirty="0">
              <a:sym typeface="+mn-ea"/>
            </a:endParaRPr>
          </a:p>
          <a:p>
            <a:pPr fontAlgn="auto">
              <a:lnSpc>
                <a:spcPct val="150000"/>
              </a:lnSpc>
            </a:pPr>
            <a:r>
              <a:rPr b="0" dirty="0">
                <a:sym typeface="+mn-ea"/>
              </a:rPr>
              <a:t>3．处理器处理完当前指令后检测到中断，判断出中断来源并向发送中断的设备发送了确认中断信号，确认信号使得该设备将中断信号恢复到一般状态</a:t>
            </a:r>
          </a:p>
          <a:p>
            <a:pPr fontAlgn="auto">
              <a:lnSpc>
                <a:spcPct val="150000"/>
              </a:lnSpc>
            </a:pPr>
            <a:r>
              <a:rPr b="0" dirty="0">
                <a:sym typeface="+mn-ea"/>
              </a:rPr>
              <a:t>4．处理器开始为软件处理中断做准备：保存中断点的程序执行上下文环境</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454784"/>
            <a:ext cx="9056687" cy="381629"/>
          </a:xfrm>
        </p:spPr>
        <p:txBody>
          <a:bodyPr>
            <a:noAutofit/>
          </a:bodyPr>
          <a:lstStyle/>
          <a:p>
            <a:pPr marL="0" indent="0">
              <a:buNone/>
            </a:pPr>
            <a:r>
              <a:rPr lang="zh-CN" altLang="en-US" sz="2400" dirty="0"/>
              <a:t>中断处理</a:t>
            </a:r>
          </a:p>
        </p:txBody>
      </p:sp>
      <p:sp>
        <p:nvSpPr>
          <p:cNvPr id="2" name="文本占位符 8"/>
          <p:cNvSpPr>
            <a:spLocks noGrp="1"/>
          </p:cNvSpPr>
          <p:nvPr/>
        </p:nvSpPr>
        <p:spPr>
          <a:xfrm>
            <a:off x="604837" y="1183684"/>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典型的处理过程（续）</a:t>
            </a:r>
          </a:p>
          <a:p>
            <a:pPr fontAlgn="auto">
              <a:lnSpc>
                <a:spcPct val="150000"/>
              </a:lnSpc>
            </a:pPr>
            <a:r>
              <a:rPr b="0" dirty="0">
                <a:sym typeface="+mn-ea"/>
              </a:rPr>
              <a:t>5．处理器根据中断源查询中断向量表，获得与该中断相联系的处理程序入口地</a:t>
            </a:r>
            <a:r>
              <a:rPr lang="zh-CN" altLang="en-US" b="0" dirty="0">
                <a:sym typeface="+mn-ea"/>
              </a:rPr>
              <a:t>址</a:t>
            </a:r>
            <a:r>
              <a:rPr b="0" dirty="0">
                <a:sym typeface="+mn-ea"/>
              </a:rPr>
              <a:t>，处理器控制转移到中断处理程序</a:t>
            </a:r>
          </a:p>
          <a:p>
            <a:pPr fontAlgn="auto">
              <a:lnSpc>
                <a:spcPct val="150000"/>
              </a:lnSpc>
            </a:pPr>
            <a:r>
              <a:rPr b="0" dirty="0">
                <a:sym typeface="+mn-ea"/>
              </a:rPr>
              <a:t>6．中断处理程序开始工作</a:t>
            </a:r>
            <a:endParaRPr lang="en-US" b="0" dirty="0">
              <a:sym typeface="+mn-ea"/>
            </a:endParaRPr>
          </a:p>
          <a:p>
            <a:pPr fontAlgn="auto">
              <a:lnSpc>
                <a:spcPct val="150000"/>
              </a:lnSpc>
            </a:pPr>
            <a:r>
              <a:rPr b="0" dirty="0">
                <a:sym typeface="+mn-ea"/>
              </a:rPr>
              <a:t>7．中断处理结束时，</a:t>
            </a:r>
            <a:r>
              <a:rPr lang="zh-CN" altLang="en-US" b="0" dirty="0">
                <a:sym typeface="+mn-ea"/>
              </a:rPr>
              <a:t>恢复</a:t>
            </a:r>
            <a:r>
              <a:rPr b="0" dirty="0">
                <a:sym typeface="+mn-ea"/>
              </a:rPr>
              <a:t>上下文环境。处理器状态恢复成原来的状态</a:t>
            </a:r>
          </a:p>
          <a:p>
            <a:pPr fontAlgn="auto">
              <a:lnSpc>
                <a:spcPct val="150000"/>
              </a:lnSpc>
            </a:pPr>
            <a:r>
              <a:rPr b="0" dirty="0">
                <a:sym typeface="+mn-ea"/>
              </a:rPr>
              <a:t>8．处理器开始一个新的指令周期，中断处理结束</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604837" y="1478170"/>
            <a:ext cx="9056687" cy="381629"/>
          </a:xfrm>
        </p:spPr>
        <p:txBody>
          <a:bodyPr>
            <a:noAutofit/>
          </a:bodyPr>
          <a:lstStyle/>
          <a:p>
            <a:pPr marL="0" indent="0">
              <a:buNone/>
            </a:pPr>
            <a:r>
              <a:rPr lang="zh-CN" altLang="en-US" sz="2400" dirty="0"/>
              <a:t>典型中断的处理</a:t>
            </a:r>
            <a:r>
              <a:rPr lang="en-US" altLang="zh-CN" sz="2400" dirty="0"/>
              <a:t>-I/</a:t>
            </a:r>
            <a:r>
              <a:rPr lang="en-US" altLang="zh-CN" sz="2400" dirty="0" err="1"/>
              <a:t>O中断</a:t>
            </a:r>
            <a:endParaRPr lang="en-US" altLang="zh-CN" sz="2400" dirty="0"/>
          </a:p>
        </p:txBody>
      </p:sp>
      <p:sp>
        <p:nvSpPr>
          <p:cNvPr id="2" name="文本占位符 8"/>
          <p:cNvSpPr>
            <a:spLocks noGrp="1"/>
          </p:cNvSpPr>
          <p:nvPr/>
        </p:nvSpPr>
        <p:spPr>
          <a:xfrm>
            <a:off x="1038469" y="1134465"/>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由I/O设备的控制器或者通道发出</a:t>
            </a:r>
            <a:endParaRPr lang="en-US" b="0" dirty="0">
              <a:sym typeface="+mn-ea"/>
            </a:endParaRPr>
          </a:p>
          <a:p>
            <a:pPr marL="0" indent="0" fontAlgn="auto">
              <a:lnSpc>
                <a:spcPct val="100000"/>
              </a:lnSpc>
              <a:buNone/>
            </a:pPr>
            <a:endParaRPr b="0" dirty="0">
              <a:sym typeface="+mn-ea"/>
            </a:endParaRPr>
          </a:p>
          <a:p>
            <a:pPr marL="0" indent="0" fontAlgn="auto">
              <a:lnSpc>
                <a:spcPct val="100000"/>
              </a:lnSpc>
              <a:buNone/>
            </a:pPr>
            <a:r>
              <a:rPr b="0" dirty="0">
                <a:sym typeface="+mn-ea"/>
              </a:rPr>
              <a:t>两大类：I/O操作正常结束以及I/O异常</a:t>
            </a:r>
            <a:endParaRPr lang="en-US" b="0" dirty="0">
              <a:sym typeface="+mn-ea"/>
            </a:endParaRPr>
          </a:p>
          <a:p>
            <a:pPr marL="0" indent="0" fontAlgn="auto">
              <a:lnSpc>
                <a:spcPct val="100000"/>
              </a:lnSpc>
              <a:buNone/>
            </a:pPr>
            <a:endParaRPr b="0" dirty="0">
              <a:sym typeface="+mn-ea"/>
            </a:endParaRPr>
          </a:p>
          <a:p>
            <a:pPr fontAlgn="auto">
              <a:lnSpc>
                <a:spcPct val="100000"/>
              </a:lnSpc>
            </a:pPr>
            <a:r>
              <a:rPr b="0" dirty="0">
                <a:sym typeface="+mn-ea"/>
              </a:rPr>
              <a:t>如果要继续进行I/O操作，则需要在准备好以后重新启动I/O。若请求I/O的程序正处于等待I/O的状态，则应该将其唤醒</a:t>
            </a:r>
          </a:p>
          <a:p>
            <a:pPr fontAlgn="auto">
              <a:lnSpc>
                <a:spcPct val="100000"/>
              </a:lnSpc>
            </a:pPr>
            <a:r>
              <a:rPr b="0" dirty="0">
                <a:sym typeface="+mn-ea"/>
              </a:rPr>
              <a:t>需要重新执行失败的I/O操作，次数有上限，次数过大的时候，系统将判定硬件故障</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470660"/>
            <a:ext cx="9056687" cy="381629"/>
          </a:xfrm>
        </p:spPr>
        <p:txBody>
          <a:bodyPr>
            <a:noAutofit/>
          </a:bodyPr>
          <a:lstStyle/>
          <a:p>
            <a:pPr marL="0" indent="0">
              <a:buNone/>
            </a:pPr>
            <a:r>
              <a:rPr lang="zh-CN" altLang="en-US" sz="2400" dirty="0"/>
              <a:t>典型中断的处理</a:t>
            </a:r>
            <a:r>
              <a:rPr lang="en-US" altLang="zh-CN" sz="2400" dirty="0"/>
              <a:t>-</a:t>
            </a:r>
            <a:r>
              <a:rPr lang="en-US" altLang="zh-CN" sz="2400" dirty="0" err="1"/>
              <a:t>时钟中断</a:t>
            </a:r>
            <a:endParaRPr lang="en-US" altLang="zh-CN" sz="2400" dirty="0"/>
          </a:p>
        </p:txBody>
      </p:sp>
      <p:sp>
        <p:nvSpPr>
          <p:cNvPr id="2" name="文本占位符 8"/>
          <p:cNvSpPr>
            <a:spLocks noGrp="1"/>
          </p:cNvSpPr>
          <p:nvPr/>
        </p:nvSpPr>
        <p:spPr>
          <a:xfrm>
            <a:off x="1209675" y="1099150"/>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时钟中断处理程序通常要做较多的与系统运转、管理和维护相关的工作包括：</a:t>
            </a:r>
          </a:p>
          <a:p>
            <a:pPr fontAlgn="auto">
              <a:lnSpc>
                <a:spcPct val="150000"/>
              </a:lnSpc>
            </a:pPr>
            <a:r>
              <a:rPr b="0" dirty="0">
                <a:sym typeface="+mn-ea"/>
              </a:rPr>
              <a:t>        维护软件时钟</a:t>
            </a:r>
            <a:endParaRPr lang="en-US" b="0" dirty="0">
              <a:sym typeface="+mn-ea"/>
            </a:endParaRPr>
          </a:p>
          <a:p>
            <a:pPr fontAlgn="auto">
              <a:lnSpc>
                <a:spcPct val="150000"/>
              </a:lnSpc>
            </a:pPr>
            <a:r>
              <a:rPr b="0" dirty="0">
                <a:sym typeface="+mn-ea"/>
              </a:rPr>
              <a:t>        处理器调度</a:t>
            </a:r>
            <a:endParaRPr lang="en-US" b="0" dirty="0">
              <a:sym typeface="+mn-ea"/>
            </a:endParaRPr>
          </a:p>
          <a:p>
            <a:pPr fontAlgn="auto">
              <a:lnSpc>
                <a:spcPct val="150000"/>
              </a:lnSpc>
            </a:pPr>
            <a:r>
              <a:rPr b="0" dirty="0">
                <a:sym typeface="+mn-ea"/>
              </a:rPr>
              <a:t>        控制系统定时任务</a:t>
            </a:r>
            <a:endParaRPr lang="en-US" b="0" dirty="0">
              <a:sym typeface="+mn-ea"/>
            </a:endParaRPr>
          </a:p>
          <a:p>
            <a:pPr fontAlgn="auto">
              <a:lnSpc>
                <a:spcPct val="150000"/>
              </a:lnSpc>
            </a:pPr>
            <a:r>
              <a:rPr b="0" dirty="0">
                <a:sym typeface="+mn-ea"/>
              </a:rPr>
              <a:t>        实时处理</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3077" y="1787183"/>
            <a:ext cx="9056687" cy="381629"/>
          </a:xfrm>
        </p:spPr>
        <p:txBody>
          <a:bodyPr>
            <a:noAutofit/>
          </a:bodyPr>
          <a:lstStyle/>
          <a:p>
            <a:pPr marL="0" indent="0">
              <a:buNone/>
            </a:pPr>
            <a:r>
              <a:rPr lang="zh-CN" altLang="en-US" sz="2400" dirty="0"/>
              <a:t>典型中断的处理</a:t>
            </a:r>
            <a:r>
              <a:rPr lang="en-US" altLang="zh-CN" sz="2400" dirty="0"/>
              <a:t>-</a:t>
            </a:r>
            <a:r>
              <a:rPr lang="en-US" altLang="zh-CN" sz="2400" dirty="0" err="1"/>
              <a:t>硬件故障中断</a:t>
            </a:r>
            <a:endParaRPr lang="en-US" altLang="zh-CN" sz="2400" dirty="0"/>
          </a:p>
        </p:txBody>
      </p:sp>
      <p:sp>
        <p:nvSpPr>
          <p:cNvPr id="2" name="文本占位符 8"/>
          <p:cNvSpPr>
            <a:spLocks noGrp="1"/>
          </p:cNvSpPr>
          <p:nvPr/>
        </p:nvSpPr>
        <p:spPr>
          <a:xfrm>
            <a:off x="1209675" y="900430"/>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硬件故障中断处理程序需要做的工作，主要包括：</a:t>
            </a:r>
          </a:p>
          <a:p>
            <a:pPr fontAlgn="auto">
              <a:lnSpc>
                <a:spcPct val="150000"/>
              </a:lnSpc>
            </a:pPr>
            <a:r>
              <a:rPr b="0" dirty="0">
                <a:sym typeface="+mn-ea"/>
              </a:rPr>
              <a:t>保存现场，使用一定的手段警告管理员并提供一些辅助的诊断信息</a:t>
            </a:r>
          </a:p>
          <a:p>
            <a:pPr fontAlgn="auto">
              <a:lnSpc>
                <a:spcPct val="150000"/>
              </a:lnSpc>
            </a:pPr>
            <a:r>
              <a:rPr b="0" dirty="0">
                <a:sym typeface="+mn-ea"/>
              </a:rPr>
              <a:t>在高可靠的系统中，中断处理程序还需要评估系统的可用性，尽可能恢复系统</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59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558478"/>
            <a:ext cx="9056687" cy="381629"/>
          </a:xfrm>
        </p:spPr>
        <p:txBody>
          <a:bodyPr>
            <a:noAutofit/>
          </a:bodyPr>
          <a:lstStyle/>
          <a:p>
            <a:pPr marL="0" indent="0">
              <a:buNone/>
            </a:pPr>
            <a:r>
              <a:rPr lang="zh-CN" altLang="en-US" sz="2400" dirty="0"/>
              <a:t>典型中断的处理</a:t>
            </a:r>
            <a:r>
              <a:rPr lang="en-US" altLang="zh-CN" sz="2400" dirty="0"/>
              <a:t>-</a:t>
            </a:r>
            <a:r>
              <a:rPr lang="en-US" altLang="zh-CN" sz="2400" dirty="0" err="1"/>
              <a:t>程序性中断</a:t>
            </a:r>
            <a:endParaRPr lang="en-US" altLang="zh-CN" sz="2400" dirty="0"/>
          </a:p>
        </p:txBody>
      </p:sp>
      <p:sp>
        <p:nvSpPr>
          <p:cNvPr id="2" name="文本占位符 8"/>
          <p:cNvSpPr>
            <a:spLocks noGrp="1"/>
          </p:cNvSpPr>
          <p:nvPr/>
        </p:nvSpPr>
        <p:spPr>
          <a:xfrm>
            <a:off x="905143" y="1629409"/>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200000"/>
              </a:lnSpc>
              <a:buNone/>
            </a:pPr>
            <a:r>
              <a:rPr b="0" dirty="0">
                <a:solidFill>
                  <a:srgbClr val="404040"/>
                </a:solidFill>
                <a:sym typeface="+mn-ea"/>
              </a:rPr>
              <a:t>程序性中断多数是程序指令出错、指令越权或者指令寻址越界而引发的系统保护</a:t>
            </a:r>
            <a:endParaRPr lang="en-US" b="0" dirty="0">
              <a:solidFill>
                <a:srgbClr val="404040"/>
              </a:solidFill>
              <a:sym typeface="+mn-ea"/>
            </a:endParaRPr>
          </a:p>
          <a:p>
            <a:pPr marL="0" indent="0" fontAlgn="auto">
              <a:lnSpc>
                <a:spcPct val="200000"/>
              </a:lnSpc>
              <a:buNone/>
            </a:pPr>
            <a:r>
              <a:rPr b="0" dirty="0">
                <a:solidFill>
                  <a:srgbClr val="404040"/>
                </a:solidFill>
                <a:sym typeface="+mn-ea"/>
              </a:rPr>
              <a:t>处理方法依据中断是否可以被用户程序自行处理，而分成两类：</a:t>
            </a:r>
          </a:p>
          <a:p>
            <a:pPr lvl="1">
              <a:lnSpc>
                <a:spcPct val="200000"/>
              </a:lnSpc>
            </a:pPr>
            <a:r>
              <a:rPr sz="2000" b="0" dirty="0">
                <a:solidFill>
                  <a:srgbClr val="404040"/>
                </a:solidFill>
                <a:sym typeface="+mn-ea"/>
              </a:rPr>
              <a:t>只能由操作系统完成</a:t>
            </a:r>
          </a:p>
          <a:p>
            <a:pPr lvl="1">
              <a:lnSpc>
                <a:spcPct val="200000"/>
              </a:lnSpc>
            </a:pPr>
            <a:r>
              <a:rPr sz="2000" b="0" dirty="0">
                <a:solidFill>
                  <a:srgbClr val="404040"/>
                </a:solidFill>
                <a:sym typeface="+mn-ea"/>
              </a:rPr>
              <a:t>可以由程序自己完成</a:t>
            </a:r>
          </a:p>
          <a:p>
            <a:pPr marL="0" indent="0" fontAlgn="auto">
              <a:lnSpc>
                <a:spcPct val="200000"/>
              </a:lnSpc>
              <a:buNone/>
            </a:pPr>
            <a:r>
              <a:rPr b="0" dirty="0">
                <a:solidFill>
                  <a:srgbClr val="404040"/>
                </a:solidFill>
                <a:sym typeface="+mn-ea"/>
              </a:rPr>
              <a:t>系统调试中断，如断点中断、单步跟踪等，用以支持各种程序的调试，是可以被用户程序处理的</a:t>
            </a:r>
          </a:p>
          <a:p>
            <a:pPr fontAlgn="auto">
              <a:lnSpc>
                <a:spcPct val="100000"/>
              </a:lnSpc>
            </a:pPr>
            <a:endParaRPr sz="2400" b="0" dirty="0">
              <a:sym typeface="+mn-ea"/>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183684"/>
            <a:ext cx="9056687" cy="381629"/>
          </a:xfrm>
        </p:spPr>
        <p:txBody>
          <a:bodyPr>
            <a:noAutofit/>
          </a:bodyPr>
          <a:lstStyle/>
          <a:p>
            <a:pPr marL="0" indent="0">
              <a:buNone/>
            </a:pPr>
            <a:r>
              <a:rPr lang="zh-CN" altLang="en-US" sz="2400" dirty="0"/>
              <a:t>典型中断的处理</a:t>
            </a:r>
            <a:r>
              <a:rPr lang="en-US" altLang="zh-CN" sz="2400" dirty="0"/>
              <a:t>-</a:t>
            </a:r>
            <a:r>
              <a:rPr lang="en-US" altLang="zh-CN" sz="2400" dirty="0" err="1"/>
              <a:t>自愿性中断</a:t>
            </a:r>
            <a:endParaRPr lang="en-US" altLang="zh-CN" sz="2400" dirty="0"/>
          </a:p>
        </p:txBody>
      </p:sp>
      <p:sp>
        <p:nvSpPr>
          <p:cNvPr id="2" name="文本占位符 8"/>
          <p:cNvSpPr>
            <a:spLocks noGrp="1"/>
          </p:cNvSpPr>
          <p:nvPr/>
        </p:nvSpPr>
        <p:spPr>
          <a:xfrm>
            <a:off x="766666" y="1374499"/>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系统服务请求一般由处理器提供的专用指令（又称访管指令）来激发</a:t>
            </a:r>
          </a:p>
          <a:p>
            <a:pPr fontAlgn="auto">
              <a:lnSpc>
                <a:spcPct val="150000"/>
              </a:lnSpc>
            </a:pPr>
            <a:r>
              <a:rPr b="0" dirty="0">
                <a:sym typeface="+mn-ea"/>
              </a:rPr>
              <a:t>    如x86处理器提供int指令，用来激发软件中断</a:t>
            </a:r>
          </a:p>
          <a:p>
            <a:pPr fontAlgn="auto">
              <a:lnSpc>
                <a:spcPct val="150000"/>
              </a:lnSpc>
            </a:pPr>
            <a:r>
              <a:rPr lang="en-US" altLang="zh-CN" b="0" dirty="0">
                <a:sym typeface="+mn-ea"/>
              </a:rPr>
              <a:t>    </a:t>
            </a:r>
            <a:r>
              <a:rPr lang="en-US" altLang="zh-CN" b="0" dirty="0" err="1">
                <a:sym typeface="+mn-ea"/>
              </a:rPr>
              <a:t>其他的不少处理器则专门提供系统调用指令syscall</a:t>
            </a:r>
            <a:endParaRPr lang="en-US" altLang="zh-CN" b="0" dirty="0">
              <a:sym typeface="+mn-ea"/>
            </a:endParaRPr>
          </a:p>
          <a:p>
            <a:pPr marL="0" indent="0" fontAlgn="auto">
              <a:lnSpc>
                <a:spcPct val="150000"/>
              </a:lnSpc>
              <a:buNone/>
            </a:pPr>
            <a:endParaRPr lang="en-US" altLang="zh-CN" b="0" dirty="0">
              <a:sym typeface="+mn-ea"/>
            </a:endParaRPr>
          </a:p>
          <a:p>
            <a:pPr marL="0" indent="0" fontAlgn="auto">
              <a:lnSpc>
                <a:spcPct val="150000"/>
              </a:lnSpc>
              <a:buNone/>
            </a:pPr>
            <a:r>
              <a:rPr lang="en-US" altLang="zh-CN" b="0" dirty="0" err="1">
                <a:sym typeface="+mn-ea"/>
              </a:rPr>
              <a:t>执行这些指令的结果是系统被切换到内核态，并且转移到一段专门的操作系统程序处开始执行</a:t>
            </a:r>
            <a:endParaRPr lang="en-US" altLang="zh-CN" b="0" dirty="0">
              <a:sym typeface="+mn-ea"/>
            </a:endParaRPr>
          </a:p>
          <a:p>
            <a:pPr fontAlgn="auto">
              <a:lnSpc>
                <a:spcPct val="150000"/>
              </a:lnSpc>
            </a:pPr>
            <a:r>
              <a:rPr lang="en-US" altLang="zh-CN" b="0" dirty="0">
                <a:sym typeface="+mn-ea"/>
              </a:rPr>
              <a:t>     </a:t>
            </a:r>
            <a:r>
              <a:rPr lang="en-US" altLang="zh-CN" b="0" dirty="0" err="1">
                <a:sym typeface="+mn-ea"/>
              </a:rPr>
              <a:t>指令的格式通常是指令名加上请求的服务识别号（中断号</a:t>
            </a:r>
            <a:r>
              <a:rPr lang="en-US" altLang="zh-CN" b="0" dirty="0">
                <a:sym typeface="+mn-ea"/>
              </a:rPr>
              <a:t>）</a:t>
            </a:r>
          </a:p>
          <a:p>
            <a:pPr fontAlgn="auto">
              <a:lnSpc>
                <a:spcPct val="150000"/>
              </a:lnSpc>
            </a:pPr>
            <a:r>
              <a:rPr lang="en-US" altLang="zh-CN" b="0" dirty="0">
                <a:sym typeface="+mn-ea"/>
              </a:rPr>
              <a:t>     </a:t>
            </a:r>
            <a:r>
              <a:rPr lang="en-US" altLang="zh-CN" b="0" dirty="0" err="1">
                <a:sym typeface="+mn-ea"/>
              </a:rPr>
              <a:t>操作系统利用处理器提供的这种接口建立自己的系统服务体系</a:t>
            </a:r>
            <a:endParaRPr lang="en-US" altLang="zh-CN" b="0" dirty="0">
              <a:sym typeface="+mn-ea"/>
            </a:endParaRPr>
          </a:p>
          <a:p>
            <a:pPr fontAlgn="auto">
              <a:lnSpc>
                <a:spcPct val="150000"/>
              </a:lnSpc>
            </a:pPr>
            <a:r>
              <a:rPr lang="en-US" altLang="zh-CN" b="0" dirty="0">
                <a:sym typeface="+mn-ea"/>
              </a:rPr>
              <a:t>     </a:t>
            </a:r>
            <a:r>
              <a:rPr lang="en-US" altLang="zh-CN" b="0" dirty="0" err="1">
                <a:sym typeface="+mn-ea"/>
              </a:rPr>
              <a:t>处理器一般不负责定义系统调用所传递的参数格式</a:t>
            </a:r>
            <a:endParaRPr lang="en-US" altLang="zh-CN" b="0" dirty="0">
              <a:sym typeface="+mn-ea"/>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3077" y="1262498"/>
            <a:ext cx="9056687" cy="381629"/>
          </a:xfrm>
        </p:spPr>
        <p:txBody>
          <a:bodyPr>
            <a:noAutofit/>
          </a:bodyPr>
          <a:lstStyle/>
          <a:p>
            <a:pPr marL="0" indent="0">
              <a:buNone/>
            </a:pPr>
            <a:r>
              <a:rPr sz="2400" dirty="0"/>
              <a:t>多级中断与中断优先级</a:t>
            </a:r>
          </a:p>
        </p:txBody>
      </p:sp>
      <p:sp>
        <p:nvSpPr>
          <p:cNvPr id="2" name="文本占位符 8"/>
          <p:cNvSpPr>
            <a:spLocks noGrp="1"/>
          </p:cNvSpPr>
          <p:nvPr/>
        </p:nvSpPr>
        <p:spPr>
          <a:xfrm>
            <a:off x="895716" y="1337213"/>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endParaRPr sz="2400" b="0" dirty="0">
              <a:sym typeface="+mn-ea"/>
            </a:endParaRPr>
          </a:p>
          <a:p>
            <a:pPr fontAlgn="auto">
              <a:lnSpc>
                <a:spcPct val="150000"/>
              </a:lnSpc>
            </a:pPr>
            <a:r>
              <a:rPr b="0" dirty="0">
                <a:sym typeface="+mn-ea"/>
              </a:rPr>
              <a:t>多级中断系统表现为有多根中断请求线从不同设备连接到中断逻辑线路上</a:t>
            </a:r>
          </a:p>
          <a:p>
            <a:pPr fontAlgn="auto">
              <a:lnSpc>
                <a:spcPct val="150000"/>
              </a:lnSpc>
            </a:pPr>
            <a:r>
              <a:rPr lang="en-US" altLang="zh-CN" b="0" dirty="0" err="1">
                <a:sym typeface="+mn-ea"/>
              </a:rPr>
              <a:t>连接在不同中断请求线上的中断信号，表示它们有不同的中断级别</a:t>
            </a:r>
            <a:endParaRPr lang="en-US" altLang="zh-CN" b="0" dirty="0">
              <a:sym typeface="+mn-ea"/>
            </a:endParaRPr>
          </a:p>
          <a:p>
            <a:pPr fontAlgn="auto">
              <a:lnSpc>
                <a:spcPct val="150000"/>
              </a:lnSpc>
            </a:pPr>
            <a:r>
              <a:rPr lang="en-US" altLang="zh-CN" b="0" dirty="0" err="1">
                <a:sym typeface="+mn-ea"/>
              </a:rPr>
              <a:t>断信号的级别代表了该中断信号是否具有被优先处理的特权，以及这个特权的大小</a:t>
            </a:r>
            <a:endParaRPr lang="en-US" altLang="zh-CN" b="0" dirty="0">
              <a:sym typeface="+mn-ea"/>
            </a:endParaRPr>
          </a:p>
          <a:p>
            <a:pPr fontAlgn="auto">
              <a:lnSpc>
                <a:spcPct val="150000"/>
              </a:lnSpc>
            </a:pPr>
            <a:endParaRPr lang="en-US" altLang="zh-CN" b="0" dirty="0">
              <a:sym typeface="+mn-ea"/>
            </a:endParaRPr>
          </a:p>
          <a:p>
            <a:pPr marL="0" indent="0" fontAlgn="auto">
              <a:lnSpc>
                <a:spcPct val="150000"/>
              </a:lnSpc>
              <a:buNone/>
            </a:pPr>
            <a:r>
              <a:rPr lang="en-US" altLang="zh-CN" b="0" dirty="0" err="1">
                <a:sym typeface="+mn-ea"/>
              </a:rPr>
              <a:t>多级中断的作用</a:t>
            </a:r>
            <a:endParaRPr lang="en-US" altLang="zh-CN" b="0" dirty="0">
              <a:sym typeface="+mn-ea"/>
            </a:endParaRPr>
          </a:p>
          <a:p>
            <a:pPr fontAlgn="auto">
              <a:lnSpc>
                <a:spcPct val="150000"/>
              </a:lnSpc>
            </a:pPr>
            <a:r>
              <a:rPr lang="en-US" altLang="zh-CN" b="0" dirty="0" err="1">
                <a:sym typeface="+mn-ea"/>
              </a:rPr>
              <a:t>对各类中断信号依据其紧急程度和重要性划分级别</a:t>
            </a:r>
            <a:endParaRPr lang="en-US" altLang="zh-CN" b="0" dirty="0">
              <a:sym typeface="+mn-ea"/>
            </a:endParaRPr>
          </a:p>
          <a:p>
            <a:pPr fontAlgn="auto">
              <a:lnSpc>
                <a:spcPct val="150000"/>
              </a:lnSpc>
            </a:pPr>
            <a:r>
              <a:rPr lang="en-US" altLang="zh-CN" b="0" dirty="0" err="1">
                <a:sym typeface="+mn-ea"/>
              </a:rPr>
              <a:t>解决如果有重要程度相当的多个中断信号同时到达时，如何选择首个被处理的中断信号的问题</a:t>
            </a:r>
            <a:endParaRPr lang="en-US" altLang="zh-CN" b="0" dirty="0">
              <a:sym typeface="+mn-ea"/>
            </a:endParaRPr>
          </a:p>
          <a:p>
            <a:pPr fontAlgn="auto">
              <a:lnSpc>
                <a:spcPct val="100000"/>
              </a:lnSpc>
            </a:pPr>
            <a:endParaRPr lang="en-US" altLang="zh-CN" sz="2400" b="0" dirty="0">
              <a:sym typeface="+mn-ea"/>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574888" y="1374499"/>
            <a:ext cx="9056687" cy="381629"/>
          </a:xfrm>
        </p:spPr>
        <p:txBody>
          <a:bodyPr>
            <a:noAutofit/>
          </a:bodyPr>
          <a:lstStyle/>
          <a:p>
            <a:pPr marL="0" indent="0">
              <a:buNone/>
            </a:pPr>
            <a:r>
              <a:rPr sz="2400" dirty="0"/>
              <a:t>中断屏蔽</a:t>
            </a:r>
          </a:p>
        </p:txBody>
      </p:sp>
      <p:sp>
        <p:nvSpPr>
          <p:cNvPr id="2" name="文本占位符 8"/>
          <p:cNvSpPr>
            <a:spLocks noGrp="1"/>
          </p:cNvSpPr>
          <p:nvPr/>
        </p:nvSpPr>
        <p:spPr>
          <a:xfrm>
            <a:off x="914570" y="1374499"/>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可以允许或者禁止中断系统对某些类别中断的响应</a:t>
            </a:r>
          </a:p>
          <a:p>
            <a:pPr fontAlgn="auto">
              <a:lnSpc>
                <a:spcPct val="150000"/>
              </a:lnSpc>
            </a:pPr>
            <a:r>
              <a:rPr b="0" dirty="0">
                <a:sym typeface="+mn-ea"/>
              </a:rPr>
              <a:t>在程序状态字PSW中设计有中断屏蔽位</a:t>
            </a:r>
          </a:p>
          <a:p>
            <a:pPr fontAlgn="auto">
              <a:lnSpc>
                <a:spcPct val="150000"/>
              </a:lnSpc>
            </a:pPr>
            <a:r>
              <a:rPr lang="en-US" altLang="zh-CN" b="0" dirty="0" err="1">
                <a:sym typeface="+mn-ea"/>
              </a:rPr>
              <a:t>主机是否允许响应或禁止某些中断，则由PWS中的中断屏蔽位决定</a:t>
            </a:r>
            <a:endParaRPr lang="en-US" altLang="zh-CN" b="0" dirty="0">
              <a:sym typeface="+mn-ea"/>
            </a:endParaRPr>
          </a:p>
          <a:p>
            <a:pPr fontAlgn="auto">
              <a:lnSpc>
                <a:spcPct val="150000"/>
              </a:lnSpc>
            </a:pPr>
            <a:r>
              <a:rPr lang="en-US" altLang="zh-CN" b="0" dirty="0" err="1">
                <a:sym typeface="+mn-ea"/>
              </a:rPr>
              <a:t>一旦某个I</a:t>
            </a:r>
            <a:r>
              <a:rPr lang="en-US" altLang="zh-CN" b="0" dirty="0">
                <a:sym typeface="+mn-ea"/>
              </a:rPr>
              <a:t>/</a:t>
            </a:r>
            <a:r>
              <a:rPr lang="en-US" altLang="zh-CN" b="0" dirty="0" err="1">
                <a:sym typeface="+mn-ea"/>
              </a:rPr>
              <a:t>O中断被程序状态字PSW中的中断屏蔽位加以屏蔽</a:t>
            </a:r>
            <a:r>
              <a:rPr b="0" dirty="0">
                <a:sym typeface="+mn-ea"/>
              </a:rPr>
              <a:t>，即使有I/O中断信号，处理器也不予响应</a:t>
            </a:r>
          </a:p>
          <a:p>
            <a:pPr fontAlgn="auto">
              <a:lnSpc>
                <a:spcPct val="150000"/>
              </a:lnSpc>
            </a:pPr>
            <a:r>
              <a:rPr b="0" dirty="0">
                <a:sym typeface="+mn-ea"/>
              </a:rPr>
              <a:t>还有一类中断信号是不可屏蔽的，机器故障中断，处理器要立即响应</a:t>
            </a:r>
          </a:p>
          <a:p>
            <a:pPr fontAlgn="auto">
              <a:lnSpc>
                <a:spcPct val="100000"/>
              </a:lnSpc>
            </a:pPr>
            <a:endParaRPr lang="en-US" altLang="zh-CN" sz="2400" b="0" dirty="0">
              <a:sym typeface="+mn-ea"/>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041406"/>
            <a:ext cx="9056687" cy="381629"/>
          </a:xfrm>
        </p:spPr>
        <p:txBody>
          <a:bodyPr>
            <a:noAutofit/>
          </a:bodyPr>
          <a:lstStyle/>
          <a:p>
            <a:pPr marL="0" indent="0">
              <a:buNone/>
            </a:pPr>
            <a:r>
              <a:rPr sz="2400" dirty="0"/>
              <a:t>中断嵌套</a:t>
            </a:r>
          </a:p>
        </p:txBody>
      </p:sp>
      <p:sp>
        <p:nvSpPr>
          <p:cNvPr id="2" name="文本占位符 8"/>
          <p:cNvSpPr>
            <a:spLocks noGrp="1"/>
          </p:cNvSpPr>
          <p:nvPr/>
        </p:nvSpPr>
        <p:spPr>
          <a:xfrm>
            <a:off x="443230" y="1423035"/>
            <a:ext cx="10982325" cy="148653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多个中断的处理策略一般有如下两种：第二种（中断嵌套）更优</a:t>
            </a:r>
          </a:p>
          <a:p>
            <a:pPr marL="0" indent="0" fontAlgn="auto">
              <a:lnSpc>
                <a:spcPct val="100000"/>
              </a:lnSpc>
              <a:buNone/>
            </a:pPr>
            <a:r>
              <a:rPr lang="en-US" altLang="zh-CN" b="0" dirty="0">
                <a:sym typeface="+mn-ea"/>
              </a:rPr>
              <a:t>     1. </a:t>
            </a:r>
            <a:r>
              <a:rPr b="0" dirty="0">
                <a:sym typeface="+mn-ea"/>
              </a:rPr>
              <a:t>正当处理一个中断时禁止其他中断，此时系统将对任何新发生的中断置之不理</a:t>
            </a:r>
          </a:p>
          <a:p>
            <a:pPr marL="0" indent="0" fontAlgn="auto">
              <a:lnSpc>
                <a:spcPct val="100000"/>
              </a:lnSpc>
              <a:buNone/>
            </a:pPr>
            <a:r>
              <a:rPr lang="en-US" altLang="zh-CN" b="0" dirty="0">
                <a:sym typeface="+mn-ea"/>
              </a:rPr>
              <a:t>     2. </a:t>
            </a:r>
            <a:r>
              <a:rPr b="0" dirty="0">
                <a:sym typeface="+mn-ea"/>
              </a:rPr>
              <a:t>允许优先级较高的中断打断优先级较低的中断处理过程，引起中断嵌套</a:t>
            </a:r>
            <a:endParaRPr lang="en-US" altLang="zh-CN" b="0" dirty="0">
              <a:sym typeface="+mn-ea"/>
            </a:endParaRPr>
          </a:p>
        </p:txBody>
      </p:sp>
      <p:grpSp>
        <p:nvGrpSpPr>
          <p:cNvPr id="28" name="Group 132"/>
          <p:cNvGrpSpPr/>
          <p:nvPr/>
        </p:nvGrpSpPr>
        <p:grpSpPr>
          <a:xfrm>
            <a:off x="510617" y="2909570"/>
            <a:ext cx="4338955" cy="3253740"/>
            <a:chOff x="2974" y="2500"/>
            <a:chExt cx="4814" cy="3906"/>
          </a:xfrm>
        </p:grpSpPr>
        <p:sp>
          <p:nvSpPr>
            <p:cNvPr id="29" name="Rectangle 133"/>
            <p:cNvSpPr>
              <a:spLocks noChangeArrowheads="1"/>
            </p:cNvSpPr>
            <p:nvPr/>
          </p:nvSpPr>
          <p:spPr bwMode="auto">
            <a:xfrm>
              <a:off x="2974" y="2500"/>
              <a:ext cx="1453" cy="3906"/>
            </a:xfrm>
            <a:prstGeom prst="rect">
              <a:avLst/>
            </a:prstGeom>
            <a:solidFill>
              <a:srgbClr val="C0C0C0"/>
            </a:solidFill>
            <a:ln w="9525">
              <a:solidFill>
                <a:srgbClr val="000000"/>
              </a:solidFill>
              <a:miter lim="800000"/>
            </a:ln>
          </p:spPr>
          <p:txBody>
            <a:bodyPr rot="0" vert="horz" wrap="square" lIns="91440" tIns="45720" rIns="91440" bIns="45720" anchor="t" anchorCtr="0" upright="1">
              <a:noAutofit/>
            </a:bodyPr>
            <a:lstStyle/>
            <a:p>
              <a:pPr algn="ctr"/>
              <a:r>
                <a:rPr lang="en-US" altLang="zh-CN" sz="1050" kern="100">
                  <a:latin typeface="Times New Roman" panose="02020603050405020304"/>
                  <a:ea typeface="宋体" panose="02010600030101010101" pitchFamily="2" charset="-122"/>
                  <a:cs typeface="Times New Roman" panose="02020603050405020304"/>
                  <a:sym typeface="Times New Roman" panose="02020603050405020304"/>
                </a:rPr>
                <a:t>用户程序</a:t>
              </a:r>
            </a:p>
          </p:txBody>
        </p:sp>
        <p:sp>
          <p:nvSpPr>
            <p:cNvPr id="30" name="Rectangle 134"/>
            <p:cNvSpPr>
              <a:spLocks noChangeArrowheads="1"/>
            </p:cNvSpPr>
            <p:nvPr/>
          </p:nvSpPr>
          <p:spPr bwMode="auto">
            <a:xfrm>
              <a:off x="5426" y="2500"/>
              <a:ext cx="1090" cy="1627"/>
            </a:xfrm>
            <a:prstGeom prst="rect">
              <a:avLst/>
            </a:prstGeom>
            <a:solidFill>
              <a:srgbClr val="C0C0C0"/>
            </a:solidFill>
            <a:ln w="9525">
              <a:solidFill>
                <a:srgbClr val="000000"/>
              </a:solidFill>
              <a:miter lim="800000"/>
            </a:ln>
          </p:spPr>
          <p:txBody>
            <a:bodyPr rot="0" vert="horz" wrap="square" lIns="91440" tIns="45720" rIns="91440" bIns="45720" anchor="t" anchorCtr="0" upright="1">
              <a:noAutofit/>
            </a:bodyPr>
            <a:lstStyle/>
            <a:p>
              <a:pPr algn="just"/>
              <a:r>
                <a:rPr lang="en-US" altLang="zh-CN" sz="1050" kern="100">
                  <a:latin typeface="Times New Roman" panose="02020603050405020304"/>
                  <a:ea typeface="宋体" panose="02010600030101010101" pitchFamily="2" charset="-122"/>
                  <a:cs typeface="Times New Roman" panose="02020603050405020304"/>
                  <a:sym typeface="Times New Roman" panose="02020603050405020304"/>
                </a:rPr>
                <a:t>中断A</a:t>
              </a:r>
            </a:p>
          </p:txBody>
        </p:sp>
        <p:sp>
          <p:nvSpPr>
            <p:cNvPr id="31" name="Rectangle 135"/>
            <p:cNvSpPr>
              <a:spLocks noChangeArrowheads="1"/>
            </p:cNvSpPr>
            <p:nvPr/>
          </p:nvSpPr>
          <p:spPr bwMode="auto">
            <a:xfrm>
              <a:off x="6698" y="4453"/>
              <a:ext cx="1090" cy="1790"/>
            </a:xfrm>
            <a:prstGeom prst="rect">
              <a:avLst/>
            </a:prstGeom>
            <a:solidFill>
              <a:srgbClr val="C0C0C0"/>
            </a:solidFill>
            <a:ln w="9525">
              <a:solidFill>
                <a:srgbClr val="000000"/>
              </a:solidFill>
              <a:miter lim="800000"/>
            </a:ln>
          </p:spPr>
          <p:txBody>
            <a:bodyPr rot="0" vert="horz" wrap="square" lIns="91440" tIns="45720" rIns="91440" bIns="45720" anchor="t" anchorCtr="0" upright="1">
              <a:noAutofit/>
            </a:bodyPr>
            <a:lstStyle/>
            <a:p>
              <a:pPr algn="just"/>
              <a:r>
                <a:rPr lang="en-US" altLang="zh-CN" sz="1050" kern="100">
                  <a:latin typeface="Times New Roman" panose="02020603050405020304"/>
                  <a:ea typeface="宋体" panose="02010600030101010101" pitchFamily="2" charset="-122"/>
                  <a:cs typeface="Times New Roman" panose="02020603050405020304"/>
                  <a:sym typeface="Times New Roman" panose="02020603050405020304"/>
                </a:rPr>
                <a:t>中断B</a:t>
              </a:r>
            </a:p>
          </p:txBody>
        </p:sp>
      </p:grpSp>
      <p:grpSp>
        <p:nvGrpSpPr>
          <p:cNvPr id="137" name="画布 137"/>
          <p:cNvGrpSpPr/>
          <p:nvPr/>
        </p:nvGrpSpPr>
        <p:grpSpPr>
          <a:xfrm>
            <a:off x="6543021" y="3025091"/>
            <a:ext cx="4467225" cy="3253740"/>
            <a:chOff x="0" y="0"/>
            <a:chExt cx="3403600" cy="2154555"/>
          </a:xfrm>
        </p:grpSpPr>
        <p:sp>
          <p:nvSpPr>
            <p:cNvPr id="3" name="画布 137"/>
            <p:cNvSpPr>
              <a:spLocks noChangeAspect="1"/>
            </p:cNvSpPr>
            <p:nvPr/>
          </p:nvSpPr>
          <p:spPr>
            <a:xfrm>
              <a:off x="0" y="0"/>
              <a:ext cx="3403600" cy="2154555"/>
            </a:xfrm>
            <a:noFill/>
            <a:ln>
              <a:noFill/>
            </a:ln>
          </p:spPr>
          <p:txBody>
            <a:bodyPr/>
            <a:lstStyle/>
            <a:p>
              <a:endParaRPr lang="zh-CN" altLang="en-US"/>
            </a:p>
          </p:txBody>
        </p:sp>
        <p:grpSp>
          <p:nvGrpSpPr>
            <p:cNvPr id="23" name="Group 139"/>
            <p:cNvGrpSpPr/>
            <p:nvPr/>
          </p:nvGrpSpPr>
          <p:grpSpPr>
            <a:xfrm>
              <a:off x="36000" y="0"/>
              <a:ext cx="3367870" cy="2154555"/>
              <a:chOff x="2974" y="2500"/>
              <a:chExt cx="4814" cy="3906"/>
            </a:xfrm>
          </p:grpSpPr>
          <p:sp>
            <p:nvSpPr>
              <p:cNvPr id="24" name="Rectangle 140"/>
              <p:cNvSpPr>
                <a:spLocks noChangeArrowheads="1"/>
              </p:cNvSpPr>
              <p:nvPr/>
            </p:nvSpPr>
            <p:spPr bwMode="auto">
              <a:xfrm>
                <a:off x="2974" y="2500"/>
                <a:ext cx="1453" cy="3906"/>
              </a:xfrm>
              <a:prstGeom prst="rect">
                <a:avLst/>
              </a:prstGeom>
              <a:solidFill>
                <a:srgbClr val="C0C0C0"/>
              </a:solidFill>
              <a:ln w="9525">
                <a:solidFill>
                  <a:srgbClr val="000000"/>
                </a:solidFill>
                <a:miter lim="800000"/>
              </a:ln>
            </p:spPr>
            <p:txBody>
              <a:bodyPr rot="0" vert="horz" wrap="square" lIns="91440" tIns="45720" rIns="91440" bIns="45720" anchor="t" anchorCtr="0" upright="1">
                <a:noAutofit/>
              </a:bodyPr>
              <a:lstStyle/>
              <a:p>
                <a:pPr algn="just"/>
                <a:r>
                  <a:rPr lang="en-US" altLang="zh-CN" sz="1050" kern="100">
                    <a:latin typeface="Times New Roman" panose="02020603050405020304"/>
                    <a:ea typeface="宋体" panose="02010600030101010101" pitchFamily="2" charset="-122"/>
                    <a:cs typeface="Times New Roman" panose="02020603050405020304"/>
                    <a:sym typeface="Times New Roman" panose="02020603050405020304"/>
                  </a:rPr>
                  <a:t>用户程序</a:t>
                </a:r>
              </a:p>
            </p:txBody>
          </p:sp>
          <p:sp>
            <p:nvSpPr>
              <p:cNvPr id="25" name="Rectangle 141"/>
              <p:cNvSpPr>
                <a:spLocks noChangeArrowheads="1"/>
              </p:cNvSpPr>
              <p:nvPr/>
            </p:nvSpPr>
            <p:spPr bwMode="auto">
              <a:xfrm>
                <a:off x="5426" y="2500"/>
                <a:ext cx="1090" cy="1627"/>
              </a:xfrm>
              <a:prstGeom prst="rect">
                <a:avLst/>
              </a:prstGeom>
              <a:solidFill>
                <a:srgbClr val="C0C0C0"/>
              </a:solidFill>
              <a:ln w="9525">
                <a:solidFill>
                  <a:srgbClr val="000000"/>
                </a:solidFill>
                <a:miter lim="800000"/>
              </a:ln>
            </p:spPr>
            <p:txBody>
              <a:bodyPr rot="0" vert="horz" wrap="square" lIns="91440" tIns="45720" rIns="91440" bIns="45720" anchor="t" anchorCtr="0" upright="1">
                <a:noAutofit/>
              </a:bodyPr>
              <a:lstStyle/>
              <a:p>
                <a:pPr algn="just"/>
                <a:r>
                  <a:rPr lang="en-US" altLang="zh-CN" sz="1050" kern="100">
                    <a:latin typeface="Times New Roman" panose="02020603050405020304"/>
                    <a:ea typeface="宋体" panose="02010600030101010101" pitchFamily="2" charset="-122"/>
                    <a:cs typeface="Times New Roman" panose="02020603050405020304"/>
                    <a:sym typeface="Times New Roman" panose="02020603050405020304"/>
                  </a:rPr>
                  <a:t>低级中断</a:t>
                </a:r>
              </a:p>
            </p:txBody>
          </p:sp>
          <p:sp>
            <p:nvSpPr>
              <p:cNvPr id="26" name="Rectangle 142"/>
              <p:cNvSpPr>
                <a:spLocks noChangeArrowheads="1"/>
              </p:cNvSpPr>
              <p:nvPr/>
            </p:nvSpPr>
            <p:spPr bwMode="auto">
              <a:xfrm>
                <a:off x="6698" y="4453"/>
                <a:ext cx="1090" cy="1790"/>
              </a:xfrm>
              <a:prstGeom prst="rect">
                <a:avLst/>
              </a:prstGeom>
              <a:solidFill>
                <a:srgbClr val="C0C0C0"/>
              </a:solidFill>
              <a:ln w="9525">
                <a:solidFill>
                  <a:srgbClr val="000000"/>
                </a:solidFill>
                <a:miter lim="800000"/>
              </a:ln>
            </p:spPr>
            <p:txBody>
              <a:bodyPr rot="0" vert="horz" wrap="square" lIns="91440" tIns="45720" rIns="91440" bIns="45720" anchor="t" anchorCtr="0" upright="1">
                <a:noAutofit/>
              </a:bodyPr>
              <a:lstStyle/>
              <a:p>
                <a:pPr algn="just"/>
                <a:r>
                  <a:rPr lang="en-US" altLang="zh-CN" sz="1050" kern="100">
                    <a:latin typeface="Times New Roman" panose="02020603050405020304"/>
                    <a:ea typeface="宋体" panose="02010600030101010101" pitchFamily="2" charset="-122"/>
                    <a:cs typeface="Times New Roman" panose="02020603050405020304"/>
                    <a:sym typeface="Times New Roman" panose="02020603050405020304"/>
                  </a:rPr>
                  <a:t>高级中断</a:t>
                </a:r>
              </a:p>
            </p:txBody>
          </p:sp>
        </p:grpSp>
      </p:grpSp>
      <p:cxnSp>
        <p:nvCxnSpPr>
          <p:cNvPr id="8" name="直接箭头连接符 7">
            <a:extLst>
              <a:ext uri="{FF2B5EF4-FFF2-40B4-BE49-F238E27FC236}">
                <a16:creationId xmlns:a16="http://schemas.microsoft.com/office/drawing/2014/main" id="{84EF5279-3D3A-3A3D-8530-73FBFD99F11A}"/>
              </a:ext>
            </a:extLst>
          </p:cNvPr>
          <p:cNvCxnSpPr/>
          <p:nvPr/>
        </p:nvCxnSpPr>
        <p:spPr>
          <a:xfrm>
            <a:off x="1564849" y="3186260"/>
            <a:ext cx="0" cy="107861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6E7013A2-C066-4B91-07E4-27F41C884B9A}"/>
              </a:ext>
            </a:extLst>
          </p:cNvPr>
          <p:cNvCxnSpPr/>
          <p:nvPr/>
        </p:nvCxnSpPr>
        <p:spPr>
          <a:xfrm flipV="1">
            <a:off x="1574276" y="3261674"/>
            <a:ext cx="1637597" cy="1003204"/>
          </a:xfrm>
          <a:prstGeom prst="straightConnector1">
            <a:avLst/>
          </a:prstGeom>
          <a:ln w="19050">
            <a:solidFill>
              <a:srgbClr val="9A000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24A69887-3FB8-8E35-70BA-7F3AC86BC1F7}"/>
              </a:ext>
            </a:extLst>
          </p:cNvPr>
          <p:cNvCxnSpPr/>
          <p:nvPr/>
        </p:nvCxnSpPr>
        <p:spPr>
          <a:xfrm>
            <a:off x="3199779" y="3275975"/>
            <a:ext cx="0" cy="813435"/>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F29570D1-12DA-52B2-7759-C6807C703ECF}"/>
              </a:ext>
            </a:extLst>
          </p:cNvPr>
          <p:cNvCxnSpPr/>
          <p:nvPr/>
        </p:nvCxnSpPr>
        <p:spPr>
          <a:xfrm flipH="1">
            <a:off x="1564849" y="4100660"/>
            <a:ext cx="1647024" cy="16421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1A1068A1-F69C-57D1-156A-B790C3877D5C}"/>
              </a:ext>
            </a:extLst>
          </p:cNvPr>
          <p:cNvCxnSpPr/>
          <p:nvPr/>
        </p:nvCxnSpPr>
        <p:spPr>
          <a:xfrm>
            <a:off x="1574276" y="4279179"/>
            <a:ext cx="2830502" cy="65104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811156CB-A8F0-2B27-452E-C8FB9934AD1E}"/>
              </a:ext>
            </a:extLst>
          </p:cNvPr>
          <p:cNvCxnSpPr/>
          <p:nvPr/>
        </p:nvCxnSpPr>
        <p:spPr>
          <a:xfrm>
            <a:off x="4358352" y="4928396"/>
            <a:ext cx="0" cy="88819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33" name="直接箭头连接符 32">
            <a:extLst>
              <a:ext uri="{FF2B5EF4-FFF2-40B4-BE49-F238E27FC236}">
                <a16:creationId xmlns:a16="http://schemas.microsoft.com/office/drawing/2014/main" id="{561DB427-FFC4-5E76-6924-8E4FF1BBDF4C}"/>
              </a:ext>
            </a:extLst>
          </p:cNvPr>
          <p:cNvCxnSpPr/>
          <p:nvPr/>
        </p:nvCxnSpPr>
        <p:spPr>
          <a:xfrm flipH="1" flipV="1">
            <a:off x="1564849" y="4279179"/>
            <a:ext cx="2793503" cy="1527732"/>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B7C81709-7E76-FBA9-2570-81DD383B9A80}"/>
              </a:ext>
            </a:extLst>
          </p:cNvPr>
          <p:cNvCxnSpPr/>
          <p:nvPr/>
        </p:nvCxnSpPr>
        <p:spPr>
          <a:xfrm>
            <a:off x="1564849" y="4346671"/>
            <a:ext cx="0" cy="1545077"/>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04BD827D-E243-5444-C5E3-E95DF1B09D10}"/>
              </a:ext>
            </a:extLst>
          </p:cNvPr>
          <p:cNvCxnSpPr/>
          <p:nvPr/>
        </p:nvCxnSpPr>
        <p:spPr>
          <a:xfrm>
            <a:off x="7616858" y="3261674"/>
            <a:ext cx="0" cy="1118725"/>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7175401A-679C-BC1E-767F-D61E8E24191C}"/>
              </a:ext>
            </a:extLst>
          </p:cNvPr>
          <p:cNvCxnSpPr/>
          <p:nvPr/>
        </p:nvCxnSpPr>
        <p:spPr>
          <a:xfrm flipV="1">
            <a:off x="7598004" y="3429000"/>
            <a:ext cx="1744184" cy="951399"/>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451F2EF0-4ACB-A1E3-8605-26FB7D405261}"/>
              </a:ext>
            </a:extLst>
          </p:cNvPr>
          <p:cNvCxnSpPr/>
          <p:nvPr/>
        </p:nvCxnSpPr>
        <p:spPr>
          <a:xfrm>
            <a:off x="9342188" y="3471518"/>
            <a:ext cx="0" cy="29175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654087E7-C6CA-735B-C0C9-459A358A426E}"/>
              </a:ext>
            </a:extLst>
          </p:cNvPr>
          <p:cNvCxnSpPr/>
          <p:nvPr/>
        </p:nvCxnSpPr>
        <p:spPr>
          <a:xfrm>
            <a:off x="9342188" y="3821036"/>
            <a:ext cx="1167980" cy="1373133"/>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504C4593-A2C0-4451-190B-F124A44B9097}"/>
              </a:ext>
            </a:extLst>
          </p:cNvPr>
          <p:cNvCxnSpPr>
            <a:cxnSpLocks/>
          </p:cNvCxnSpPr>
          <p:nvPr/>
        </p:nvCxnSpPr>
        <p:spPr>
          <a:xfrm>
            <a:off x="10490596" y="5194169"/>
            <a:ext cx="0" cy="81310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2180AC21-75DF-A4B2-0B21-71B0993D1E84}"/>
              </a:ext>
            </a:extLst>
          </p:cNvPr>
          <p:cNvCxnSpPr/>
          <p:nvPr/>
        </p:nvCxnSpPr>
        <p:spPr>
          <a:xfrm flipH="1" flipV="1">
            <a:off x="9342188" y="3821036"/>
            <a:ext cx="1167980" cy="2206493"/>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EFDA9A10-9970-7DE8-32D0-616EFEEF83F2}"/>
              </a:ext>
            </a:extLst>
          </p:cNvPr>
          <p:cNvCxnSpPr>
            <a:endCxn id="25" idx="2"/>
          </p:cNvCxnSpPr>
          <p:nvPr/>
        </p:nvCxnSpPr>
        <p:spPr>
          <a:xfrm>
            <a:off x="9342011" y="3821036"/>
            <a:ext cx="177" cy="559363"/>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52" name="直接箭头连接符 51">
            <a:extLst>
              <a:ext uri="{FF2B5EF4-FFF2-40B4-BE49-F238E27FC236}">
                <a16:creationId xmlns:a16="http://schemas.microsoft.com/office/drawing/2014/main" id="{526F0D49-8F58-8B98-C9BB-B960DCC47587}"/>
              </a:ext>
            </a:extLst>
          </p:cNvPr>
          <p:cNvCxnSpPr>
            <a:stCxn id="25" idx="2"/>
          </p:cNvCxnSpPr>
          <p:nvPr/>
        </p:nvCxnSpPr>
        <p:spPr>
          <a:xfrm flipH="1">
            <a:off x="7635713" y="4380399"/>
            <a:ext cx="1706475" cy="0"/>
          </a:xfrm>
          <a:prstGeom prst="straightConnector1">
            <a:avLst/>
          </a:prstGeom>
          <a:ln w="19050">
            <a:solidFill>
              <a:srgbClr val="9A000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直接箭头连接符 53">
            <a:extLst>
              <a:ext uri="{FF2B5EF4-FFF2-40B4-BE49-F238E27FC236}">
                <a16:creationId xmlns:a16="http://schemas.microsoft.com/office/drawing/2014/main" id="{CD234F6E-3B6E-028D-DCA8-CFA221FFA3EC}"/>
              </a:ext>
            </a:extLst>
          </p:cNvPr>
          <p:cNvCxnSpPr/>
          <p:nvPr/>
        </p:nvCxnSpPr>
        <p:spPr>
          <a:xfrm flipH="1">
            <a:off x="7616858" y="4380399"/>
            <a:ext cx="18855" cy="1762651"/>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7"/>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9"/>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4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43"/>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4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4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50"/>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52"/>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中断机制</a:t>
            </a:r>
            <a:endParaRPr>
              <a:sym typeface="+mn-ea"/>
            </a:endParaRPr>
          </a:p>
        </p:txBody>
      </p:sp>
      <p:sp>
        <p:nvSpPr>
          <p:cNvPr id="9" name="文本占位符 8"/>
          <p:cNvSpPr>
            <a:spLocks noGrp="1"/>
          </p:cNvSpPr>
          <p:nvPr>
            <p:ph type="body" sz="quarter" idx="10"/>
          </p:nvPr>
        </p:nvSpPr>
        <p:spPr>
          <a:xfrm>
            <a:off x="442913" y="1400116"/>
            <a:ext cx="9056687" cy="381629"/>
          </a:xfrm>
        </p:spPr>
        <p:txBody>
          <a:bodyPr>
            <a:noAutofit/>
          </a:bodyPr>
          <a:lstStyle/>
          <a:p>
            <a:pPr marL="0" indent="0">
              <a:buNone/>
            </a:pPr>
            <a:r>
              <a:rPr sz="2400" dirty="0">
                <a:sym typeface="+mn-ea"/>
              </a:rPr>
              <a:t>中断嵌套</a:t>
            </a:r>
            <a:endParaRPr sz="2400" dirty="0"/>
          </a:p>
        </p:txBody>
      </p:sp>
      <p:sp>
        <p:nvSpPr>
          <p:cNvPr id="2" name="文本占位符 8"/>
          <p:cNvSpPr>
            <a:spLocks noGrp="1"/>
          </p:cNvSpPr>
          <p:nvPr/>
        </p:nvSpPr>
        <p:spPr>
          <a:xfrm>
            <a:off x="604837" y="1337213"/>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由于在中断嵌套中优先级较高的中断可以打断优先级较低的中断处理过程，因此必须把优先级较低的中断处理过程的现场也保存起来</a:t>
            </a:r>
          </a:p>
          <a:p>
            <a:pPr marL="0" indent="0" fontAlgn="auto">
              <a:lnSpc>
                <a:spcPct val="150000"/>
              </a:lnSpc>
              <a:buNone/>
            </a:pPr>
            <a:r>
              <a:rPr lang="en-US" altLang="zh-CN" b="0" dirty="0">
                <a:sym typeface="+mn-ea"/>
              </a:rPr>
              <a:t>        1. </a:t>
            </a:r>
            <a:r>
              <a:rPr lang="en-US" altLang="zh-CN" b="0" dirty="0" err="1">
                <a:sym typeface="+mn-ea"/>
              </a:rPr>
              <a:t>中断发生时，硬件中断装置将程序状态字PSW、指令计数器PC的值，以及其他重要现场</a:t>
            </a:r>
            <a:endParaRPr lang="en-US" altLang="zh-CN" b="0" dirty="0">
              <a:sym typeface="+mn-ea"/>
            </a:endParaRPr>
          </a:p>
          <a:p>
            <a:pPr marL="0" indent="0" fontAlgn="auto">
              <a:lnSpc>
                <a:spcPct val="150000"/>
              </a:lnSpc>
              <a:buNone/>
            </a:pPr>
            <a:r>
              <a:rPr lang="en-US" altLang="zh-CN" b="0" dirty="0">
                <a:sym typeface="+mn-ea"/>
              </a:rPr>
              <a:t>            </a:t>
            </a:r>
            <a:r>
              <a:rPr lang="en-US" altLang="zh-CN" b="0" dirty="0" err="1">
                <a:sym typeface="+mn-ea"/>
              </a:rPr>
              <a:t>信息压入系统堆栈</a:t>
            </a:r>
            <a:endParaRPr lang="en-US" altLang="zh-CN" b="0" dirty="0">
              <a:sym typeface="+mn-ea"/>
            </a:endParaRPr>
          </a:p>
          <a:p>
            <a:pPr marL="0" indent="0" fontAlgn="auto">
              <a:lnSpc>
                <a:spcPct val="150000"/>
              </a:lnSpc>
              <a:buNone/>
            </a:pPr>
            <a:r>
              <a:rPr lang="en-US" altLang="zh-CN" b="0" dirty="0">
                <a:sym typeface="+mn-ea"/>
              </a:rPr>
              <a:t>        2. </a:t>
            </a:r>
            <a:r>
              <a:rPr lang="en-US" altLang="zh-CN" b="0" dirty="0" err="1">
                <a:sym typeface="+mn-ea"/>
              </a:rPr>
              <a:t>发生中断嵌套，被中断的处理的程序信息也被压入系统堆栈</a:t>
            </a:r>
            <a:endParaRPr lang="en-US" altLang="zh-CN" b="0" dirty="0">
              <a:sym typeface="+mn-ea"/>
            </a:endParaRPr>
          </a:p>
          <a:p>
            <a:pPr marL="0" indent="0" fontAlgn="auto">
              <a:lnSpc>
                <a:spcPct val="150000"/>
              </a:lnSpc>
              <a:buNone/>
            </a:pPr>
            <a:r>
              <a:rPr lang="en-US" altLang="zh-CN" b="0" dirty="0">
                <a:sym typeface="+mn-ea"/>
              </a:rPr>
              <a:t>        3. </a:t>
            </a:r>
            <a:r>
              <a:rPr lang="en-US" altLang="zh-CN" b="0" dirty="0" err="1">
                <a:sym typeface="+mn-ea"/>
              </a:rPr>
              <a:t>每发生中断嵌套一次，就保护一次被中断的处理过程的现场，进行压栈操作</a:t>
            </a:r>
            <a:endParaRPr lang="en-US" altLang="zh-CN" b="0" dirty="0">
              <a:sym typeface="+mn-ea"/>
            </a:endParaRPr>
          </a:p>
          <a:p>
            <a:pPr marL="0" indent="0" fontAlgn="auto">
              <a:lnSpc>
                <a:spcPct val="150000"/>
              </a:lnSpc>
              <a:buNone/>
            </a:pPr>
            <a:r>
              <a:rPr lang="en-US" altLang="zh-CN" b="0" dirty="0">
                <a:sym typeface="+mn-ea"/>
              </a:rPr>
              <a:t>        4. </a:t>
            </a:r>
            <a:r>
              <a:rPr lang="en-US" altLang="zh-CN" b="0" dirty="0" err="1">
                <a:sym typeface="+mn-ea"/>
              </a:rPr>
              <a:t>每结束一层嵌套的处理时，就从系统堆栈中弹出对应的现场信息，逐层恢复</a:t>
            </a:r>
            <a:endParaRPr lang="en-US" altLang="zh-CN" b="0" dirty="0">
              <a:sym typeface="+mn-ea"/>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7" name="组合 6"/>
          <p:cNvGrpSpPr/>
          <p:nvPr/>
        </p:nvGrpSpPr>
        <p:grpSpPr>
          <a:xfrm>
            <a:off x="10177780" y="329882"/>
            <a:ext cx="1512002" cy="444892"/>
            <a:chOff x="9556201" y="498129"/>
            <a:chExt cx="1993881" cy="586680"/>
          </a:xfrm>
        </p:grpSpPr>
        <p:grpSp>
          <p:nvGrpSpPr>
            <p:cNvPr id="8" name="组合 7"/>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-5</a:t>
            </a:r>
            <a:r>
              <a:rPr lang="zh-CN" altLang="en-US" dirty="0">
                <a:latin typeface="Arial" panose="020B0604020202020204" pitchFamily="34" charset="0"/>
                <a:ea typeface="微软雅黑" panose="020B0503020204020204" pitchFamily="34" charset="-122"/>
                <a:sym typeface="Arial" panose="020B0604020202020204" pitchFamily="34" charset="0"/>
              </a:rPr>
              <a:t>：翻尾石鱼</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2.5</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组合 9"/>
          <p:cNvGrpSpPr/>
          <p:nvPr/>
        </p:nvGrpSpPr>
        <p:grpSpPr>
          <a:xfrm>
            <a:off x="6774186" y="2658742"/>
            <a:ext cx="3526265" cy="1107921"/>
            <a:chOff x="6566813" y="2528855"/>
            <a:chExt cx="3526265" cy="1107921"/>
          </a:xfrm>
        </p:grpSpPr>
        <p:sp>
          <p:nvSpPr>
            <p:cNvPr id="67" name="文本框 66"/>
            <p:cNvSpPr txBox="1"/>
            <p:nvPr/>
          </p:nvSpPr>
          <p:spPr>
            <a:xfrm>
              <a:off x="6566813" y="2528855"/>
              <a:ext cx="352626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 I／O技术</a:t>
              </a: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565461" y="1294358"/>
            <a:ext cx="9056687" cy="381629"/>
          </a:xfrm>
        </p:spPr>
        <p:txBody>
          <a:bodyPr>
            <a:noAutofit/>
          </a:bodyPr>
          <a:lstStyle/>
          <a:p>
            <a:pPr marL="0" indent="0">
              <a:buNone/>
            </a:pPr>
            <a:r>
              <a:rPr sz="2400" dirty="0"/>
              <a:t>I/O结构</a:t>
            </a:r>
          </a:p>
        </p:txBody>
      </p:sp>
      <p:sp>
        <p:nvSpPr>
          <p:cNvPr id="2" name="文本占位符 8"/>
          <p:cNvSpPr>
            <a:spLocks noGrp="1"/>
          </p:cNvSpPr>
          <p:nvPr/>
        </p:nvSpPr>
        <p:spPr>
          <a:xfrm>
            <a:off x="880578" y="1557291"/>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早期的计算机系统中，外部设备的控制器通过I／O硬件结构与中央处理器连接</a:t>
            </a:r>
          </a:p>
          <a:p>
            <a:pPr fontAlgn="auto">
              <a:lnSpc>
                <a:spcPct val="150000"/>
              </a:lnSpc>
            </a:pPr>
            <a:r>
              <a:rPr b="0" dirty="0">
                <a:sym typeface="+mn-ea"/>
              </a:rPr>
              <a:t>这种方法中，中央处理器定期轮询各个I/O设备控制器的状态</a:t>
            </a:r>
          </a:p>
          <a:p>
            <a:pPr fontAlgn="auto">
              <a:lnSpc>
                <a:spcPct val="150000"/>
              </a:lnSpc>
            </a:pPr>
            <a:r>
              <a:rPr b="0" dirty="0">
                <a:sym typeface="+mn-ea"/>
              </a:rPr>
              <a:t>有I/O处理请求，中央处理器就处理I/O操作，直到处理完毕</a:t>
            </a:r>
          </a:p>
          <a:p>
            <a:pPr fontAlgn="auto">
              <a:lnSpc>
                <a:spcPct val="200000"/>
              </a:lnSpc>
            </a:pPr>
            <a:endParaRPr lang="en-US" b="0" dirty="0">
              <a:sym typeface="+mn-ea"/>
            </a:endParaRPr>
          </a:p>
          <a:p>
            <a:pPr fontAlgn="auto">
              <a:lnSpc>
                <a:spcPct val="200000"/>
              </a:lnSpc>
            </a:pPr>
            <a:r>
              <a:rPr b="0" dirty="0">
                <a:sym typeface="+mn-ea"/>
              </a:rPr>
              <a:t>主要缺陷是，处理器为了关注I/O设备控制器的状态，必须耗费大量的时间轮询各个外部设备，严重地降低了整个系统的性能，效率太低，已经淘汰</a:t>
            </a:r>
          </a:p>
          <a:p>
            <a:pPr fontAlgn="auto">
              <a:lnSpc>
                <a:spcPct val="100000"/>
              </a:lnSpc>
            </a:pPr>
            <a:endParaRPr sz="2400" b="0" dirty="0">
              <a:sym typeface="+mn-ea"/>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970815" y="1279845"/>
            <a:ext cx="9056687" cy="381629"/>
          </a:xfrm>
        </p:spPr>
        <p:txBody>
          <a:bodyPr>
            <a:noAutofit/>
          </a:bodyPr>
          <a:lstStyle/>
          <a:p>
            <a:pPr marL="0" indent="0">
              <a:buNone/>
            </a:pPr>
            <a:r>
              <a:rPr sz="2400" dirty="0"/>
              <a:t>通道</a:t>
            </a:r>
          </a:p>
        </p:txBody>
      </p:sp>
      <p:sp>
        <p:nvSpPr>
          <p:cNvPr id="2" name="文本占位符 8"/>
          <p:cNvSpPr>
            <a:spLocks noGrp="1"/>
          </p:cNvSpPr>
          <p:nvPr/>
        </p:nvSpPr>
        <p:spPr>
          <a:xfrm>
            <a:off x="1414191" y="1279845"/>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通道独立于</a:t>
            </a:r>
            <a:r>
              <a:rPr lang="en-US" altLang="zh-CN" b="0" dirty="0">
                <a:sym typeface="+mn-ea"/>
              </a:rPr>
              <a:t>CPU</a:t>
            </a:r>
            <a:r>
              <a:rPr b="0" dirty="0">
                <a:sym typeface="+mn-ea"/>
              </a:rPr>
              <a:t>，专门负责数据I/O传输工作的处理单元，又称为I/O处理机</a:t>
            </a:r>
          </a:p>
          <a:p>
            <a:pPr fontAlgn="auto">
              <a:lnSpc>
                <a:spcPct val="150000"/>
              </a:lnSpc>
            </a:pPr>
            <a:r>
              <a:rPr b="0" dirty="0">
                <a:sym typeface="+mn-ea"/>
              </a:rPr>
              <a:t>对外部设备实行统一的管理</a:t>
            </a:r>
          </a:p>
          <a:p>
            <a:pPr fontAlgn="auto">
              <a:lnSpc>
                <a:spcPct val="150000"/>
              </a:lnSpc>
            </a:pPr>
            <a:r>
              <a:rPr b="0" dirty="0">
                <a:sym typeface="+mn-ea"/>
              </a:rPr>
              <a:t>代替CPU对I/O操作进行控制</a:t>
            </a:r>
          </a:p>
          <a:p>
            <a:pPr fontAlgn="auto">
              <a:lnSpc>
                <a:spcPct val="150000"/>
              </a:lnSpc>
            </a:pPr>
            <a:r>
              <a:rPr b="0" dirty="0">
                <a:sym typeface="+mn-ea"/>
              </a:rPr>
              <a:t>使CPU和外部设备可以并行工作</a:t>
            </a:r>
          </a:p>
          <a:p>
            <a:pPr marL="0" indent="0" fontAlgn="auto">
              <a:lnSpc>
                <a:spcPct val="100000"/>
              </a:lnSpc>
              <a:buNone/>
            </a:pPr>
            <a:endParaRPr b="0" dirty="0">
              <a:sym typeface="+mn-ea"/>
            </a:endParaRPr>
          </a:p>
          <a:p>
            <a:pPr marL="0" indent="0" fontAlgn="auto">
              <a:lnSpc>
                <a:spcPct val="100000"/>
              </a:lnSpc>
              <a:buNone/>
            </a:pPr>
            <a:r>
              <a:rPr b="0" dirty="0">
                <a:sym typeface="+mn-ea"/>
              </a:rPr>
              <a:t>通道可以实现中央处理器和各种外部设备并行工作</a:t>
            </a:r>
          </a:p>
          <a:p>
            <a:pPr fontAlgn="auto">
              <a:lnSpc>
                <a:spcPct val="100000"/>
              </a:lnSpc>
            </a:pPr>
            <a:endParaRPr sz="2400" b="0" dirty="0">
              <a:sym typeface="+mn-ea"/>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1017949" y="1279845"/>
            <a:ext cx="9056687" cy="381629"/>
          </a:xfrm>
        </p:spPr>
        <p:txBody>
          <a:bodyPr>
            <a:noAutofit/>
          </a:bodyPr>
          <a:lstStyle/>
          <a:p>
            <a:pPr marL="0" indent="0">
              <a:buNone/>
            </a:pPr>
            <a:r>
              <a:rPr sz="2400" dirty="0"/>
              <a:t>通道</a:t>
            </a:r>
          </a:p>
        </p:txBody>
      </p:sp>
      <p:sp>
        <p:nvSpPr>
          <p:cNvPr id="2" name="文本占位符 8"/>
          <p:cNvSpPr>
            <a:spLocks noGrp="1"/>
          </p:cNvSpPr>
          <p:nvPr/>
        </p:nvSpPr>
        <p:spPr>
          <a:xfrm>
            <a:off x="1017949" y="1279845"/>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通道工作原理</a:t>
            </a:r>
            <a:endParaRPr lang="en-US" b="0" dirty="0">
              <a:sym typeface="+mn-ea"/>
            </a:endParaRPr>
          </a:p>
          <a:p>
            <a:pPr marL="0" indent="0" fontAlgn="auto">
              <a:lnSpc>
                <a:spcPct val="150000"/>
              </a:lnSpc>
              <a:buNone/>
            </a:pPr>
            <a:endParaRPr b="0" dirty="0">
              <a:sym typeface="+mn-ea"/>
            </a:endParaRPr>
          </a:p>
          <a:p>
            <a:pPr fontAlgn="auto">
              <a:lnSpc>
                <a:spcPct val="150000"/>
              </a:lnSpc>
            </a:pPr>
            <a:r>
              <a:rPr b="0" dirty="0">
                <a:sym typeface="+mn-ea"/>
              </a:rPr>
              <a:t>当处理器执行到一条“启动外设”的指令时，就按指令中给定的参数启动指定的设备</a:t>
            </a:r>
          </a:p>
          <a:p>
            <a:pPr fontAlgn="auto">
              <a:lnSpc>
                <a:spcPct val="150000"/>
              </a:lnSpc>
            </a:pPr>
            <a:r>
              <a:rPr b="0" dirty="0">
                <a:sym typeface="+mn-ea"/>
              </a:rPr>
              <a:t>设备启动之后，对该外部设备的控制权转移到通道</a:t>
            </a:r>
          </a:p>
          <a:p>
            <a:pPr fontAlgn="auto">
              <a:lnSpc>
                <a:spcPct val="150000"/>
              </a:lnSpc>
            </a:pPr>
            <a:r>
              <a:rPr b="0" dirty="0">
                <a:sym typeface="+mn-ea"/>
              </a:rPr>
              <a:t>该外部设备与主存储器之间发生的信息传送，由通道控制</a:t>
            </a:r>
          </a:p>
          <a:p>
            <a:pPr fontAlgn="auto">
              <a:lnSpc>
                <a:spcPct val="150000"/>
              </a:lnSpc>
            </a:pPr>
            <a:r>
              <a:rPr b="0" dirty="0">
                <a:sym typeface="+mn-ea"/>
              </a:rPr>
              <a:t>该外部设备工作结束后，会产生形成一个“输入输出操作结束”的I/O中断事件</a:t>
            </a:r>
          </a:p>
          <a:p>
            <a:pPr marL="0" indent="0" fontAlgn="auto">
              <a:lnSpc>
                <a:spcPct val="100000"/>
              </a:lnSpc>
              <a:buNone/>
            </a:pPr>
            <a:endParaRPr b="0" dirty="0">
              <a:sym typeface="+mn-ea"/>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69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443077" y="1089031"/>
            <a:ext cx="9056687" cy="381629"/>
          </a:xfrm>
        </p:spPr>
        <p:txBody>
          <a:bodyPr>
            <a:noAutofit/>
          </a:bodyPr>
          <a:lstStyle/>
          <a:p>
            <a:pPr marL="0" indent="0">
              <a:buNone/>
            </a:pPr>
            <a:r>
              <a:rPr sz="2400" dirty="0"/>
              <a:t>DMA技术</a:t>
            </a:r>
          </a:p>
        </p:txBody>
      </p:sp>
      <p:sp>
        <p:nvSpPr>
          <p:cNvPr id="2" name="文本占位符 8"/>
          <p:cNvSpPr>
            <a:spLocks noGrp="1"/>
          </p:cNvSpPr>
          <p:nvPr/>
        </p:nvSpPr>
        <p:spPr>
          <a:xfrm>
            <a:off x="848582" y="1356882"/>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lang="zh-CN" altLang="en-US" b="0" dirty="0">
                <a:sym typeface="+mn-ea"/>
              </a:rPr>
              <a:t>通过系统总线中的一个独立控制单元，</a:t>
            </a:r>
            <a:r>
              <a:rPr b="0" dirty="0">
                <a:sym typeface="+mn-ea"/>
              </a:rPr>
              <a:t>自动地控制成块数据在内存和I/O单元之间的传送</a:t>
            </a:r>
          </a:p>
          <a:p>
            <a:pPr fontAlgn="auto">
              <a:lnSpc>
                <a:spcPct val="150000"/>
              </a:lnSpc>
            </a:pPr>
            <a:r>
              <a:rPr b="0" dirty="0">
                <a:sym typeface="+mn-ea"/>
              </a:rPr>
              <a:t>      处理器需要读写一整块数据的时候，它给DMA控制单元发送一条命令</a:t>
            </a:r>
            <a:endParaRPr lang="en-US" b="0" dirty="0">
              <a:sym typeface="+mn-ea"/>
            </a:endParaRPr>
          </a:p>
          <a:p>
            <a:pPr fontAlgn="auto">
              <a:lnSpc>
                <a:spcPct val="150000"/>
              </a:lnSpc>
            </a:pPr>
            <a:r>
              <a:rPr b="0" dirty="0">
                <a:sym typeface="+mn-ea"/>
              </a:rPr>
              <a:t>      命令中包含I/O设备的编址、开始读或写的主存编址、需要传送的数据长度等信息</a:t>
            </a:r>
          </a:p>
          <a:p>
            <a:pPr fontAlgn="auto">
              <a:lnSpc>
                <a:spcPct val="150000"/>
              </a:lnSpc>
            </a:pPr>
            <a:r>
              <a:rPr b="0" dirty="0">
                <a:sym typeface="+mn-ea"/>
              </a:rPr>
              <a:t>      发送完一条命令之后，就可以处理其他的事情</a:t>
            </a:r>
          </a:p>
          <a:p>
            <a:pPr fontAlgn="auto">
              <a:lnSpc>
                <a:spcPct val="150000"/>
              </a:lnSpc>
            </a:pPr>
            <a:r>
              <a:rPr b="0" dirty="0">
                <a:sym typeface="+mn-ea"/>
              </a:rPr>
              <a:t>      DMA控制器将自动管理整块数据的传送</a:t>
            </a:r>
          </a:p>
          <a:p>
            <a:pPr fontAlgn="auto">
              <a:lnSpc>
                <a:spcPct val="150000"/>
              </a:lnSpc>
            </a:pPr>
            <a:r>
              <a:rPr b="0" dirty="0">
                <a:sym typeface="+mn-ea"/>
              </a:rPr>
              <a:t>      当这个传送过程完成后，它会给处理器发一个中断</a:t>
            </a:r>
            <a:endParaRPr lang="en-US" altLang="zh-CN" b="0" dirty="0">
              <a:sym typeface="+mn-ea"/>
            </a:endParaRPr>
          </a:p>
          <a:p>
            <a:pPr marL="0" indent="0" fontAlgn="auto">
              <a:lnSpc>
                <a:spcPct val="150000"/>
              </a:lnSpc>
              <a:buNone/>
            </a:pPr>
            <a:r>
              <a:rPr lang="en-US" altLang="zh-CN" b="0" dirty="0">
                <a:sym typeface="+mn-ea"/>
              </a:rPr>
              <a:t> </a:t>
            </a:r>
            <a:r>
              <a:rPr b="0" dirty="0">
                <a:sym typeface="+mn-ea"/>
              </a:rPr>
              <a:t>这样处理器只开始传送和传送结束时关注一下就可以了</a:t>
            </a:r>
          </a:p>
          <a:p>
            <a:pPr marL="0" indent="0" fontAlgn="auto">
              <a:lnSpc>
                <a:spcPct val="100000"/>
              </a:lnSpc>
              <a:buNone/>
            </a:pPr>
            <a:endParaRPr sz="2400" b="0" dirty="0">
              <a:sym typeface="+mn-ea"/>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442913" y="1470660"/>
            <a:ext cx="9056687" cy="381629"/>
          </a:xfrm>
        </p:spPr>
        <p:txBody>
          <a:bodyPr>
            <a:noAutofit/>
          </a:bodyPr>
          <a:lstStyle/>
          <a:p>
            <a:pPr marL="0" indent="0">
              <a:buNone/>
            </a:pPr>
            <a:r>
              <a:rPr sz="2400" dirty="0"/>
              <a:t>DMA技术</a:t>
            </a:r>
          </a:p>
        </p:txBody>
      </p:sp>
      <p:sp>
        <p:nvSpPr>
          <p:cNvPr id="2" name="文本占位符 8"/>
          <p:cNvSpPr>
            <a:spLocks noGrp="1"/>
          </p:cNvSpPr>
          <p:nvPr/>
        </p:nvSpPr>
        <p:spPr>
          <a:xfrm>
            <a:off x="933424" y="1470660"/>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处理器和DMA传送也不是完全并行</a:t>
            </a:r>
          </a:p>
          <a:p>
            <a:pPr fontAlgn="auto">
              <a:lnSpc>
                <a:spcPct val="150000"/>
              </a:lnSpc>
            </a:pPr>
            <a:r>
              <a:rPr b="0" dirty="0">
                <a:sym typeface="+mn-ea"/>
              </a:rPr>
              <a:t>会有总线竞争的情况发生，这种总线竞争不会引起中断，也不会引起程序上下文的保存，处理器会稍稍等待</a:t>
            </a:r>
          </a:p>
          <a:p>
            <a:pPr fontAlgn="auto">
              <a:lnSpc>
                <a:spcPct val="150000"/>
              </a:lnSpc>
            </a:pPr>
            <a:r>
              <a:rPr b="0" dirty="0">
                <a:sym typeface="+mn-ea"/>
              </a:rPr>
              <a:t>通常这个过程只会花费一个总线周期</a:t>
            </a:r>
          </a:p>
          <a:p>
            <a:pPr fontAlgn="auto">
              <a:lnSpc>
                <a:spcPct val="150000"/>
              </a:lnSpc>
            </a:pPr>
            <a:r>
              <a:rPr b="0" dirty="0">
                <a:sym typeface="+mn-ea"/>
              </a:rPr>
              <a:t>在DMA传送发生时，处理器访问总线的速度会有所变慢</a:t>
            </a:r>
          </a:p>
          <a:p>
            <a:pPr fontAlgn="auto">
              <a:lnSpc>
                <a:spcPct val="150000"/>
              </a:lnSpc>
            </a:pPr>
            <a:r>
              <a:rPr b="0" dirty="0">
                <a:sym typeface="+mn-ea"/>
              </a:rPr>
              <a:t>对于大量数据的I/O传送来说，DMA技术是很有价值</a:t>
            </a:r>
          </a:p>
          <a:p>
            <a:pPr marL="0" indent="0" fontAlgn="auto">
              <a:lnSpc>
                <a:spcPct val="100000"/>
              </a:lnSpc>
              <a:buNone/>
            </a:pPr>
            <a:endParaRPr sz="2400" b="0" dirty="0">
              <a:sym typeface="+mn-ea"/>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766445" y="1279845"/>
            <a:ext cx="9056687" cy="381629"/>
          </a:xfrm>
        </p:spPr>
        <p:txBody>
          <a:bodyPr>
            <a:noAutofit/>
          </a:bodyPr>
          <a:lstStyle/>
          <a:p>
            <a:pPr marL="0" indent="0">
              <a:buNone/>
            </a:pPr>
            <a:r>
              <a:rPr sz="2400"/>
              <a:t>缓冲技术</a:t>
            </a:r>
          </a:p>
        </p:txBody>
      </p:sp>
      <p:sp>
        <p:nvSpPr>
          <p:cNvPr id="2" name="文本占位符 8"/>
          <p:cNvSpPr>
            <a:spLocks noGrp="1"/>
          </p:cNvSpPr>
          <p:nvPr/>
        </p:nvSpPr>
        <p:spPr>
          <a:xfrm>
            <a:off x="1404764" y="1499344"/>
            <a:ext cx="10982325" cy="5057140"/>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缓冲区是硬件设备之间进行数据传输时，专门用来暂存这些数据的一个存储区域</a:t>
            </a:r>
            <a:endParaRPr lang="en-US" b="0" dirty="0">
              <a:sym typeface="+mn-ea"/>
            </a:endParaRPr>
          </a:p>
          <a:p>
            <a:pPr marL="0" indent="0" fontAlgn="auto">
              <a:lnSpc>
                <a:spcPct val="150000"/>
              </a:lnSpc>
              <a:buNone/>
            </a:pPr>
            <a:endParaRPr sz="100" b="0" dirty="0">
              <a:sym typeface="+mn-ea"/>
            </a:endParaRPr>
          </a:p>
          <a:p>
            <a:pPr marL="0" indent="0" fontAlgn="auto">
              <a:lnSpc>
                <a:spcPct val="150000"/>
              </a:lnSpc>
              <a:buNone/>
            </a:pPr>
            <a:r>
              <a:rPr b="0" dirty="0">
                <a:sym typeface="+mn-ea"/>
              </a:rPr>
              <a:t>三种情况下采用</a:t>
            </a:r>
          </a:p>
          <a:p>
            <a:pPr fontAlgn="auto">
              <a:lnSpc>
                <a:spcPct val="150000"/>
              </a:lnSpc>
            </a:pPr>
            <a:r>
              <a:rPr b="0" dirty="0">
                <a:sym typeface="+mn-ea"/>
              </a:rPr>
              <a:t>    处理器与主存储器之间</a:t>
            </a:r>
          </a:p>
          <a:p>
            <a:pPr fontAlgn="auto">
              <a:lnSpc>
                <a:spcPct val="150000"/>
              </a:lnSpc>
            </a:pPr>
            <a:r>
              <a:rPr b="0" dirty="0">
                <a:sym typeface="+mn-ea"/>
              </a:rPr>
              <a:t>    处理器和其它外部设备之间</a:t>
            </a:r>
          </a:p>
          <a:p>
            <a:pPr fontAlgn="auto">
              <a:lnSpc>
                <a:spcPct val="150000"/>
              </a:lnSpc>
            </a:pPr>
            <a:r>
              <a:rPr b="0" dirty="0">
                <a:sym typeface="+mn-ea"/>
              </a:rPr>
              <a:t>    设备与设备之间的通信</a:t>
            </a:r>
            <a:endParaRPr lang="en-US" b="0" dirty="0">
              <a:sym typeface="+mn-ea"/>
            </a:endParaRPr>
          </a:p>
          <a:p>
            <a:pPr fontAlgn="auto">
              <a:lnSpc>
                <a:spcPct val="150000"/>
              </a:lnSpc>
            </a:pPr>
            <a:endParaRPr sz="100" b="0" dirty="0">
              <a:sym typeface="+mn-ea"/>
            </a:endParaRPr>
          </a:p>
          <a:p>
            <a:pPr marL="0" indent="0" fontAlgn="auto">
              <a:lnSpc>
                <a:spcPct val="150000"/>
              </a:lnSpc>
              <a:buNone/>
            </a:pPr>
            <a:r>
              <a:rPr b="0" dirty="0">
                <a:sym typeface="+mn-ea"/>
              </a:rPr>
              <a:t>目的：为了解决部件之间速度不匹配的问题</a:t>
            </a:r>
          </a:p>
          <a:p>
            <a:pPr marL="0" indent="0" fontAlgn="auto">
              <a:lnSpc>
                <a:spcPct val="100000"/>
              </a:lnSpc>
              <a:buNone/>
            </a:pPr>
            <a:endParaRPr sz="2400" b="0" dirty="0">
              <a:sym typeface="+mn-ea"/>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442913" y="1117690"/>
            <a:ext cx="9056687" cy="381629"/>
          </a:xfrm>
        </p:spPr>
        <p:txBody>
          <a:bodyPr>
            <a:noAutofit/>
          </a:bodyPr>
          <a:lstStyle/>
          <a:p>
            <a:pPr marL="0" indent="0">
              <a:buNone/>
            </a:pPr>
            <a:r>
              <a:rPr sz="2400" dirty="0"/>
              <a:t>多缓冲技术</a:t>
            </a:r>
          </a:p>
        </p:txBody>
      </p:sp>
      <p:sp>
        <p:nvSpPr>
          <p:cNvPr id="2" name="文本占位符 8"/>
          <p:cNvSpPr>
            <a:spLocks noGrp="1"/>
          </p:cNvSpPr>
          <p:nvPr/>
        </p:nvSpPr>
        <p:spPr>
          <a:xfrm>
            <a:off x="895148" y="1594313"/>
            <a:ext cx="10982325" cy="235394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多缓冲区（Cache）技术可提高设备利用率</a:t>
            </a:r>
          </a:p>
          <a:p>
            <a:pPr fontAlgn="auto">
              <a:lnSpc>
                <a:spcPct val="100000"/>
              </a:lnSpc>
            </a:pPr>
            <a:r>
              <a:rPr b="0" dirty="0">
                <a:sym typeface="+mn-ea"/>
              </a:rPr>
              <a:t>     Cache是离CPU最近的高速内存，能使CPU更快速地访问经常使用的数据</a:t>
            </a:r>
          </a:p>
          <a:p>
            <a:pPr fontAlgn="auto">
              <a:lnSpc>
                <a:spcPct val="100000"/>
              </a:lnSpc>
            </a:pPr>
            <a:r>
              <a:rPr b="0" dirty="0">
                <a:sym typeface="+mn-ea"/>
              </a:rPr>
              <a:t>     CPU首先到一级Cache中去找数据</a:t>
            </a:r>
          </a:p>
          <a:p>
            <a:pPr fontAlgn="auto">
              <a:lnSpc>
                <a:spcPct val="100000"/>
              </a:lnSpc>
            </a:pPr>
            <a:r>
              <a:rPr b="0" dirty="0">
                <a:sym typeface="+mn-ea"/>
              </a:rPr>
              <a:t>     如果没有找到，那么CPU接着到二级Cache中去找</a:t>
            </a:r>
          </a:p>
          <a:p>
            <a:pPr fontAlgn="auto">
              <a:lnSpc>
                <a:spcPct val="100000"/>
              </a:lnSpc>
            </a:pPr>
            <a:r>
              <a:rPr b="0" dirty="0">
                <a:sym typeface="+mn-ea"/>
              </a:rPr>
              <a:t>     还找不到，CPU就只好到速度较慢的系统内存中去找</a:t>
            </a:r>
          </a:p>
        </p:txBody>
      </p:sp>
      <p:grpSp>
        <p:nvGrpSpPr>
          <p:cNvPr id="133" name="画布 46"/>
          <p:cNvGrpSpPr/>
          <p:nvPr/>
        </p:nvGrpSpPr>
        <p:grpSpPr>
          <a:xfrm>
            <a:off x="1509077" y="4133753"/>
            <a:ext cx="9173845" cy="2260600"/>
            <a:chOff x="0" y="0"/>
            <a:chExt cx="5217160" cy="1118235"/>
          </a:xfrm>
        </p:grpSpPr>
        <p:sp>
          <p:nvSpPr>
            <p:cNvPr id="3" name="画布 46"/>
            <p:cNvSpPr>
              <a:spLocks noChangeAspect="1"/>
            </p:cNvSpPr>
            <p:nvPr/>
          </p:nvSpPr>
          <p:spPr>
            <a:xfrm>
              <a:off x="0" y="0"/>
              <a:ext cx="5217160" cy="1118235"/>
            </a:xfrm>
            <a:noFill/>
            <a:ln>
              <a:noFill/>
            </a:ln>
          </p:spPr>
          <p:txBody>
            <a:bodyPr/>
            <a:lstStyle/>
            <a:p>
              <a:endParaRPr lang="zh-CN" altLang="en-US"/>
            </a:p>
          </p:txBody>
        </p:sp>
        <p:grpSp>
          <p:nvGrpSpPr>
            <p:cNvPr id="55" name="Group 48"/>
            <p:cNvGrpSpPr/>
            <p:nvPr/>
          </p:nvGrpSpPr>
          <p:grpSpPr>
            <a:xfrm>
              <a:off x="66675" y="116840"/>
              <a:ext cx="5018405" cy="1001395"/>
              <a:chOff x="1902" y="1842"/>
              <a:chExt cx="7903" cy="1577"/>
            </a:xfrm>
          </p:grpSpPr>
          <p:sp>
            <p:nvSpPr>
              <p:cNvPr id="56" name="Rectangle 49"/>
              <p:cNvSpPr>
                <a:spLocks noChangeArrowheads="1"/>
              </p:cNvSpPr>
              <p:nvPr/>
            </p:nvSpPr>
            <p:spPr bwMode="auto">
              <a:xfrm>
                <a:off x="1902" y="2211"/>
                <a:ext cx="1559" cy="735"/>
              </a:xfrm>
              <a:prstGeom prst="rect">
                <a:avLst/>
              </a:prstGeom>
              <a:solidFill>
                <a:srgbClr val="FFFFFF"/>
              </a:solidFill>
              <a:ln w="9525">
                <a:miter lim="800000"/>
              </a:ln>
              <a:effectLst/>
              <a:scene3d>
                <a:camera prst="legacyObliqueTopRight"/>
                <a:lightRig rig="legacyFlat3" dir="b"/>
              </a:scene3d>
              <a:sp3d extrusionH="430200" prstMaterial="legacyWireframe">
                <a:bevelT w="13500" h="13500" prst="angle"/>
                <a:bevelB w="13500" h="13500" prst="angle"/>
                <a:extrusionClr>
                  <a:srgbClr val="FFFFFF"/>
                </a:extrusionClr>
                <a:contourClr>
                  <a:srgbClr val="FFFFFF"/>
                </a:contourClr>
              </a:sp3d>
            </p:spPr>
            <p:txBody>
              <a:bodyPr rot="0" vert="horz" wrap="square" lIns="91440" tIns="45720" rIns="91440" bIns="45720" anchor="t" anchorCtr="0" upright="1">
                <a:noAutofit/>
              </a:bodyPr>
              <a:lstStyle/>
              <a:p>
                <a:pPr algn="ctr"/>
                <a:r>
                  <a:rPr lang="en-US" altLang="zh-CN" sz="2400" b="1" kern="100">
                    <a:latin typeface="Times New Roman" panose="02020603050405020304"/>
                    <a:ea typeface="宋体" panose="02010600030101010101" pitchFamily="2" charset="-122"/>
                    <a:cs typeface="Times New Roman" panose="02020603050405020304"/>
                    <a:sym typeface="Times New Roman" panose="02020603050405020304"/>
                  </a:rPr>
                  <a:t>CPU</a:t>
                </a:r>
              </a:p>
            </p:txBody>
          </p:sp>
          <p:sp>
            <p:nvSpPr>
              <p:cNvPr id="57" name="Rectangle 50"/>
              <p:cNvSpPr>
                <a:spLocks noChangeArrowheads="1"/>
              </p:cNvSpPr>
              <p:nvPr/>
            </p:nvSpPr>
            <p:spPr bwMode="auto">
              <a:xfrm>
                <a:off x="6997" y="1842"/>
                <a:ext cx="2808" cy="1288"/>
              </a:xfrm>
              <a:prstGeom prst="rect">
                <a:avLst/>
              </a:prstGeom>
              <a:solidFill>
                <a:srgbClr val="FFFFFF"/>
              </a:solidFill>
              <a:ln w="9525">
                <a:miter lim="800000"/>
              </a:ln>
              <a:effectLst/>
              <a:scene3d>
                <a:camera prst="legacyObliqueTopRight"/>
                <a:lightRig rig="legacyFlat3" dir="b"/>
              </a:scene3d>
              <a:sp3d extrusionH="430200" prstMaterial="legacyWireframe">
                <a:bevelT w="13500" h="13500" prst="angle"/>
                <a:bevelB w="13500" h="13500" prst="angle"/>
                <a:extrusionClr>
                  <a:srgbClr val="FFFFFF"/>
                </a:extrusionClr>
                <a:contourClr>
                  <a:srgbClr val="FFFFFF"/>
                </a:contourClr>
              </a:sp3d>
            </p:spPr>
            <p:txBody>
              <a:bodyPr rot="0" vert="horz" wrap="square" lIns="91440" tIns="118800" rIns="91440" bIns="45720" anchor="t" anchorCtr="0" upright="1">
                <a:noAutofit/>
              </a:bodyPr>
              <a:lstStyle/>
              <a:p>
                <a:pPr algn="ctr"/>
                <a:r>
                  <a:rPr lang="en-US" altLang="zh-CN" sz="2400" b="1" kern="100">
                    <a:latin typeface="楷体_GB2312" panose="02010609030101010101" charset="-122"/>
                    <a:ea typeface="楷体_GB2312" panose="02010609030101010101" charset="-122"/>
                    <a:cs typeface="Times New Roman" panose="02020603050405020304"/>
                    <a:sym typeface="Times New Roman" panose="02020603050405020304"/>
                  </a:rPr>
                  <a:t>主存储器</a:t>
                </a:r>
              </a:p>
            </p:txBody>
          </p:sp>
          <p:cxnSp>
            <p:nvCxnSpPr>
              <p:cNvPr id="58" name="Line 51"/>
              <p:cNvCxnSpPr>
                <a:cxnSpLocks noChangeShapeType="1"/>
              </p:cNvCxnSpPr>
              <p:nvPr/>
            </p:nvCxnSpPr>
            <p:spPr bwMode="auto">
              <a:xfrm>
                <a:off x="3595" y="2288"/>
                <a:ext cx="936" cy="1"/>
              </a:xfrm>
              <a:prstGeom prst="line">
                <a:avLst/>
              </a:prstGeom>
              <a:noFill/>
              <a:ln w="38100">
                <a:solidFill>
                  <a:srgbClr val="808080"/>
                </a:solidFill>
                <a:round/>
                <a:tailEnd type="triangle" w="med" len="med"/>
              </a:ln>
              <a:effectLst/>
            </p:spPr>
          </p:cxnSp>
          <p:sp>
            <p:nvSpPr>
              <p:cNvPr id="59" name="Rectangle 52"/>
              <p:cNvSpPr>
                <a:spLocks noChangeArrowheads="1"/>
              </p:cNvSpPr>
              <p:nvPr/>
            </p:nvSpPr>
            <p:spPr bwMode="auto">
              <a:xfrm>
                <a:off x="4397" y="2211"/>
                <a:ext cx="1768" cy="735"/>
              </a:xfrm>
              <a:prstGeom prst="rect">
                <a:avLst/>
              </a:prstGeom>
              <a:solidFill>
                <a:srgbClr val="FFFFFF"/>
              </a:solidFill>
              <a:ln w="9525">
                <a:miter lim="800000"/>
              </a:ln>
              <a:effectLst/>
              <a:scene3d>
                <a:camera prst="legacyObliqueTopRight"/>
                <a:lightRig rig="legacyFlat3" dir="b"/>
              </a:scene3d>
              <a:sp3d extrusionH="430200" prstMaterial="legacyWireframe">
                <a:bevelT w="13500" h="13500" prst="angle"/>
                <a:bevelB w="13500" h="13500" prst="angle"/>
                <a:extrusionClr>
                  <a:srgbClr val="FFFFFF"/>
                </a:extrusionClr>
                <a:contourClr>
                  <a:srgbClr val="FFFFFF"/>
                </a:contourClr>
              </a:sp3d>
            </p:spPr>
            <p:txBody>
              <a:bodyPr rot="0" vert="horz" wrap="square" lIns="91440" tIns="45720" rIns="91440" bIns="45720" anchor="t" anchorCtr="0" upright="1">
                <a:noAutofit/>
              </a:bodyPr>
              <a:lstStyle/>
              <a:p>
                <a:pPr algn="ctr"/>
                <a:r>
                  <a:rPr lang="en-US" altLang="zh-CN" sz="2400" b="1" kern="100">
                    <a:latin typeface="Times New Roman" panose="02020603050405020304"/>
                    <a:ea typeface="宋体" panose="02010600030101010101" pitchFamily="2" charset="-122"/>
                    <a:cs typeface="Times New Roman" panose="02020603050405020304"/>
                    <a:sym typeface="Times New Roman" panose="02020603050405020304"/>
                  </a:rPr>
                  <a:t>cache</a:t>
                </a:r>
              </a:p>
            </p:txBody>
          </p:sp>
          <p:cxnSp>
            <p:nvCxnSpPr>
              <p:cNvPr id="60" name="Line 53"/>
              <p:cNvCxnSpPr>
                <a:cxnSpLocks noChangeShapeType="1"/>
              </p:cNvCxnSpPr>
              <p:nvPr/>
            </p:nvCxnSpPr>
            <p:spPr bwMode="auto">
              <a:xfrm>
                <a:off x="3565" y="2623"/>
                <a:ext cx="936" cy="1"/>
              </a:xfrm>
              <a:prstGeom prst="line">
                <a:avLst/>
              </a:prstGeom>
              <a:noFill/>
              <a:ln w="38100">
                <a:solidFill>
                  <a:srgbClr val="808080"/>
                </a:solidFill>
                <a:round/>
                <a:headEnd type="triangle" w="med" len="med"/>
              </a:ln>
              <a:effectLst/>
            </p:spPr>
          </p:cxnSp>
          <p:cxnSp>
            <p:nvCxnSpPr>
              <p:cNvPr id="61" name="Line 54"/>
              <p:cNvCxnSpPr>
                <a:cxnSpLocks noChangeShapeType="1"/>
              </p:cNvCxnSpPr>
              <p:nvPr/>
            </p:nvCxnSpPr>
            <p:spPr bwMode="auto">
              <a:xfrm>
                <a:off x="6254" y="2270"/>
                <a:ext cx="936" cy="1"/>
              </a:xfrm>
              <a:prstGeom prst="line">
                <a:avLst/>
              </a:prstGeom>
              <a:noFill/>
              <a:ln w="38100">
                <a:solidFill>
                  <a:srgbClr val="808080"/>
                </a:solidFill>
                <a:round/>
                <a:tailEnd type="triangle" w="med" len="med"/>
              </a:ln>
              <a:effectLst/>
            </p:spPr>
          </p:cxnSp>
          <p:cxnSp>
            <p:nvCxnSpPr>
              <p:cNvPr id="62" name="Line 55"/>
              <p:cNvCxnSpPr>
                <a:cxnSpLocks noChangeShapeType="1"/>
              </p:cNvCxnSpPr>
              <p:nvPr/>
            </p:nvCxnSpPr>
            <p:spPr bwMode="auto">
              <a:xfrm>
                <a:off x="6224" y="2605"/>
                <a:ext cx="936" cy="1"/>
              </a:xfrm>
              <a:prstGeom prst="line">
                <a:avLst/>
              </a:prstGeom>
              <a:noFill/>
              <a:ln w="38100">
                <a:solidFill>
                  <a:srgbClr val="808080"/>
                </a:solidFill>
                <a:round/>
                <a:headEnd type="triangle" w="med" len="med"/>
              </a:ln>
              <a:effectLst/>
            </p:spPr>
          </p:cxnSp>
          <p:sp>
            <p:nvSpPr>
              <p:cNvPr id="63" name="AutoShape 56"/>
              <p:cNvSpPr/>
              <p:nvPr/>
            </p:nvSpPr>
            <p:spPr bwMode="auto">
              <a:xfrm rot="5400000" flipV="1">
                <a:off x="3901" y="2450"/>
                <a:ext cx="248" cy="744"/>
              </a:xfrm>
              <a:prstGeom prst="rightBrace">
                <a:avLst>
                  <a:gd name="adj1" fmla="val 25000"/>
                  <a:gd name="adj2" fmla="val 52713"/>
                </a:avLst>
              </a:prstGeom>
              <a:noFill/>
              <a:ln w="9525">
                <a:solidFill>
                  <a:srgbClr val="000000"/>
                </a:solidFill>
                <a:round/>
              </a:ln>
            </p:spPr>
            <p:txBody>
              <a:bodyPr/>
              <a:lstStyle/>
              <a:p>
                <a:endParaRPr lang="zh-CN" altLang="en-US"/>
              </a:p>
            </p:txBody>
          </p:sp>
          <p:sp>
            <p:nvSpPr>
              <p:cNvPr id="128" name="AutoShape 57"/>
              <p:cNvSpPr/>
              <p:nvPr/>
            </p:nvSpPr>
            <p:spPr bwMode="auto">
              <a:xfrm rot="5400000" flipV="1">
                <a:off x="6621" y="2450"/>
                <a:ext cx="248" cy="744"/>
              </a:xfrm>
              <a:prstGeom prst="rightBrace">
                <a:avLst>
                  <a:gd name="adj1" fmla="val 25000"/>
                  <a:gd name="adj2" fmla="val 52713"/>
                </a:avLst>
              </a:prstGeom>
              <a:noFill/>
              <a:ln w="9525">
                <a:solidFill>
                  <a:srgbClr val="000000"/>
                </a:solidFill>
                <a:round/>
              </a:ln>
            </p:spPr>
            <p:txBody>
              <a:bodyPr/>
              <a:lstStyle/>
              <a:p>
                <a:endParaRPr lang="zh-CN" altLang="en-US"/>
              </a:p>
            </p:txBody>
          </p:sp>
          <p:sp>
            <p:nvSpPr>
              <p:cNvPr id="131" name="Text Box 58"/>
              <p:cNvSpPr txBox="1">
                <a:spLocks noChangeArrowheads="1"/>
              </p:cNvSpPr>
              <p:nvPr/>
            </p:nvSpPr>
            <p:spPr bwMode="auto">
              <a:xfrm>
                <a:off x="3565" y="2867"/>
                <a:ext cx="1144" cy="552"/>
              </a:xfrm>
              <a:prstGeom prst="rect">
                <a:avLst/>
              </a:prstGeom>
              <a:noFill/>
              <a:ln>
                <a:noFill/>
              </a:ln>
            </p:spPr>
            <p:txBody>
              <a:bodyPr rot="0" vert="horz" wrap="square" lIns="91440" tIns="45720" rIns="91440" bIns="45720" anchor="t" anchorCtr="0" upright="1">
                <a:noAutofit/>
              </a:bodyPr>
              <a:lstStyle/>
              <a:p>
                <a:pPr algn="just"/>
                <a:r>
                  <a:rPr lang="en-US" altLang="zh-CN" sz="2000" kern="100">
                    <a:latin typeface="楷体_GB2312" panose="02010609030101010101" charset="-122"/>
                    <a:ea typeface="楷体_GB2312" panose="02010609030101010101" charset="-122"/>
                    <a:cs typeface="Times New Roman" panose="02020603050405020304"/>
                    <a:sym typeface="Times New Roman" panose="02020603050405020304"/>
                  </a:rPr>
                  <a:t>字传送</a:t>
                </a:r>
              </a:p>
            </p:txBody>
          </p:sp>
          <p:sp>
            <p:nvSpPr>
              <p:cNvPr id="132" name="Text Box 59"/>
              <p:cNvSpPr txBox="1">
                <a:spLocks noChangeArrowheads="1"/>
              </p:cNvSpPr>
              <p:nvPr/>
            </p:nvSpPr>
            <p:spPr bwMode="auto">
              <a:xfrm>
                <a:off x="6165" y="2841"/>
                <a:ext cx="1144" cy="552"/>
              </a:xfrm>
              <a:prstGeom prst="rect">
                <a:avLst/>
              </a:prstGeom>
              <a:noFill/>
              <a:ln>
                <a:noFill/>
              </a:ln>
            </p:spPr>
            <p:txBody>
              <a:bodyPr rot="0" vert="horz" wrap="square" lIns="91440" tIns="45720" rIns="91440" bIns="45720" anchor="t" anchorCtr="0" upright="1">
                <a:noAutofit/>
              </a:bodyPr>
              <a:lstStyle/>
              <a:p>
                <a:pPr algn="just"/>
                <a:r>
                  <a:rPr lang="en-US" altLang="zh-CN" sz="2000" kern="100">
                    <a:latin typeface="楷体_GB2312" panose="02010609030101010101" charset="-122"/>
                    <a:ea typeface="楷体_GB2312" panose="02010609030101010101" charset="-122"/>
                    <a:cs typeface="Times New Roman" panose="02020603050405020304"/>
                    <a:sym typeface="Times New Roman" panose="02020603050405020304"/>
                  </a:rPr>
                  <a:t>块传送</a:t>
                </a:r>
              </a:p>
            </p:txBody>
          </p:sp>
        </p:gr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443077" y="1407408"/>
            <a:ext cx="9056687" cy="381629"/>
          </a:xfrm>
        </p:spPr>
        <p:txBody>
          <a:bodyPr>
            <a:noAutofit/>
          </a:bodyPr>
          <a:lstStyle/>
          <a:p>
            <a:pPr marL="0" indent="0">
              <a:buNone/>
            </a:pPr>
            <a:r>
              <a:rPr sz="2400" dirty="0"/>
              <a:t>多缓冲技术</a:t>
            </a:r>
          </a:p>
        </p:txBody>
      </p:sp>
      <p:sp>
        <p:nvSpPr>
          <p:cNvPr id="2" name="文本占位符 8"/>
          <p:cNvSpPr>
            <a:spLocks noGrp="1"/>
          </p:cNvSpPr>
          <p:nvPr/>
        </p:nvSpPr>
        <p:spPr>
          <a:xfrm>
            <a:off x="1002268" y="1302198"/>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主存储器一般由2n个可寻址的字组成，每个字有一个唯一的n位地址</a:t>
            </a:r>
          </a:p>
          <a:p>
            <a:pPr fontAlgn="auto">
              <a:lnSpc>
                <a:spcPct val="150000"/>
              </a:lnSpc>
            </a:pPr>
            <a:r>
              <a:rPr b="0" dirty="0">
                <a:sym typeface="+mn-ea"/>
              </a:rPr>
              <a:t>将主存视作块构成，每块含K个字，即将主存划分为M＝2n/K个块</a:t>
            </a:r>
          </a:p>
          <a:p>
            <a:pPr fontAlgn="auto">
              <a:lnSpc>
                <a:spcPct val="150000"/>
              </a:lnSpc>
            </a:pPr>
            <a:r>
              <a:rPr b="0" dirty="0">
                <a:sym typeface="+mn-ea"/>
              </a:rPr>
              <a:t>Cache中有C个存储槽，每个槽也是K个字，当然C远小于M</a:t>
            </a:r>
          </a:p>
          <a:p>
            <a:pPr fontAlgn="auto">
              <a:lnSpc>
                <a:spcPct val="150000"/>
              </a:lnSpc>
            </a:pPr>
            <a:r>
              <a:rPr b="0" dirty="0">
                <a:sym typeface="+mn-ea"/>
              </a:rPr>
              <a:t>读到了某一块中的一个字，而它又不在Cache的槽中，那个块将整个被移到一个槽中</a:t>
            </a:r>
          </a:p>
          <a:p>
            <a:pPr fontAlgn="auto">
              <a:lnSpc>
                <a:spcPct val="150000"/>
              </a:lnSpc>
            </a:pPr>
            <a:r>
              <a:rPr b="0" dirty="0">
                <a:sym typeface="+mn-ea"/>
              </a:rPr>
              <a:t>替换那一个槽中的内容将由处理器的Cache管理单元按照一定的策略来选择</a:t>
            </a:r>
          </a:p>
          <a:p>
            <a:pPr fontAlgn="auto">
              <a:lnSpc>
                <a:spcPct val="150000"/>
              </a:lnSpc>
            </a:pPr>
            <a:r>
              <a:rPr b="0" dirty="0">
                <a:sym typeface="+mn-ea"/>
              </a:rPr>
              <a:t>相应的Cache槽中会有一个专门的标记，以表明它对应的是主存的什么地址的块</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595748" y="1199623"/>
            <a:ext cx="9056687" cy="381629"/>
          </a:xfrm>
        </p:spPr>
        <p:txBody>
          <a:bodyPr>
            <a:noAutofit/>
          </a:bodyPr>
          <a:lstStyle/>
          <a:p>
            <a:pPr marL="0" indent="0">
              <a:buNone/>
            </a:pPr>
            <a:r>
              <a:rPr sz="2400" dirty="0"/>
              <a:t>多缓冲技术</a:t>
            </a:r>
          </a:p>
        </p:txBody>
      </p:sp>
      <p:grpSp>
        <p:nvGrpSpPr>
          <p:cNvPr id="54" name="画布 23"/>
          <p:cNvGrpSpPr/>
          <p:nvPr/>
        </p:nvGrpSpPr>
        <p:grpSpPr>
          <a:xfrm>
            <a:off x="2458720" y="1209040"/>
            <a:ext cx="6478905" cy="5185410"/>
            <a:chOff x="0" y="0"/>
            <a:chExt cx="5217160" cy="4439920"/>
          </a:xfrm>
        </p:grpSpPr>
        <p:sp>
          <p:nvSpPr>
            <p:cNvPr id="4" name="画布 23"/>
            <p:cNvSpPr>
              <a:spLocks noChangeAspect="1"/>
            </p:cNvSpPr>
            <p:nvPr/>
          </p:nvSpPr>
          <p:spPr>
            <a:xfrm>
              <a:off x="0" y="0"/>
              <a:ext cx="5217160" cy="4439920"/>
            </a:xfrm>
            <a:noFill/>
            <a:ln>
              <a:noFill/>
            </a:ln>
          </p:spPr>
          <p:txBody>
            <a:bodyPr/>
            <a:lstStyle/>
            <a:p>
              <a:endParaRPr lang="zh-CN" altLang="en-US"/>
            </a:p>
          </p:txBody>
        </p:sp>
        <p:grpSp>
          <p:nvGrpSpPr>
            <p:cNvPr id="33" name="Group 25"/>
            <p:cNvGrpSpPr/>
            <p:nvPr/>
          </p:nvGrpSpPr>
          <p:grpSpPr>
            <a:xfrm>
              <a:off x="330200" y="116840"/>
              <a:ext cx="4556760" cy="4194175"/>
              <a:chOff x="2733" y="7252"/>
              <a:chExt cx="7176" cy="6605"/>
            </a:xfrm>
          </p:grpSpPr>
          <p:sp>
            <p:nvSpPr>
              <p:cNvPr id="34" name="Rectangle 26"/>
              <p:cNvSpPr>
                <a:spLocks noChangeArrowheads="1"/>
              </p:cNvSpPr>
              <p:nvPr/>
            </p:nvSpPr>
            <p:spPr bwMode="auto">
              <a:xfrm>
                <a:off x="2733" y="8172"/>
                <a:ext cx="2703" cy="552"/>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kern="100">
                    <a:latin typeface="Times New Roman" panose="02020603050405020304"/>
                    <a:ea typeface="楷体_GB2312" panose="02010609030101010101" charset="-122"/>
                    <a:cs typeface="Times New Roman" panose="02020603050405020304"/>
                    <a:sym typeface="Times New Roman" panose="02020603050405020304"/>
                  </a:rPr>
                  <a:t>从CPU接收有效地址RA</a:t>
                </a:r>
              </a:p>
            </p:txBody>
          </p:sp>
          <p:sp>
            <p:nvSpPr>
              <p:cNvPr id="35" name="AutoShape 27"/>
              <p:cNvSpPr>
                <a:spLocks noChangeArrowheads="1"/>
              </p:cNvSpPr>
              <p:nvPr/>
            </p:nvSpPr>
            <p:spPr bwMode="auto">
              <a:xfrm>
                <a:off x="3401" y="7252"/>
                <a:ext cx="1352" cy="552"/>
              </a:xfrm>
              <a:prstGeom prst="flowChartAlternateProcess">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b="1" kern="100">
                    <a:latin typeface="楷体_GB2312" panose="02010609030101010101" charset="-122"/>
                    <a:ea typeface="楷体_GB2312" panose="02010609030101010101" charset="-122"/>
                    <a:cs typeface="Times New Roman" panose="02020603050405020304"/>
                    <a:sym typeface="Times New Roman" panose="02020603050405020304"/>
                  </a:rPr>
                  <a:t>开始</a:t>
                </a:r>
              </a:p>
            </p:txBody>
          </p:sp>
          <p:sp>
            <p:nvSpPr>
              <p:cNvPr id="36" name="AutoShape 28"/>
              <p:cNvSpPr>
                <a:spLocks noChangeArrowheads="1"/>
              </p:cNvSpPr>
              <p:nvPr/>
            </p:nvSpPr>
            <p:spPr bwMode="auto">
              <a:xfrm>
                <a:off x="2941" y="9092"/>
                <a:ext cx="2288" cy="920"/>
              </a:xfrm>
              <a:prstGeom prst="flowChartPreparation">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kern="100">
                    <a:latin typeface="Times New Roman" panose="02020603050405020304"/>
                    <a:ea typeface="楷体_GB2312" panose="02010609030101010101" charset="-122"/>
                    <a:cs typeface="Times New Roman" panose="02020603050405020304"/>
                    <a:sym typeface="Times New Roman" panose="02020603050405020304"/>
                  </a:rPr>
                  <a:t>包含RA的块在cache中么</a:t>
                </a:r>
              </a:p>
            </p:txBody>
          </p:sp>
          <p:sp>
            <p:nvSpPr>
              <p:cNvPr id="37" name="AutoShape 29"/>
              <p:cNvSpPr>
                <a:spLocks noChangeArrowheads="1"/>
              </p:cNvSpPr>
              <p:nvPr/>
            </p:nvSpPr>
            <p:spPr bwMode="auto">
              <a:xfrm>
                <a:off x="6789" y="9092"/>
                <a:ext cx="1872" cy="920"/>
              </a:xfrm>
              <a:prstGeom prst="flowChartProcess">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kern="100">
                    <a:latin typeface="Times New Roman" panose="02020603050405020304"/>
                    <a:ea typeface="楷体_GB2312" panose="02010609030101010101" charset="-122"/>
                    <a:cs typeface="Times New Roman" panose="02020603050405020304"/>
                    <a:sym typeface="Times New Roman" panose="02020603050405020304"/>
                  </a:rPr>
                  <a:t>访问主存储器中包含RA的块</a:t>
                </a:r>
              </a:p>
            </p:txBody>
          </p:sp>
          <p:sp>
            <p:nvSpPr>
              <p:cNvPr id="38" name="AutoShape 30"/>
              <p:cNvSpPr>
                <a:spLocks noChangeArrowheads="1"/>
              </p:cNvSpPr>
              <p:nvPr/>
            </p:nvSpPr>
            <p:spPr bwMode="auto">
              <a:xfrm>
                <a:off x="6789" y="10380"/>
                <a:ext cx="1872" cy="920"/>
              </a:xfrm>
              <a:prstGeom prst="flowChartProcess">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kern="100">
                    <a:latin typeface="Times New Roman" panose="02020603050405020304"/>
                    <a:ea typeface="楷体_GB2312" panose="02010609030101010101" charset="-122"/>
                    <a:cs typeface="Times New Roman" panose="02020603050405020304"/>
                    <a:sym typeface="Times New Roman" panose="02020603050405020304"/>
                  </a:rPr>
                  <a:t>为主存中的块分配cache槽</a:t>
                </a:r>
              </a:p>
            </p:txBody>
          </p:sp>
          <p:sp>
            <p:nvSpPr>
              <p:cNvPr id="39" name="AutoShape 31"/>
              <p:cNvSpPr>
                <a:spLocks noChangeArrowheads="1"/>
              </p:cNvSpPr>
              <p:nvPr/>
            </p:nvSpPr>
            <p:spPr bwMode="auto">
              <a:xfrm>
                <a:off x="8037" y="11847"/>
                <a:ext cx="1872" cy="920"/>
              </a:xfrm>
              <a:prstGeom prst="flowChartProcess">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kern="100">
                    <a:latin typeface="Times New Roman" panose="02020603050405020304"/>
                    <a:ea typeface="楷体_GB2312" panose="02010609030101010101" charset="-122"/>
                    <a:cs typeface="Times New Roman" panose="02020603050405020304"/>
                    <a:sym typeface="Times New Roman" panose="02020603050405020304"/>
                  </a:rPr>
                  <a:t>将主存中的块载入cache槽中</a:t>
                </a:r>
              </a:p>
            </p:txBody>
          </p:sp>
          <p:sp>
            <p:nvSpPr>
              <p:cNvPr id="40" name="AutoShape 32"/>
              <p:cNvSpPr>
                <a:spLocks noChangeArrowheads="1"/>
              </p:cNvSpPr>
              <p:nvPr/>
            </p:nvSpPr>
            <p:spPr bwMode="auto">
              <a:xfrm>
                <a:off x="5690" y="13305"/>
                <a:ext cx="1352" cy="552"/>
              </a:xfrm>
              <a:prstGeom prst="flowChartAlternateProcess">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b="1" kern="100">
                    <a:latin typeface="楷体_GB2312" panose="02010609030101010101" charset="-122"/>
                    <a:ea typeface="楷体_GB2312" panose="02010609030101010101" charset="-122"/>
                    <a:cs typeface="Times New Roman" panose="02020603050405020304"/>
                    <a:sym typeface="Times New Roman" panose="02020603050405020304"/>
                  </a:rPr>
                  <a:t>结束</a:t>
                </a:r>
              </a:p>
            </p:txBody>
          </p:sp>
          <p:cxnSp>
            <p:nvCxnSpPr>
              <p:cNvPr id="41" name="Line 33"/>
              <p:cNvCxnSpPr>
                <a:cxnSpLocks noChangeShapeType="1"/>
              </p:cNvCxnSpPr>
              <p:nvPr/>
            </p:nvCxnSpPr>
            <p:spPr bwMode="auto">
              <a:xfrm>
                <a:off x="4085" y="7804"/>
                <a:ext cx="0" cy="368"/>
              </a:xfrm>
              <a:prstGeom prst="line">
                <a:avLst/>
              </a:prstGeom>
              <a:noFill/>
              <a:ln w="28575">
                <a:solidFill>
                  <a:srgbClr val="000000"/>
                </a:solidFill>
                <a:round/>
                <a:tailEnd type="triangle" w="med" len="med"/>
              </a:ln>
            </p:spPr>
          </p:cxnSp>
          <p:cxnSp>
            <p:nvCxnSpPr>
              <p:cNvPr id="42" name="Line 34"/>
              <p:cNvCxnSpPr>
                <a:cxnSpLocks noChangeShapeType="1"/>
              </p:cNvCxnSpPr>
              <p:nvPr/>
            </p:nvCxnSpPr>
            <p:spPr bwMode="auto">
              <a:xfrm>
                <a:off x="4085" y="8724"/>
                <a:ext cx="0" cy="368"/>
              </a:xfrm>
              <a:prstGeom prst="line">
                <a:avLst/>
              </a:prstGeom>
              <a:noFill/>
              <a:ln w="28575">
                <a:solidFill>
                  <a:srgbClr val="000000"/>
                </a:solidFill>
                <a:round/>
                <a:tailEnd type="triangle" w="med" len="med"/>
              </a:ln>
            </p:spPr>
          </p:cxnSp>
          <p:cxnSp>
            <p:nvCxnSpPr>
              <p:cNvPr id="43" name="Line 35"/>
              <p:cNvCxnSpPr>
                <a:cxnSpLocks noChangeShapeType="1"/>
              </p:cNvCxnSpPr>
              <p:nvPr/>
            </p:nvCxnSpPr>
            <p:spPr bwMode="auto">
              <a:xfrm flipH="1">
                <a:off x="4081" y="10011"/>
                <a:ext cx="4" cy="1471"/>
              </a:xfrm>
              <a:prstGeom prst="line">
                <a:avLst/>
              </a:prstGeom>
              <a:noFill/>
              <a:ln w="28575">
                <a:solidFill>
                  <a:srgbClr val="000000"/>
                </a:solidFill>
                <a:round/>
                <a:tailEnd type="triangle" w="med" len="med"/>
              </a:ln>
            </p:spPr>
          </p:cxnSp>
          <p:cxnSp>
            <p:nvCxnSpPr>
              <p:cNvPr id="44" name="Line 36"/>
              <p:cNvCxnSpPr>
                <a:cxnSpLocks noChangeShapeType="1"/>
              </p:cNvCxnSpPr>
              <p:nvPr/>
            </p:nvCxnSpPr>
            <p:spPr bwMode="auto">
              <a:xfrm>
                <a:off x="5229" y="9553"/>
                <a:ext cx="1560" cy="1"/>
              </a:xfrm>
              <a:prstGeom prst="line">
                <a:avLst/>
              </a:prstGeom>
              <a:noFill/>
              <a:ln w="28575">
                <a:solidFill>
                  <a:srgbClr val="000000"/>
                </a:solidFill>
                <a:round/>
                <a:tailEnd type="triangle" w="med" len="med"/>
              </a:ln>
            </p:spPr>
          </p:cxnSp>
          <p:cxnSp>
            <p:nvCxnSpPr>
              <p:cNvPr id="45" name="Line 37"/>
              <p:cNvCxnSpPr>
                <a:cxnSpLocks noChangeShapeType="1"/>
              </p:cNvCxnSpPr>
              <p:nvPr/>
            </p:nvCxnSpPr>
            <p:spPr bwMode="auto">
              <a:xfrm>
                <a:off x="7725" y="10012"/>
                <a:ext cx="1" cy="368"/>
              </a:xfrm>
              <a:prstGeom prst="line">
                <a:avLst/>
              </a:prstGeom>
              <a:noFill/>
              <a:ln w="28575">
                <a:solidFill>
                  <a:srgbClr val="000000"/>
                </a:solidFill>
                <a:round/>
                <a:tailEnd type="triangle" w="med" len="med"/>
              </a:ln>
            </p:spPr>
          </p:cxnSp>
          <p:sp>
            <p:nvSpPr>
              <p:cNvPr id="46" name="Freeform 38"/>
              <p:cNvSpPr/>
              <p:nvPr/>
            </p:nvSpPr>
            <p:spPr bwMode="auto">
              <a:xfrm>
                <a:off x="4085" y="11300"/>
                <a:ext cx="3640" cy="552"/>
              </a:xfrm>
              <a:custGeom>
                <a:avLst/>
                <a:gdLst>
                  <a:gd name="T0" fmla="*/ 1352 w 1352"/>
                  <a:gd name="T1" fmla="*/ 0 h 552"/>
                  <a:gd name="T2" fmla="*/ 1352 w 1352"/>
                  <a:gd name="T3" fmla="*/ 184 h 552"/>
                  <a:gd name="T4" fmla="*/ 0 w 1352"/>
                  <a:gd name="T5" fmla="*/ 184 h 552"/>
                  <a:gd name="T6" fmla="*/ 0 w 1352"/>
                  <a:gd name="T7" fmla="*/ 552 h 552"/>
                </a:gdLst>
                <a:ahLst/>
                <a:cxnLst>
                  <a:cxn ang="0">
                    <a:pos x="T0" y="T1"/>
                  </a:cxn>
                  <a:cxn ang="0">
                    <a:pos x="T2" y="T3"/>
                  </a:cxn>
                  <a:cxn ang="0">
                    <a:pos x="T4" y="T5"/>
                  </a:cxn>
                  <a:cxn ang="0">
                    <a:pos x="T6" y="T7"/>
                  </a:cxn>
                </a:cxnLst>
                <a:rect l="0" t="0" r="r" b="b"/>
                <a:pathLst>
                  <a:path w="1352" h="552">
                    <a:moveTo>
                      <a:pt x="1352" y="0"/>
                    </a:moveTo>
                    <a:lnTo>
                      <a:pt x="1352" y="184"/>
                    </a:lnTo>
                    <a:lnTo>
                      <a:pt x="0" y="184"/>
                    </a:lnTo>
                    <a:lnTo>
                      <a:pt x="0" y="552"/>
                    </a:lnTo>
                  </a:path>
                </a:pathLst>
              </a:custGeom>
              <a:noFill/>
              <a:ln w="28575" cmpd="sng">
                <a:solidFill>
                  <a:srgbClr val="000000"/>
                </a:solidFill>
                <a:round/>
                <a:headEnd type="none" w="med" len="med"/>
                <a:tailEnd type="triangle" w="med" len="med"/>
              </a:ln>
            </p:spPr>
            <p:txBody>
              <a:bodyPr/>
              <a:lstStyle/>
              <a:p>
                <a:endParaRPr lang="zh-CN" altLang="en-US"/>
              </a:p>
            </p:txBody>
          </p:sp>
          <p:sp>
            <p:nvSpPr>
              <p:cNvPr id="47" name="Freeform 39"/>
              <p:cNvSpPr/>
              <p:nvPr/>
            </p:nvSpPr>
            <p:spPr bwMode="auto">
              <a:xfrm>
                <a:off x="7725" y="11484"/>
                <a:ext cx="1248" cy="368"/>
              </a:xfrm>
              <a:custGeom>
                <a:avLst/>
                <a:gdLst>
                  <a:gd name="T0" fmla="*/ 0 w 1248"/>
                  <a:gd name="T1" fmla="*/ 0 h 368"/>
                  <a:gd name="T2" fmla="*/ 1248 w 1248"/>
                  <a:gd name="T3" fmla="*/ 0 h 368"/>
                  <a:gd name="T4" fmla="*/ 1248 w 1248"/>
                  <a:gd name="T5" fmla="*/ 368 h 368"/>
                </a:gdLst>
                <a:ahLst/>
                <a:cxnLst>
                  <a:cxn ang="0">
                    <a:pos x="T0" y="T1"/>
                  </a:cxn>
                  <a:cxn ang="0">
                    <a:pos x="T2" y="T3"/>
                  </a:cxn>
                  <a:cxn ang="0">
                    <a:pos x="T4" y="T5"/>
                  </a:cxn>
                </a:cxnLst>
                <a:rect l="0" t="0" r="r" b="b"/>
                <a:pathLst>
                  <a:path w="1248" h="368">
                    <a:moveTo>
                      <a:pt x="0" y="0"/>
                    </a:moveTo>
                    <a:lnTo>
                      <a:pt x="1248" y="0"/>
                    </a:lnTo>
                    <a:lnTo>
                      <a:pt x="1248" y="368"/>
                    </a:lnTo>
                  </a:path>
                </a:pathLst>
              </a:custGeom>
              <a:noFill/>
              <a:ln w="28575" cmpd="sng">
                <a:solidFill>
                  <a:srgbClr val="000000"/>
                </a:solidFill>
                <a:round/>
                <a:headEnd type="none" w="med" len="med"/>
                <a:tailEnd type="triangle" w="med" len="med"/>
              </a:ln>
            </p:spPr>
            <p:txBody>
              <a:bodyPr/>
              <a:lstStyle/>
              <a:p>
                <a:endParaRPr lang="zh-CN" altLang="en-US"/>
              </a:p>
            </p:txBody>
          </p:sp>
          <p:sp>
            <p:nvSpPr>
              <p:cNvPr id="48" name="Freeform 40"/>
              <p:cNvSpPr/>
              <p:nvPr/>
            </p:nvSpPr>
            <p:spPr bwMode="auto">
              <a:xfrm>
                <a:off x="6373" y="12772"/>
                <a:ext cx="2600" cy="344"/>
              </a:xfrm>
              <a:custGeom>
                <a:avLst/>
                <a:gdLst>
                  <a:gd name="T0" fmla="*/ 1248 w 1248"/>
                  <a:gd name="T1" fmla="*/ 0 h 368"/>
                  <a:gd name="T2" fmla="*/ 1248 w 1248"/>
                  <a:gd name="T3" fmla="*/ 368 h 368"/>
                  <a:gd name="T4" fmla="*/ 0 w 1248"/>
                  <a:gd name="T5" fmla="*/ 368 h 368"/>
                </a:gdLst>
                <a:ahLst/>
                <a:cxnLst>
                  <a:cxn ang="0">
                    <a:pos x="T0" y="T1"/>
                  </a:cxn>
                  <a:cxn ang="0">
                    <a:pos x="T2" y="T3"/>
                  </a:cxn>
                  <a:cxn ang="0">
                    <a:pos x="T4" y="T5"/>
                  </a:cxn>
                </a:cxnLst>
                <a:rect l="0" t="0" r="r" b="b"/>
                <a:pathLst>
                  <a:path w="1248" h="368">
                    <a:moveTo>
                      <a:pt x="1248" y="0"/>
                    </a:moveTo>
                    <a:lnTo>
                      <a:pt x="1248" y="368"/>
                    </a:lnTo>
                    <a:lnTo>
                      <a:pt x="0" y="368"/>
                    </a:lnTo>
                  </a:path>
                </a:pathLst>
              </a:custGeom>
              <a:noFill/>
              <a:ln w="28575" cmpd="sng">
                <a:solidFill>
                  <a:srgbClr val="000000"/>
                </a:solidFill>
                <a:round/>
              </a:ln>
            </p:spPr>
            <p:txBody>
              <a:bodyPr/>
              <a:lstStyle/>
              <a:p>
                <a:endParaRPr lang="zh-CN" altLang="en-US"/>
              </a:p>
            </p:txBody>
          </p:sp>
          <p:sp>
            <p:nvSpPr>
              <p:cNvPr id="49" name="Text Box 41"/>
              <p:cNvSpPr txBox="1">
                <a:spLocks noChangeArrowheads="1"/>
              </p:cNvSpPr>
              <p:nvPr/>
            </p:nvSpPr>
            <p:spPr bwMode="auto">
              <a:xfrm>
                <a:off x="5229" y="8908"/>
                <a:ext cx="728" cy="552"/>
              </a:xfrm>
              <a:prstGeom prst="rect">
                <a:avLst/>
              </a:prstGeom>
              <a:noFill/>
              <a:ln>
                <a:noFill/>
              </a:ln>
            </p:spPr>
            <p:txBody>
              <a:bodyPr rot="0" vert="horz" wrap="square" lIns="91440" tIns="45720" rIns="91440" bIns="45720" anchor="t" anchorCtr="0" upright="1">
                <a:noAutofit/>
              </a:bodyPr>
              <a:lstStyle/>
              <a:p>
                <a:pPr algn="just"/>
                <a:r>
                  <a:rPr lang="en-US" altLang="zh-CN" sz="1400" b="1" kern="100">
                    <a:latin typeface="楷体_GB2312" panose="02010609030101010101" charset="-122"/>
                    <a:ea typeface="楷体_GB2312" panose="02010609030101010101" charset="-122"/>
                    <a:cs typeface="Times New Roman" panose="02020603050405020304"/>
                    <a:sym typeface="Times New Roman" panose="02020603050405020304"/>
                  </a:rPr>
                  <a:t>否</a:t>
                </a:r>
              </a:p>
            </p:txBody>
          </p:sp>
          <p:sp>
            <p:nvSpPr>
              <p:cNvPr id="50" name="Text Box 42"/>
              <p:cNvSpPr txBox="1">
                <a:spLocks noChangeArrowheads="1"/>
              </p:cNvSpPr>
              <p:nvPr/>
            </p:nvSpPr>
            <p:spPr bwMode="auto">
              <a:xfrm>
                <a:off x="3402" y="9918"/>
                <a:ext cx="728" cy="552"/>
              </a:xfrm>
              <a:prstGeom prst="rect">
                <a:avLst/>
              </a:prstGeom>
              <a:noFill/>
              <a:ln>
                <a:noFill/>
              </a:ln>
            </p:spPr>
            <p:txBody>
              <a:bodyPr rot="0" vert="horz" wrap="square" lIns="91440" tIns="45720" rIns="91440" bIns="45720" anchor="t" anchorCtr="0" upright="1">
                <a:noAutofit/>
              </a:bodyPr>
              <a:lstStyle/>
              <a:p>
                <a:pPr algn="just"/>
                <a:r>
                  <a:rPr lang="en-US" altLang="zh-CN" sz="1400" b="1" kern="100">
                    <a:latin typeface="楷体_GB2312" panose="02010609030101010101" charset="-122"/>
                    <a:ea typeface="楷体_GB2312" panose="02010609030101010101" charset="-122"/>
                    <a:cs typeface="Times New Roman" panose="02020603050405020304"/>
                    <a:sym typeface="Times New Roman" panose="02020603050405020304"/>
                  </a:rPr>
                  <a:t>是</a:t>
                </a:r>
              </a:p>
            </p:txBody>
          </p:sp>
          <p:sp>
            <p:nvSpPr>
              <p:cNvPr id="51" name="Text Box 43"/>
              <p:cNvSpPr txBox="1">
                <a:spLocks noChangeArrowheads="1"/>
              </p:cNvSpPr>
              <p:nvPr/>
            </p:nvSpPr>
            <p:spPr bwMode="auto">
              <a:xfrm>
                <a:off x="6997" y="11409"/>
                <a:ext cx="1456" cy="552"/>
              </a:xfrm>
              <a:prstGeom prst="rect">
                <a:avLst/>
              </a:prstGeom>
              <a:noFill/>
              <a:ln>
                <a:noFill/>
              </a:ln>
            </p:spPr>
            <p:txBody>
              <a:bodyPr rot="0" vert="horz" wrap="square" lIns="91440" tIns="45720" rIns="91440" bIns="45720" anchor="t" anchorCtr="0" upright="1">
                <a:noAutofit/>
              </a:bodyPr>
              <a:lstStyle/>
              <a:p>
                <a:pPr algn="just"/>
                <a:r>
                  <a:rPr lang="en-US" altLang="zh-CN" sz="1400" b="1" kern="100">
                    <a:latin typeface="楷体_GB2312" panose="02010609030101010101" charset="-122"/>
                    <a:ea typeface="楷体_GB2312" panose="02010609030101010101" charset="-122"/>
                    <a:cs typeface="Times New Roman" panose="02020603050405020304"/>
                    <a:sym typeface="Times New Roman" panose="02020603050405020304"/>
                  </a:rPr>
                  <a:t>并行执行</a:t>
                </a:r>
              </a:p>
            </p:txBody>
          </p:sp>
          <p:sp>
            <p:nvSpPr>
              <p:cNvPr id="52" name="Freeform 44"/>
              <p:cNvSpPr/>
              <p:nvPr/>
            </p:nvSpPr>
            <p:spPr bwMode="auto">
              <a:xfrm>
                <a:off x="4085" y="12738"/>
                <a:ext cx="2288" cy="567"/>
              </a:xfrm>
              <a:custGeom>
                <a:avLst/>
                <a:gdLst>
                  <a:gd name="T0" fmla="*/ 0 w 2288"/>
                  <a:gd name="T1" fmla="*/ 0 h 567"/>
                  <a:gd name="T2" fmla="*/ 0 w 2288"/>
                  <a:gd name="T3" fmla="*/ 378 h 567"/>
                  <a:gd name="T4" fmla="*/ 2288 w 2288"/>
                  <a:gd name="T5" fmla="*/ 378 h 567"/>
                  <a:gd name="T6" fmla="*/ 2288 w 2288"/>
                  <a:gd name="T7" fmla="*/ 567 h 567"/>
                </a:gdLst>
                <a:ahLst/>
                <a:cxnLst>
                  <a:cxn ang="0">
                    <a:pos x="T0" y="T1"/>
                  </a:cxn>
                  <a:cxn ang="0">
                    <a:pos x="T2" y="T3"/>
                  </a:cxn>
                  <a:cxn ang="0">
                    <a:pos x="T4" y="T5"/>
                  </a:cxn>
                  <a:cxn ang="0">
                    <a:pos x="T6" y="T7"/>
                  </a:cxn>
                </a:cxnLst>
                <a:rect l="0" t="0" r="r" b="b"/>
                <a:pathLst>
                  <a:path w="2288" h="567">
                    <a:moveTo>
                      <a:pt x="0" y="0"/>
                    </a:moveTo>
                    <a:lnTo>
                      <a:pt x="0" y="378"/>
                    </a:lnTo>
                    <a:lnTo>
                      <a:pt x="2288" y="378"/>
                    </a:lnTo>
                    <a:lnTo>
                      <a:pt x="2288" y="567"/>
                    </a:lnTo>
                  </a:path>
                </a:pathLst>
              </a:custGeom>
              <a:noFill/>
              <a:ln w="28575" cmpd="sng">
                <a:solidFill>
                  <a:srgbClr val="000000"/>
                </a:solidFill>
                <a:round/>
                <a:headEnd type="none" w="med" len="med"/>
                <a:tailEnd type="triangle" w="med" len="med"/>
              </a:ln>
            </p:spPr>
            <p:txBody>
              <a:bodyPr/>
              <a:lstStyle/>
              <a:p>
                <a:endParaRPr lang="zh-CN" altLang="en-US"/>
              </a:p>
            </p:txBody>
          </p:sp>
          <p:sp>
            <p:nvSpPr>
              <p:cNvPr id="53" name="AutoShape 45"/>
              <p:cNvSpPr>
                <a:spLocks noChangeArrowheads="1"/>
              </p:cNvSpPr>
              <p:nvPr/>
            </p:nvSpPr>
            <p:spPr bwMode="auto">
              <a:xfrm>
                <a:off x="3149" y="11868"/>
                <a:ext cx="1872" cy="920"/>
              </a:xfrm>
              <a:prstGeom prst="flowChartProcess">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ctr"/>
                <a:r>
                  <a:rPr lang="en-US" altLang="zh-CN" sz="1400" kern="100">
                    <a:latin typeface="Times New Roman" panose="02020603050405020304"/>
                    <a:ea typeface="楷体_GB2312" panose="02010609030101010101" charset="-122"/>
                    <a:cs typeface="Times New Roman" panose="02020603050405020304"/>
                    <a:sym typeface="Times New Roman" panose="02020603050405020304"/>
                  </a:rPr>
                  <a:t>取RA中的字并传递给CPU</a:t>
                </a:r>
              </a:p>
            </p:txBody>
          </p:sp>
        </p:grpSp>
      </p:grpSp>
      <p:sp>
        <p:nvSpPr>
          <p:cNvPr id="5" name="文本框 4"/>
          <p:cNvSpPr txBox="1"/>
          <p:nvPr/>
        </p:nvSpPr>
        <p:spPr>
          <a:xfrm>
            <a:off x="8063865" y="1584960"/>
            <a:ext cx="2644775" cy="398780"/>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Cache“读”操作</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I／O技术</a:t>
            </a:r>
          </a:p>
        </p:txBody>
      </p:sp>
      <p:sp>
        <p:nvSpPr>
          <p:cNvPr id="9" name="文本占位符 8"/>
          <p:cNvSpPr>
            <a:spLocks noGrp="1"/>
          </p:cNvSpPr>
          <p:nvPr>
            <p:ph type="body" sz="quarter" idx="10"/>
          </p:nvPr>
        </p:nvSpPr>
        <p:spPr>
          <a:xfrm>
            <a:off x="527918" y="1363595"/>
            <a:ext cx="9056687" cy="381629"/>
          </a:xfrm>
        </p:spPr>
        <p:txBody>
          <a:bodyPr>
            <a:noAutofit/>
          </a:bodyPr>
          <a:lstStyle/>
          <a:p>
            <a:pPr marL="0" indent="0">
              <a:buNone/>
            </a:pPr>
            <a:r>
              <a:rPr sz="2400" dirty="0"/>
              <a:t>缓冲技术</a:t>
            </a:r>
          </a:p>
        </p:txBody>
      </p:sp>
      <p:sp>
        <p:nvSpPr>
          <p:cNvPr id="2" name="文本占位符 8"/>
          <p:cNvSpPr>
            <a:spLocks noGrp="1"/>
          </p:cNvSpPr>
          <p:nvPr/>
        </p:nvSpPr>
        <p:spPr>
          <a:xfrm>
            <a:off x="1029044" y="1543878"/>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以Intel Pentium III处理器和AMD Athlon处理器为例</a:t>
            </a:r>
          </a:p>
          <a:p>
            <a:pPr fontAlgn="auto">
              <a:lnSpc>
                <a:spcPct val="150000"/>
              </a:lnSpc>
            </a:pPr>
            <a:r>
              <a:rPr b="0" dirty="0">
                <a:sym typeface="+mn-ea"/>
              </a:rPr>
              <a:t>Pentium Ⅲ的一级Cache为32KB</a:t>
            </a:r>
          </a:p>
          <a:p>
            <a:pPr fontAlgn="auto">
              <a:lnSpc>
                <a:spcPct val="150000"/>
              </a:lnSpc>
            </a:pPr>
            <a:r>
              <a:rPr b="0" dirty="0">
                <a:sym typeface="+mn-ea"/>
              </a:rPr>
              <a:t>Pentium Ⅲ的二级Cache以CPU的半速运行，其标准配置为512KB，最高可达到2MB</a:t>
            </a:r>
          </a:p>
          <a:p>
            <a:pPr fontAlgn="auto">
              <a:lnSpc>
                <a:spcPct val="150000"/>
              </a:lnSpc>
            </a:pPr>
            <a:r>
              <a:rPr b="0" dirty="0">
                <a:sym typeface="+mn-ea"/>
              </a:rPr>
              <a:t>AMD Athlon的一级缓冲区有128KB</a:t>
            </a:r>
            <a:endParaRPr lang="en-US" b="0" dirty="0">
              <a:sym typeface="+mn-ea"/>
            </a:endParaRPr>
          </a:p>
          <a:p>
            <a:pPr fontAlgn="auto">
              <a:lnSpc>
                <a:spcPct val="150000"/>
              </a:lnSpc>
            </a:pPr>
            <a:r>
              <a:rPr b="0" dirty="0">
                <a:sym typeface="+mn-ea"/>
              </a:rPr>
              <a:t>这128KB分成两部分：64KB作为数据Cache，64KB作为指令Cache，其二级Cache最高可以达到8MB</a:t>
            </a:r>
          </a:p>
          <a:p>
            <a:pPr marL="0" indent="0" fontAlgn="auto">
              <a:lnSpc>
                <a:spcPct val="150000"/>
              </a:lnSpc>
              <a:buNone/>
            </a:pPr>
            <a:r>
              <a:rPr b="0" dirty="0">
                <a:sym typeface="+mn-ea"/>
              </a:rPr>
              <a:t>在这些缓冲区的支持下，处理器的高速运算能力得以充分发挥</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2.6</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6774186" y="2658742"/>
            <a:ext cx="3526265" cy="1107921"/>
            <a:chOff x="6566813" y="2528855"/>
            <a:chExt cx="3526265" cy="1107921"/>
          </a:xfrm>
        </p:grpSpPr>
        <p:sp>
          <p:nvSpPr>
            <p:cNvPr id="8" name="文本框 7"/>
            <p:cNvSpPr txBox="1"/>
            <p:nvPr/>
          </p:nvSpPr>
          <p:spPr>
            <a:xfrm>
              <a:off x="7159903" y="2528855"/>
              <a:ext cx="193040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时钟</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时钟</a:t>
            </a:r>
          </a:p>
        </p:txBody>
      </p:sp>
      <p:sp>
        <p:nvSpPr>
          <p:cNvPr id="2" name="文本占位符 8"/>
          <p:cNvSpPr>
            <a:spLocks noGrp="1"/>
          </p:cNvSpPr>
          <p:nvPr/>
        </p:nvSpPr>
        <p:spPr>
          <a:xfrm>
            <a:off x="879788" y="891423"/>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时钟可以为计算机完成以下工作</a:t>
            </a:r>
          </a:p>
          <a:p>
            <a:pPr fontAlgn="auto">
              <a:lnSpc>
                <a:spcPct val="150000"/>
              </a:lnSpc>
            </a:pPr>
            <a:r>
              <a:rPr b="0" dirty="0">
                <a:sym typeface="+mn-ea"/>
              </a:rPr>
              <a:t>      在多道程序运行，时钟可以发现死循环，防止机时的浪费</a:t>
            </a:r>
          </a:p>
          <a:p>
            <a:pPr fontAlgn="auto">
              <a:lnSpc>
                <a:spcPct val="150000"/>
              </a:lnSpc>
            </a:pPr>
            <a:r>
              <a:rPr b="0" dirty="0">
                <a:sym typeface="+mn-ea"/>
              </a:rPr>
              <a:t>      在分时系统中，用时钟实现时间片轮转运行</a:t>
            </a:r>
          </a:p>
          <a:p>
            <a:pPr fontAlgn="auto">
              <a:lnSpc>
                <a:spcPct val="150000"/>
              </a:lnSpc>
            </a:pPr>
            <a:r>
              <a:rPr b="0" dirty="0">
                <a:sym typeface="+mn-ea"/>
              </a:rPr>
              <a:t>      在实时系统中，按要求的时间间隔输出信号控制设备</a:t>
            </a:r>
          </a:p>
          <a:p>
            <a:pPr fontAlgn="auto">
              <a:lnSpc>
                <a:spcPct val="150000"/>
              </a:lnSpc>
            </a:pPr>
            <a:r>
              <a:rPr b="0" dirty="0">
                <a:sym typeface="+mn-ea"/>
              </a:rPr>
              <a:t>      定时唤醒外部事件</a:t>
            </a:r>
          </a:p>
          <a:p>
            <a:pPr fontAlgn="auto">
              <a:lnSpc>
                <a:spcPct val="150000"/>
              </a:lnSpc>
            </a:pPr>
            <a:r>
              <a:rPr b="0" dirty="0">
                <a:sym typeface="+mn-ea"/>
              </a:rPr>
              <a:t>      记录用户和系统所需要的绝对时间，即年、月、日</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78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时钟</a:t>
            </a:r>
          </a:p>
        </p:txBody>
      </p:sp>
      <p:sp>
        <p:nvSpPr>
          <p:cNvPr id="2" name="文本占位符 8"/>
          <p:cNvSpPr>
            <a:spLocks noGrp="1"/>
          </p:cNvSpPr>
          <p:nvPr/>
        </p:nvSpPr>
        <p:spPr>
          <a:xfrm>
            <a:off x="604837" y="727164"/>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时钟分成硬件时钟和软件时钟</a:t>
            </a:r>
            <a:endParaRPr lang="en-US" b="0" dirty="0">
              <a:sym typeface="+mn-ea"/>
            </a:endParaRPr>
          </a:p>
          <a:p>
            <a:pPr marL="0" indent="0" fontAlgn="auto">
              <a:lnSpc>
                <a:spcPct val="150000"/>
              </a:lnSpc>
              <a:buNone/>
            </a:pPr>
            <a:endParaRPr b="0" dirty="0">
              <a:sym typeface="+mn-ea"/>
            </a:endParaRPr>
          </a:p>
          <a:p>
            <a:pPr fontAlgn="auto">
              <a:lnSpc>
                <a:spcPct val="150000"/>
              </a:lnSpc>
            </a:pPr>
            <a:r>
              <a:rPr b="0" dirty="0">
                <a:sym typeface="+mn-ea"/>
              </a:rPr>
              <a:t>硬件时钟工作原理：电路中的晶体振荡器，每隔一定间隔产生固定的脉冲频率，时钟电路中的时钟寄存器依据时钟电路所产生的脉冲数，对时钟寄存器进行加1的工作</a:t>
            </a:r>
          </a:p>
          <a:p>
            <a:pPr fontAlgn="auto">
              <a:lnSpc>
                <a:spcPct val="150000"/>
              </a:lnSpc>
            </a:pPr>
            <a:r>
              <a:rPr b="0" dirty="0">
                <a:sym typeface="+mn-ea"/>
              </a:rPr>
              <a:t>软件时钟工作原理：利用内存单元模拟时钟寄存器，采用一段程序来计算相应的脉冲数，对内存时钟寄存器进行加1或减1的工作</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7" name="组合 6"/>
          <p:cNvGrpSpPr/>
          <p:nvPr/>
        </p:nvGrpSpPr>
        <p:grpSpPr>
          <a:xfrm>
            <a:off x="10177780" y="329882"/>
            <a:ext cx="1512002" cy="444892"/>
            <a:chOff x="9556201" y="498129"/>
            <a:chExt cx="1993881" cy="586680"/>
          </a:xfrm>
        </p:grpSpPr>
        <p:grpSp>
          <p:nvGrpSpPr>
            <p:cNvPr id="8" name="组合 7"/>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-5</a:t>
            </a:r>
            <a:r>
              <a:rPr lang="zh-CN" altLang="en-US" dirty="0">
                <a:latin typeface="Arial" panose="020B0604020202020204" pitchFamily="34" charset="0"/>
                <a:ea typeface="微软雅黑" panose="020B0503020204020204" pitchFamily="34" charset="-122"/>
                <a:sym typeface="Arial" panose="020B0604020202020204" pitchFamily="34" charset="0"/>
              </a:rPr>
              <a:t>：翻尾石鱼</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2.7</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组合 9"/>
          <p:cNvGrpSpPr/>
          <p:nvPr/>
        </p:nvGrpSpPr>
        <p:grpSpPr>
          <a:xfrm>
            <a:off x="6774186" y="2658742"/>
            <a:ext cx="3526265" cy="1107921"/>
            <a:chOff x="6566813" y="2528855"/>
            <a:chExt cx="3526265" cy="1107921"/>
          </a:xfrm>
        </p:grpSpPr>
        <p:sp>
          <p:nvSpPr>
            <p:cNvPr id="67" name="文本框 66"/>
            <p:cNvSpPr txBox="1"/>
            <p:nvPr/>
          </p:nvSpPr>
          <p:spPr>
            <a:xfrm>
              <a:off x="6566813" y="2528855"/>
              <a:ext cx="352626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 系统调用</a:t>
              </a: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系统调用</a:t>
            </a:r>
          </a:p>
        </p:txBody>
      </p:sp>
      <p:sp>
        <p:nvSpPr>
          <p:cNvPr id="9" name="文本占位符 8"/>
          <p:cNvSpPr>
            <a:spLocks noGrp="1"/>
          </p:cNvSpPr>
          <p:nvPr>
            <p:ph type="body" sz="quarter" idx="10"/>
          </p:nvPr>
        </p:nvSpPr>
        <p:spPr>
          <a:xfrm>
            <a:off x="443077" y="1091375"/>
            <a:ext cx="9056687" cy="381629"/>
          </a:xfrm>
        </p:spPr>
        <p:txBody>
          <a:bodyPr>
            <a:noAutofit/>
          </a:bodyPr>
          <a:lstStyle/>
          <a:p>
            <a:pPr marL="0" indent="0">
              <a:buNone/>
            </a:pPr>
            <a:r>
              <a:rPr sz="2400" dirty="0"/>
              <a:t>系统调用的概念</a:t>
            </a:r>
          </a:p>
        </p:txBody>
      </p:sp>
      <p:sp>
        <p:nvSpPr>
          <p:cNvPr id="2" name="文本占位符 8"/>
          <p:cNvSpPr>
            <a:spLocks noGrp="1"/>
          </p:cNvSpPr>
          <p:nvPr/>
        </p:nvSpPr>
        <p:spPr>
          <a:xfrm>
            <a:off x="1433044" y="1465393"/>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系统调用，就是用户在程序中调用操作系统所提供的一些子功能</a:t>
            </a:r>
          </a:p>
          <a:p>
            <a:pPr fontAlgn="auto">
              <a:lnSpc>
                <a:spcPct val="150000"/>
              </a:lnSpc>
            </a:pPr>
            <a:r>
              <a:rPr b="0" dirty="0">
                <a:sym typeface="+mn-ea"/>
              </a:rPr>
              <a:t>是一种特殊的过程调用，这种调用通常是由特殊的机器指令实现的</a:t>
            </a:r>
          </a:p>
          <a:p>
            <a:pPr fontAlgn="auto">
              <a:lnSpc>
                <a:spcPct val="150000"/>
              </a:lnSpc>
            </a:pPr>
            <a:r>
              <a:rPr b="0" dirty="0">
                <a:sym typeface="+mn-ea"/>
              </a:rPr>
              <a:t>除了提供对操作系统子程序的调用外，这条指令还将系统转入特权方式</a:t>
            </a:r>
          </a:p>
          <a:p>
            <a:pPr fontAlgn="auto">
              <a:lnSpc>
                <a:spcPct val="150000"/>
              </a:lnSpc>
            </a:pPr>
            <a:r>
              <a:rPr b="0" dirty="0">
                <a:sym typeface="+mn-ea"/>
              </a:rPr>
              <a:t>只能由汇编语言直接访问</a:t>
            </a:r>
            <a:r>
              <a:rPr lang="zh-CN" altLang="en-US" b="0" dirty="0">
                <a:sym typeface="+mn-ea"/>
              </a:rPr>
              <a:t>，</a:t>
            </a:r>
            <a:r>
              <a:rPr b="0" dirty="0">
                <a:sym typeface="+mn-ea"/>
              </a:rPr>
              <a:t>是操作系统提供给编程人员的唯一接口</a:t>
            </a:r>
          </a:p>
          <a:p>
            <a:pPr fontAlgn="auto">
              <a:lnSpc>
                <a:spcPct val="150000"/>
              </a:lnSpc>
            </a:pPr>
            <a:r>
              <a:rPr b="0" dirty="0">
                <a:sym typeface="+mn-ea"/>
              </a:rPr>
              <a:t>编程人员利用系统调用，动态请求和释放系统资源</a:t>
            </a:r>
          </a:p>
          <a:p>
            <a:pPr fontAlgn="auto">
              <a:lnSpc>
                <a:spcPct val="150000"/>
              </a:lnSpc>
            </a:pPr>
            <a:r>
              <a:rPr b="0" dirty="0">
                <a:sym typeface="+mn-ea"/>
              </a:rPr>
              <a:t>调用系统中已有的系统功能来完成与计算机硬件部分相关的工作以</a:t>
            </a:r>
            <a:endParaRPr lang="en-US" b="0" dirty="0">
              <a:sym typeface="+mn-ea"/>
            </a:endParaRPr>
          </a:p>
          <a:p>
            <a:pPr fontAlgn="auto">
              <a:lnSpc>
                <a:spcPct val="150000"/>
              </a:lnSpc>
            </a:pPr>
            <a:r>
              <a:rPr b="0" dirty="0">
                <a:sym typeface="+mn-ea"/>
              </a:rPr>
              <a:t>对用户屏蔽了操作系统的具体动作而只提供有关的功能</a:t>
            </a:r>
          </a:p>
          <a:p>
            <a:pPr marL="0" indent="0" fontAlgn="auto">
              <a:lnSpc>
                <a:spcPct val="150000"/>
              </a:lnSpc>
              <a:buNone/>
            </a:pPr>
            <a:r>
              <a:rPr b="0" dirty="0">
                <a:sym typeface="+mn-ea"/>
              </a:rPr>
              <a:t>系统调用命令称为“广义指令”，称为“虚处理机”</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系统调用</a:t>
            </a:r>
          </a:p>
        </p:txBody>
      </p:sp>
      <p:sp>
        <p:nvSpPr>
          <p:cNvPr id="9" name="文本占位符 8"/>
          <p:cNvSpPr>
            <a:spLocks noGrp="1"/>
          </p:cNvSpPr>
          <p:nvPr>
            <p:ph type="body" sz="quarter" idx="10"/>
          </p:nvPr>
        </p:nvSpPr>
        <p:spPr>
          <a:xfrm>
            <a:off x="697436" y="1577331"/>
            <a:ext cx="9056687" cy="381629"/>
          </a:xfrm>
        </p:spPr>
        <p:txBody>
          <a:bodyPr>
            <a:noAutofit/>
          </a:bodyPr>
          <a:lstStyle/>
          <a:p>
            <a:pPr marL="0" indent="0">
              <a:buNone/>
            </a:pPr>
            <a:r>
              <a:rPr sz="2400"/>
              <a:t>系统调用的分类</a:t>
            </a:r>
          </a:p>
        </p:txBody>
      </p:sp>
      <p:sp>
        <p:nvSpPr>
          <p:cNvPr id="2" name="文本占位符 8"/>
          <p:cNvSpPr>
            <a:spLocks noGrp="1"/>
          </p:cNvSpPr>
          <p:nvPr/>
        </p:nvSpPr>
        <p:spPr>
          <a:xfrm>
            <a:off x="1791263" y="1325551"/>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系统调用分为以下几类</a:t>
            </a:r>
            <a:r>
              <a:rPr lang="zh-CN" altLang="en-US" b="0" dirty="0">
                <a:sym typeface="+mn-ea"/>
              </a:rPr>
              <a:t>：</a:t>
            </a:r>
            <a:endParaRPr b="0" dirty="0">
              <a:sym typeface="+mn-ea"/>
            </a:endParaRPr>
          </a:p>
          <a:p>
            <a:pPr fontAlgn="auto">
              <a:lnSpc>
                <a:spcPct val="150000"/>
              </a:lnSpc>
            </a:pPr>
            <a:r>
              <a:rPr b="0" dirty="0">
                <a:sym typeface="+mn-ea"/>
              </a:rPr>
              <a:t>   进程控制类系统调用文件操作类系统调用</a:t>
            </a:r>
          </a:p>
          <a:p>
            <a:pPr fontAlgn="auto">
              <a:lnSpc>
                <a:spcPct val="150000"/>
              </a:lnSpc>
            </a:pPr>
            <a:r>
              <a:rPr b="0" dirty="0">
                <a:sym typeface="+mn-ea"/>
              </a:rPr>
              <a:t>   进程通信类系统调用</a:t>
            </a:r>
            <a:endParaRPr lang="en-US" b="0" dirty="0">
              <a:sym typeface="+mn-ea"/>
            </a:endParaRPr>
          </a:p>
          <a:p>
            <a:pPr fontAlgn="auto">
              <a:lnSpc>
                <a:spcPct val="150000"/>
              </a:lnSpc>
            </a:pPr>
            <a:r>
              <a:rPr b="0" dirty="0">
                <a:sym typeface="+mn-ea"/>
              </a:rPr>
              <a:t>   设备管理类系统调用</a:t>
            </a:r>
          </a:p>
          <a:p>
            <a:pPr fontAlgn="auto">
              <a:lnSpc>
                <a:spcPct val="150000"/>
              </a:lnSpc>
            </a:pPr>
            <a:r>
              <a:rPr b="0" dirty="0">
                <a:sym typeface="+mn-ea"/>
              </a:rPr>
              <a:t>   信息维护类系统调用</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系统调用</a:t>
            </a:r>
          </a:p>
        </p:txBody>
      </p:sp>
      <p:sp>
        <p:nvSpPr>
          <p:cNvPr id="9" name="文本占位符 8"/>
          <p:cNvSpPr>
            <a:spLocks noGrp="1"/>
          </p:cNvSpPr>
          <p:nvPr>
            <p:ph type="body" sz="quarter" idx="10"/>
          </p:nvPr>
        </p:nvSpPr>
        <p:spPr>
          <a:xfrm>
            <a:off x="772851" y="1658409"/>
            <a:ext cx="9056687" cy="381629"/>
          </a:xfrm>
        </p:spPr>
        <p:txBody>
          <a:bodyPr>
            <a:noAutofit/>
          </a:bodyPr>
          <a:lstStyle/>
          <a:p>
            <a:pPr marL="0" indent="0">
              <a:buNone/>
            </a:pPr>
            <a:r>
              <a:rPr sz="2400" dirty="0"/>
              <a:t>系统调用与一般过程调用的关系</a:t>
            </a:r>
          </a:p>
        </p:txBody>
      </p:sp>
      <p:sp>
        <p:nvSpPr>
          <p:cNvPr id="2" name="文本占位符 8"/>
          <p:cNvSpPr>
            <a:spLocks noGrp="1"/>
          </p:cNvSpPr>
          <p:nvPr/>
        </p:nvSpPr>
        <p:spPr>
          <a:xfrm>
            <a:off x="2849693" y="1009967"/>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运行在不同的系统状态</a:t>
            </a:r>
          </a:p>
          <a:p>
            <a:pPr fontAlgn="auto">
              <a:lnSpc>
                <a:spcPct val="150000"/>
              </a:lnSpc>
            </a:pPr>
            <a:r>
              <a:rPr b="0" dirty="0">
                <a:sym typeface="+mn-ea"/>
              </a:rPr>
              <a:t>状态的转换</a:t>
            </a:r>
          </a:p>
          <a:p>
            <a:pPr fontAlgn="auto">
              <a:lnSpc>
                <a:spcPct val="150000"/>
              </a:lnSpc>
            </a:pPr>
            <a:r>
              <a:rPr b="0" dirty="0">
                <a:sym typeface="+mn-ea"/>
              </a:rPr>
              <a:t>返回问题</a:t>
            </a:r>
          </a:p>
          <a:p>
            <a:pPr fontAlgn="auto">
              <a:lnSpc>
                <a:spcPct val="150000"/>
              </a:lnSpc>
            </a:pPr>
            <a:r>
              <a:rPr b="0" dirty="0">
                <a:sym typeface="+mn-ea"/>
              </a:rPr>
              <a:t>嵌套调用</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系统调用</a:t>
            </a:r>
          </a:p>
        </p:txBody>
      </p:sp>
      <p:sp>
        <p:nvSpPr>
          <p:cNvPr id="9" name="文本占位符 8"/>
          <p:cNvSpPr>
            <a:spLocks noGrp="1"/>
          </p:cNvSpPr>
          <p:nvPr>
            <p:ph type="body" sz="quarter" idx="10"/>
          </p:nvPr>
        </p:nvSpPr>
        <p:spPr>
          <a:xfrm>
            <a:off x="442913" y="1439538"/>
            <a:ext cx="9056687" cy="381629"/>
          </a:xfrm>
        </p:spPr>
        <p:txBody>
          <a:bodyPr>
            <a:noAutofit/>
          </a:bodyPr>
          <a:lstStyle/>
          <a:p>
            <a:pPr marL="0" indent="0">
              <a:buNone/>
            </a:pPr>
            <a:r>
              <a:rPr sz="2400" dirty="0"/>
              <a:t>系统调用处理过程</a:t>
            </a:r>
          </a:p>
        </p:txBody>
      </p:sp>
      <p:sp>
        <p:nvSpPr>
          <p:cNvPr id="2" name="文本占位符 8"/>
          <p:cNvSpPr>
            <a:spLocks noGrp="1"/>
          </p:cNvSpPr>
          <p:nvPr/>
        </p:nvSpPr>
        <p:spPr>
          <a:xfrm>
            <a:off x="766666" y="1644011"/>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ts val="2600"/>
              </a:lnSpc>
            </a:pPr>
            <a:r>
              <a:rPr b="0" dirty="0">
                <a:sym typeface="+mn-ea"/>
              </a:rPr>
              <a:t>有一个类似于硬件中断处理的中断处理机构</a:t>
            </a:r>
          </a:p>
          <a:p>
            <a:pPr fontAlgn="auto">
              <a:lnSpc>
                <a:spcPts val="2600"/>
              </a:lnSpc>
            </a:pPr>
            <a:r>
              <a:rPr lang="en-US" b="0" dirty="0">
                <a:sym typeface="+mn-ea"/>
              </a:rPr>
              <a:t>   1.  </a:t>
            </a:r>
            <a:r>
              <a:rPr b="0" dirty="0">
                <a:sym typeface="+mn-ea"/>
              </a:rPr>
              <a:t>用户使用系统调用时，产生一条相应的指令，处理机发生相应的中断，并发出有关的信号给该处理机构</a:t>
            </a:r>
          </a:p>
          <a:p>
            <a:pPr fontAlgn="auto">
              <a:lnSpc>
                <a:spcPts val="2600"/>
              </a:lnSpc>
            </a:pPr>
            <a:r>
              <a:rPr lang="en-US" b="0" dirty="0">
                <a:sym typeface="+mn-ea"/>
              </a:rPr>
              <a:t>   2. </a:t>
            </a:r>
            <a:r>
              <a:rPr b="0" dirty="0">
                <a:sym typeface="+mn-ea"/>
              </a:rPr>
              <a:t>处理机构信号后，启动相关的处理程序去完成该系统调用所要求的功能</a:t>
            </a:r>
          </a:p>
          <a:p>
            <a:pPr marL="0" indent="0" fontAlgn="auto">
              <a:lnSpc>
                <a:spcPts val="2600"/>
              </a:lnSpc>
            </a:pPr>
            <a:r>
              <a:rPr lang="en-US" altLang="zh-CN" b="0" dirty="0">
                <a:sym typeface="+mn-ea"/>
              </a:rPr>
              <a:t>     3. </a:t>
            </a:r>
            <a:r>
              <a:rPr b="0" dirty="0">
                <a:sym typeface="+mn-ea"/>
              </a:rPr>
              <a:t>为控制系统调用服务的机构称为陷入（TRAP）或异常处理机构</a:t>
            </a:r>
          </a:p>
          <a:p>
            <a:pPr marL="0" indent="0" fontAlgn="auto">
              <a:lnSpc>
                <a:spcPts val="2600"/>
              </a:lnSpc>
            </a:pPr>
            <a:r>
              <a:rPr lang="en-US" altLang="zh-CN" b="0" dirty="0">
                <a:sym typeface="+mn-ea"/>
              </a:rPr>
              <a:t>     4. </a:t>
            </a:r>
            <a:r>
              <a:rPr b="0" dirty="0">
                <a:sym typeface="+mn-ea"/>
              </a:rPr>
              <a:t>由于系统调用引起处理机中断的指令称为陷入或异常指令（或称访管指令）</a:t>
            </a:r>
          </a:p>
          <a:p>
            <a:pPr marL="0" indent="0" fontAlgn="auto">
              <a:lnSpc>
                <a:spcPts val="2600"/>
              </a:lnSpc>
            </a:pPr>
            <a:r>
              <a:rPr lang="en-US" altLang="zh-CN" b="0" dirty="0">
                <a:sym typeface="+mn-ea"/>
              </a:rPr>
              <a:t>     5. </a:t>
            </a:r>
            <a:r>
              <a:rPr b="0" dirty="0">
                <a:sym typeface="+mn-ea"/>
              </a:rPr>
              <a:t>每个系统调用都对应一个事先给定的功能号</a:t>
            </a:r>
          </a:p>
          <a:p>
            <a:pPr marL="0" indent="0" fontAlgn="auto">
              <a:lnSpc>
                <a:spcPts val="2600"/>
              </a:lnSpc>
            </a:pPr>
            <a:r>
              <a:rPr lang="en-US" altLang="zh-CN" b="0" dirty="0">
                <a:sym typeface="+mn-ea"/>
              </a:rPr>
              <a:t>     6. </a:t>
            </a:r>
            <a:r>
              <a:rPr b="0" dirty="0">
                <a:sym typeface="+mn-ea"/>
              </a:rPr>
              <a:t>为实现各种系统调用功能的子程序编造入口地址表，对应系统子程序</a:t>
            </a:r>
          </a:p>
          <a:p>
            <a:pPr marL="0" indent="0" fontAlgn="auto">
              <a:lnSpc>
                <a:spcPts val="2600"/>
              </a:lnSpc>
            </a:pPr>
            <a:r>
              <a:rPr lang="en-US" altLang="zh-CN" b="0" dirty="0">
                <a:sym typeface="+mn-ea"/>
              </a:rPr>
              <a:t>     7. </a:t>
            </a:r>
            <a:r>
              <a:rPr lang="en-US" altLang="zh-CN" b="0" dirty="0" err="1">
                <a:sym typeface="+mn-ea"/>
              </a:rPr>
              <a:t>在进入系统调用处理</a:t>
            </a:r>
            <a:r>
              <a:rPr b="0" dirty="0">
                <a:sym typeface="+mn-ea"/>
              </a:rPr>
              <a:t>前后，陷入处理机构还需保存和恢复处理机现场</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系统调用</a:t>
            </a:r>
          </a:p>
        </p:txBody>
      </p:sp>
      <p:sp>
        <p:nvSpPr>
          <p:cNvPr id="9" name="文本占位符 8"/>
          <p:cNvSpPr>
            <a:spLocks noGrp="1"/>
          </p:cNvSpPr>
          <p:nvPr>
            <p:ph type="body" sz="quarter" idx="10"/>
          </p:nvPr>
        </p:nvSpPr>
        <p:spPr>
          <a:xfrm>
            <a:off x="442913" y="992870"/>
            <a:ext cx="9056687" cy="381629"/>
          </a:xfrm>
        </p:spPr>
        <p:txBody>
          <a:bodyPr>
            <a:noAutofit/>
          </a:bodyPr>
          <a:lstStyle/>
          <a:p>
            <a:pPr marL="0" indent="0">
              <a:buNone/>
            </a:pPr>
            <a:r>
              <a:rPr sz="2400"/>
              <a:t>系统调用处理过程</a:t>
            </a:r>
          </a:p>
        </p:txBody>
      </p:sp>
      <p:sp>
        <p:nvSpPr>
          <p:cNvPr id="2" name="文本占位符 8"/>
          <p:cNvSpPr>
            <a:spLocks noGrp="1"/>
          </p:cNvSpPr>
          <p:nvPr/>
        </p:nvSpPr>
        <p:spPr>
          <a:xfrm>
            <a:off x="766666" y="1419514"/>
            <a:ext cx="10982325" cy="50609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buNone/>
            </a:pPr>
            <a:r>
              <a:rPr b="0" dirty="0">
                <a:sym typeface="+mn-ea"/>
              </a:rPr>
              <a:t>用户程序</a:t>
            </a:r>
            <a:r>
              <a:rPr lang="en-US" altLang="zh-CN" b="0" dirty="0">
                <a:sym typeface="+mn-ea"/>
              </a:rPr>
              <a:t>                               </a:t>
            </a:r>
            <a:r>
              <a:rPr lang="en-US" altLang="zh-CN" b="0" dirty="0" err="1">
                <a:sym typeface="+mn-ea"/>
              </a:rPr>
              <a:t>陷入处理机构</a:t>
            </a:r>
            <a:r>
              <a:rPr lang="en-US" altLang="zh-CN" b="0" dirty="0">
                <a:sym typeface="+mn-ea"/>
              </a:rPr>
              <a:t>                                        </a:t>
            </a:r>
            <a:r>
              <a:rPr lang="en-US" altLang="zh-CN" b="0" dirty="0" err="1">
                <a:sym typeface="+mn-ea"/>
              </a:rPr>
              <a:t>系统子程序</a:t>
            </a:r>
            <a:r>
              <a:rPr lang="en-US" altLang="zh-CN" b="0" dirty="0">
                <a:sym typeface="+mn-ea"/>
              </a:rPr>
              <a:t>  </a:t>
            </a:r>
          </a:p>
        </p:txBody>
      </p:sp>
      <p:grpSp>
        <p:nvGrpSpPr>
          <p:cNvPr id="3" name="Group 144"/>
          <p:cNvGrpSpPr/>
          <p:nvPr/>
        </p:nvGrpSpPr>
        <p:grpSpPr>
          <a:xfrm>
            <a:off x="617220" y="1843405"/>
            <a:ext cx="9551035" cy="3781425"/>
            <a:chOff x="1800" y="9516"/>
            <a:chExt cx="8100" cy="3588"/>
          </a:xfrm>
        </p:grpSpPr>
        <p:sp>
          <p:nvSpPr>
            <p:cNvPr id="4" name="Rectangle 145"/>
            <p:cNvSpPr>
              <a:spLocks noChangeArrowheads="1"/>
            </p:cNvSpPr>
            <p:nvPr/>
          </p:nvSpPr>
          <p:spPr bwMode="auto">
            <a:xfrm>
              <a:off x="1800" y="9552"/>
              <a:ext cx="1260" cy="3120"/>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系统调用</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p:txBody>
        </p:sp>
        <p:sp>
          <p:nvSpPr>
            <p:cNvPr id="5" name="Rectangle 146"/>
            <p:cNvSpPr>
              <a:spLocks noChangeArrowheads="1"/>
            </p:cNvSpPr>
            <p:nvPr/>
          </p:nvSpPr>
          <p:spPr bwMode="auto">
            <a:xfrm>
              <a:off x="3960" y="9516"/>
              <a:ext cx="3960" cy="3120"/>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marL="0"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入口地址表</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p:txBody>
        </p:sp>
        <p:sp>
          <p:nvSpPr>
            <p:cNvPr id="6" name="Rectangle 147"/>
            <p:cNvSpPr>
              <a:spLocks noChangeArrowheads="1"/>
            </p:cNvSpPr>
            <p:nvPr/>
          </p:nvSpPr>
          <p:spPr bwMode="auto">
            <a:xfrm>
              <a:off x="4140" y="9828"/>
              <a:ext cx="1800" cy="2496"/>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(1)保护处理现场</a:t>
              </a:r>
            </a:p>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(2)取系统调用功能号并寻找子程序入口</a:t>
              </a:r>
            </a:p>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(3)返回</a:t>
              </a:r>
            </a:p>
            <a:p>
              <a:pPr algn="just"/>
              <a:r>
                <a:rPr lang="en-US" altLang="zh-CN" sz="1200" kern="100">
                  <a:latin typeface="Times New Roman" panose="02020603050405020304"/>
                  <a:ea typeface="宋体" panose="02010600030101010101" pitchFamily="2" charset="-122"/>
                  <a:cs typeface="Times New Roman" panose="02020603050405020304"/>
                  <a:sym typeface="Times New Roman" panose="02020603050405020304"/>
                </a:rPr>
                <a:t> </a:t>
              </a:r>
            </a:p>
          </p:txBody>
        </p:sp>
        <p:sp>
          <p:nvSpPr>
            <p:cNvPr id="7" name="Rectangle 148"/>
            <p:cNvSpPr>
              <a:spLocks noChangeArrowheads="1"/>
            </p:cNvSpPr>
            <p:nvPr/>
          </p:nvSpPr>
          <p:spPr bwMode="auto">
            <a:xfrm>
              <a:off x="6300" y="10140"/>
              <a:ext cx="1440" cy="2184"/>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A0</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A1</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Ai</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An</a:t>
              </a:r>
            </a:p>
          </p:txBody>
        </p:sp>
        <p:cxnSp>
          <p:nvCxnSpPr>
            <p:cNvPr id="8" name="Line 149"/>
            <p:cNvCxnSpPr>
              <a:cxnSpLocks noChangeShapeType="1"/>
            </p:cNvCxnSpPr>
            <p:nvPr/>
          </p:nvCxnSpPr>
          <p:spPr bwMode="auto">
            <a:xfrm>
              <a:off x="6300" y="10608"/>
              <a:ext cx="1440" cy="0"/>
            </a:xfrm>
            <a:prstGeom prst="line">
              <a:avLst/>
            </a:prstGeom>
            <a:noFill/>
            <a:ln w="9525">
              <a:solidFill>
                <a:srgbClr val="000000"/>
              </a:solidFill>
              <a:round/>
            </a:ln>
          </p:spPr>
        </p:cxnSp>
        <p:cxnSp>
          <p:nvCxnSpPr>
            <p:cNvPr id="11" name="Line 150"/>
            <p:cNvCxnSpPr>
              <a:cxnSpLocks noChangeShapeType="1"/>
            </p:cNvCxnSpPr>
            <p:nvPr/>
          </p:nvCxnSpPr>
          <p:spPr bwMode="auto">
            <a:xfrm>
              <a:off x="6300" y="10920"/>
              <a:ext cx="1440" cy="0"/>
            </a:xfrm>
            <a:prstGeom prst="line">
              <a:avLst/>
            </a:prstGeom>
            <a:noFill/>
            <a:ln w="9525">
              <a:solidFill>
                <a:srgbClr val="000000"/>
              </a:solidFill>
              <a:round/>
            </a:ln>
          </p:spPr>
        </p:cxnSp>
        <p:cxnSp>
          <p:nvCxnSpPr>
            <p:cNvPr id="12" name="Line 151"/>
            <p:cNvCxnSpPr>
              <a:cxnSpLocks noChangeShapeType="1"/>
            </p:cNvCxnSpPr>
            <p:nvPr/>
          </p:nvCxnSpPr>
          <p:spPr bwMode="auto">
            <a:xfrm>
              <a:off x="6300" y="11232"/>
              <a:ext cx="1440" cy="0"/>
            </a:xfrm>
            <a:prstGeom prst="line">
              <a:avLst/>
            </a:prstGeom>
            <a:noFill/>
            <a:ln w="9525">
              <a:solidFill>
                <a:srgbClr val="000000"/>
              </a:solidFill>
              <a:round/>
            </a:ln>
          </p:spPr>
        </p:cxnSp>
        <p:cxnSp>
          <p:nvCxnSpPr>
            <p:cNvPr id="13" name="Line 152"/>
            <p:cNvCxnSpPr>
              <a:cxnSpLocks noChangeShapeType="1"/>
            </p:cNvCxnSpPr>
            <p:nvPr/>
          </p:nvCxnSpPr>
          <p:spPr bwMode="auto">
            <a:xfrm>
              <a:off x="6300" y="11544"/>
              <a:ext cx="1440" cy="0"/>
            </a:xfrm>
            <a:prstGeom prst="line">
              <a:avLst/>
            </a:prstGeom>
            <a:noFill/>
            <a:ln w="9525">
              <a:solidFill>
                <a:srgbClr val="000000"/>
              </a:solidFill>
              <a:round/>
            </a:ln>
          </p:spPr>
        </p:cxnSp>
        <p:cxnSp>
          <p:nvCxnSpPr>
            <p:cNvPr id="14" name="Line 153"/>
            <p:cNvCxnSpPr>
              <a:cxnSpLocks noChangeShapeType="1"/>
            </p:cNvCxnSpPr>
            <p:nvPr/>
          </p:nvCxnSpPr>
          <p:spPr bwMode="auto">
            <a:xfrm>
              <a:off x="6300" y="11856"/>
              <a:ext cx="1440" cy="0"/>
            </a:xfrm>
            <a:prstGeom prst="line">
              <a:avLst/>
            </a:prstGeom>
            <a:noFill/>
            <a:ln w="9525">
              <a:solidFill>
                <a:srgbClr val="000000"/>
              </a:solidFill>
              <a:round/>
            </a:ln>
          </p:spPr>
        </p:cxnSp>
        <p:sp>
          <p:nvSpPr>
            <p:cNvPr id="15" name="Rectangle 154"/>
            <p:cNvSpPr>
              <a:spLocks noChangeArrowheads="1"/>
            </p:cNvSpPr>
            <p:nvPr/>
          </p:nvSpPr>
          <p:spPr bwMode="auto">
            <a:xfrm>
              <a:off x="8460" y="9516"/>
              <a:ext cx="1440" cy="3120"/>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A0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A1</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Ai</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 </a:t>
              </a:r>
            </a:p>
            <a:p>
              <a:pPr algn="just"/>
              <a:r>
                <a:rPr lang="en-US" altLang="zh-CN" kern="100">
                  <a:latin typeface="Times New Roman" panose="02020603050405020304"/>
                  <a:ea typeface="宋体" panose="02010600030101010101" pitchFamily="2" charset="-122"/>
                  <a:cs typeface="Times New Roman" panose="02020603050405020304"/>
                  <a:sym typeface="Times New Roman" panose="02020603050405020304"/>
                </a:rPr>
                <a:t>An</a:t>
              </a:r>
            </a:p>
          </p:txBody>
        </p:sp>
        <p:sp>
          <p:nvSpPr>
            <p:cNvPr id="17" name="Rectangle 155"/>
            <p:cNvSpPr>
              <a:spLocks noChangeArrowheads="1"/>
            </p:cNvSpPr>
            <p:nvPr/>
          </p:nvSpPr>
          <p:spPr bwMode="auto">
            <a:xfrm>
              <a:off x="9000" y="9672"/>
              <a:ext cx="720" cy="468"/>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Sub0</a:t>
              </a:r>
            </a:p>
          </p:txBody>
        </p:sp>
        <p:sp>
          <p:nvSpPr>
            <p:cNvPr id="18" name="Rectangle 156"/>
            <p:cNvSpPr>
              <a:spLocks noChangeArrowheads="1"/>
            </p:cNvSpPr>
            <p:nvPr/>
          </p:nvSpPr>
          <p:spPr bwMode="auto">
            <a:xfrm>
              <a:off x="9000" y="10296"/>
              <a:ext cx="720" cy="468"/>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Sub1</a:t>
              </a:r>
            </a:p>
          </p:txBody>
        </p:sp>
        <p:sp>
          <p:nvSpPr>
            <p:cNvPr id="19" name="Rectangle 157"/>
            <p:cNvSpPr>
              <a:spLocks noChangeArrowheads="1"/>
            </p:cNvSpPr>
            <p:nvPr/>
          </p:nvSpPr>
          <p:spPr bwMode="auto">
            <a:xfrm>
              <a:off x="9000" y="11232"/>
              <a:ext cx="720" cy="468"/>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Subi</a:t>
              </a:r>
            </a:p>
          </p:txBody>
        </p:sp>
        <p:sp>
          <p:nvSpPr>
            <p:cNvPr id="20" name="Rectangle 158"/>
            <p:cNvSpPr>
              <a:spLocks noChangeArrowheads="1"/>
            </p:cNvSpPr>
            <p:nvPr/>
          </p:nvSpPr>
          <p:spPr bwMode="auto">
            <a:xfrm>
              <a:off x="9000" y="12012"/>
              <a:ext cx="720" cy="468"/>
            </a:xfrm>
            <a:prstGeom prst="rect">
              <a:avLst/>
            </a:prstGeom>
            <a:solidFill>
              <a:srgbClr val="FFFFFF"/>
            </a:solidFill>
            <a:ln w="9525">
              <a:solidFill>
                <a:srgbClr val="000000"/>
              </a:solidFill>
              <a:miter lim="800000"/>
            </a:ln>
          </p:spPr>
          <p:txBody>
            <a:bodyPr rot="0" vert="horz" wrap="square" lIns="91440" tIns="45720" rIns="91440" bIns="45720" anchor="t" anchorCtr="0" upright="1">
              <a:noAutofit/>
            </a:bodyPr>
            <a:lstStyle/>
            <a:p>
              <a:pPr algn="just"/>
              <a:r>
                <a:rPr lang="en-US" altLang="zh-CN" sz="1600" kern="100">
                  <a:latin typeface="Times New Roman" panose="02020603050405020304"/>
                  <a:ea typeface="宋体" panose="02010600030101010101" pitchFamily="2" charset="-122"/>
                  <a:cs typeface="Times New Roman" panose="02020603050405020304"/>
                  <a:sym typeface="Times New Roman" panose="02020603050405020304"/>
                </a:rPr>
                <a:t>Subn </a:t>
              </a:r>
            </a:p>
          </p:txBody>
        </p:sp>
        <p:cxnSp>
          <p:nvCxnSpPr>
            <p:cNvPr id="21" name="Line 159"/>
            <p:cNvCxnSpPr>
              <a:cxnSpLocks noChangeShapeType="1"/>
            </p:cNvCxnSpPr>
            <p:nvPr/>
          </p:nvCxnSpPr>
          <p:spPr bwMode="auto">
            <a:xfrm flipV="1">
              <a:off x="3060" y="10020"/>
              <a:ext cx="900" cy="780"/>
            </a:xfrm>
            <a:prstGeom prst="line">
              <a:avLst/>
            </a:prstGeom>
            <a:noFill/>
            <a:ln w="9525">
              <a:solidFill>
                <a:srgbClr val="000000"/>
              </a:solidFill>
              <a:round/>
              <a:tailEnd type="triangle" w="med" len="med"/>
            </a:ln>
          </p:spPr>
        </p:cxnSp>
        <p:cxnSp>
          <p:nvCxnSpPr>
            <p:cNvPr id="22" name="Line 160"/>
            <p:cNvCxnSpPr>
              <a:cxnSpLocks noChangeShapeType="1"/>
            </p:cNvCxnSpPr>
            <p:nvPr/>
          </p:nvCxnSpPr>
          <p:spPr bwMode="auto">
            <a:xfrm flipH="1" flipV="1">
              <a:off x="3060" y="11268"/>
              <a:ext cx="900" cy="936"/>
            </a:xfrm>
            <a:prstGeom prst="line">
              <a:avLst/>
            </a:prstGeom>
            <a:noFill/>
            <a:ln w="9525">
              <a:solidFill>
                <a:srgbClr val="000000"/>
              </a:solidFill>
              <a:round/>
              <a:tailEnd type="triangle" w="med" len="med"/>
            </a:ln>
          </p:spPr>
        </p:cxnSp>
        <p:cxnSp>
          <p:nvCxnSpPr>
            <p:cNvPr id="23" name="Line 161"/>
            <p:cNvCxnSpPr>
              <a:cxnSpLocks noChangeShapeType="1"/>
            </p:cNvCxnSpPr>
            <p:nvPr/>
          </p:nvCxnSpPr>
          <p:spPr bwMode="auto">
            <a:xfrm>
              <a:off x="5940" y="11076"/>
              <a:ext cx="360" cy="0"/>
            </a:xfrm>
            <a:prstGeom prst="line">
              <a:avLst/>
            </a:prstGeom>
            <a:noFill/>
            <a:ln w="9525">
              <a:solidFill>
                <a:srgbClr val="000000"/>
              </a:solidFill>
              <a:round/>
              <a:tailEnd type="triangle" w="med" len="med"/>
            </a:ln>
          </p:spPr>
        </p:cxnSp>
        <p:cxnSp>
          <p:nvCxnSpPr>
            <p:cNvPr id="24" name="Line 162"/>
            <p:cNvCxnSpPr>
              <a:cxnSpLocks noChangeShapeType="1"/>
            </p:cNvCxnSpPr>
            <p:nvPr/>
          </p:nvCxnSpPr>
          <p:spPr bwMode="auto">
            <a:xfrm>
              <a:off x="7740" y="11388"/>
              <a:ext cx="720" cy="0"/>
            </a:xfrm>
            <a:prstGeom prst="line">
              <a:avLst/>
            </a:prstGeom>
            <a:noFill/>
            <a:ln w="9525">
              <a:solidFill>
                <a:srgbClr val="000000"/>
              </a:solidFill>
              <a:round/>
              <a:tailEnd type="triangle" w="med" len="med"/>
            </a:ln>
          </p:spPr>
        </p:cxnSp>
        <p:cxnSp>
          <p:nvCxnSpPr>
            <p:cNvPr id="25" name="Line 163"/>
            <p:cNvCxnSpPr>
              <a:cxnSpLocks noChangeShapeType="1"/>
            </p:cNvCxnSpPr>
            <p:nvPr/>
          </p:nvCxnSpPr>
          <p:spPr bwMode="auto">
            <a:xfrm flipH="1">
              <a:off x="8100" y="11700"/>
              <a:ext cx="900" cy="1404"/>
            </a:xfrm>
            <a:prstGeom prst="line">
              <a:avLst/>
            </a:prstGeom>
            <a:noFill/>
            <a:ln w="9525">
              <a:solidFill>
                <a:srgbClr val="000000"/>
              </a:solidFill>
              <a:round/>
            </a:ln>
          </p:spPr>
        </p:cxnSp>
        <p:cxnSp>
          <p:nvCxnSpPr>
            <p:cNvPr id="26" name="Line 164"/>
            <p:cNvCxnSpPr>
              <a:cxnSpLocks noChangeShapeType="1"/>
            </p:cNvCxnSpPr>
            <p:nvPr/>
          </p:nvCxnSpPr>
          <p:spPr bwMode="auto">
            <a:xfrm flipH="1">
              <a:off x="6480" y="13104"/>
              <a:ext cx="1620" cy="0"/>
            </a:xfrm>
            <a:prstGeom prst="line">
              <a:avLst/>
            </a:prstGeom>
            <a:noFill/>
            <a:ln w="9525">
              <a:solidFill>
                <a:srgbClr val="000000"/>
              </a:solidFill>
              <a:round/>
            </a:ln>
          </p:spPr>
        </p:cxnSp>
        <p:cxnSp>
          <p:nvCxnSpPr>
            <p:cNvPr id="27" name="Line 165"/>
            <p:cNvCxnSpPr>
              <a:cxnSpLocks noChangeShapeType="1"/>
            </p:cNvCxnSpPr>
            <p:nvPr/>
          </p:nvCxnSpPr>
          <p:spPr bwMode="auto">
            <a:xfrm flipH="1" flipV="1">
              <a:off x="5940" y="12324"/>
              <a:ext cx="540" cy="780"/>
            </a:xfrm>
            <a:prstGeom prst="line">
              <a:avLst/>
            </a:prstGeom>
            <a:noFill/>
            <a:ln w="9525">
              <a:solidFill>
                <a:srgbClr val="000000"/>
              </a:solidFill>
              <a:round/>
              <a:tailEnd type="triangle" w="med" len="med"/>
            </a:ln>
          </p:spPr>
        </p:cxnSp>
      </p:grpSp>
      <p:sp>
        <p:nvSpPr>
          <p:cNvPr id="28" name="文本框 27"/>
          <p:cNvSpPr txBox="1"/>
          <p:nvPr/>
        </p:nvSpPr>
        <p:spPr>
          <a:xfrm>
            <a:off x="3595370" y="5972810"/>
            <a:ext cx="4768850" cy="398780"/>
          </a:xfrm>
          <a:prstGeom prst="rect">
            <a:avLst/>
          </a:prstGeom>
          <a:noFill/>
        </p:spPr>
        <p:txBody>
          <a:bodyPr wrap="square" rtlCol="0">
            <a:spAutoFit/>
          </a:bodyPr>
          <a:lstStyle/>
          <a:p>
            <a:pPr algn="ct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系统调用的处理过程</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a:ln>
                  <a:noFill/>
                </a:ln>
                <a:effectLst/>
                <a:uLnTx/>
                <a:uFillTx/>
                <a:sym typeface="Arial" panose="020B0604020202020204" pitchFamily="34" charset="0"/>
              </a:rPr>
              <a:t> 系统调用</a:t>
            </a:r>
          </a:p>
        </p:txBody>
      </p:sp>
      <p:sp>
        <p:nvSpPr>
          <p:cNvPr id="9" name="文本占位符 8"/>
          <p:cNvSpPr>
            <a:spLocks noGrp="1"/>
          </p:cNvSpPr>
          <p:nvPr>
            <p:ph type="body" sz="quarter" idx="10"/>
          </p:nvPr>
        </p:nvSpPr>
        <p:spPr>
          <a:xfrm>
            <a:off x="443077" y="1174659"/>
            <a:ext cx="9056687" cy="381629"/>
          </a:xfrm>
        </p:spPr>
        <p:txBody>
          <a:bodyPr>
            <a:noAutofit/>
          </a:bodyPr>
          <a:lstStyle/>
          <a:p>
            <a:pPr marL="0" indent="0">
              <a:buNone/>
            </a:pPr>
            <a:r>
              <a:rPr sz="2400" dirty="0"/>
              <a:t>系统调用处理过程</a:t>
            </a:r>
          </a:p>
        </p:txBody>
      </p:sp>
      <p:sp>
        <p:nvSpPr>
          <p:cNvPr id="2" name="文本占位符 8"/>
          <p:cNvSpPr>
            <a:spLocks noGrp="1"/>
          </p:cNvSpPr>
          <p:nvPr/>
        </p:nvSpPr>
        <p:spPr>
          <a:xfrm>
            <a:off x="914571" y="1702386"/>
            <a:ext cx="10265620"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buNone/>
            </a:pPr>
            <a:r>
              <a:rPr b="0" dirty="0">
                <a:sym typeface="+mn-ea"/>
              </a:rPr>
              <a:t>不同的系统调用需要传递给系统子程序以不同的参数，几种常用的实现方法：</a:t>
            </a:r>
          </a:p>
          <a:p>
            <a:pPr fontAlgn="auto">
              <a:lnSpc>
                <a:spcPct val="150000"/>
              </a:lnSpc>
            </a:pPr>
            <a:r>
              <a:rPr b="0" dirty="0">
                <a:sym typeface="+mn-ea"/>
              </a:rPr>
              <a:t>       由陷入指令自带参数</a:t>
            </a:r>
          </a:p>
          <a:p>
            <a:pPr fontAlgn="auto">
              <a:lnSpc>
                <a:spcPct val="150000"/>
              </a:lnSpc>
            </a:pPr>
            <a:r>
              <a:rPr b="0" dirty="0">
                <a:sym typeface="+mn-ea"/>
              </a:rPr>
              <a:t>       通过有关通用寄存器来传递参数</a:t>
            </a:r>
          </a:p>
          <a:p>
            <a:pPr fontAlgn="auto">
              <a:lnSpc>
                <a:spcPct val="150000"/>
              </a:lnSpc>
            </a:pPr>
            <a:endParaRPr b="0" dirty="0">
              <a:sym typeface="+mn-ea"/>
            </a:endParaRPr>
          </a:p>
          <a:p>
            <a:pPr marL="0" indent="0" fontAlgn="auto">
              <a:lnSpc>
                <a:spcPct val="150000"/>
              </a:lnSpc>
              <a:buNone/>
            </a:pPr>
            <a:r>
              <a:rPr b="0" dirty="0">
                <a:sym typeface="+mn-ea"/>
              </a:rPr>
              <a:t>在系统发生访管中断或陷入中断时，不让用户程序直接访问系统程序，反映在处理机硬件状态的处理机状态字PSW中的相应位要从用户执行模式转换为系统执行模式，这一转换在发生访管中断时由硬件自动实现</a:t>
            </a:r>
          </a:p>
          <a:p>
            <a:pPr fontAlgn="auto">
              <a:lnSpc>
                <a:spcPct val="100000"/>
              </a:lnSpc>
            </a:pPr>
            <a:endParaRPr sz="2400" b="0" dirty="0">
              <a:sym typeface="+mn-ea"/>
            </a:endParaRPr>
          </a:p>
          <a:p>
            <a:pPr fontAlgn="auto">
              <a:lnSpc>
                <a:spcPct val="100000"/>
              </a:lnSpc>
            </a:pPr>
            <a:endParaRPr sz="2400" b="0" dirty="0">
              <a:sym typeface="+mn-ea"/>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en-US" altLang="zh-CN" noProof="0" dirty="0" err="1">
                <a:ln>
                  <a:noFill/>
                </a:ln>
                <a:effectLst/>
                <a:uLnTx/>
                <a:uFillTx/>
                <a:sym typeface="Arial" panose="020B0604020202020204" pitchFamily="34" charset="0"/>
              </a:rPr>
              <a:t>系统调用</a:t>
            </a:r>
            <a:endParaRPr lang="en-US" altLang="zh-CN" noProof="0" dirty="0">
              <a:ln>
                <a:noFill/>
              </a:ln>
              <a:effectLst/>
              <a:uLnTx/>
              <a:uFillTx/>
              <a:sym typeface="Arial" panose="020B0604020202020204" pitchFamily="34" charset="0"/>
            </a:endParaRPr>
          </a:p>
        </p:txBody>
      </p:sp>
      <p:sp>
        <p:nvSpPr>
          <p:cNvPr id="9" name="文本占位符 8"/>
          <p:cNvSpPr>
            <a:spLocks noGrp="1"/>
          </p:cNvSpPr>
          <p:nvPr>
            <p:ph type="body" sz="quarter" idx="10"/>
          </p:nvPr>
        </p:nvSpPr>
        <p:spPr>
          <a:xfrm>
            <a:off x="603169" y="1390978"/>
            <a:ext cx="9056687" cy="381629"/>
          </a:xfrm>
        </p:spPr>
        <p:txBody>
          <a:bodyPr>
            <a:noAutofit/>
          </a:bodyPr>
          <a:lstStyle/>
          <a:p>
            <a:pPr marL="0" indent="0">
              <a:buNone/>
            </a:pPr>
            <a:r>
              <a:rPr sz="2400" dirty="0"/>
              <a:t>系统调用处理过程</a:t>
            </a:r>
          </a:p>
        </p:txBody>
      </p:sp>
      <p:sp>
        <p:nvSpPr>
          <p:cNvPr id="2" name="文本占位符 8"/>
          <p:cNvSpPr>
            <a:spLocks noGrp="1"/>
          </p:cNvSpPr>
          <p:nvPr/>
        </p:nvSpPr>
        <p:spPr>
          <a:xfrm>
            <a:off x="1445664" y="1374499"/>
            <a:ext cx="10303327"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b="0" dirty="0">
                <a:sym typeface="+mn-ea"/>
              </a:rPr>
              <a:t>一个UNIX程序包含着代码，代码使系统调用执行某种服务</a:t>
            </a:r>
          </a:p>
          <a:p>
            <a:pPr fontAlgn="auto">
              <a:lnSpc>
                <a:spcPct val="150000"/>
              </a:lnSpc>
            </a:pPr>
            <a:r>
              <a:rPr b="0" dirty="0">
                <a:sym typeface="+mn-ea"/>
              </a:rPr>
              <a:t>一个Windows程序一般是事件驱动的，主程序等待某些事件的发生，然后调用一个程序来处理它，典型的事件就是敲击键盘、移动鼠标、鼠标的点击</a:t>
            </a:r>
          </a:p>
          <a:p>
            <a:pPr fontAlgn="auto">
              <a:lnSpc>
                <a:spcPct val="150000"/>
              </a:lnSpc>
            </a:pPr>
            <a:r>
              <a:rPr b="0" dirty="0">
                <a:sym typeface="+mn-ea"/>
              </a:rPr>
              <a:t>Windows通过Win32 API，程序员就能得到操作系统的服务</a:t>
            </a:r>
          </a:p>
        </p:txBody>
      </p:sp>
      <p:sp>
        <p:nvSpPr>
          <p:cNvPr id="4" name="文本框 3">
            <a:extLst>
              <a:ext uri="{FF2B5EF4-FFF2-40B4-BE49-F238E27FC236}">
                <a16:creationId xmlns:a16="http://schemas.microsoft.com/office/drawing/2014/main" id="{11B29E93-7D49-38ED-DEFF-D5FE8EC66DB2}"/>
              </a:ext>
            </a:extLst>
          </p:cNvPr>
          <p:cNvSpPr txBox="1"/>
          <p:nvPr/>
        </p:nvSpPr>
        <p:spPr>
          <a:xfrm>
            <a:off x="944336" y="2029313"/>
            <a:ext cx="9895787" cy="499111"/>
          </a:xfrm>
          <a:prstGeom prst="rect">
            <a:avLst/>
          </a:prstGeom>
          <a:noFill/>
        </p:spPr>
        <p:txBody>
          <a:bodyPr wrap="square">
            <a:spAutoFit/>
          </a:bodyPr>
          <a:lstStyle/>
          <a:p>
            <a:pPr marL="0" indent="0" fontAlgn="auto">
              <a:lnSpc>
                <a:spcPct val="150000"/>
              </a:lnSpc>
              <a:buNone/>
            </a:pPr>
            <a:r>
              <a:rPr lang="zh-CN" altLang="en-US" sz="2000" b="0" dirty="0">
                <a:solidFill>
                  <a:srgbClr val="404040"/>
                </a:solidFill>
                <a:sym typeface="+mn-ea"/>
              </a:rPr>
              <a:t>不同的操作系统在各自的系统调用程序设计模式上有着根本的不同</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7" name="组合 6"/>
          <p:cNvGrpSpPr/>
          <p:nvPr/>
        </p:nvGrpSpPr>
        <p:grpSpPr>
          <a:xfrm>
            <a:off x="10177780" y="329882"/>
            <a:ext cx="1512002" cy="444892"/>
            <a:chOff x="9556201" y="498129"/>
            <a:chExt cx="1993881" cy="586680"/>
          </a:xfrm>
        </p:grpSpPr>
        <p:grpSp>
          <p:nvGrpSpPr>
            <p:cNvPr id="8" name="组合 7"/>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-5</a:t>
            </a:r>
            <a:r>
              <a:rPr lang="zh-CN" altLang="en-US" dirty="0">
                <a:latin typeface="Arial" panose="020B0604020202020204" pitchFamily="34" charset="0"/>
                <a:ea typeface="微软雅黑" panose="020B0503020204020204" pitchFamily="34" charset="-122"/>
                <a:sym typeface="Arial" panose="020B0604020202020204" pitchFamily="34" charset="0"/>
              </a:rPr>
              <a:t>：翻尾石鱼</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2.8</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组合 9"/>
          <p:cNvGrpSpPr/>
          <p:nvPr/>
        </p:nvGrpSpPr>
        <p:grpSpPr>
          <a:xfrm>
            <a:off x="6774186" y="2658742"/>
            <a:ext cx="3526265" cy="1569660"/>
            <a:chOff x="6566813" y="2528855"/>
            <a:chExt cx="3526265" cy="1569660"/>
          </a:xfrm>
        </p:grpSpPr>
        <p:sp>
          <p:nvSpPr>
            <p:cNvPr id="67" name="文本框 66"/>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 </a:t>
              </a: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操作系统</a:t>
              </a:r>
              <a:endPar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a:p>
              <a:pPr marL="0" marR="0" lvl="0" indent="0" algn="dist" defTabSz="914400" rtl="0" eaLnBrk="1" fontAlgn="auto" latinLnBrk="0" hangingPunct="1">
                <a:lnSpc>
                  <a:spcPct val="100000"/>
                </a:lnSpc>
                <a:spcBef>
                  <a:spcPts val="0"/>
                </a:spcBef>
                <a:spcAft>
                  <a:spcPts val="0"/>
                </a:spcAft>
                <a:buClrTx/>
                <a:buSzTx/>
                <a:buFontTx/>
                <a:buNone/>
                <a:defRPr/>
              </a:pPr>
              <a:r>
                <a:rPr lang="en-US" altLang="zh-CN" sz="4800" b="1"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协同工作</a:t>
              </a:r>
              <a:endPar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48021412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noProof="0" dirty="0">
                <a:ln>
                  <a:noFill/>
                </a:ln>
                <a:effectLst/>
                <a:uLnTx/>
                <a:uFillTx/>
                <a:sym typeface="Arial" panose="020B0604020202020204" pitchFamily="34" charset="0"/>
              </a:rPr>
              <a:t>操作系统协同工作</a:t>
            </a:r>
            <a:endParaRPr lang="en-US" altLang="zh-CN" noProof="0" dirty="0">
              <a:ln>
                <a:noFill/>
              </a:ln>
              <a:effectLst/>
              <a:uLnTx/>
              <a:uFillTx/>
              <a:sym typeface="Arial" panose="020B0604020202020204" pitchFamily="34" charset="0"/>
            </a:endParaRPr>
          </a:p>
        </p:txBody>
      </p:sp>
      <p:sp>
        <p:nvSpPr>
          <p:cNvPr id="9" name="文本占位符 8"/>
          <p:cNvSpPr>
            <a:spLocks noGrp="1"/>
          </p:cNvSpPr>
          <p:nvPr>
            <p:ph type="body" sz="quarter" idx="10"/>
          </p:nvPr>
        </p:nvSpPr>
        <p:spPr>
          <a:xfrm>
            <a:off x="603169" y="1390978"/>
            <a:ext cx="9056687" cy="381629"/>
          </a:xfrm>
        </p:spPr>
        <p:txBody>
          <a:bodyPr>
            <a:noAutofit/>
          </a:bodyPr>
          <a:lstStyle/>
          <a:p>
            <a:pPr marL="0" indent="0">
              <a:buNone/>
            </a:pPr>
            <a:r>
              <a:rPr lang="zh-CN" altLang="en-US" sz="2400" dirty="0"/>
              <a:t>操作系统协同工作实例</a:t>
            </a:r>
            <a:endParaRPr sz="2400" dirty="0"/>
          </a:p>
        </p:txBody>
      </p:sp>
      <p:sp>
        <p:nvSpPr>
          <p:cNvPr id="4" name="文本框 3">
            <a:extLst>
              <a:ext uri="{FF2B5EF4-FFF2-40B4-BE49-F238E27FC236}">
                <a16:creationId xmlns:a16="http://schemas.microsoft.com/office/drawing/2014/main" id="{11B29E93-7D49-38ED-DEFF-D5FE8EC66DB2}"/>
              </a:ext>
            </a:extLst>
          </p:cNvPr>
          <p:cNvSpPr txBox="1"/>
          <p:nvPr/>
        </p:nvSpPr>
        <p:spPr>
          <a:xfrm>
            <a:off x="1061067" y="1949818"/>
            <a:ext cx="9639358" cy="1422441"/>
          </a:xfrm>
          <a:prstGeom prst="rect">
            <a:avLst/>
          </a:prstGeom>
          <a:noFill/>
        </p:spPr>
        <p:txBody>
          <a:bodyPr wrap="square">
            <a:spAutoFit/>
          </a:bodyPr>
          <a:lstStyle/>
          <a:p>
            <a:pPr marL="0" indent="0" fontAlgn="auto">
              <a:lnSpc>
                <a:spcPct val="150000"/>
              </a:lnSpc>
              <a:buNone/>
            </a:pPr>
            <a:r>
              <a:rPr lang="zh-CN" altLang="en-US" sz="2000" b="0" dirty="0">
                <a:solidFill>
                  <a:srgbClr val="404040"/>
                </a:solidFill>
                <a:sym typeface="+mn-ea"/>
              </a:rPr>
              <a:t>假设有一个图像处理程序，它能够从主存储器中读取图像文件，并对图像进行一些处理操作，然后将处理后的图像保存回主存储器。在这个程序中，我们将使用中断、系统调用、以及主存储器、处理器和时钟等系统硬件</a:t>
            </a:r>
          </a:p>
        </p:txBody>
      </p:sp>
      <p:sp>
        <p:nvSpPr>
          <p:cNvPr id="3" name="文本占位符 8">
            <a:extLst>
              <a:ext uri="{FF2B5EF4-FFF2-40B4-BE49-F238E27FC236}">
                <a16:creationId xmlns:a16="http://schemas.microsoft.com/office/drawing/2014/main" id="{88FEF57B-87AE-F12B-3106-E42E4CBB95F1}"/>
              </a:ext>
            </a:extLst>
          </p:cNvPr>
          <p:cNvSpPr>
            <a:spLocks noGrp="1"/>
          </p:cNvSpPr>
          <p:nvPr/>
        </p:nvSpPr>
        <p:spPr>
          <a:xfrm>
            <a:off x="2097417" y="2094346"/>
            <a:ext cx="10303327"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sym typeface="+mn-ea"/>
              </a:rPr>
              <a:t>计算机硬件系统</a:t>
            </a:r>
            <a:endParaRPr lang="en-US" altLang="zh-CN" b="0" dirty="0">
              <a:sym typeface="+mn-ea"/>
            </a:endParaRPr>
          </a:p>
          <a:p>
            <a:pPr fontAlgn="auto">
              <a:lnSpc>
                <a:spcPct val="150000"/>
              </a:lnSpc>
            </a:pPr>
            <a:r>
              <a:rPr lang="zh-CN" altLang="en-US" b="0" dirty="0">
                <a:sym typeface="+mn-ea"/>
              </a:rPr>
              <a:t>中断</a:t>
            </a:r>
            <a:endParaRPr lang="en-US" altLang="zh-CN" b="0" dirty="0">
              <a:sym typeface="+mn-ea"/>
            </a:endParaRPr>
          </a:p>
          <a:p>
            <a:pPr fontAlgn="auto">
              <a:lnSpc>
                <a:spcPct val="150000"/>
              </a:lnSpc>
            </a:pPr>
            <a:r>
              <a:rPr lang="zh-CN" altLang="en-US" b="0" dirty="0">
                <a:sym typeface="+mn-ea"/>
              </a:rPr>
              <a:t>系统调用</a:t>
            </a:r>
            <a:endParaRPr b="0" dirty="0">
              <a:sym typeface="+mn-ea"/>
            </a:endParaRPr>
          </a:p>
        </p:txBody>
      </p:sp>
    </p:spTree>
    <p:extLst>
      <p:ext uri="{BB962C8B-B14F-4D97-AF65-F5344CB8AC3E}">
        <p14:creationId xmlns:p14="http://schemas.microsoft.com/office/powerpoint/2010/main" val="24679946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89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noProof="0" dirty="0">
                <a:ln>
                  <a:noFill/>
                </a:ln>
                <a:effectLst/>
                <a:uLnTx/>
                <a:uFillTx/>
                <a:sym typeface="Arial" panose="020B0604020202020204" pitchFamily="34" charset="0"/>
              </a:rPr>
              <a:t>操作系统协同工作</a:t>
            </a:r>
            <a:endParaRPr lang="en-US" altLang="zh-CN" noProof="0" dirty="0">
              <a:ln>
                <a:noFill/>
              </a:ln>
              <a:effectLst/>
              <a:uLnTx/>
              <a:uFillTx/>
              <a:sym typeface="Arial" panose="020B0604020202020204" pitchFamily="34" charset="0"/>
            </a:endParaRPr>
          </a:p>
        </p:txBody>
      </p:sp>
      <p:sp>
        <p:nvSpPr>
          <p:cNvPr id="9" name="文本占位符 8"/>
          <p:cNvSpPr>
            <a:spLocks noGrp="1"/>
          </p:cNvSpPr>
          <p:nvPr>
            <p:ph type="body" sz="quarter" idx="10"/>
          </p:nvPr>
        </p:nvSpPr>
        <p:spPr>
          <a:xfrm>
            <a:off x="603169" y="1390978"/>
            <a:ext cx="9056687" cy="381629"/>
          </a:xfrm>
        </p:spPr>
        <p:txBody>
          <a:bodyPr>
            <a:noAutofit/>
          </a:bodyPr>
          <a:lstStyle/>
          <a:p>
            <a:pPr marL="0" indent="0">
              <a:buNone/>
            </a:pPr>
            <a:r>
              <a:rPr lang="zh-CN" altLang="en-US" sz="2400" dirty="0"/>
              <a:t>计算机硬件系统</a:t>
            </a:r>
            <a:endParaRPr sz="2400" dirty="0"/>
          </a:p>
        </p:txBody>
      </p:sp>
      <p:sp>
        <p:nvSpPr>
          <p:cNvPr id="4" name="文本框 3">
            <a:extLst>
              <a:ext uri="{FF2B5EF4-FFF2-40B4-BE49-F238E27FC236}">
                <a16:creationId xmlns:a16="http://schemas.microsoft.com/office/drawing/2014/main" id="{11B29E93-7D49-38ED-DEFF-D5FE8EC66DB2}"/>
              </a:ext>
            </a:extLst>
          </p:cNvPr>
          <p:cNvSpPr txBox="1"/>
          <p:nvPr/>
        </p:nvSpPr>
        <p:spPr>
          <a:xfrm>
            <a:off x="780210" y="1873622"/>
            <a:ext cx="10805432" cy="4197944"/>
          </a:xfrm>
          <a:prstGeom prst="rect">
            <a:avLst/>
          </a:prstGeom>
          <a:noFill/>
        </p:spPr>
        <p:txBody>
          <a:bodyPr wrap="square">
            <a:spAutoFit/>
          </a:bodyPr>
          <a:lstStyle/>
          <a:p>
            <a:pPr marL="342900" indent="-342900" fontAlgn="auto">
              <a:lnSpc>
                <a:spcPct val="150000"/>
              </a:lnSpc>
              <a:buFont typeface="Arial" panose="020B0604020202020204" pitchFamily="34" charset="0"/>
              <a:buChar char="•"/>
            </a:pPr>
            <a:r>
              <a:rPr lang="zh-CN" altLang="en-US" b="0" dirty="0">
                <a:solidFill>
                  <a:srgbClr val="404040"/>
                </a:solidFill>
                <a:sym typeface="+mn-ea"/>
              </a:rPr>
              <a:t>处理器：处理器是计算机的核心，执行程序的指令和计算操作。图像处理程序在处理图像时，使用处理器执行各种算法和操作。此外中断指令和系统调用指令的执行也需要通过处理器进行处理完成</a:t>
            </a:r>
          </a:p>
          <a:p>
            <a:pPr marL="342900" indent="-342900" fontAlgn="auto">
              <a:lnSpc>
                <a:spcPct val="150000"/>
              </a:lnSpc>
              <a:buFont typeface="Arial" panose="020B0604020202020204" pitchFamily="34" charset="0"/>
              <a:buChar char="•"/>
            </a:pPr>
            <a:r>
              <a:rPr lang="zh-CN" altLang="en-US" b="0" dirty="0">
                <a:solidFill>
                  <a:srgbClr val="404040"/>
                </a:solidFill>
                <a:sym typeface="+mn-ea"/>
              </a:rPr>
              <a:t>主存储器：主存储器是计算机用于存储程序和数据的地方。图像处理程序从主存储器中读取图像文件，并将处理后的图像保存回主存储器</a:t>
            </a:r>
          </a:p>
          <a:p>
            <a:pPr marL="342900" indent="-342900" fontAlgn="auto">
              <a:lnSpc>
                <a:spcPct val="150000"/>
              </a:lnSpc>
              <a:buFont typeface="Arial" panose="020B0604020202020204" pitchFamily="34" charset="0"/>
              <a:buChar char="•"/>
            </a:pPr>
            <a:r>
              <a:rPr lang="zh-CN" altLang="en-US" b="0" dirty="0">
                <a:solidFill>
                  <a:srgbClr val="404040"/>
                </a:solidFill>
                <a:sym typeface="+mn-ea"/>
              </a:rPr>
              <a:t>内存：内存是计算机用于临时存储数据的地方。图像处理程序可能会使用内存作为临时存储区域，用于存储图像数据和计算结果</a:t>
            </a:r>
          </a:p>
          <a:p>
            <a:pPr marL="342900" indent="-342900" fontAlgn="auto">
              <a:lnSpc>
                <a:spcPct val="150000"/>
              </a:lnSpc>
              <a:buFont typeface="Arial" panose="020B0604020202020204" pitchFamily="34" charset="0"/>
              <a:buChar char="•"/>
            </a:pPr>
            <a:r>
              <a:rPr lang="zh-CN" altLang="en-US" b="0" dirty="0">
                <a:solidFill>
                  <a:srgbClr val="404040"/>
                </a:solidFill>
                <a:sym typeface="+mn-ea"/>
              </a:rPr>
              <a:t>时钟：时钟是计算机系统中用于同步和调度各个组件的设备。它提供计时信号，使得处理器和其他硬件能够按照预定的速度进行操作</a:t>
            </a:r>
          </a:p>
          <a:p>
            <a:pPr marL="342900" indent="-342900" fontAlgn="auto">
              <a:lnSpc>
                <a:spcPct val="150000"/>
              </a:lnSpc>
              <a:buFont typeface="Arial" panose="020B0604020202020204" pitchFamily="34" charset="0"/>
              <a:buChar char="•"/>
            </a:pPr>
            <a:r>
              <a:rPr lang="en-US" altLang="zh-CN" b="0" dirty="0">
                <a:solidFill>
                  <a:srgbClr val="404040"/>
                </a:solidFill>
                <a:sym typeface="+mn-ea"/>
              </a:rPr>
              <a:t>I/O</a:t>
            </a:r>
            <a:r>
              <a:rPr lang="zh-CN" altLang="en-US" b="0" dirty="0">
                <a:solidFill>
                  <a:srgbClr val="404040"/>
                </a:solidFill>
                <a:sym typeface="+mn-ea"/>
              </a:rPr>
              <a:t>设备：</a:t>
            </a:r>
            <a:r>
              <a:rPr lang="en-US" altLang="zh-CN" b="0" dirty="0">
                <a:solidFill>
                  <a:srgbClr val="404040"/>
                </a:solidFill>
                <a:sym typeface="+mn-ea"/>
              </a:rPr>
              <a:t>I/O</a:t>
            </a:r>
            <a:r>
              <a:rPr lang="zh-CN" altLang="en-US" b="0" dirty="0">
                <a:solidFill>
                  <a:srgbClr val="404040"/>
                </a:solidFill>
                <a:sym typeface="+mn-ea"/>
              </a:rPr>
              <a:t>设备用于与计算机系统进行输入和输出交互。在图像处理程序中，可能会使用</a:t>
            </a:r>
            <a:r>
              <a:rPr lang="en-US" altLang="zh-CN" b="0" dirty="0">
                <a:solidFill>
                  <a:srgbClr val="404040"/>
                </a:solidFill>
                <a:sym typeface="+mn-ea"/>
              </a:rPr>
              <a:t>I/O</a:t>
            </a:r>
            <a:r>
              <a:rPr lang="zh-CN" altLang="en-US" b="0" dirty="0">
                <a:solidFill>
                  <a:srgbClr val="404040"/>
                </a:solidFill>
                <a:sym typeface="+mn-ea"/>
              </a:rPr>
              <a:t>设备如键盘、鼠标或者磁盘驱动器来读取和保存图像文件</a:t>
            </a:r>
          </a:p>
        </p:txBody>
      </p:sp>
    </p:spTree>
    <p:extLst>
      <p:ext uri="{BB962C8B-B14F-4D97-AF65-F5344CB8AC3E}">
        <p14:creationId xmlns:p14="http://schemas.microsoft.com/office/powerpoint/2010/main" val="429278116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noProof="0" dirty="0">
                <a:ln>
                  <a:noFill/>
                </a:ln>
                <a:effectLst/>
                <a:uLnTx/>
                <a:uFillTx/>
                <a:sym typeface="Arial" panose="020B0604020202020204" pitchFamily="34" charset="0"/>
              </a:rPr>
              <a:t>操作系统协同工作</a:t>
            </a:r>
            <a:endParaRPr lang="en-US" altLang="zh-CN" noProof="0" dirty="0">
              <a:ln>
                <a:noFill/>
              </a:ln>
              <a:effectLst/>
              <a:uLnTx/>
              <a:uFillTx/>
              <a:sym typeface="Arial" panose="020B0604020202020204" pitchFamily="34" charset="0"/>
            </a:endParaRPr>
          </a:p>
        </p:txBody>
      </p:sp>
      <p:sp>
        <p:nvSpPr>
          <p:cNvPr id="9" name="文本占位符 8"/>
          <p:cNvSpPr>
            <a:spLocks noGrp="1"/>
          </p:cNvSpPr>
          <p:nvPr>
            <p:ph type="body" sz="quarter" idx="10"/>
          </p:nvPr>
        </p:nvSpPr>
        <p:spPr>
          <a:xfrm>
            <a:off x="603169" y="1390978"/>
            <a:ext cx="9056687" cy="381629"/>
          </a:xfrm>
        </p:spPr>
        <p:txBody>
          <a:bodyPr>
            <a:noAutofit/>
          </a:bodyPr>
          <a:lstStyle/>
          <a:p>
            <a:pPr marL="0" indent="0">
              <a:buNone/>
            </a:pPr>
            <a:r>
              <a:rPr lang="zh-CN" altLang="en-US" sz="2400" dirty="0"/>
              <a:t>中断</a:t>
            </a:r>
            <a:endParaRPr sz="2400" dirty="0"/>
          </a:p>
        </p:txBody>
      </p:sp>
      <p:sp>
        <p:nvSpPr>
          <p:cNvPr id="4" name="文本框 3">
            <a:extLst>
              <a:ext uri="{FF2B5EF4-FFF2-40B4-BE49-F238E27FC236}">
                <a16:creationId xmlns:a16="http://schemas.microsoft.com/office/drawing/2014/main" id="{11B29E93-7D49-38ED-DEFF-D5FE8EC66DB2}"/>
              </a:ext>
            </a:extLst>
          </p:cNvPr>
          <p:cNvSpPr txBox="1"/>
          <p:nvPr/>
        </p:nvSpPr>
        <p:spPr>
          <a:xfrm>
            <a:off x="829470" y="1873622"/>
            <a:ext cx="11055707" cy="4007764"/>
          </a:xfrm>
          <a:prstGeom prst="rect">
            <a:avLst/>
          </a:prstGeom>
          <a:noFill/>
        </p:spPr>
        <p:txBody>
          <a:bodyPr wrap="square">
            <a:spAutoFit/>
          </a:bodyPr>
          <a:lstStyle/>
          <a:p>
            <a:pPr fontAlgn="auto">
              <a:lnSpc>
                <a:spcPct val="150000"/>
              </a:lnSpc>
            </a:pPr>
            <a:r>
              <a:rPr lang="zh-CN" altLang="en-US" sz="2000" b="0" dirty="0">
                <a:solidFill>
                  <a:srgbClr val="404040"/>
                </a:solidFill>
                <a:sym typeface="+mn-ea"/>
              </a:rPr>
              <a:t>在图像处理程序中，可能会发生各种中断事件，如用户想要中途取消图像处理操作、用户请求读取新的图像文件等。当中断事件发生时，处理器会暂停当前的图像处理任务，转而处理中断事件，然后返回到之前的处理状态。图像处理程序中的中断可以是以下几种类型：</a:t>
            </a:r>
            <a:endParaRPr lang="en-US" altLang="zh-CN" sz="2000" b="0" dirty="0">
              <a:solidFill>
                <a:srgbClr val="404040"/>
              </a:solidFill>
              <a:sym typeface="+mn-ea"/>
            </a:endParaRPr>
          </a:p>
          <a:p>
            <a:pPr fontAlgn="auto">
              <a:lnSpc>
                <a:spcPct val="150000"/>
              </a:lnSpc>
            </a:pPr>
            <a:endParaRPr lang="zh-CN" altLang="en-US" sz="900" b="0" dirty="0">
              <a:solidFill>
                <a:srgbClr val="404040"/>
              </a:solidFill>
              <a:sym typeface="+mn-ea"/>
            </a:endParaRPr>
          </a:p>
          <a:p>
            <a:pPr marL="342900" indent="-342900" fontAlgn="auto">
              <a:lnSpc>
                <a:spcPct val="150000"/>
              </a:lnSpc>
              <a:buFont typeface="Arial" panose="020B0604020202020204" pitchFamily="34" charset="0"/>
              <a:buChar char="•"/>
            </a:pPr>
            <a:r>
              <a:rPr lang="zh-CN" altLang="en-US" sz="2000" b="0" dirty="0">
                <a:solidFill>
                  <a:srgbClr val="404040"/>
                </a:solidFill>
                <a:sym typeface="+mn-ea"/>
              </a:rPr>
              <a:t>硬件中断：当图像处理程序与外部设备进行交互时，如读取图像文件或保存图像文件，可能会发生硬件中断。例如，当用户按下键盘时，系统会发出中断信号，程序可以捕获该中断，并根据用户的操作做出相应的处理</a:t>
            </a:r>
          </a:p>
          <a:p>
            <a:pPr marL="342900" indent="-342900" fontAlgn="auto">
              <a:lnSpc>
                <a:spcPct val="150000"/>
              </a:lnSpc>
              <a:buFont typeface="Arial" panose="020B0604020202020204" pitchFamily="34" charset="0"/>
              <a:buChar char="•"/>
            </a:pPr>
            <a:r>
              <a:rPr lang="zh-CN" altLang="en-US" sz="2000" b="0" dirty="0">
                <a:solidFill>
                  <a:srgbClr val="404040"/>
                </a:solidFill>
                <a:sym typeface="+mn-ea"/>
              </a:rPr>
              <a:t>软件中断：图像处理程序也可以通过软件中断请求操作系统的服务。例如，当程序需要进行文件读写、内存分配等操作时，可以通过软件中断向操作系统发起请求，以便完成相应的任务</a:t>
            </a:r>
          </a:p>
        </p:txBody>
      </p:sp>
    </p:spTree>
    <p:extLst>
      <p:ext uri="{BB962C8B-B14F-4D97-AF65-F5344CB8AC3E}">
        <p14:creationId xmlns:p14="http://schemas.microsoft.com/office/powerpoint/2010/main" val="395265030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noProof="0" dirty="0">
                <a:ln>
                  <a:noFill/>
                </a:ln>
                <a:effectLst/>
                <a:uLnTx/>
                <a:uFillTx/>
                <a:sym typeface="Arial" panose="020B0604020202020204" pitchFamily="34" charset="0"/>
              </a:rPr>
              <a:t>操作系统协同工作</a:t>
            </a:r>
            <a:endParaRPr lang="en-US" altLang="zh-CN" noProof="0" dirty="0">
              <a:ln>
                <a:noFill/>
              </a:ln>
              <a:effectLst/>
              <a:uLnTx/>
              <a:uFillTx/>
              <a:sym typeface="Arial" panose="020B0604020202020204" pitchFamily="34" charset="0"/>
            </a:endParaRPr>
          </a:p>
        </p:txBody>
      </p:sp>
      <p:sp>
        <p:nvSpPr>
          <p:cNvPr id="9" name="文本占位符 8"/>
          <p:cNvSpPr>
            <a:spLocks noGrp="1"/>
          </p:cNvSpPr>
          <p:nvPr>
            <p:ph type="body" sz="quarter" idx="10"/>
          </p:nvPr>
        </p:nvSpPr>
        <p:spPr>
          <a:xfrm>
            <a:off x="603169" y="1390978"/>
            <a:ext cx="9056687" cy="381629"/>
          </a:xfrm>
        </p:spPr>
        <p:txBody>
          <a:bodyPr>
            <a:noAutofit/>
          </a:bodyPr>
          <a:lstStyle/>
          <a:p>
            <a:pPr marL="0" indent="0">
              <a:buNone/>
            </a:pPr>
            <a:r>
              <a:rPr lang="zh-CN" altLang="en-US" sz="2400" dirty="0"/>
              <a:t>系统调用</a:t>
            </a:r>
            <a:endParaRPr sz="2400" dirty="0"/>
          </a:p>
        </p:txBody>
      </p:sp>
      <p:sp>
        <p:nvSpPr>
          <p:cNvPr id="4" name="文本框 3">
            <a:extLst>
              <a:ext uri="{FF2B5EF4-FFF2-40B4-BE49-F238E27FC236}">
                <a16:creationId xmlns:a16="http://schemas.microsoft.com/office/drawing/2014/main" id="{11B29E93-7D49-38ED-DEFF-D5FE8EC66DB2}"/>
              </a:ext>
            </a:extLst>
          </p:cNvPr>
          <p:cNvSpPr txBox="1"/>
          <p:nvPr/>
        </p:nvSpPr>
        <p:spPr>
          <a:xfrm>
            <a:off x="943559" y="1961171"/>
            <a:ext cx="10805432" cy="4036361"/>
          </a:xfrm>
          <a:prstGeom prst="rect">
            <a:avLst/>
          </a:prstGeom>
          <a:noFill/>
        </p:spPr>
        <p:txBody>
          <a:bodyPr wrap="square">
            <a:spAutoFit/>
          </a:bodyPr>
          <a:lstStyle/>
          <a:p>
            <a:pPr fontAlgn="auto">
              <a:lnSpc>
                <a:spcPct val="150000"/>
              </a:lnSpc>
            </a:pPr>
            <a:r>
              <a:rPr lang="zh-CN" altLang="en-US" b="0" dirty="0">
                <a:solidFill>
                  <a:srgbClr val="404040"/>
                </a:solidFill>
                <a:sym typeface="+mn-ea"/>
              </a:rPr>
              <a:t>下面是图像处理程序使用系统调用的一般过程：</a:t>
            </a:r>
            <a:endParaRPr lang="en-US" altLang="zh-CN" b="0" dirty="0">
              <a:solidFill>
                <a:srgbClr val="404040"/>
              </a:solidFill>
              <a:sym typeface="+mn-ea"/>
            </a:endParaRPr>
          </a:p>
          <a:p>
            <a:pPr fontAlgn="auto">
              <a:lnSpc>
                <a:spcPct val="150000"/>
              </a:lnSpc>
            </a:pPr>
            <a:endParaRPr lang="zh-CN" altLang="en-US" sz="600" b="0" dirty="0">
              <a:solidFill>
                <a:srgbClr val="404040"/>
              </a:solidFill>
              <a:sym typeface="+mn-ea"/>
            </a:endParaRPr>
          </a:p>
          <a:p>
            <a:pPr marL="342900" indent="-342900" fontAlgn="auto">
              <a:lnSpc>
                <a:spcPct val="150000"/>
              </a:lnSpc>
              <a:buFont typeface="Arial" panose="020B0604020202020204" pitchFamily="34" charset="0"/>
              <a:buChar char="•"/>
            </a:pPr>
            <a:r>
              <a:rPr lang="zh-CN" altLang="en-US" b="0" dirty="0">
                <a:solidFill>
                  <a:srgbClr val="404040"/>
                </a:solidFill>
                <a:sym typeface="+mn-ea"/>
              </a:rPr>
              <a:t>打开图像文件：程序通过系统调用请求操作系统打开图像文件。操作系统根据请求打开相应的文件，并返回文件描述符或句柄给程序，以便后续的读取和写入操作</a:t>
            </a:r>
          </a:p>
          <a:p>
            <a:pPr marL="342900" indent="-342900" fontAlgn="auto">
              <a:lnSpc>
                <a:spcPct val="150000"/>
              </a:lnSpc>
              <a:buFont typeface="Arial" panose="020B0604020202020204" pitchFamily="34" charset="0"/>
              <a:buChar char="•"/>
            </a:pPr>
            <a:r>
              <a:rPr lang="zh-CN" altLang="en-US" b="0" dirty="0">
                <a:solidFill>
                  <a:srgbClr val="404040"/>
                </a:solidFill>
                <a:sym typeface="+mn-ea"/>
              </a:rPr>
              <a:t>读取图像数据：通过系统调用，程序可以从文件系统中读取图像数据到主存储器。程序提供文件描述符和存储图像数据的缓冲区，操作系统将数据从文件系统读取到缓冲区中</a:t>
            </a:r>
          </a:p>
          <a:p>
            <a:pPr marL="342900" indent="-342900" fontAlgn="auto">
              <a:lnSpc>
                <a:spcPct val="150000"/>
              </a:lnSpc>
              <a:buFont typeface="Arial" panose="020B0604020202020204" pitchFamily="34" charset="0"/>
              <a:buChar char="•"/>
            </a:pPr>
            <a:r>
              <a:rPr lang="zh-CN" altLang="en-US" b="0" dirty="0">
                <a:solidFill>
                  <a:srgbClr val="404040"/>
                </a:solidFill>
                <a:sym typeface="+mn-ea"/>
              </a:rPr>
              <a:t>图像处理操作：处理器从主存储器中读取图像数据，执行各种图像处理算法和操作。这些操作可能包括滤波、旋转、调整亮度</a:t>
            </a:r>
            <a:r>
              <a:rPr lang="en-US" altLang="zh-CN" b="0" dirty="0">
                <a:solidFill>
                  <a:srgbClr val="404040"/>
                </a:solidFill>
                <a:sym typeface="+mn-ea"/>
              </a:rPr>
              <a:t>/</a:t>
            </a:r>
            <a:r>
              <a:rPr lang="zh-CN" altLang="en-US" b="0" dirty="0">
                <a:solidFill>
                  <a:srgbClr val="404040"/>
                </a:solidFill>
                <a:sym typeface="+mn-ea"/>
              </a:rPr>
              <a:t>对比度等</a:t>
            </a:r>
          </a:p>
          <a:p>
            <a:pPr marL="342900" indent="-342900" fontAlgn="auto">
              <a:lnSpc>
                <a:spcPct val="150000"/>
              </a:lnSpc>
              <a:buFont typeface="Arial" panose="020B0604020202020204" pitchFamily="34" charset="0"/>
              <a:buChar char="•"/>
            </a:pPr>
            <a:r>
              <a:rPr lang="zh-CN" altLang="en-US" b="0" dirty="0">
                <a:solidFill>
                  <a:srgbClr val="404040"/>
                </a:solidFill>
                <a:sym typeface="+mn-ea"/>
              </a:rPr>
              <a:t>写回图像数据：处理后的图像数据通过系统调用写回到主存储器。程序提供文件描述符和存储图像数据的缓冲区，操作系统将数据从缓冲区写入到文件系统中，实现图像的保存</a:t>
            </a:r>
          </a:p>
        </p:txBody>
      </p:sp>
    </p:spTree>
    <p:extLst>
      <p:ext uri="{BB962C8B-B14F-4D97-AF65-F5344CB8AC3E}">
        <p14:creationId xmlns:p14="http://schemas.microsoft.com/office/powerpoint/2010/main" val="312275307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7" name="组合 6"/>
          <p:cNvGrpSpPr/>
          <p:nvPr/>
        </p:nvGrpSpPr>
        <p:grpSpPr>
          <a:xfrm>
            <a:off x="10177780" y="329882"/>
            <a:ext cx="1512002" cy="444892"/>
            <a:chOff x="9556201" y="498129"/>
            <a:chExt cx="1993881" cy="586680"/>
          </a:xfrm>
        </p:grpSpPr>
        <p:grpSp>
          <p:nvGrpSpPr>
            <p:cNvPr id="8" name="组合 7"/>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-5</a:t>
            </a:r>
            <a:r>
              <a:rPr lang="zh-CN" altLang="en-US" dirty="0">
                <a:latin typeface="Arial" panose="020B0604020202020204" pitchFamily="34" charset="0"/>
                <a:ea typeface="微软雅黑" panose="020B0503020204020204" pitchFamily="34" charset="-122"/>
                <a:sym typeface="Arial" panose="020B0604020202020204" pitchFamily="34" charset="0"/>
              </a:rPr>
              <a:t>：翻尾石鱼</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2.9</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组合 9"/>
          <p:cNvGrpSpPr/>
          <p:nvPr/>
        </p:nvGrpSpPr>
        <p:grpSpPr>
          <a:xfrm>
            <a:off x="6774186" y="2658742"/>
            <a:ext cx="3526265" cy="1107921"/>
            <a:chOff x="6566813" y="2528855"/>
            <a:chExt cx="3526265" cy="1107921"/>
          </a:xfrm>
        </p:grpSpPr>
        <p:sp>
          <p:nvSpPr>
            <p:cNvPr id="67" name="文本框 66"/>
            <p:cNvSpPr txBox="1"/>
            <p:nvPr/>
          </p:nvSpPr>
          <p:spPr>
            <a:xfrm>
              <a:off x="6566813" y="2528855"/>
              <a:ext cx="352626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 </a:t>
              </a:r>
              <a:r>
                <a:rPr kumimoji="0" lang="en-US" altLang="zh-CN" sz="4800" b="1" i="0" u="none" strike="noStrike" kern="1200" cap="none" normalizeH="0" noProof="0" dirty="0" err="1">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本章小结</a:t>
              </a:r>
              <a:endPar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dirty="0">
                <a:sym typeface="Arial" panose="020B0604020202020204" pitchFamily="34" charset="0"/>
              </a:rPr>
              <a:t>本章小结</a:t>
            </a:r>
            <a:endParaRPr lang="en-US" altLang="zh-CN" noProof="0" dirty="0">
              <a:ln>
                <a:noFill/>
              </a:ln>
              <a:effectLst/>
              <a:uLnTx/>
              <a:uFillTx/>
              <a:sym typeface="Arial" panose="020B0604020202020204" pitchFamily="34" charset="0"/>
            </a:endParaRPr>
          </a:p>
        </p:txBody>
      </p:sp>
      <p:sp>
        <p:nvSpPr>
          <p:cNvPr id="2" name="文本占位符 8"/>
          <p:cNvSpPr>
            <a:spLocks noGrp="1"/>
          </p:cNvSpPr>
          <p:nvPr/>
        </p:nvSpPr>
        <p:spPr>
          <a:xfrm>
            <a:off x="812361" y="1009967"/>
            <a:ext cx="10567277"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pPr>
            <a:r>
              <a:rPr lang="zh-CN" altLang="en-US" b="0" dirty="0">
                <a:sym typeface="+mn-ea"/>
              </a:rPr>
              <a:t>操作系统需要硬件运行环境的支持</a:t>
            </a:r>
            <a:endParaRPr lang="en-US" altLang="zh-CN" b="0" dirty="0">
              <a:sym typeface="+mn-ea"/>
            </a:endParaRPr>
          </a:p>
          <a:p>
            <a:pPr fontAlgn="auto">
              <a:lnSpc>
                <a:spcPct val="150000"/>
              </a:lnSpc>
            </a:pPr>
            <a:r>
              <a:rPr lang="zh-CN" altLang="en-US" b="0" dirty="0">
                <a:sym typeface="+mn-ea"/>
              </a:rPr>
              <a:t>可以把计算机系统看成一个层次式的结构，硬件系统位于底层，软件系统划分为系统软件、支撑软件和应用软件，操作系统在软件系统的最下层</a:t>
            </a:r>
            <a:endParaRPr lang="en-US" altLang="zh-CN" b="0" dirty="0">
              <a:sym typeface="+mn-ea"/>
            </a:endParaRPr>
          </a:p>
          <a:p>
            <a:pPr fontAlgn="auto">
              <a:lnSpc>
                <a:spcPct val="150000"/>
              </a:lnSpc>
            </a:pPr>
            <a:r>
              <a:rPr lang="zh-CN" altLang="en-US" b="0" dirty="0">
                <a:sym typeface="+mn-ea"/>
              </a:rPr>
              <a:t>处理器由运算器、控制器以及一系列的寄存器构成</a:t>
            </a:r>
            <a:endParaRPr lang="en-US" altLang="zh-CN" b="0" dirty="0">
              <a:sym typeface="+mn-ea"/>
            </a:endParaRPr>
          </a:p>
          <a:p>
            <a:pPr fontAlgn="auto">
              <a:lnSpc>
                <a:spcPct val="150000"/>
              </a:lnSpc>
            </a:pPr>
            <a:r>
              <a:rPr lang="zh-CN" altLang="en-US" b="0" dirty="0">
                <a:sym typeface="+mn-ea"/>
              </a:rPr>
              <a:t>最常见的控制寄存器有程序状态字（</a:t>
            </a:r>
            <a:r>
              <a:rPr lang="en-US" altLang="zh-CN" b="0" dirty="0">
                <a:sym typeface="+mn-ea"/>
              </a:rPr>
              <a:t>PSW</a:t>
            </a:r>
            <a:r>
              <a:rPr lang="zh-CN" altLang="en-US" b="0" dirty="0">
                <a:sym typeface="+mn-ea"/>
              </a:rPr>
              <a:t>）</a:t>
            </a:r>
            <a:endParaRPr lang="en-US" altLang="zh-CN" b="0" dirty="0">
              <a:sym typeface="+mn-ea"/>
            </a:endParaRPr>
          </a:p>
          <a:p>
            <a:pPr fontAlgn="auto">
              <a:lnSpc>
                <a:spcPct val="150000"/>
              </a:lnSpc>
            </a:pPr>
            <a:r>
              <a:rPr lang="zh-CN" altLang="en-US" b="0" dirty="0">
                <a:sym typeface="+mn-ea"/>
              </a:rPr>
              <a:t>特权指令是指那些只能由操作系统使用的指令，用户只能使用非特权指令</a:t>
            </a:r>
            <a:endParaRPr lang="en-US" altLang="zh-CN" b="0" dirty="0">
              <a:sym typeface="+mn-ea"/>
            </a:endParaRPr>
          </a:p>
          <a:p>
            <a:pPr fontAlgn="auto">
              <a:lnSpc>
                <a:spcPct val="150000"/>
              </a:lnSpc>
            </a:pPr>
            <a:r>
              <a:rPr lang="zh-CN" altLang="en-US" b="0" dirty="0">
                <a:sym typeface="+mn-ea"/>
              </a:rPr>
              <a:t>操作系统管理程序运行的状态称为内核态，一般用户程序运行时的状态称为用户态</a:t>
            </a:r>
            <a:endParaRPr lang="en-US" altLang="zh-CN" b="0" dirty="0">
              <a:sym typeface="+mn-ea"/>
            </a:endParaRPr>
          </a:p>
        </p:txBody>
      </p:sp>
    </p:spTree>
    <p:extLst>
      <p:ext uri="{BB962C8B-B14F-4D97-AF65-F5344CB8AC3E}">
        <p14:creationId xmlns:p14="http://schemas.microsoft.com/office/powerpoint/2010/main" val="146684672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dirty="0">
                <a:sym typeface="Arial" panose="020B0604020202020204" pitchFamily="34" charset="0"/>
              </a:rPr>
              <a:t>本章小结</a:t>
            </a:r>
            <a:endParaRPr lang="en-US" altLang="zh-CN" noProof="0" dirty="0">
              <a:ln>
                <a:noFill/>
              </a:ln>
              <a:effectLst/>
              <a:uLnTx/>
              <a:uFillTx/>
              <a:sym typeface="Arial" panose="020B0604020202020204" pitchFamily="34" charset="0"/>
            </a:endParaRPr>
          </a:p>
        </p:txBody>
      </p:sp>
      <p:sp>
        <p:nvSpPr>
          <p:cNvPr id="2" name="文本占位符 8"/>
          <p:cNvSpPr>
            <a:spLocks noGrp="1"/>
          </p:cNvSpPr>
          <p:nvPr/>
        </p:nvSpPr>
        <p:spPr>
          <a:xfrm>
            <a:off x="1058846" y="1208687"/>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200000"/>
              </a:lnSpc>
            </a:pPr>
            <a:r>
              <a:rPr lang="zh-CN" altLang="en-US" b="0" dirty="0">
                <a:sym typeface="+mn-ea"/>
              </a:rPr>
              <a:t>半导体存储器可划分为读写型和只读型的存储器</a:t>
            </a:r>
            <a:endParaRPr lang="en-US" altLang="zh-CN" b="0" dirty="0">
              <a:sym typeface="+mn-ea"/>
            </a:endParaRPr>
          </a:p>
          <a:p>
            <a:pPr fontAlgn="auto">
              <a:lnSpc>
                <a:spcPct val="200000"/>
              </a:lnSpc>
            </a:pPr>
            <a:r>
              <a:rPr lang="zh-CN" altLang="en-US" b="0" dirty="0">
                <a:sym typeface="+mn-ea"/>
              </a:rPr>
              <a:t>以块为最小单位分配存储空间</a:t>
            </a:r>
            <a:endParaRPr lang="en-US" altLang="zh-CN" b="0" dirty="0">
              <a:sym typeface="+mn-ea"/>
            </a:endParaRPr>
          </a:p>
          <a:p>
            <a:pPr fontAlgn="auto">
              <a:lnSpc>
                <a:spcPct val="200000"/>
              </a:lnSpc>
            </a:pPr>
            <a:r>
              <a:rPr lang="zh-CN" altLang="en-US" b="0" dirty="0">
                <a:sym typeface="+mn-ea"/>
              </a:rPr>
              <a:t>容量、速度和成本</a:t>
            </a:r>
            <a:endParaRPr lang="en-US" altLang="zh-CN" b="0" dirty="0">
              <a:sym typeface="+mn-ea"/>
            </a:endParaRPr>
          </a:p>
          <a:p>
            <a:pPr fontAlgn="auto">
              <a:lnSpc>
                <a:spcPct val="200000"/>
              </a:lnSpc>
            </a:pPr>
            <a:r>
              <a:rPr lang="zh-CN" altLang="en-US" b="0" dirty="0">
                <a:sym typeface="+mn-ea"/>
              </a:rPr>
              <a:t>提高存储系统效能的关键在于程序的存储访问局部性原理</a:t>
            </a:r>
            <a:endParaRPr lang="en-US" altLang="zh-CN" b="0" dirty="0">
              <a:sym typeface="+mn-ea"/>
            </a:endParaRPr>
          </a:p>
          <a:p>
            <a:pPr fontAlgn="auto">
              <a:lnSpc>
                <a:spcPct val="200000"/>
              </a:lnSpc>
            </a:pPr>
            <a:r>
              <a:rPr lang="zh-CN" altLang="en-US" b="0" dirty="0">
                <a:sym typeface="+mn-ea"/>
              </a:rPr>
              <a:t>存储保护机构是操作系统运行环境中的重要部分</a:t>
            </a:r>
            <a:endParaRPr lang="en-US" altLang="zh-CN" b="0" dirty="0">
              <a:sym typeface="+mn-ea"/>
            </a:endParaRPr>
          </a:p>
          <a:p>
            <a:pPr fontAlgn="auto">
              <a:lnSpc>
                <a:spcPct val="200000"/>
              </a:lnSpc>
            </a:pPr>
            <a:r>
              <a:rPr lang="zh-CN" altLang="en-US" b="0" dirty="0">
                <a:sym typeface="+mn-ea"/>
              </a:rPr>
              <a:t>访问主存时，硬件将被访问的地址与界限寄存器的内容比较以防止越界</a:t>
            </a:r>
            <a:endParaRPr lang="en-US" altLang="zh-CN" b="0" dirty="0">
              <a:sym typeface="+mn-ea"/>
            </a:endParaRPr>
          </a:p>
          <a:p>
            <a:pPr fontAlgn="auto">
              <a:lnSpc>
                <a:spcPct val="200000"/>
              </a:lnSpc>
            </a:pPr>
            <a:r>
              <a:rPr lang="zh-CN" altLang="en-US" b="0" dirty="0">
                <a:sym typeface="+mn-ea"/>
              </a:rPr>
              <a:t>存储保护键技术</a:t>
            </a:r>
            <a:endParaRPr lang="en-US" altLang="zh-CN" b="0" dirty="0">
              <a:sym typeface="+mn-ea"/>
            </a:endParaRPr>
          </a:p>
        </p:txBody>
      </p:sp>
    </p:spTree>
    <p:extLst>
      <p:ext uri="{BB962C8B-B14F-4D97-AF65-F5344CB8AC3E}">
        <p14:creationId xmlns:p14="http://schemas.microsoft.com/office/powerpoint/2010/main" val="239193269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dirty="0">
                <a:sym typeface="Arial" panose="020B0604020202020204" pitchFamily="34" charset="0"/>
              </a:rPr>
              <a:t>本章小结</a:t>
            </a:r>
            <a:endParaRPr lang="en-US" altLang="zh-CN" noProof="0" dirty="0">
              <a:ln>
                <a:noFill/>
              </a:ln>
              <a:effectLst/>
              <a:uLnTx/>
              <a:uFillTx/>
              <a:sym typeface="Arial" panose="020B0604020202020204" pitchFamily="34" charset="0"/>
            </a:endParaRPr>
          </a:p>
        </p:txBody>
      </p:sp>
      <p:sp>
        <p:nvSpPr>
          <p:cNvPr id="2" name="文本占位符 8"/>
          <p:cNvSpPr>
            <a:spLocks noGrp="1"/>
          </p:cNvSpPr>
          <p:nvPr/>
        </p:nvSpPr>
        <p:spPr>
          <a:xfrm>
            <a:off x="766666" y="1114419"/>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ts val="3000"/>
              </a:lnSpc>
            </a:pPr>
            <a:r>
              <a:rPr lang="zh-CN" altLang="en-US" b="0" dirty="0">
                <a:sym typeface="+mn-ea"/>
              </a:rPr>
              <a:t>中断是指</a:t>
            </a:r>
            <a:r>
              <a:rPr lang="en-US" altLang="zh-CN" b="0" dirty="0">
                <a:sym typeface="+mn-ea"/>
              </a:rPr>
              <a:t>CPU</a:t>
            </a:r>
            <a:r>
              <a:rPr lang="zh-CN" altLang="en-US" b="0" dirty="0">
                <a:sym typeface="+mn-ea"/>
              </a:rPr>
              <a:t>对系统中或系统外发生的异步事件的响应</a:t>
            </a:r>
            <a:endParaRPr lang="en-US" altLang="zh-CN" b="0" dirty="0">
              <a:sym typeface="+mn-ea"/>
            </a:endParaRPr>
          </a:p>
          <a:p>
            <a:pPr fontAlgn="auto">
              <a:lnSpc>
                <a:spcPts val="3000"/>
              </a:lnSpc>
            </a:pPr>
            <a:r>
              <a:rPr lang="zh-CN" altLang="en-US" b="0" dirty="0">
                <a:sym typeface="+mn-ea"/>
              </a:rPr>
              <a:t>中断能充分发挥处理器的使用效率，提高系统的实时能力</a:t>
            </a:r>
            <a:endParaRPr lang="en-US" altLang="zh-CN" b="0" dirty="0">
              <a:sym typeface="+mn-ea"/>
            </a:endParaRPr>
          </a:p>
          <a:p>
            <a:pPr fontAlgn="auto">
              <a:lnSpc>
                <a:spcPts val="3000"/>
              </a:lnSpc>
            </a:pPr>
            <a:r>
              <a:rPr lang="zh-CN" altLang="en-US" b="0" dirty="0">
                <a:sym typeface="+mn-ea"/>
              </a:rPr>
              <a:t>中断可划分为强迫性中断和自愿性中断</a:t>
            </a:r>
            <a:endParaRPr lang="en-US" altLang="zh-CN" b="0" dirty="0">
              <a:sym typeface="+mn-ea"/>
            </a:endParaRPr>
          </a:p>
          <a:p>
            <a:pPr fontAlgn="auto">
              <a:lnSpc>
                <a:spcPts val="3000"/>
              </a:lnSpc>
            </a:pPr>
            <a:r>
              <a:rPr lang="zh-CN" altLang="en-US" b="0" dirty="0">
                <a:sym typeface="+mn-ea"/>
              </a:rPr>
              <a:t>中断系统包括硬件中断装置和中断处理程序</a:t>
            </a:r>
            <a:endParaRPr lang="en-US" altLang="zh-CN" b="0" dirty="0">
              <a:sym typeface="+mn-ea"/>
            </a:endParaRPr>
          </a:p>
          <a:p>
            <a:pPr fontAlgn="auto">
              <a:lnSpc>
                <a:spcPts val="3000"/>
              </a:lnSpc>
            </a:pPr>
            <a:r>
              <a:rPr lang="zh-CN" altLang="en-US" b="0" dirty="0">
                <a:sym typeface="+mn-ea"/>
              </a:rPr>
              <a:t>硬件中断装置接收中断信号，并把中断信号寄存在中断寄存器中</a:t>
            </a:r>
            <a:endParaRPr lang="en-US" altLang="zh-CN" b="0" dirty="0">
              <a:sym typeface="+mn-ea"/>
            </a:endParaRPr>
          </a:p>
          <a:p>
            <a:pPr fontAlgn="auto">
              <a:lnSpc>
                <a:spcPts val="3000"/>
              </a:lnSpc>
            </a:pPr>
            <a:r>
              <a:rPr lang="zh-CN" altLang="en-US" b="0" dirty="0">
                <a:sym typeface="+mn-ea"/>
              </a:rPr>
              <a:t>在多级中断中，中断的级别的高低标识了中断的紧急或者重要的程度</a:t>
            </a:r>
            <a:endParaRPr lang="en-US" altLang="zh-CN" b="0" dirty="0">
              <a:sym typeface="+mn-ea"/>
            </a:endParaRPr>
          </a:p>
          <a:p>
            <a:pPr fontAlgn="auto">
              <a:lnSpc>
                <a:spcPts val="3000"/>
              </a:lnSpc>
            </a:pPr>
            <a:r>
              <a:rPr lang="en-US" altLang="zh-CN" b="0" dirty="0">
                <a:sym typeface="+mn-ea"/>
              </a:rPr>
              <a:t>CPU</a:t>
            </a:r>
            <a:r>
              <a:rPr lang="zh-CN" altLang="en-US" b="0" dirty="0">
                <a:sym typeface="+mn-ea"/>
              </a:rPr>
              <a:t>接收中断优先级为最高的那个中断</a:t>
            </a:r>
            <a:endParaRPr lang="en-US" altLang="zh-CN" b="0" dirty="0">
              <a:sym typeface="+mn-ea"/>
            </a:endParaRPr>
          </a:p>
          <a:p>
            <a:pPr fontAlgn="auto">
              <a:lnSpc>
                <a:spcPts val="3000"/>
              </a:lnSpc>
            </a:pPr>
            <a:r>
              <a:rPr lang="zh-CN" altLang="en-US" b="0" dirty="0">
                <a:sym typeface="+mn-ea"/>
              </a:rPr>
              <a:t>可对程序状态字</a:t>
            </a:r>
            <a:r>
              <a:rPr lang="en-US" altLang="zh-CN" b="0" dirty="0">
                <a:sym typeface="+mn-ea"/>
              </a:rPr>
              <a:t>PSW</a:t>
            </a:r>
            <a:r>
              <a:rPr lang="zh-CN" altLang="en-US" b="0" dirty="0">
                <a:sym typeface="+mn-ea"/>
              </a:rPr>
              <a:t>中设置中断屏蔽位以禁止或者允许对某些类别中断的响应</a:t>
            </a:r>
            <a:endParaRPr lang="en-US" altLang="zh-CN" b="0" dirty="0">
              <a:sym typeface="+mn-ea"/>
            </a:endParaRPr>
          </a:p>
          <a:p>
            <a:pPr fontAlgn="auto">
              <a:lnSpc>
                <a:spcPts val="3000"/>
              </a:lnSpc>
            </a:pPr>
            <a:r>
              <a:rPr lang="zh-CN" altLang="en-US" b="0" dirty="0">
                <a:sym typeface="+mn-ea"/>
              </a:rPr>
              <a:t>中断处理过程</a:t>
            </a:r>
            <a:r>
              <a:rPr lang="en-US" altLang="zh-CN" b="0" dirty="0">
                <a:sym typeface="+mn-ea"/>
              </a:rPr>
              <a:t>-</a:t>
            </a:r>
            <a:r>
              <a:rPr lang="zh-CN" altLang="en-US" b="0" dirty="0">
                <a:sym typeface="+mn-ea"/>
              </a:rPr>
              <a:t>分辨和接收中断信号、保护现场、分析中断原因、调用中断处理程序进行处理、处理完毕恢复现场和原有程序继续执行，以及中断处理的嵌套</a:t>
            </a:r>
            <a:endParaRPr lang="en-US" altLang="zh-CN" b="0" dirty="0">
              <a:sym typeface="+mn-ea"/>
            </a:endParaRPr>
          </a:p>
        </p:txBody>
      </p:sp>
    </p:spTree>
    <p:extLst>
      <p:ext uri="{BB962C8B-B14F-4D97-AF65-F5344CB8AC3E}">
        <p14:creationId xmlns:p14="http://schemas.microsoft.com/office/powerpoint/2010/main" val="290698485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dirty="0">
                <a:sym typeface="Arial" panose="020B0604020202020204" pitchFamily="34" charset="0"/>
              </a:rPr>
              <a:t>本章小结</a:t>
            </a:r>
            <a:endParaRPr lang="en-US" altLang="zh-CN" noProof="0" dirty="0">
              <a:ln>
                <a:noFill/>
              </a:ln>
              <a:effectLst/>
              <a:uLnTx/>
              <a:uFillTx/>
              <a:sym typeface="Arial" panose="020B0604020202020204" pitchFamily="34" charset="0"/>
            </a:endParaRPr>
          </a:p>
        </p:txBody>
      </p:sp>
      <p:sp>
        <p:nvSpPr>
          <p:cNvPr id="2" name="文本占位符 8"/>
          <p:cNvSpPr>
            <a:spLocks noGrp="1"/>
          </p:cNvSpPr>
          <p:nvPr/>
        </p:nvSpPr>
        <p:spPr>
          <a:xfrm>
            <a:off x="604837" y="1009967"/>
            <a:ext cx="11144154"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200000"/>
              </a:lnSpc>
            </a:pPr>
            <a:r>
              <a:rPr lang="zh-CN" altLang="en-US" b="0" dirty="0">
                <a:sym typeface="+mn-ea"/>
              </a:rPr>
              <a:t>通道独立于中央处理器，它代替</a:t>
            </a:r>
            <a:r>
              <a:rPr lang="en-US" altLang="zh-CN" b="0" dirty="0">
                <a:sym typeface="+mn-ea"/>
              </a:rPr>
              <a:t>CPU</a:t>
            </a:r>
            <a:r>
              <a:rPr lang="zh-CN" altLang="en-US" b="0" dirty="0">
                <a:sym typeface="+mn-ea"/>
              </a:rPr>
              <a:t>对外部设备实行统一的管理，从而使</a:t>
            </a:r>
            <a:r>
              <a:rPr lang="en-US" altLang="zh-CN" b="0" dirty="0">
                <a:sym typeface="+mn-ea"/>
              </a:rPr>
              <a:t>CPU</a:t>
            </a:r>
            <a:r>
              <a:rPr lang="zh-CN" altLang="en-US" b="0" dirty="0">
                <a:sym typeface="+mn-ea"/>
              </a:rPr>
              <a:t>和外部设备并行工作，提高多道程序处理的效率</a:t>
            </a:r>
            <a:endParaRPr lang="en-US" altLang="zh-CN" b="0" dirty="0">
              <a:sym typeface="+mn-ea"/>
            </a:endParaRPr>
          </a:p>
          <a:p>
            <a:pPr fontAlgn="auto">
              <a:lnSpc>
                <a:spcPct val="200000"/>
              </a:lnSpc>
            </a:pPr>
            <a:r>
              <a:rPr lang="en-US" altLang="zh-CN" b="0" dirty="0">
                <a:sym typeface="+mn-ea"/>
              </a:rPr>
              <a:t>DMA</a:t>
            </a:r>
            <a:r>
              <a:rPr lang="zh-CN" altLang="en-US" b="0" dirty="0">
                <a:sym typeface="+mn-ea"/>
              </a:rPr>
              <a:t>技术由</a:t>
            </a:r>
            <a:r>
              <a:rPr lang="en-US" altLang="zh-CN" b="0" dirty="0">
                <a:sym typeface="+mn-ea"/>
              </a:rPr>
              <a:t>DMA</a:t>
            </a:r>
            <a:r>
              <a:rPr lang="zh-CN" altLang="en-US" b="0" dirty="0">
                <a:sym typeface="+mn-ea"/>
              </a:rPr>
              <a:t>控制器自动控制成块数据在内存和</a:t>
            </a:r>
            <a:r>
              <a:rPr lang="en-US" altLang="zh-CN" b="0" dirty="0">
                <a:sym typeface="+mn-ea"/>
              </a:rPr>
              <a:t>I/O</a:t>
            </a:r>
            <a:r>
              <a:rPr lang="zh-CN" altLang="en-US" b="0" dirty="0">
                <a:sym typeface="+mn-ea"/>
              </a:rPr>
              <a:t>单元之间的传送，提高了处理</a:t>
            </a:r>
            <a:r>
              <a:rPr lang="en-US" altLang="zh-CN" b="0" dirty="0">
                <a:sym typeface="+mn-ea"/>
              </a:rPr>
              <a:t>I/O</a:t>
            </a:r>
            <a:r>
              <a:rPr lang="zh-CN" altLang="en-US" b="0" dirty="0">
                <a:sym typeface="+mn-ea"/>
              </a:rPr>
              <a:t>的效能</a:t>
            </a:r>
            <a:endParaRPr lang="en-US" altLang="zh-CN" b="0" dirty="0">
              <a:sym typeface="+mn-ea"/>
            </a:endParaRPr>
          </a:p>
          <a:p>
            <a:pPr fontAlgn="auto">
              <a:lnSpc>
                <a:spcPct val="200000"/>
              </a:lnSpc>
            </a:pPr>
            <a:r>
              <a:rPr lang="zh-CN" altLang="en-US" b="0" dirty="0">
                <a:sym typeface="+mn-ea"/>
              </a:rPr>
              <a:t>缓冲技术是用以缓解</a:t>
            </a:r>
            <a:r>
              <a:rPr lang="en-US" altLang="zh-CN" b="0" dirty="0">
                <a:sym typeface="+mn-ea"/>
              </a:rPr>
              <a:t>CPU</a:t>
            </a:r>
            <a:r>
              <a:rPr lang="zh-CN" altLang="en-US" b="0" dirty="0">
                <a:sym typeface="+mn-ea"/>
              </a:rPr>
              <a:t>处理数据速度与设备传输数据速度不相匹配矛盾的一种数据暂存技术</a:t>
            </a:r>
            <a:endParaRPr lang="en-US" altLang="zh-CN" b="0" dirty="0">
              <a:sym typeface="+mn-ea"/>
            </a:endParaRPr>
          </a:p>
          <a:p>
            <a:pPr fontAlgn="auto">
              <a:lnSpc>
                <a:spcPct val="200000"/>
              </a:lnSpc>
            </a:pPr>
            <a:r>
              <a:rPr lang="zh-CN" altLang="en-US" b="0" dirty="0">
                <a:sym typeface="+mn-ea"/>
              </a:rPr>
              <a:t>时钟可分为硬件时钟和软件时钟，以及绝对时钟和相对时钟</a:t>
            </a:r>
            <a:endParaRPr lang="en-US" altLang="zh-CN" b="0" dirty="0">
              <a:sym typeface="+mn-ea"/>
            </a:endParaRPr>
          </a:p>
          <a:p>
            <a:pPr fontAlgn="auto">
              <a:lnSpc>
                <a:spcPct val="200000"/>
              </a:lnSpc>
            </a:pPr>
            <a:r>
              <a:rPr lang="zh-CN" altLang="en-US" b="0" dirty="0">
                <a:sym typeface="+mn-ea"/>
              </a:rPr>
              <a:t>时钟可防止系统陷入死循环，实现作业按时间片轮转运行，给出正确的时间信号，定时唤醒事先按确定时间执行的事件，记录事项，等等</a:t>
            </a:r>
            <a:endParaRPr lang="en-US" altLang="zh-CN" b="0" dirty="0">
              <a:sym typeface="+mn-ea"/>
            </a:endParaRPr>
          </a:p>
        </p:txBody>
      </p:sp>
    </p:spTree>
    <p:extLst>
      <p:ext uri="{BB962C8B-B14F-4D97-AF65-F5344CB8AC3E}">
        <p14:creationId xmlns:p14="http://schemas.microsoft.com/office/powerpoint/2010/main" val="113864044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p:cNvSpPr>
            <a:spLocks noGrp="1"/>
          </p:cNvSpPr>
          <p:nvPr>
            <p:ph type="title"/>
          </p:nvPr>
        </p:nvSpPr>
        <p:spPr/>
        <p:txBody>
          <a:bodyPr>
            <a:normAutofit/>
          </a:bodyPr>
          <a:lstStyle/>
          <a:p>
            <a:r>
              <a:rPr lang="en-US" altLang="zh-CN" noProof="0" dirty="0">
                <a:ln>
                  <a:noFill/>
                </a:ln>
                <a:effectLst/>
                <a:uLnTx/>
                <a:uFillTx/>
                <a:sym typeface="Arial" panose="020B0604020202020204" pitchFamily="34" charset="0"/>
              </a:rPr>
              <a:t> </a:t>
            </a:r>
            <a:r>
              <a:rPr lang="zh-CN" altLang="en-US" dirty="0">
                <a:sym typeface="Arial" panose="020B0604020202020204" pitchFamily="34" charset="0"/>
              </a:rPr>
              <a:t>本章小结</a:t>
            </a:r>
            <a:endParaRPr lang="en-US" altLang="zh-CN" noProof="0" dirty="0">
              <a:ln>
                <a:noFill/>
              </a:ln>
              <a:effectLst/>
              <a:uLnTx/>
              <a:uFillTx/>
              <a:sym typeface="Arial" panose="020B0604020202020204" pitchFamily="34" charset="0"/>
            </a:endParaRPr>
          </a:p>
        </p:txBody>
      </p:sp>
      <p:sp>
        <p:nvSpPr>
          <p:cNvPr id="2" name="文本占位符 8"/>
          <p:cNvSpPr>
            <a:spLocks noGrp="1"/>
          </p:cNvSpPr>
          <p:nvPr/>
        </p:nvSpPr>
        <p:spPr>
          <a:xfrm>
            <a:off x="766666" y="1009967"/>
            <a:ext cx="10982325" cy="4838065"/>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zh-CN" altLang="en-US" sz="2000" b="1" kern="1200" dirty="0" smtClean="0">
                <a:solidFill>
                  <a:schemeClr val="tx1">
                    <a:lumMod val="75000"/>
                    <a:lumOff val="25000"/>
                  </a:schemeClr>
                </a:solidFill>
                <a:latin typeface="+mn-ea"/>
                <a:ea typeface="+mn-ea"/>
                <a:cs typeface="+mn-ea"/>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200000"/>
              </a:lnSpc>
            </a:pPr>
            <a:r>
              <a:rPr lang="zh-CN" altLang="en-US" b="0" dirty="0">
                <a:sym typeface="+mn-ea"/>
              </a:rPr>
              <a:t>系统调用是用户在程序中调用操作系统所提供的一些子功能</a:t>
            </a:r>
            <a:endParaRPr lang="en-US" altLang="zh-CN" b="0" dirty="0">
              <a:sym typeface="+mn-ea"/>
            </a:endParaRPr>
          </a:p>
          <a:p>
            <a:pPr fontAlgn="auto">
              <a:lnSpc>
                <a:spcPct val="200000"/>
              </a:lnSpc>
            </a:pPr>
            <a:r>
              <a:rPr lang="zh-CN" altLang="en-US" b="0" dirty="0">
                <a:sym typeface="+mn-ea"/>
              </a:rPr>
              <a:t>这是一种特殊的过程调用，这种调用通常是由特殊的机器指令实现的</a:t>
            </a:r>
            <a:endParaRPr lang="en-US" altLang="zh-CN" b="0" dirty="0">
              <a:sym typeface="+mn-ea"/>
            </a:endParaRPr>
          </a:p>
          <a:p>
            <a:pPr fontAlgn="auto">
              <a:lnSpc>
                <a:spcPct val="200000"/>
              </a:lnSpc>
            </a:pPr>
            <a:r>
              <a:rPr lang="zh-CN" altLang="en-US" b="0" dirty="0">
                <a:sym typeface="+mn-ea"/>
              </a:rPr>
              <a:t>系统调用与一般过程调用在系统状态、状态切换、返回问题以及嵌套调用方面均有区别</a:t>
            </a:r>
            <a:endParaRPr lang="en-US" altLang="zh-CN" b="0" dirty="0">
              <a:sym typeface="+mn-ea"/>
            </a:endParaRPr>
          </a:p>
          <a:p>
            <a:pPr fontAlgn="auto">
              <a:lnSpc>
                <a:spcPct val="200000"/>
              </a:lnSpc>
            </a:pPr>
            <a:r>
              <a:rPr lang="zh-CN" altLang="en-US" b="0" dirty="0">
                <a:sym typeface="+mn-ea"/>
              </a:rPr>
              <a:t>为了从操作系统中获得服务，用户程序必须使用系统调用陷入内核并调用操作系统</a:t>
            </a:r>
            <a:endParaRPr lang="en-US" altLang="zh-CN" b="0" dirty="0">
              <a:sym typeface="+mn-ea"/>
            </a:endParaRPr>
          </a:p>
          <a:p>
            <a:pPr fontAlgn="auto">
              <a:lnSpc>
                <a:spcPct val="200000"/>
              </a:lnSpc>
            </a:pPr>
            <a:r>
              <a:rPr lang="zh-CN" altLang="en-US" b="0" dirty="0">
                <a:sym typeface="+mn-ea"/>
              </a:rPr>
              <a:t>访管指令把用户态切换成内核态，并启用操作系统</a:t>
            </a:r>
            <a:endParaRPr lang="en-US" altLang="zh-CN" b="0" dirty="0">
              <a:sym typeface="+mn-ea"/>
            </a:endParaRPr>
          </a:p>
          <a:p>
            <a:pPr fontAlgn="auto">
              <a:lnSpc>
                <a:spcPct val="200000"/>
              </a:lnSpc>
            </a:pPr>
            <a:r>
              <a:rPr lang="zh-CN" altLang="en-US" b="0" dirty="0">
                <a:sym typeface="+mn-ea"/>
              </a:rPr>
              <a:t>当有关工作完成之后，在系统调用后面的指令把控制权返回给用户程序</a:t>
            </a:r>
            <a:endParaRPr lang="en-US" altLang="zh-CN" b="0" dirty="0">
              <a:sym typeface="+mn-ea"/>
            </a:endParaRPr>
          </a:p>
        </p:txBody>
      </p:sp>
    </p:spTree>
    <p:extLst>
      <p:ext uri="{BB962C8B-B14F-4D97-AF65-F5344CB8AC3E}">
        <p14:creationId xmlns:p14="http://schemas.microsoft.com/office/powerpoint/2010/main" val="322584655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zh-CN" altLang="en-US" dirty="0">
                <a:sym typeface="Arial" panose="020B0604020202020204" pitchFamily="34" charset="0"/>
              </a:rPr>
              <a:t>知识点</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00" name="文本框 99"/>
          <p:cNvSpPr txBox="1"/>
          <p:nvPr/>
        </p:nvSpPr>
        <p:spPr>
          <a:xfrm>
            <a:off x="1131387" y="861087"/>
            <a:ext cx="11190605" cy="5631180"/>
          </a:xfrm>
          <a:prstGeom prst="rect">
            <a:avLst/>
          </a:prstGeom>
          <a:noFill/>
          <a:ln w="9525">
            <a:noFill/>
          </a:ln>
        </p:spPr>
        <p:txBody>
          <a:bodyPr wrap="square">
            <a:spAutoFit/>
          </a:bodyPr>
          <a:lstStyle/>
          <a:p>
            <a:pPr marL="285750" indent="-285750" fontAlgn="auto">
              <a:lnSpc>
                <a:spcPts val="2880"/>
              </a:lnSpc>
              <a:buFont typeface="Arial" panose="020B0604020202020204" pitchFamily="34" charset="0"/>
              <a:buChar char="•"/>
            </a:pPr>
            <a:r>
              <a:rPr b="0" dirty="0" err="1">
                <a:latin typeface="+mn-ea"/>
              </a:rPr>
              <a:t>操作系统与硬件的关系，操作系统的一项重要工作是屏蔽硬件细节</a:t>
            </a:r>
            <a:endParaRPr b="0" dirty="0">
              <a:latin typeface="+mn-ea"/>
            </a:endParaRPr>
          </a:p>
          <a:p>
            <a:pPr marL="285750" indent="-285750" fontAlgn="auto">
              <a:lnSpc>
                <a:spcPts val="2880"/>
              </a:lnSpc>
              <a:buFont typeface="Arial" panose="020B0604020202020204" pitchFamily="34" charset="0"/>
              <a:buChar char="•"/>
            </a:pPr>
            <a:r>
              <a:rPr b="0" dirty="0" err="1">
                <a:latin typeface="+mn-ea"/>
              </a:rPr>
              <a:t>计算机系统的层次结构</a:t>
            </a:r>
            <a:endParaRPr b="0" dirty="0">
              <a:latin typeface="+mn-ea"/>
            </a:endParaRPr>
          </a:p>
          <a:p>
            <a:pPr indent="0" fontAlgn="auto">
              <a:lnSpc>
                <a:spcPts val="2880"/>
              </a:lnSpc>
            </a:pPr>
            <a:r>
              <a:rPr b="0" dirty="0" err="1">
                <a:latin typeface="+mn-ea"/>
              </a:rPr>
              <a:t>硬件系统</a:t>
            </a:r>
            <a:endParaRPr b="0" dirty="0">
              <a:latin typeface="+mn-ea"/>
            </a:endParaRPr>
          </a:p>
          <a:p>
            <a:pPr indent="0" fontAlgn="auto">
              <a:lnSpc>
                <a:spcPts val="2880"/>
              </a:lnSpc>
            </a:pPr>
            <a:r>
              <a:rPr b="0" dirty="0" err="1">
                <a:latin typeface="+mn-ea"/>
              </a:rPr>
              <a:t>软件系统（系统软件、支撑软件、应用软件</a:t>
            </a:r>
            <a:r>
              <a:rPr b="0" dirty="0">
                <a:latin typeface="+mn-ea"/>
              </a:rPr>
              <a:t>）</a:t>
            </a:r>
          </a:p>
          <a:p>
            <a:pPr marL="285750" indent="-285750" fontAlgn="auto">
              <a:lnSpc>
                <a:spcPts val="2880"/>
              </a:lnSpc>
              <a:buFont typeface="Arial" panose="020B0604020202020204" pitchFamily="34" charset="0"/>
              <a:buChar char="•"/>
            </a:pPr>
            <a:r>
              <a:rPr b="0" dirty="0" err="1">
                <a:latin typeface="+mn-ea"/>
              </a:rPr>
              <a:t>处理器</a:t>
            </a:r>
            <a:endParaRPr b="0" dirty="0">
              <a:latin typeface="+mn-ea"/>
            </a:endParaRPr>
          </a:p>
          <a:p>
            <a:pPr indent="0" fontAlgn="auto">
              <a:lnSpc>
                <a:spcPts val="2880"/>
              </a:lnSpc>
            </a:pPr>
            <a:r>
              <a:rPr b="0" dirty="0" err="1">
                <a:latin typeface="+mn-ea"/>
              </a:rPr>
              <a:t>寄存器</a:t>
            </a:r>
            <a:endParaRPr b="0" dirty="0">
              <a:latin typeface="+mn-ea"/>
            </a:endParaRPr>
          </a:p>
          <a:p>
            <a:pPr indent="0" fontAlgn="auto">
              <a:lnSpc>
                <a:spcPts val="2880"/>
              </a:lnSpc>
            </a:pPr>
            <a:r>
              <a:rPr b="0" dirty="0" err="1">
                <a:latin typeface="+mn-ea"/>
              </a:rPr>
              <a:t>特权指令和非特权指令</a:t>
            </a:r>
            <a:endParaRPr b="0" dirty="0">
              <a:latin typeface="+mn-ea"/>
            </a:endParaRPr>
          </a:p>
          <a:p>
            <a:pPr indent="0" fontAlgn="auto">
              <a:lnSpc>
                <a:spcPts val="2880"/>
              </a:lnSpc>
            </a:pPr>
            <a:r>
              <a:rPr b="0" dirty="0" err="1">
                <a:latin typeface="+mn-ea"/>
              </a:rPr>
              <a:t>CPU状态（内核态和用户态）及状态转换</a:t>
            </a:r>
            <a:endParaRPr b="0" dirty="0">
              <a:latin typeface="+mn-ea"/>
            </a:endParaRPr>
          </a:p>
          <a:p>
            <a:pPr marL="285750" indent="-285750" fontAlgn="auto">
              <a:lnSpc>
                <a:spcPts val="2880"/>
              </a:lnSpc>
              <a:buFont typeface="Arial" panose="020B0604020202020204" pitchFamily="34" charset="0"/>
              <a:buChar char="•"/>
            </a:pPr>
            <a:r>
              <a:rPr b="0" dirty="0" err="1">
                <a:latin typeface="+mn-ea"/>
              </a:rPr>
              <a:t>程序状态字</a:t>
            </a:r>
            <a:endParaRPr b="0" dirty="0">
              <a:latin typeface="+mn-ea"/>
            </a:endParaRPr>
          </a:p>
          <a:p>
            <a:pPr marL="285750" indent="-285750" fontAlgn="auto">
              <a:lnSpc>
                <a:spcPts val="2880"/>
              </a:lnSpc>
              <a:buFont typeface="Arial" panose="020B0604020202020204" pitchFamily="34" charset="0"/>
              <a:buChar char="•"/>
            </a:pPr>
            <a:r>
              <a:rPr dirty="0" err="1">
                <a:latin typeface="+mn-ea"/>
                <a:sym typeface="+mn-ea"/>
              </a:rPr>
              <a:t>存储系统</a:t>
            </a:r>
            <a:endParaRPr b="0" dirty="0">
              <a:latin typeface="+mn-ea"/>
            </a:endParaRPr>
          </a:p>
          <a:p>
            <a:pPr indent="0" fontAlgn="auto">
              <a:lnSpc>
                <a:spcPts val="2880"/>
              </a:lnSpc>
            </a:pPr>
            <a:r>
              <a:rPr dirty="0" err="1">
                <a:latin typeface="+mn-ea"/>
                <a:sym typeface="+mn-ea"/>
              </a:rPr>
              <a:t>存储器分类</a:t>
            </a:r>
            <a:endParaRPr b="0" dirty="0">
              <a:latin typeface="+mn-ea"/>
            </a:endParaRPr>
          </a:p>
          <a:p>
            <a:pPr indent="0" fontAlgn="auto">
              <a:lnSpc>
                <a:spcPts val="2880"/>
              </a:lnSpc>
            </a:pPr>
            <a:r>
              <a:rPr dirty="0" err="1">
                <a:latin typeface="+mn-ea"/>
                <a:sym typeface="+mn-ea"/>
              </a:rPr>
              <a:t>存储分块</a:t>
            </a:r>
            <a:endParaRPr b="0" dirty="0">
              <a:latin typeface="+mn-ea"/>
            </a:endParaRPr>
          </a:p>
          <a:p>
            <a:pPr indent="0" fontAlgn="auto">
              <a:lnSpc>
                <a:spcPts val="2880"/>
              </a:lnSpc>
            </a:pPr>
            <a:r>
              <a:rPr dirty="0" err="1">
                <a:latin typeface="+mn-ea"/>
                <a:sym typeface="+mn-ea"/>
              </a:rPr>
              <a:t>存储器的层次结构</a:t>
            </a:r>
            <a:endParaRPr b="0" dirty="0">
              <a:latin typeface="+mn-ea"/>
            </a:endParaRPr>
          </a:p>
          <a:p>
            <a:pPr indent="0" fontAlgn="auto">
              <a:lnSpc>
                <a:spcPts val="2880"/>
              </a:lnSpc>
            </a:pPr>
            <a:r>
              <a:rPr dirty="0" err="1">
                <a:latin typeface="+mn-ea"/>
                <a:sym typeface="+mn-ea"/>
              </a:rPr>
              <a:t>存储访问的局部性原理</a:t>
            </a:r>
            <a:endParaRPr b="0" dirty="0">
              <a:latin typeface="+mn-ea"/>
            </a:endParaRPr>
          </a:p>
          <a:p>
            <a:pPr indent="0" fontAlgn="auto">
              <a:lnSpc>
                <a:spcPts val="2880"/>
              </a:lnSpc>
            </a:pPr>
            <a:r>
              <a:rPr dirty="0" err="1">
                <a:latin typeface="+mn-ea"/>
                <a:sym typeface="+mn-ea"/>
              </a:rPr>
              <a:t>存储保护（界地址寄存器、存储键</a:t>
            </a:r>
            <a:r>
              <a:rPr dirty="0">
                <a:latin typeface="+mn-ea"/>
                <a:sym typeface="+mn-ea"/>
              </a:rPr>
              <a:t>）</a:t>
            </a:r>
            <a:endParaRPr b="0" dirty="0">
              <a:latin typeface="+mn-ea"/>
              <a:sym typeface="+mn-ea"/>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zh-CN" altLang="en-US" dirty="0">
                <a:sym typeface="Arial" panose="020B0604020202020204" pitchFamily="34" charset="0"/>
              </a:rPr>
              <a:t>知识点</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99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00" name="文本框 99"/>
          <p:cNvSpPr txBox="1"/>
          <p:nvPr/>
        </p:nvSpPr>
        <p:spPr>
          <a:xfrm>
            <a:off x="500697" y="1096397"/>
            <a:ext cx="11190605" cy="5444054"/>
          </a:xfrm>
          <a:prstGeom prst="rect">
            <a:avLst/>
          </a:prstGeom>
          <a:noFill/>
          <a:ln w="9525">
            <a:noFill/>
          </a:ln>
        </p:spPr>
        <p:txBody>
          <a:bodyPr wrap="square">
            <a:spAutoFit/>
          </a:bodyPr>
          <a:lstStyle/>
          <a:p>
            <a:pPr marL="285750" indent="-285750" fontAlgn="auto">
              <a:lnSpc>
                <a:spcPct val="150000"/>
              </a:lnSpc>
              <a:buFont typeface="Arial" panose="020B0604020202020204" pitchFamily="34" charset="0"/>
              <a:buChar char="•"/>
            </a:pPr>
            <a:r>
              <a:rPr b="0" dirty="0" err="1">
                <a:latin typeface="+mn-ea"/>
              </a:rPr>
              <a:t>中断系统</a:t>
            </a:r>
            <a:endParaRPr b="0" dirty="0">
              <a:latin typeface="+mn-ea"/>
            </a:endParaRPr>
          </a:p>
          <a:p>
            <a:pPr indent="0" fontAlgn="auto">
              <a:lnSpc>
                <a:spcPct val="150000"/>
              </a:lnSpc>
            </a:pPr>
            <a:r>
              <a:rPr b="0" dirty="0" err="1">
                <a:latin typeface="+mn-ea"/>
              </a:rPr>
              <a:t>中断、中断的作用、中断源、中断字、中断请求、中断断点、中断返回</a:t>
            </a:r>
            <a:endParaRPr b="0" dirty="0">
              <a:latin typeface="+mn-ea"/>
            </a:endParaRPr>
          </a:p>
          <a:p>
            <a:pPr indent="0" fontAlgn="auto">
              <a:lnSpc>
                <a:spcPct val="150000"/>
              </a:lnSpc>
            </a:pPr>
            <a:r>
              <a:rPr b="0" dirty="0" err="1">
                <a:latin typeface="+mn-ea"/>
              </a:rPr>
              <a:t>中断类型（强迫性中断［硬件故障中断、程序性中断、时钟中断、控制台中断、输入输出中断］自愿性中断</a:t>
            </a:r>
            <a:r>
              <a:rPr b="0" dirty="0">
                <a:latin typeface="+mn-ea"/>
              </a:rPr>
              <a:t>）</a:t>
            </a:r>
          </a:p>
          <a:p>
            <a:pPr indent="0" fontAlgn="auto">
              <a:lnSpc>
                <a:spcPct val="150000"/>
              </a:lnSpc>
            </a:pPr>
            <a:r>
              <a:rPr b="0" dirty="0" err="1">
                <a:latin typeface="+mn-ea"/>
              </a:rPr>
              <a:t>中断请求的接收（中断寄存器</a:t>
            </a:r>
            <a:r>
              <a:rPr b="0" dirty="0">
                <a:latin typeface="+mn-ea"/>
              </a:rPr>
              <a:t>）、</a:t>
            </a:r>
            <a:r>
              <a:rPr b="0" dirty="0" err="1">
                <a:latin typeface="+mn-ea"/>
              </a:rPr>
              <a:t>中断响应（中断现场、中断响应过程、中断向量</a:t>
            </a:r>
            <a:r>
              <a:rPr b="0" dirty="0">
                <a:latin typeface="+mn-ea"/>
              </a:rPr>
              <a:t>）、</a:t>
            </a:r>
            <a:r>
              <a:rPr b="0" dirty="0" err="1">
                <a:latin typeface="+mn-ea"/>
              </a:rPr>
              <a:t>中断处理、各类中断事件的处理</a:t>
            </a:r>
            <a:r>
              <a:rPr b="0" dirty="0">
                <a:latin typeface="+mn-ea"/>
              </a:rPr>
              <a:t></a:t>
            </a:r>
          </a:p>
          <a:p>
            <a:pPr indent="0" fontAlgn="auto">
              <a:lnSpc>
                <a:spcPct val="150000"/>
              </a:lnSpc>
            </a:pPr>
            <a:r>
              <a:rPr b="0" dirty="0" err="1">
                <a:latin typeface="+mn-ea"/>
              </a:rPr>
              <a:t>中断优先级、中断屏蔽、中断嵌套处理</a:t>
            </a:r>
            <a:endParaRPr b="0" dirty="0">
              <a:latin typeface="+mn-ea"/>
            </a:endParaRPr>
          </a:p>
          <a:p>
            <a:pPr marL="285750" indent="-285750" fontAlgn="auto">
              <a:lnSpc>
                <a:spcPct val="150000"/>
              </a:lnSpc>
              <a:buFont typeface="Arial" panose="020B0604020202020204" pitchFamily="34" charset="0"/>
              <a:buChar char="•"/>
            </a:pPr>
            <a:r>
              <a:rPr dirty="0">
                <a:latin typeface="+mn-ea"/>
                <a:sym typeface="+mn-ea"/>
              </a:rPr>
              <a:t>I/O</a:t>
            </a:r>
            <a:endParaRPr b="0" dirty="0">
              <a:latin typeface="+mn-ea"/>
            </a:endParaRPr>
          </a:p>
          <a:p>
            <a:pPr indent="0" fontAlgn="auto">
              <a:lnSpc>
                <a:spcPct val="150000"/>
              </a:lnSpc>
            </a:pPr>
            <a:r>
              <a:rPr dirty="0">
                <a:latin typeface="+mn-ea"/>
                <a:sym typeface="+mn-ea"/>
              </a:rPr>
              <a:t>I/</a:t>
            </a:r>
            <a:r>
              <a:rPr dirty="0" err="1">
                <a:latin typeface="+mn-ea"/>
                <a:sym typeface="+mn-ea"/>
              </a:rPr>
              <a:t>O结构、通道、直接存储器存取（DMA）技术、缓冲技术</a:t>
            </a:r>
            <a:endParaRPr b="0" dirty="0">
              <a:latin typeface="+mn-ea"/>
            </a:endParaRPr>
          </a:p>
          <a:p>
            <a:pPr marL="285750" indent="-285750" fontAlgn="auto">
              <a:lnSpc>
                <a:spcPct val="150000"/>
              </a:lnSpc>
              <a:buFont typeface="Arial" panose="020B0604020202020204" pitchFamily="34" charset="0"/>
              <a:buChar char="•"/>
            </a:pPr>
            <a:r>
              <a:rPr dirty="0" err="1">
                <a:latin typeface="+mn-ea"/>
                <a:sym typeface="+mn-ea"/>
              </a:rPr>
              <a:t>时钟</a:t>
            </a:r>
            <a:endParaRPr b="0" dirty="0">
              <a:latin typeface="+mn-ea"/>
            </a:endParaRPr>
          </a:p>
          <a:p>
            <a:pPr indent="0" fontAlgn="auto">
              <a:lnSpc>
                <a:spcPct val="150000"/>
              </a:lnSpc>
            </a:pPr>
            <a:r>
              <a:rPr dirty="0" err="1">
                <a:latin typeface="+mn-ea"/>
                <a:sym typeface="+mn-ea"/>
              </a:rPr>
              <a:t>时钟的作用、硬件时钟和软件时钟、绝对时钟和相对时钟（间隔时钟</a:t>
            </a:r>
            <a:r>
              <a:rPr dirty="0">
                <a:latin typeface="+mn-ea"/>
                <a:sym typeface="+mn-ea"/>
              </a:rPr>
              <a:t>）</a:t>
            </a:r>
            <a:endParaRPr b="0" dirty="0">
              <a:latin typeface="+mn-ea"/>
            </a:endParaRPr>
          </a:p>
          <a:p>
            <a:pPr marL="285750" indent="-285750" fontAlgn="auto">
              <a:lnSpc>
                <a:spcPct val="150000"/>
              </a:lnSpc>
              <a:buFont typeface="Arial" panose="020B0604020202020204" pitchFamily="34" charset="0"/>
              <a:buChar char="•"/>
            </a:pPr>
            <a:r>
              <a:rPr dirty="0" err="1">
                <a:latin typeface="+mn-ea"/>
                <a:sym typeface="+mn-ea"/>
              </a:rPr>
              <a:t>系统调用</a:t>
            </a:r>
            <a:endParaRPr b="0" dirty="0">
              <a:latin typeface="+mn-ea"/>
            </a:endParaRPr>
          </a:p>
          <a:p>
            <a:pPr indent="0" fontAlgn="auto">
              <a:lnSpc>
                <a:spcPct val="150000"/>
              </a:lnSpc>
            </a:pPr>
            <a:r>
              <a:rPr dirty="0" err="1">
                <a:latin typeface="+mn-ea"/>
                <a:sym typeface="+mn-ea"/>
              </a:rPr>
              <a:t>系统调用的处理过程、系统调用与一般调用的区别联系</a:t>
            </a:r>
            <a:endParaRPr b="0" dirty="0">
              <a:latin typeface="+mn-ea"/>
            </a:endParaRPr>
          </a:p>
          <a:p>
            <a:pPr indent="0" fontAlgn="auto">
              <a:lnSpc>
                <a:spcPct val="150000"/>
              </a:lnSpc>
            </a:pPr>
            <a:endParaRPr b="0" dirty="0">
              <a:latin typeface="Times New Roman" panose="02020603050405020304" charset="0"/>
              <a:ea typeface="宋体" panose="02010600030101010101" pitchFamily="2" charset="-122"/>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zh-CN" altLang="en-US" dirty="0">
                <a:sym typeface="Arial" panose="020B0604020202020204" pitchFamily="34" charset="0"/>
              </a:rPr>
              <a:t>复习题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100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00" name="文本框 99"/>
          <p:cNvSpPr txBox="1"/>
          <p:nvPr/>
        </p:nvSpPr>
        <p:spPr>
          <a:xfrm>
            <a:off x="443230" y="1094105"/>
            <a:ext cx="11190605" cy="5077460"/>
          </a:xfrm>
          <a:prstGeom prst="rect">
            <a:avLst/>
          </a:prstGeom>
          <a:noFill/>
          <a:ln w="9525">
            <a:noFill/>
          </a:ln>
        </p:spPr>
        <p:txBody>
          <a:bodyPr wrap="square">
            <a:spAutoFit/>
          </a:bodyPr>
          <a:lstStyle/>
          <a:p>
            <a:pPr indent="0" fontAlgn="auto">
              <a:lnSpc>
                <a:spcPct val="150000"/>
              </a:lnSpc>
            </a:pPr>
            <a:r>
              <a:rPr b="0" dirty="0">
                <a:latin typeface="+mn-ea"/>
              </a:rPr>
              <a:t>1．请简述处理器的组成和工作原理。你认为哪些部分和操作系统密切相关，为什么？</a:t>
            </a:r>
          </a:p>
          <a:p>
            <a:pPr indent="0" fontAlgn="auto">
              <a:lnSpc>
                <a:spcPct val="150000"/>
              </a:lnSpc>
            </a:pPr>
            <a:r>
              <a:rPr b="0" dirty="0">
                <a:latin typeface="+mn-ea"/>
              </a:rPr>
              <a:t>2．为了支持操作系统，现代处理器一般都提供哪两种工作状态，以隔离操作系统和普通程序？两种状态各有什么特点？</a:t>
            </a:r>
          </a:p>
          <a:p>
            <a:pPr indent="0" fontAlgn="auto">
              <a:lnSpc>
                <a:spcPct val="150000"/>
              </a:lnSpc>
            </a:pPr>
            <a:r>
              <a:rPr b="0" dirty="0">
                <a:latin typeface="+mn-ea"/>
              </a:rPr>
              <a:t>3．计算机系统中既有操作系统程序，又有用户程序，在什么情况下操作系统程序才能占用中央处理器？</a:t>
            </a:r>
          </a:p>
          <a:p>
            <a:pPr indent="0" fontAlgn="auto">
              <a:lnSpc>
                <a:spcPct val="150000"/>
              </a:lnSpc>
            </a:pPr>
            <a:r>
              <a:rPr b="0" dirty="0">
                <a:latin typeface="+mn-ea"/>
              </a:rPr>
              <a:t>4．为什么要把“启动I/</a:t>
            </a:r>
            <a:r>
              <a:rPr b="0" dirty="0" err="1">
                <a:latin typeface="+mn-ea"/>
              </a:rPr>
              <a:t>O”等指令定义为特权指令</a:t>
            </a:r>
            <a:r>
              <a:rPr b="0" dirty="0">
                <a:latin typeface="+mn-ea"/>
              </a:rPr>
              <a:t>？</a:t>
            </a:r>
          </a:p>
          <a:p>
            <a:pPr indent="0" fontAlgn="auto">
              <a:lnSpc>
                <a:spcPct val="150000"/>
              </a:lnSpc>
            </a:pPr>
            <a:r>
              <a:rPr b="0" dirty="0">
                <a:latin typeface="+mn-ea"/>
              </a:rPr>
              <a:t>5．怎样限制用户程序中使用特权指令？</a:t>
            </a:r>
          </a:p>
          <a:p>
            <a:pPr indent="0" fontAlgn="auto">
              <a:lnSpc>
                <a:spcPct val="150000"/>
              </a:lnSpc>
            </a:pPr>
            <a:r>
              <a:rPr b="0" dirty="0">
                <a:latin typeface="+mn-ea"/>
              </a:rPr>
              <a:t>6．什么是分级的存储体系结构？它主要解决了什么问题？</a:t>
            </a:r>
          </a:p>
          <a:p>
            <a:pPr indent="0" fontAlgn="auto">
              <a:lnSpc>
                <a:spcPct val="150000"/>
              </a:lnSpc>
            </a:pPr>
            <a:r>
              <a:rPr b="0" dirty="0">
                <a:latin typeface="+mn-ea"/>
              </a:rPr>
              <a:t>7．请简述程序局部性原理。</a:t>
            </a:r>
          </a:p>
          <a:p>
            <a:pPr indent="0" fontAlgn="auto">
              <a:lnSpc>
                <a:spcPct val="150000"/>
              </a:lnSpc>
            </a:pPr>
            <a:r>
              <a:rPr b="0" dirty="0">
                <a:latin typeface="+mn-ea"/>
              </a:rPr>
              <a:t>8．什么是存储保护？有哪些方法实现存储保护？</a:t>
            </a:r>
          </a:p>
          <a:p>
            <a:pPr indent="0" fontAlgn="auto">
              <a:lnSpc>
                <a:spcPct val="150000"/>
              </a:lnSpc>
            </a:pPr>
            <a:r>
              <a:rPr b="0" dirty="0">
                <a:latin typeface="+mn-ea"/>
              </a:rPr>
              <a:t>9．操作系统与硬件如何配合来实现存储保护的？</a:t>
            </a:r>
          </a:p>
          <a:p>
            <a:pPr indent="0" fontAlgn="auto">
              <a:lnSpc>
                <a:spcPct val="150000"/>
              </a:lnSpc>
            </a:pPr>
            <a:r>
              <a:rPr b="0" dirty="0">
                <a:latin typeface="+mn-ea"/>
              </a:rPr>
              <a:t>10．什么是中断？为什么说中断对现代计算机很重要？</a:t>
            </a:r>
          </a:p>
          <a:p>
            <a:pPr indent="0" fontAlgn="auto">
              <a:lnSpc>
                <a:spcPct val="150000"/>
              </a:lnSpc>
            </a:pPr>
            <a:r>
              <a:rPr b="0" dirty="0">
                <a:latin typeface="+mn-ea"/>
              </a:rPr>
              <a:t>11．中断的作用是什么?</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zh-CN" altLang="en-US" dirty="0">
                <a:sym typeface="Arial" panose="020B0604020202020204" pitchFamily="34" charset="0"/>
              </a:rPr>
              <a:t>复习题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t>101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00" name="文本框 99"/>
          <p:cNvSpPr txBox="1"/>
          <p:nvPr/>
        </p:nvSpPr>
        <p:spPr>
          <a:xfrm>
            <a:off x="688327" y="901603"/>
            <a:ext cx="11190605" cy="5492750"/>
          </a:xfrm>
          <a:prstGeom prst="rect">
            <a:avLst/>
          </a:prstGeom>
          <a:noFill/>
          <a:ln w="9525">
            <a:noFill/>
          </a:ln>
        </p:spPr>
        <p:txBody>
          <a:bodyPr wrap="square">
            <a:spAutoFit/>
          </a:bodyPr>
          <a:lstStyle/>
          <a:p>
            <a:pPr indent="0" fontAlgn="auto">
              <a:lnSpc>
                <a:spcPct val="150000"/>
              </a:lnSpc>
            </a:pPr>
            <a:r>
              <a:rPr b="0" dirty="0">
                <a:latin typeface="+mn-ea"/>
              </a:rPr>
              <a:t>12．中断向量是什么？其作用是什么？</a:t>
            </a:r>
          </a:p>
          <a:p>
            <a:pPr indent="0" fontAlgn="auto">
              <a:lnSpc>
                <a:spcPct val="150000"/>
              </a:lnSpc>
            </a:pPr>
            <a:r>
              <a:rPr b="0" dirty="0">
                <a:latin typeface="+mn-ea"/>
              </a:rPr>
              <a:t>13．中断响应主要做哪些工作？</a:t>
            </a:r>
          </a:p>
          <a:p>
            <a:pPr indent="0" fontAlgn="auto">
              <a:lnSpc>
                <a:spcPct val="150000"/>
              </a:lnSpc>
            </a:pPr>
            <a:r>
              <a:rPr b="0" dirty="0">
                <a:latin typeface="+mn-ea"/>
              </a:rPr>
              <a:t>14．中断处理的主要步骤是什么？</a:t>
            </a:r>
          </a:p>
          <a:p>
            <a:pPr indent="0" fontAlgn="auto">
              <a:lnSpc>
                <a:spcPct val="150000"/>
              </a:lnSpc>
            </a:pPr>
            <a:r>
              <a:rPr b="0" dirty="0">
                <a:latin typeface="+mn-ea"/>
              </a:rPr>
              <a:t>15．为什么要对中断进行屏蔽？</a:t>
            </a:r>
          </a:p>
          <a:p>
            <a:pPr indent="0" fontAlgn="auto">
              <a:lnSpc>
                <a:spcPct val="150000"/>
              </a:lnSpc>
            </a:pPr>
            <a:r>
              <a:rPr b="0" dirty="0">
                <a:latin typeface="+mn-ea"/>
              </a:rPr>
              <a:t>16．多个中断同时发生时，系统是怎样处理的？</a:t>
            </a:r>
          </a:p>
          <a:p>
            <a:pPr indent="0" fontAlgn="auto">
              <a:lnSpc>
                <a:spcPct val="150000"/>
              </a:lnSpc>
            </a:pPr>
            <a:r>
              <a:rPr b="0" dirty="0">
                <a:latin typeface="+mn-ea"/>
              </a:rPr>
              <a:t>17．阐述硬件的中断装置的作用。</a:t>
            </a:r>
          </a:p>
          <a:p>
            <a:pPr indent="0" fontAlgn="auto">
              <a:lnSpc>
                <a:spcPct val="150000"/>
              </a:lnSpc>
            </a:pPr>
            <a:r>
              <a:rPr b="0" dirty="0">
                <a:latin typeface="+mn-ea"/>
              </a:rPr>
              <a:t>18．常用的I/</a:t>
            </a:r>
            <a:r>
              <a:rPr b="0" dirty="0" err="1">
                <a:latin typeface="+mn-ea"/>
              </a:rPr>
              <a:t>O控制技术有哪些？各有什么特点</a:t>
            </a:r>
            <a:r>
              <a:rPr b="0" dirty="0">
                <a:latin typeface="+mn-ea"/>
              </a:rPr>
              <a:t>？</a:t>
            </a:r>
          </a:p>
          <a:p>
            <a:pPr indent="0" fontAlgn="auto">
              <a:lnSpc>
                <a:spcPct val="150000"/>
              </a:lnSpc>
            </a:pPr>
            <a:r>
              <a:rPr b="0" dirty="0">
                <a:latin typeface="+mn-ea"/>
              </a:rPr>
              <a:t>19．缓冲技术在计算机系统中起着什么样的作用？它是如何工作的？</a:t>
            </a:r>
          </a:p>
          <a:p>
            <a:pPr indent="0" fontAlgn="auto">
              <a:lnSpc>
                <a:spcPct val="150000"/>
              </a:lnSpc>
            </a:pPr>
            <a:r>
              <a:rPr b="0" dirty="0">
                <a:latin typeface="+mn-ea"/>
              </a:rPr>
              <a:t>20．时钟对操作系统有什么重要作用？</a:t>
            </a:r>
          </a:p>
          <a:p>
            <a:pPr indent="0" fontAlgn="auto">
              <a:lnSpc>
                <a:spcPct val="150000"/>
              </a:lnSpc>
            </a:pPr>
            <a:r>
              <a:rPr b="0" dirty="0">
                <a:latin typeface="+mn-ea"/>
              </a:rPr>
              <a:t>21．硬件时钟怎样实现？其作用是什么？</a:t>
            </a:r>
          </a:p>
          <a:p>
            <a:pPr indent="0" fontAlgn="auto">
              <a:lnSpc>
                <a:spcPct val="150000"/>
              </a:lnSpc>
            </a:pPr>
            <a:r>
              <a:rPr b="0" dirty="0">
                <a:latin typeface="+mn-ea"/>
              </a:rPr>
              <a:t>22．软件时钟怎样实现？其作用是什么？</a:t>
            </a:r>
          </a:p>
          <a:p>
            <a:pPr indent="0" fontAlgn="auto">
              <a:lnSpc>
                <a:spcPct val="150000"/>
              </a:lnSpc>
            </a:pPr>
            <a:r>
              <a:rPr b="0" dirty="0">
                <a:latin typeface="+mn-ea"/>
              </a:rPr>
              <a:t>23．系统调用和一般过程调用的区别是什么？</a:t>
            </a:r>
          </a:p>
          <a:p>
            <a:pPr indent="0" fontAlgn="auto">
              <a:lnSpc>
                <a:spcPct val="150000"/>
              </a:lnSpc>
            </a:pPr>
            <a:r>
              <a:rPr b="0" dirty="0">
                <a:latin typeface="+mn-ea"/>
              </a:rPr>
              <a:t>24．系统调用的主要处理过程是什么？</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文本框 7"/>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10" name="直接连接符 9"/>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THANKS FOR THE CAREFUL GUIDANCE</a:t>
            </a:r>
          </a:p>
        </p:txBody>
      </p:sp>
      <p:sp>
        <p:nvSpPr>
          <p:cNvPr id="6" name="椭圆 5"/>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3" name="组合 12"/>
          <p:cNvGrpSpPr/>
          <p:nvPr/>
        </p:nvGrpSpPr>
        <p:grpSpPr>
          <a:xfrm>
            <a:off x="5317814" y="718939"/>
            <a:ext cx="1614432" cy="1610666"/>
            <a:chOff x="2105799" y="20055838"/>
            <a:chExt cx="6748090" cy="6732363"/>
          </a:xfrm>
          <a:solidFill>
            <a:schemeClr val="accent1"/>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182</TotalTime>
  <Words>5957</Words>
  <Application>Microsoft Office PowerPoint</Application>
  <PresentationFormat>宽屏</PresentationFormat>
  <Paragraphs>1031</Paragraphs>
  <Slides>102</Slides>
  <Notes>102</Notes>
  <HiddenSlides>0</HiddenSlides>
  <MMClips>0</MMClips>
  <ScaleCrop>false</ScaleCrop>
  <HeadingPairs>
    <vt:vector size="8" baseType="variant">
      <vt:variant>
        <vt:lpstr>已用的字体</vt:lpstr>
      </vt:variant>
      <vt:variant>
        <vt:i4>5</vt:i4>
      </vt:variant>
      <vt:variant>
        <vt:lpstr>主题</vt:lpstr>
      </vt:variant>
      <vt:variant>
        <vt:i4>3</vt:i4>
      </vt:variant>
      <vt:variant>
        <vt:lpstr>嵌入 OLE 服务器</vt:lpstr>
      </vt:variant>
      <vt:variant>
        <vt:i4>1</vt:i4>
      </vt:variant>
      <vt:variant>
        <vt:lpstr>幻灯片标题</vt:lpstr>
      </vt:variant>
      <vt:variant>
        <vt:i4>102</vt:i4>
      </vt:variant>
    </vt:vector>
  </HeadingPairs>
  <TitlesOfParts>
    <vt:vector size="111" baseType="lpstr">
      <vt:lpstr>等线</vt:lpstr>
      <vt:lpstr>楷体_GB2312</vt:lpstr>
      <vt:lpstr>微软雅黑</vt:lpstr>
      <vt:lpstr>Arial</vt:lpstr>
      <vt:lpstr>Times New Roman</vt:lpstr>
      <vt:lpstr>自定义设计方案</vt:lpstr>
      <vt:lpstr>1_自定义设计方案</vt:lpstr>
      <vt:lpstr>1_OfficePLUS</vt:lpstr>
      <vt:lpstr>Equation.3</vt:lpstr>
      <vt:lpstr>PowerPoint 演示文稿</vt:lpstr>
      <vt:lpstr>学习目标</vt:lpstr>
      <vt:lpstr>PowerPoint 演示文稿</vt:lpstr>
      <vt:lpstr>PowerPoint 演示文稿</vt:lpstr>
      <vt:lpstr>计算机系统的层次结构</vt:lpstr>
      <vt:lpstr>PowerPoint 演示文稿</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中央处理器（CPU）</vt:lpstr>
      <vt:lpstr>PowerPoint 演示文稿</vt:lpstr>
      <vt:lpstr>存储系统</vt:lpstr>
      <vt:lpstr>存储系统</vt:lpstr>
      <vt:lpstr>存储系统</vt:lpstr>
      <vt:lpstr>存储系统</vt:lpstr>
      <vt:lpstr>存储系统</vt:lpstr>
      <vt:lpstr>存储系统</vt:lpstr>
      <vt:lpstr>存储系统</vt:lpstr>
      <vt:lpstr>存储系统</vt:lpstr>
      <vt:lpstr>存储系统</vt:lpstr>
      <vt:lpstr>存储系统</vt:lpstr>
      <vt:lpstr>存储系统</vt:lpstr>
      <vt:lpstr>存储系统</vt:lpstr>
      <vt:lpstr>存储系统</vt:lpstr>
      <vt:lpstr>PowerPoint 演示文稿</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中断机制</vt:lpstr>
      <vt:lpstr>PowerPoint 演示文稿</vt:lpstr>
      <vt:lpstr> I／O技术</vt:lpstr>
      <vt:lpstr> I／O技术</vt:lpstr>
      <vt:lpstr> I／O技术</vt:lpstr>
      <vt:lpstr> I／O技术</vt:lpstr>
      <vt:lpstr> I／O技术</vt:lpstr>
      <vt:lpstr> I／O技术</vt:lpstr>
      <vt:lpstr> I／O技术</vt:lpstr>
      <vt:lpstr> I／O技术</vt:lpstr>
      <vt:lpstr> I／O技术</vt:lpstr>
      <vt:lpstr> I／O技术</vt:lpstr>
      <vt:lpstr>PowerPoint 演示文稿</vt:lpstr>
      <vt:lpstr> 时钟</vt:lpstr>
      <vt:lpstr> 时钟</vt:lpstr>
      <vt:lpstr>PowerPoint 演示文稿</vt:lpstr>
      <vt:lpstr> 系统调用</vt:lpstr>
      <vt:lpstr> 系统调用</vt:lpstr>
      <vt:lpstr> 系统调用</vt:lpstr>
      <vt:lpstr> 系统调用</vt:lpstr>
      <vt:lpstr> 系统调用</vt:lpstr>
      <vt:lpstr> 系统调用</vt:lpstr>
      <vt:lpstr> 系统调用</vt:lpstr>
      <vt:lpstr>PowerPoint 演示文稿</vt:lpstr>
      <vt:lpstr> 操作系统协同工作</vt:lpstr>
      <vt:lpstr> 操作系统协同工作</vt:lpstr>
      <vt:lpstr> 操作系统协同工作</vt:lpstr>
      <vt:lpstr> 操作系统协同工作</vt:lpstr>
      <vt:lpstr>PowerPoint 演示文稿</vt:lpstr>
      <vt:lpstr> 本章小结</vt:lpstr>
      <vt:lpstr> 本章小结</vt:lpstr>
      <vt:lpstr> 本章小结</vt:lpstr>
      <vt:lpstr> 本章小结</vt:lpstr>
      <vt:lpstr> 本章小结</vt:lpstr>
      <vt:lpstr>知识点</vt:lpstr>
      <vt:lpstr>知识点</vt:lpstr>
      <vt:lpstr>复习题</vt:lpstr>
      <vt:lpstr>复习题</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cp:lastModifiedBy>雨辰 杨</cp:lastModifiedBy>
  <cp:revision>59</cp:revision>
  <dcterms:created xsi:type="dcterms:W3CDTF">2018-12-09T14:29:00Z</dcterms:created>
  <dcterms:modified xsi:type="dcterms:W3CDTF">2023-09-09T08:49:54Z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ICV">
    <vt:lpwstr>A5D8865872AB43DE89294ED379C249ED</vt:lpwstr>
  </property>
  <property fmtid="{D5CDD505-2E9C-101B-9397-08002B2CF9AE}" pid="12" name="KSOProductBuildVer">
    <vt:lpwstr>2052-11.8.2.11718</vt:lpwstr>
  </property>
</Properties>
</file>